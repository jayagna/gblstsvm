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4.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2c23aa1-b824-2659-7345-acef5d921bf3}">
          <p14:sldIdLst>
            <p14:sldId id="256"/>
            <p14:sldId id="257"/>
          </p14:sldIdLst>
        </p14:section>
        <p14:section name="Background" id="{d6b66651-eced-00c8-2e29-cb502ec67e07}">
          <p14:sldIdLst>
            <p14:sldId id="258"/>
            <p14:sldId id="259"/>
          </p14:sldIdLst>
        </p14:section>
        <p14:section name="Baseline reproduction" id="{5050f1ac-8417-377e-3ceb-10d037c0fa6b}">
          <p14:sldIdLst>
            <p14:sldId id="260"/>
            <p14:sldId id="261"/>
          </p14:sldIdLst>
        </p14:section>
        <p14:section name="Ball generation" id="{16d39558-da31-ee5d-c961-f761170c71bd}">
          <p14:sldIdLst>
            <p14:sldId id="262"/>
            <p14:sldId id="263"/>
          </p14:sldIdLst>
        </p14:section>
        <p14:section name="Ball weighting models" id="{870bf9f4-6271-da83-d721-63fc4d81b3b0}">
          <p14:sldIdLst>
            <p14:sldId id="264"/>
            <p14:sldId id="265"/>
            <p14:sldId id="266"/>
            <p14:sldId id="267"/>
            <p14:sldId id="268"/>
            <p14:sldId id="269"/>
            <p14:sldId id="270"/>
            <p14:sldId id="271"/>
          </p14:sldIdLst>
        </p14:section>
        <p14:section name="Granulation and compression" id="{ae445601-f649-d738-59c3-642673808ed3}">
          <p14:sldIdLst>
            <p14:sldId id="272"/>
            <p14:sldId id="273"/>
          </p14:sldIdLst>
        </p14:section>
        <p14:section name="M0–M3 classifier-guided balls" id="{34c65596-2b41-a312-f2f7-5519a5bb30d4}">
          <p14:sldIdLst>
            <p14:sldId id="274"/>
            <p14:sldId id="275"/>
            <p14:sldId id="276"/>
            <p14:sldId id="277"/>
            <p14:sldId id="278"/>
            <p14:sldId id="279"/>
          </p14:sldIdLst>
        </p14:section>
        <p14:section name="Wrap-up" id="{a0f17e29-a544-b3a6-639c-24d190b00a07}">
          <p14:sldIdLst>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33D"/>
                </a:solidFill>
                <a:latin typeface="+mn-lt"/>
              </a:defRPr>
            </a:pPr>
            <a:r>
              <a:rPr sz="1300" b="0" i="0" u="none" strike="noStrike">
                <a:solidFill>
                  <a:srgbClr val="12333D"/>
                </a:solidFill>
                <a:latin typeface="+mn-lt"/>
              </a:rPr>
              <a:t>Balls with zero overlap</a:t>
            </a:r>
          </a:p>
        </c:rich>
      </c:tx>
      <c:layout/>
      <c:overlay val="0"/>
    </c:title>
    <c:autoTitleDeleted val="0"/>
    <c:plotArea>
      <c:layout/>
      <c:barChart>
        <c:barDir val="col"/>
        <c:grouping val="clustered"/>
        <c:varyColors val="0"/>
        <c:ser>
          <c:idx val="0"/>
          <c:order val="0"/>
          <c:tx>
            <c:strRef>
              <c:f>Sheet1!$B$1</c:f>
              <c:strCache>
                <c:ptCount val="1"/>
                <c:pt idx="0">
                  <c:v>Balls with zero overlap</c:v>
                </c:pt>
              </c:strCache>
            </c:strRef>
          </c:tx>
          <c:spPr>
            <a:solidFill>
              <a:srgbClr val="5A7A82"/>
            </a:solidFill>
            <a:effectLst/>
          </c:spPr>
          <c:invertIfNegative val="0"/>
          <c:dLbls>
            <c:numFmt formatCode="0.0&quot;%&quot;" sourceLinked="0"/>
            <c:txPr>
              <a:bodyPr/>
              <a:lstStyle/>
              <a:p>
                <a:pPr>
                  <a:defRPr b="0" i="0" strike="noStrike" sz="1100" u="none">
                    <a:solidFill>
                      <a:srgbClr val="17242A"/>
                    </a:solidFill>
                    <a:latin typeface="+mn-lt"/>
                  </a:defRPr>
                </a:pPr>
              </a:p>
            </c:txPr>
            <c:showLegendKey val="0"/>
            <c:showVal val="1"/>
            <c:showCatName val="0"/>
            <c:showSerName val="0"/>
            <c:showPercent val="0"/>
            <c:showBubbleSize val="0"/>
            <c:showLeaderLines val="0"/>
          </c:dLbls>
          <c:cat>
            <c:multiLvlStrRef>
              <c:f>Sheet1!$A$2:$A$4</c:f>
              <c:multiLvlStrCache>
                <c:ptCount val="3"/>
                <c:lvl>
                  <c:pt idx="0">
                    <c:v>diabetes</c:v>
                  </c:pt>
                  <c:pt idx="1">
                    <c:v>ecoli2</c:v>
                  </c:pt>
                  <c:pt idx="2">
                    <c:v>vehicle0</c:v>
                  </c:pt>
                </c:lvl>
              </c:multiLvlStrCache>
            </c:multiLvlStrRef>
          </c:cat>
          <c:val>
            <c:numRef>
              <c:f>Sheet1!$B$2:$B$4</c:f>
              <c:numCache>
                <c:formatCode>General</c:formatCode>
                <c:ptCount val="3"/>
                <c:pt idx="0">
                  <c:v>92.9</c:v>
                </c:pt>
                <c:pt idx="1">
                  <c:v>100</c:v>
                </c:pt>
                <c:pt idx="2">
                  <c:v>61</c:v>
                </c:pt>
              </c:numCache>
            </c:numRef>
          </c:val>
        </c:ser>
        <c:dLbls>
          <c:numFmt formatCode="0.0&quot;%&quot;" sourceLinked="0"/>
          <c:txPr>
            <a:bodyPr/>
            <a:lstStyle/>
            <a:p>
              <a:pPr>
                <a:defRPr b="0" i="0" strike="noStrike" sz="1100" u="none">
                  <a:solidFill>
                    <a:srgbClr val="17242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FB0B3"/>
            </a:solidFill>
            <a:prstDash val="solid"/>
            <a:round/>
          </a:ln>
        </c:spPr>
        <c:txPr>
          <a:bodyPr/>
          <a:lstStyle/>
          <a:p>
            <a:pPr>
              <a:defRPr sz="1200" b="0" i="0" u="none" strike="noStrike">
                <a:solidFill>
                  <a:srgbClr val="17242A"/>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CE5E4"/>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5A7A82"/>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33D"/>
                </a:solidFill>
                <a:latin typeface="+mn-lt"/>
              </a:defRPr>
            </a:pPr>
            <a:r>
              <a:rPr sz="1300" b="0" i="0" u="none" strike="noStrike">
                <a:solidFill>
                  <a:srgbClr val="12333D"/>
                </a:solidFill>
                <a:latin typeface="+mn-lt"/>
              </a:rPr>
              <a:t>vehicle0 test split (screen)</a:t>
            </a:r>
          </a:p>
        </c:rich>
      </c:tx>
      <c:layout/>
      <c:overlay val="0"/>
    </c:title>
    <c:autoTitleDeleted val="0"/>
    <c:plotArea>
      <c:layout/>
      <c:barChart>
        <c:barDir val="col"/>
        <c:grouping val="clustered"/>
        <c:varyColors val="0"/>
        <c:ser>
          <c:idx val="0"/>
          <c:order val="0"/>
          <c:tx>
            <c:strRef>
              <c:f>Sheet1!$B$1</c:f>
              <c:strCache>
                <c:ptCount val="1"/>
                <c:pt idx="0">
                  <c:v>CW</c:v>
                </c:pt>
              </c:strCache>
            </c:strRef>
          </c:tx>
          <c:spPr>
            <a:solidFill>
              <a:srgbClr val="2B63C6"/>
            </a:solidFill>
            <a:effectLst/>
          </c:spPr>
          <c:invertIfNegative val="0"/>
          <c:dLbls>
            <c:numFmt formatCode="0.000" sourceLinked="0"/>
            <c:txPr>
              <a:bodyPr/>
              <a:lstStyle/>
              <a:p>
                <a:pPr>
                  <a:defRPr b="0" i="0" strike="noStrike" sz="1100" u="none">
                    <a:solidFill>
                      <a:srgbClr val="17242A"/>
                    </a:solidFill>
                    <a:latin typeface="+mn-lt"/>
                  </a:defRPr>
                </a:pPr>
              </a:p>
            </c:txPr>
            <c:showLegendKey val="0"/>
            <c:showVal val="1"/>
            <c:showCatName val="0"/>
            <c:showSerName val="0"/>
            <c:showPercent val="0"/>
            <c:showBubbleSize val="0"/>
            <c:showLeaderLines val="0"/>
          </c:dLbls>
          <c:cat>
            <c:multiLvlStrRef>
              <c:f>Sheet1!$A$2:$A$4</c:f>
              <c:multiLvlStrCache>
                <c:ptCount val="3"/>
                <c:lvl>
                  <c:pt idx="0">
                    <c:v>G-mean</c:v>
                  </c:pt>
                  <c:pt idx="1">
                    <c:v>Minority F1</c:v>
                  </c:pt>
                  <c:pt idx="2">
                    <c:v>Macro F1</c:v>
                  </c:pt>
                </c:lvl>
              </c:multiLvlStrCache>
            </c:multiLvlStrRef>
          </c:cat>
          <c:val>
            <c:numRef>
              <c:f>Sheet1!$B$2:$B$4</c:f>
              <c:numCache>
                <c:formatCode>General</c:formatCode>
                <c:ptCount val="3"/>
                <c:pt idx="0">
                  <c:v>0.6126</c:v>
                </c:pt>
                <c:pt idx="1">
                  <c:v>0.5</c:v>
                </c:pt>
                <c:pt idx="2">
                  <c:v>0.6917</c:v>
                </c:pt>
              </c:numCache>
            </c:numRef>
          </c:val>
        </c:ser>
        <c:ser>
          <c:idx val="1"/>
          <c:order val="1"/>
          <c:tx>
            <c:strRef>
              <c:f>Sheet1!$C$1</c:f>
              <c:strCache>
                <c:ptCount val="1"/>
                <c:pt idx="0">
                  <c:v>CA</c:v>
                </c:pt>
              </c:strCache>
            </c:strRef>
          </c:tx>
          <c:spPr>
            <a:solidFill>
              <a:srgbClr val="00897B"/>
            </a:solidFill>
            <a:effectLst/>
          </c:spPr>
          <c:invertIfNegative val="0"/>
          <c:dLbls>
            <c:numFmt formatCode="0.000" sourceLinked="0"/>
            <c:txPr>
              <a:bodyPr/>
              <a:lstStyle/>
              <a:p>
                <a:pPr>
                  <a:defRPr b="0" i="0" strike="noStrike" sz="1100" u="none">
                    <a:solidFill>
                      <a:srgbClr val="17242A"/>
                    </a:solidFill>
                    <a:latin typeface="+mn-lt"/>
                  </a:defRPr>
                </a:pPr>
              </a:p>
            </c:txPr>
            <c:showLegendKey val="0"/>
            <c:showVal val="1"/>
            <c:showCatName val="0"/>
            <c:showSerName val="0"/>
            <c:showPercent val="0"/>
            <c:showBubbleSize val="0"/>
            <c:showLeaderLines val="0"/>
          </c:dLbls>
          <c:cat>
            <c:multiLvlStrRef>
              <c:f>Sheet1!$A$2:$A$4</c:f>
              <c:multiLvlStrCache>
                <c:ptCount val="3"/>
                <c:lvl>
                  <c:pt idx="0">
                    <c:v>G-mean</c:v>
                  </c:pt>
                  <c:pt idx="1">
                    <c:v>Minority F1</c:v>
                  </c:pt>
                  <c:pt idx="2">
                    <c:v>Macro F1</c:v>
                  </c:pt>
                </c:lvl>
              </c:multiLvlStrCache>
            </c:multiLvlStrRef>
          </c:cat>
          <c:val>
            <c:numRef>
              <c:f>Sheet1!$C$2:$C$4</c:f>
              <c:numCache>
                <c:formatCode>General</c:formatCode>
                <c:ptCount val="3"/>
                <c:pt idx="0">
                  <c:v>0.6849</c:v>
                </c:pt>
                <c:pt idx="1">
                  <c:v>0.5882</c:v>
                </c:pt>
                <c:pt idx="2">
                  <c:v>0.7424</c:v>
                </c:pt>
              </c:numCache>
            </c:numRef>
          </c:val>
        </c:ser>
        <c:dLbls>
          <c:numFmt formatCode="0.000" sourceLinked="0"/>
          <c:txPr>
            <a:bodyPr/>
            <a:lstStyle/>
            <a:p>
              <a:pPr>
                <a:defRPr b="0" i="0" strike="noStrike" sz="1100" u="none">
                  <a:solidFill>
                    <a:srgbClr val="17242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FB0B3"/>
            </a:solidFill>
            <a:prstDash val="solid"/>
            <a:round/>
          </a:ln>
        </c:spPr>
        <c:txPr>
          <a:bodyPr/>
          <a:lstStyle/>
          <a:p>
            <a:pPr>
              <a:defRPr sz="1200" b="0" i="0" u="none" strike="noStrike">
                <a:solidFill>
                  <a:srgbClr val="17242A"/>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6350" cap="flat">
              <a:solidFill>
                <a:srgbClr val="DCE5E4"/>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5A7A82"/>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1724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33D"/>
                </a:solidFill>
                <a:latin typeface="+mn-lt"/>
              </a:defRPr>
            </a:pPr>
            <a:r>
              <a:rPr sz="1300" b="0" i="0" u="none" strike="noStrike">
                <a:solidFill>
                  <a:srgbClr val="12333D"/>
                </a:solidFill>
                <a:latin typeface="+mn-lt"/>
              </a:rPr>
              <a:t>Mean macro F1, 17 datasets × 10 seeds, same sample indices</a:t>
            </a:r>
          </a:p>
        </c:rich>
      </c:tx>
      <c:layout/>
      <c:overlay val="0"/>
    </c:title>
    <c:autoTitleDeleted val="0"/>
    <c:plotArea>
      <c:layout/>
      <c:barChart>
        <c:barDir val="col"/>
        <c:grouping val="clustered"/>
        <c:varyColors val="0"/>
        <c:ser>
          <c:idx val="0"/>
          <c:order val="0"/>
          <c:tx>
            <c:strRef>
              <c:f>Sheet1!$B$1</c:f>
              <c:strCache>
                <c:ptCount val="1"/>
                <c:pt idx="0">
                  <c:v>Mean macro F1</c:v>
                </c:pt>
              </c:strCache>
            </c:strRef>
          </c:tx>
          <c:spPr>
            <a:solidFill>
              <a:srgbClr val="5A7A82"/>
            </a:solidFill>
            <a:effectLst/>
          </c:spPr>
          <c:invertIfNegative val="0"/>
          <c:dLbls>
            <c:numFmt formatCode="0.000" sourceLinked="0"/>
            <c:txPr>
              <a:bodyPr/>
              <a:lstStyle/>
              <a:p>
                <a:pPr>
                  <a:defRPr b="0" i="0" strike="noStrike" sz="1100" u="none">
                    <a:solidFill>
                      <a:srgbClr val="17242A"/>
                    </a:solidFill>
                    <a:latin typeface="+mn-lt"/>
                  </a:defRPr>
                </a:pPr>
              </a:p>
            </c:txPr>
            <c:showLegendKey val="0"/>
            <c:showVal val="1"/>
            <c:showCatName val="0"/>
            <c:showSerName val="0"/>
            <c:showPercent val="0"/>
            <c:showBubbleSize val="0"/>
            <c:showLeaderLines val="0"/>
          </c:dLbls>
          <c:dPt>
            <c:idx val="0"/>
            <c:invertIfNegative val="0"/>
            <c:bubble3D val="0"/>
            <c:spPr>
              <a:solidFill>
                <a:srgbClr val="5A7A82"/>
              </a:solidFill>
              <a:effectLst/>
            </c:spPr>
          </c:dPt>
          <c:dPt>
            <c:idx val="1"/>
            <c:invertIfNegative val="0"/>
            <c:bubble3D val="0"/>
            <c:spPr>
              <a:solidFill>
                <a:srgbClr val="00897B"/>
              </a:solidFill>
              <a:effectLst/>
            </c:spPr>
          </c:dPt>
          <c:dPt>
            <c:idx val="2"/>
            <c:invertIfNegative val="0"/>
            <c:bubble3D val="0"/>
            <c:spPr>
              <a:solidFill>
                <a:srgbClr val="00897B"/>
              </a:solidFill>
              <a:effectLst/>
            </c:spPr>
          </c:dPt>
          <c:dPt>
            <c:idx val="3"/>
            <c:invertIfNegative val="0"/>
            <c:bubble3D val="0"/>
            <c:spPr>
              <a:solidFill>
                <a:srgbClr val="00897B"/>
              </a:solidFill>
              <a:effectLst/>
            </c:spPr>
          </c:dPt>
          <c:dPt>
            <c:idx val="4"/>
            <c:invertIfNegative val="0"/>
            <c:bubble3D val="0"/>
            <c:spPr>
              <a:solidFill>
                <a:srgbClr val="00897B"/>
              </a:solidFill>
              <a:effectLst/>
            </c:spPr>
          </c:dPt>
          <c:dPt>
            <c:idx val="5"/>
            <c:invertIfNegative val="0"/>
            <c:bubble3D val="0"/>
            <c:spPr>
              <a:solidFill>
                <a:srgbClr val="00897B"/>
              </a:solidFill>
              <a:effectLst/>
            </c:spPr>
          </c:dPt>
          <c:dPt>
            <c:idx val="6"/>
            <c:invertIfNegative val="0"/>
            <c:bubble3D val="0"/>
            <c:spPr>
              <a:solidFill>
                <a:srgbClr val="B88200"/>
              </a:solidFill>
              <a:effectLst/>
            </c:spPr>
          </c:dPt>
          <c:dPt>
            <c:idx val="7"/>
            <c:invertIfNegative val="0"/>
            <c:bubble3D val="0"/>
            <c:spPr>
              <a:solidFill>
                <a:srgbClr val="C0492F"/>
              </a:solidFill>
              <a:effectLst/>
            </c:spPr>
          </c:dPt>
          <c:cat>
            <c:multiLvlStrRef>
              <c:f>Sheet1!$A$2:$A$9</c:f>
              <c:multiLvlStrCache>
                <c:ptCount val="8"/>
                <c:lvl>
                  <c:pt idx="0">
                    <c:v>Singleton (no balls)</c:v>
                  </c:pt>
                  <c:pt idx="1">
                    <c:v>Re-granulate ρ 0.80</c:v>
                  </c:pt>
                  <c:pt idx="2">
                    <c:v>ρ 0.85</c:v>
                  </c:pt>
                  <c:pt idx="3">
                    <c:v>ρ 0.90</c:v>
                  </c:pt>
                  <c:pt idx="4">
                    <c:v>ρ 0.95</c:v>
                  </c:pt>
                  <c:pt idx="5">
                    <c:v>ρ 0.98</c:v>
                  </c:pt>
                  <c:pt idx="6">
                    <c:v>Stratified sample</c:v>
                  </c:pt>
                  <c:pt idx="7">
                    <c:v>Full ρ 0.90</c:v>
                  </c:pt>
                </c:lvl>
              </c:multiLvlStrCache>
            </c:multiLvlStrRef>
          </c:cat>
          <c:val>
            <c:numRef>
              <c:f>Sheet1!$B$2:$B$9</c:f>
              <c:numCache>
                <c:formatCode>General</c:formatCode>
                <c:ptCount val="8"/>
                <c:pt idx="0">
                  <c:v>0.4775</c:v>
                </c:pt>
                <c:pt idx="1">
                  <c:v>0.6211</c:v>
                </c:pt>
                <c:pt idx="2">
                  <c:v>0.6193</c:v>
                </c:pt>
                <c:pt idx="3">
                  <c:v>0.6179</c:v>
                </c:pt>
                <c:pt idx="4">
                  <c:v>0.6116</c:v>
                </c:pt>
                <c:pt idx="5">
                  <c:v>0.6038</c:v>
                </c:pt>
                <c:pt idx="6">
                  <c:v>0.6179</c:v>
                </c:pt>
                <c:pt idx="7">
                  <c:v>0.584</c:v>
                </c:pt>
              </c:numCache>
            </c:numRef>
          </c:val>
        </c:ser>
        <c:dLbls>
          <c:numFmt formatCode="0.000" sourceLinked="0"/>
          <c:txPr>
            <a:bodyPr/>
            <a:lstStyle/>
            <a:p>
              <a:pPr>
                <a:defRPr b="0" i="0" strike="noStrike" sz="1100" u="none">
                  <a:solidFill>
                    <a:srgbClr val="17242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FB0B3"/>
            </a:solidFill>
            <a:prstDash val="solid"/>
            <a:round/>
          </a:ln>
        </c:spPr>
        <c:txPr>
          <a:bodyPr/>
          <a:lstStyle/>
          <a:p>
            <a:pPr>
              <a:defRPr sz="1100" b="0" i="0" u="none" strike="noStrike">
                <a:solidFill>
                  <a:srgbClr val="17242A"/>
                </a:solidFill>
                <a:latin typeface="+mn-lt"/>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DCE5E4"/>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5A7A82"/>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33D"/>
                </a:solidFill>
                <a:latin typeface="+mn-lt"/>
              </a:defRPr>
            </a:pPr>
            <a:r>
              <a:rPr sz="1300" b="0" i="0" u="none" strike="noStrike">
                <a:solidFill>
                  <a:srgbClr val="12333D"/>
                </a:solidFill>
                <a:latin typeface="+mn-lt"/>
              </a:rPr>
              <a:t>Tuned holdout, % (29 Sep report)</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5A7A82"/>
            </a:solidFill>
            <a:effectLst/>
          </c:spPr>
          <c:invertIfNegative val="0"/>
          <c:dLbls>
            <c:numFmt formatCode="0.0" sourceLinked="0"/>
            <c:txPr>
              <a:bodyPr/>
              <a:lstStyle/>
              <a:p>
                <a:pPr>
                  <a:defRPr b="0" i="0" strike="noStrike" sz="1000" u="none">
                    <a:solidFill>
                      <a:srgbClr val="17242A"/>
                    </a:solidFill>
                    <a:latin typeface="+mn-lt"/>
                  </a:defRPr>
                </a:pPr>
              </a:p>
            </c:txPr>
            <c:showLegendKey val="0"/>
            <c:showVal val="1"/>
            <c:showCatName val="0"/>
            <c:showSerName val="0"/>
            <c:showPercent val="0"/>
            <c:showBubbleSize val="0"/>
            <c:showLeaderLines val="0"/>
          </c:dLbls>
          <c:cat>
            <c:multiLvlStrRef>
              <c:f>Sheet1!$A$2:$A$5</c:f>
              <c:multiLvlStrCache>
                <c:ptCount val="4"/>
                <c:lvl>
                  <c:pt idx="0">
                    <c:v>M0</c:v>
                  </c:pt>
                  <c:pt idx="1">
                    <c:v>M1</c:v>
                  </c:pt>
                  <c:pt idx="2">
                    <c:v>M2</c:v>
                  </c:pt>
                  <c:pt idx="3">
                    <c:v>M3</c:v>
                  </c:pt>
                </c:lvl>
              </c:multiLvlStrCache>
            </c:multiLvlStrRef>
          </c:cat>
          <c:val>
            <c:numRef>
              <c:f>Sheet1!$B$2:$B$5</c:f>
              <c:numCache>
                <c:formatCode>General</c:formatCode>
                <c:ptCount val="4"/>
                <c:pt idx="0">
                  <c:v>87.72</c:v>
                </c:pt>
                <c:pt idx="1">
                  <c:v>94.74</c:v>
                </c:pt>
                <c:pt idx="2">
                  <c:v>88.6</c:v>
                </c:pt>
                <c:pt idx="3">
                  <c:v>94.74</c:v>
                </c:pt>
              </c:numCache>
            </c:numRef>
          </c:val>
        </c:ser>
        <c:ser>
          <c:idx val="1"/>
          <c:order val="1"/>
          <c:tx>
            <c:strRef>
              <c:f>Sheet1!$C$1</c:f>
              <c:strCache>
                <c:ptCount val="1"/>
                <c:pt idx="0">
                  <c:v>Balanced accuracy</c:v>
                </c:pt>
              </c:strCache>
            </c:strRef>
          </c:tx>
          <c:spPr>
            <a:solidFill>
              <a:srgbClr val="00897B"/>
            </a:solidFill>
            <a:effectLst/>
          </c:spPr>
          <c:invertIfNegative val="0"/>
          <c:dLbls>
            <c:numFmt formatCode="0.0" sourceLinked="0"/>
            <c:txPr>
              <a:bodyPr/>
              <a:lstStyle/>
              <a:p>
                <a:pPr>
                  <a:defRPr b="0" i="0" strike="noStrike" sz="1000" u="none">
                    <a:solidFill>
                      <a:srgbClr val="17242A"/>
                    </a:solidFill>
                    <a:latin typeface="+mn-lt"/>
                  </a:defRPr>
                </a:pPr>
              </a:p>
            </c:txPr>
            <c:showLegendKey val="0"/>
            <c:showVal val="1"/>
            <c:showCatName val="0"/>
            <c:showSerName val="0"/>
            <c:showPercent val="0"/>
            <c:showBubbleSize val="0"/>
            <c:showLeaderLines val="0"/>
          </c:dLbls>
          <c:cat>
            <c:multiLvlStrRef>
              <c:f>Sheet1!$A$2:$A$5</c:f>
              <c:multiLvlStrCache>
                <c:ptCount val="4"/>
                <c:lvl>
                  <c:pt idx="0">
                    <c:v>M0</c:v>
                  </c:pt>
                  <c:pt idx="1">
                    <c:v>M1</c:v>
                  </c:pt>
                  <c:pt idx="2">
                    <c:v>M2</c:v>
                  </c:pt>
                  <c:pt idx="3">
                    <c:v>M3</c:v>
                  </c:pt>
                </c:lvl>
              </c:multiLvlStrCache>
            </c:multiLvlStrRef>
          </c:cat>
          <c:val>
            <c:numRef>
              <c:f>Sheet1!$C$2:$C$5</c:f>
              <c:numCache>
                <c:formatCode>General</c:formatCode>
                <c:ptCount val="4"/>
                <c:pt idx="0">
                  <c:v>87.3</c:v>
                </c:pt>
                <c:pt idx="1">
                  <c:v>93.85</c:v>
                </c:pt>
                <c:pt idx="2">
                  <c:v>88</c:v>
                </c:pt>
                <c:pt idx="3">
                  <c:v>93.85</c:v>
                </c:pt>
              </c:numCache>
            </c:numRef>
          </c:val>
        </c:ser>
        <c:ser>
          <c:idx val="2"/>
          <c:order val="2"/>
          <c:tx>
            <c:strRef>
              <c:f>Sheet1!$D$1</c:f>
              <c:strCache>
                <c:ptCount val="1"/>
                <c:pt idx="0">
                  <c:v>Macro F1</c:v>
                </c:pt>
              </c:strCache>
            </c:strRef>
          </c:tx>
          <c:spPr>
            <a:solidFill>
              <a:srgbClr val="B88200"/>
            </a:solidFill>
            <a:effectLst/>
          </c:spPr>
          <c:invertIfNegative val="0"/>
          <c:dLbls>
            <c:numFmt formatCode="0.0" sourceLinked="0"/>
            <c:txPr>
              <a:bodyPr/>
              <a:lstStyle/>
              <a:p>
                <a:pPr>
                  <a:defRPr b="0" i="0" strike="noStrike" sz="1000" u="none">
                    <a:solidFill>
                      <a:srgbClr val="17242A"/>
                    </a:solidFill>
                    <a:latin typeface="+mn-lt"/>
                  </a:defRPr>
                </a:pPr>
              </a:p>
            </c:txPr>
            <c:showLegendKey val="0"/>
            <c:showVal val="1"/>
            <c:showCatName val="0"/>
            <c:showSerName val="0"/>
            <c:showPercent val="0"/>
            <c:showBubbleSize val="0"/>
            <c:showLeaderLines val="0"/>
          </c:dLbls>
          <c:cat>
            <c:multiLvlStrRef>
              <c:f>Sheet1!$A$2:$A$5</c:f>
              <c:multiLvlStrCache>
                <c:ptCount val="4"/>
                <c:lvl>
                  <c:pt idx="0">
                    <c:v>M0</c:v>
                  </c:pt>
                  <c:pt idx="1">
                    <c:v>M1</c:v>
                  </c:pt>
                  <c:pt idx="2">
                    <c:v>M2</c:v>
                  </c:pt>
                  <c:pt idx="3">
                    <c:v>M3</c:v>
                  </c:pt>
                </c:lvl>
              </c:multiLvlStrCache>
            </c:multiLvlStrRef>
          </c:cat>
          <c:val>
            <c:numRef>
              <c:f>Sheet1!$D$2:$D$5</c:f>
              <c:numCache>
                <c:formatCode>General</c:formatCode>
                <c:ptCount val="4"/>
                <c:pt idx="0">
                  <c:v>86.93</c:v>
                </c:pt>
                <c:pt idx="1">
                  <c:v>94.29</c:v>
                </c:pt>
                <c:pt idx="2">
                  <c:v>87.81</c:v>
                </c:pt>
                <c:pt idx="3">
                  <c:v>94.29</c:v>
                </c:pt>
              </c:numCache>
            </c:numRef>
          </c:val>
        </c:ser>
        <c:dLbls>
          <c:numFmt formatCode="0.0" sourceLinked="0"/>
          <c:txPr>
            <a:bodyPr/>
            <a:lstStyle/>
            <a:p>
              <a:pPr>
                <a:defRPr b="0" i="0" strike="noStrike" sz="1000" u="none">
                  <a:solidFill>
                    <a:srgbClr val="17242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FB0B3"/>
            </a:solidFill>
            <a:prstDash val="solid"/>
            <a:round/>
          </a:ln>
        </c:spPr>
        <c:txPr>
          <a:bodyPr/>
          <a:lstStyle/>
          <a:p>
            <a:pPr>
              <a:defRPr sz="1200" b="0" i="0" u="none" strike="noStrike">
                <a:solidFill>
                  <a:srgbClr val="17242A"/>
                </a:solidFill>
                <a:latin typeface="+mn-lt"/>
              </a:defRPr>
            </a:pPr>
            <a:endParaRPr lang="en-US"/>
          </a:p>
        </c:txPr>
        <c:crossAx val="2094734552"/>
        <c:crosses val="autoZero"/>
        <c:auto val="1"/>
        <c:lblAlgn val="ctr"/>
        <c:noMultiLvlLbl val="1"/>
      </c:catAx>
      <c:valAx>
        <c:axId val="2094734552"/>
        <c:scaling>
          <c:orientation val="minMax"/>
          <c:max val="100"/>
          <c:min val="80"/>
        </c:scaling>
        <c:delete val="0"/>
        <c:axPos val="l"/>
        <c:majorGridlines>
          <c:spPr>
            <a:ln w="6350" cap="flat">
              <a:solidFill>
                <a:srgbClr val="DCE5E4"/>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5A7A82"/>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200">
              <a:solidFill>
                <a:srgbClr val="17242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the record of what I did before the fuzzy-membership study. It covers four things: reproducing the GBLSTSVM baseline in Python and MATLAB, comparing two ways of building granular balls, a series of ideas for weighting balls inside the twin SVM, and finally the M0 to M3 models, where the classifier itself guides how balls are split. Most ideas did not beat a simple class-weighted baseline, and the reasons why shaped how the fuzzy study was set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order things happened. First I reproduced the published GBLSTSVM so I had a baseline I trusted. Then I looked at how the balls are built. Then, in seven working sessions, I tried to make some balls count more than others, first with class and reliability weights, then with weights based on each ball's neighbours, and then by changing how the balls are split. The last step, at the end of September, was M0 to M3, where the classifier's own planes decide which balls to split. The one-line summary is on the bottom: only class weighting gave a consistent gain, and the final session showed that the remaining gains came from compressing the data, which a random stratified sample does just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reminder of the model. A twin SVM fits two planes: plane 1 hugs the positive class and stays away from the negative class, and plane 2 does the opposite. A new point goes to the class whose plane is closer. The least squares version turns each plane into a single linear system, so training is fast. Granular balls compress the data: points are grouped into balls by repeated 2-means splitting until each ball is pure enough, and each ball is summarised by its centre, radius and majority label. GBLSTSVM fits the two planes to the ball centres instead of the points, and drops balls with only one point. In the picture, 170 points become 19 balls, and the crosses are the single-point balls that get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two closed-form solutions. A and B hold the ball centres of the two classes, and R holds their radii. For plane 1, the negative balls must sit at least one unit plus their radius away, which is why e plus R appears on the right. The code on the right is from my M0 to M3 generator and is the same system: build H and G by adding a column of ones, form the left-hand matrix, and solve. Using solve instead of an explicit inverse is one of the engineering choices from the reproduction. Every later weighting model changes this system by putting a weight on each ball's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changing anything, I rebuilt GBLSTSVM twice. The Python version follows the scikit-learn interface so it can be run in batch experiments, and the original script is kept untouched as a reference. On the same seed it produced exactly the same 18 balls and the same planes. The MATLAB version is used for checking the linear algebra and for 2-D pictures; it trains and tests breast cancer in under four hundredths of a second. This matters because every comparison later in the deck uses this same code with one thing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Reproducing a paper always turns up gaps between the equations and the code. I found four. The code uses two penalty constants, one per plane, which we kept because it helps with class imbalance. The radius was at one point mixed into the feature columns, which we separated. The code inverts a matrix; we solve the system instead, which is more stable. And a single k-means run can get stuck, so we use five replicates. None of these change the idea of the model, but they change numbers, so they are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builder starts from one big ball and keeps cutting impure balls in two with 2-means. The cut does not know where the class boundary is, so on curved data a ball can end up spanning both classes, and the purity threshold has to be tuned per dataset. ADPGBG, from Liao and co-authors, works the other way round: it grows each ball from a centre until it touches the nearest point of the other class, so a ball can never cross the boundary. There is no threshold to tune, and points that sit alone among the other class are flagged as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two-moons experiment. The old deck showed a MATLAB run where k-means made 75 balls with 278 overlapping pairs and ADPGBG made 7 balls with none. When I re-ran it in Python with the same generator code that the rest of the work uses, k-means made 37 balls and ADPGBG 23 at noise 0.2, and neither had overlapping balls of different classes. At the old noise level of 0.08 both made 9 balls. So the clean part of the story holds: ADPGBG uses fewer balls. The dramatic overlap number does not reproduce, and I think the MATLAB count included tiny balls or a larger radius definition, but I have not confirmed which. In the fuzzy study, round 5, ADPGBG did not improve accuracy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weighting models were tested the same way. Three imbalanced datasets from KEEL, a fixed split into training, validation and test, and fixed settings. Every model plugs a weight per ball into the same weighted least squares system shown on the right: the weight multiplies that ball's row, so a ball with weight 2 counts like two copies. The important design choice was the control. Weighting by class alone already helps imbalanced data, so a new ball weight only counts as useful if it beats the class-weighted model, CW, not just plain GBLSTSVM.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falsifiable question was: does a ball's reliability, meaning how pure and compact it is, add anything beyond class weighting? CW weights each ball by the inverse of its class frequency. R trusts pure, small balls more. CR multiplies the two. The table shows the result. CW helps a little on diabetes and vehicle0 on the tuned split but is negative on average over seeds. R and CR change almost nothing. The last row explains why: with a purity threshold of 0.95, every ball is almost pure, so the reliability is 0.995 or more for every ball and multiplying by it does nothing. On vehicle0 the CR and CW planes differ slightly, but not a single test prediction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BMRU asks: is this ball wider than its distance to the decision boundary? If the diameter is large compared with the margin at the centre, the ball probably straddles the boundary, so it gets a lower weight, and the planes are refitted a few times. In two dimensions, on the left of the picture, this looks sensible: none of the 20 balls is flagged. But on real data with 8 or more features, radii grow with the number of features. On pima, on the right, 166 of 195 balls are flagged even though none actually has members on both sides of the boundary. The original runs found the same: 98 percent of balls flagged against 0 to 5 percent really straddling. On vehicle0 it wiped out minority recall. So BMRU was dropped as a failed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overlap idea was: where a minority ball overlaps a majority ball, the boundary is contested, so give that minority ball more weight and the majority ball less. Overlap between two balls is how much the sum of the radii exceeds the distance between the centres, scaled to between 0 and 1. The chart shows the problem: with pure balls, most balls touch nothing. On ecoli2 every overlap score was exactly zero, and on diabetes 93 percent were. Even on vehicle0, the largest overlap was only 0.13. So the weights were almost identical to plain class weights and no metric moved. This was also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CBCM looks at each ball's neighbourhood instead of its own shape. For each ball, take its k nearest balls and work out, with Gaussian weights so closer balls count more, what fraction belong to the other class. That is the competition. A ball surrounded by its own class has competition 0; a ball whose neighbours are half the other class has competition one half. The membership 4 c times 1 minus c turns that into a weight that peaks at one half, so contested boundary balls get the most weight. CA uses only this part; CC also multiplies in a density term. In the picture the dark links go to neighbours of the other class, and the darker balls are the contested ones in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vehicle0 test split CA looked good: G-mean up from 0.61 to 0.68 and macro F1 up by five points. That is the bar chart. The table is what happened when I checked it properly. Under 5-fold cross-validation on the same dataset the gap shrank to one point, and the CC variant was no different from CW at all. Across 17 datasets CA was on average slightly worse than CW, better on only 7 of them, and on one dataset it collapsed. On ecoli2 a sanity check with injected noise showed CA rewarding the noisy balls, because noisy balls also look contested. So CA was marked promising but unstable and kept only as the reference for the next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follow-ups tried to stop CA from rewarding noise. IPA says a contested ball that is also far from any ball of its own class is probably noise, so its weight is divided by how isolated it is. Topo says a contested link only counts if it is mutual: ball i lists ball j among its nearest neighbours and j lists i back. In the picture the solid links are mutual and the dotted ones are one-way. SupportAware-Topo softens Topo when a ball has very few opposite-class neighbours. The table shows the results against CA. IPA helped on ecoli2 but hurt on vehicle0. Over 51 runs, Topo and SA-Topo won about as often as they lost. So this whole family of neighbourhood weights was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puts the weighting ideas side by side. Counting the variants, that is about ten ideas. The pattern is clear: anything that depends on purity or overlap does nothing because the balls are almost pure, and anything that depends on the margin or the neighbourhood is unstable from dataset to dataset. Only class weighting gave a gain, and that gain was small. This is the main reason the fuzzy study later insisted on cross-validation, many datasets and a fair baseline before believing any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Sessions 4 to 6 tried to change the ball builder itself. A diagnostic in Session 4 showed that 2-means often splits off a few minority points into a tiny ball, which is then deleted, so only 58 percent of minority points survive. The split-utility gate blocked those splits and kept 99 percent of minority points, but accuracy still went down. Splitting the most mixed ball first, or stopping at a fixed number of balls, were both worse than the plain builder at purity 0.90. A ranking experiment gave identical numbers for every ranking rule, which points to a bug rather than a finding. And a validation-chosen ball count looked significant until we noticed its control was not matched. The deletion problem at the bottom is exactly what the fuzzy study later measured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session was a careful ablation. Every method started from exactly the same subset of training points, checked by hash. Turning those points into balls, at any purity from 0.80 to 0.98, beat using the points one by one by about 13 to 14 points of macro F1, which looks like a big win for balls. But a plain stratified sample with the same number of points, the yellow bar, scored exactly the same as balls at purity 0.90. So the gain comes from compressing and rebalancing the data, not from anything special about balls. The recommendation in early September was to stop inventing new ball heuristics. M0 to M3, next, tested one last idea: letting the classifier guide the splitting. After that the project moved to fuzzy membership and to asking which points the balls throw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weighting experiments, the last idea was to change where balls are split. The original pipeline, on the left, only looks at purity. It cannot tell whether a ball is deep inside its class, where splitting is wasted, or right on the boundary, where finer balls could move the planes. My first attempt had a flaw: it multiplied entropy by the boundary signal, so a pure ball on the boundary scored zero and was never refined. Also, the reliability weights from earlier were computed but never actually entered the solver. The M0 to M3 design fixes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M1 is margin-guided generation. Start from coarse balls, fit provisional planes, and score each ball by how unsure the planes are about it: if a ball centre is about equally far from both planes, its ambiguity is close to 1. That is mixed with an overlap term into a boundary signal, and with label entropy and a size factor into a refinement score. High-scoring balls are split with 2-means, but the split is only kept if the children's score drops by more than a small complexity penalty. Then the planes are refitted and the loop repeats. In the picture, darker balls on the left have higher scores, and the black-outlined balls on the right came from accepted splits. Most new balls sit in the middle where the moons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code behind M1. Top left is the ambiguity: the distances from the ball centre to both planes, normalised, and one minus their relative gap. Top right combines ambiguity and overlap into the boundary signal and the refinement score. Bottom left is the acceptance rule: a split replaces the parent with its two children only if the gain beats the minimum. One honest caveat on the right: the code I have still uses the multiplicative score, which gives pure balls a score of zero. The 29 September report describes the fixed additive score, so the two should be brought in line before anything is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M2 leaves the balls alone and changes their weights. The reliability of a ball is a cautious estimate of its purity: the lower end of a 95 percent interval from a Beta distribution, so a ball of 2 points that agree gets a much lower value than a ball of 50 points that agree. That is multiplied by one plus a boost times the boundary signal, so informative boundary balls count a bit more, and the weights are rescaled to mean 1 within each class so they do not silently change c1 and c2. In the picture, 13 balls are shaded by weight, which ranges from 0.12 to 1.29 here; the numbers are written on the larger balls. The tiny balls get small weights because their purity interval is 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M0 to M3 is a two by two design: better splitting on or off, weights on or off. That way a gain in M3 can be traced to one of the two ideas. Tuning is done only by cross-validation on the training part, in three stages, and the test split is touched once at the end. The diagnostics on the right were added because of the earlier sessions: several models there turned out to change nothing at all, and accuracy alone does not reveal that. Counting accepted splits and the share of predictions that changed tells us immediately whether a mechanism is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tuned results from the 29 September report. Margin-guided generation, M1, raised accuracy from 87.7 to 94.7 percent, and balanced accuracy and macro F1 rose by the same amount. It changed 14 percent of predictions, so the mechanism really did something. Interestingly the tuned M1 ended up with only 3 balls. Weighting, M2, changed less than one percent of predictions, and M3 made exactly the same predictions as M1. The caveat matters: this is one dataset and one split, and the untuned runs saved with the code show the opposite pattern. The plan at that point was to test the fixed benchmark collection before claiming anything, which is where the fuzzy study picked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nine papers came up while positioning the work. Several of them already cover what we tried: entropy on balls, boundary-aware generation, overlap and radius tuning, and two papers that already put fuzzy or intuitionistic fuzzy weights on granular balls in a twin SVM. That means a paper cannot claim fuzzy ball weights as new in themselves. It has to say something narrower and testable, which is how the fuzzy study ended up as an analysis of where balls help and where they hurt.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four lessons from this phase and how each one shaped the fuzzy study. First, always compare with a fair baseline; here that was class weighting, and later it was plain LSTSVM under the same cross-validation. Second, when balls are pure, any weight built from purity or overlap is flat; the fuzzy study later showed that over 99 percent of k-means balls are pure. Third, deleting small balls throws away minority and boundary points; the fuzzy study measured this and found that simply keeping single-point balls lifts GBLSTSVM by about three points. Fourth, single splits mislead, so everything since then uses cross-validation over 21 datasets and corrected significance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for the papers and code mentioned in this deck. The last entry is my own research code, which holds every model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25880"/>
            <a:ext cx="7589520" cy="23774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931920"/>
            <a:ext cx="7589520" cy="17373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lstStyle>
            <a:lvl1pPr algn="l" indent="0" marL="0">
              <a:buNone/>
              <a:defRPr lang="en-US" sz="1200" b="1" dirty="0">
                <a:solidFill>
                  <a:schemeClr val="accent6"/>
                </a:solidFill>
              </a:defRPr>
            </a:lvl1pPr>
          </a:lstStyle>
          <a:p>
            <a:pPr algn="l" indent="0" marL="0">
              <a:buNone/>
            </a:pP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p:nvPr/>
        </p:nvSpPr>
        <p:spPr>
          <a:xfrm>
            <a:off x="548640" y="6419088"/>
            <a:ext cx="7315200" cy="274320"/>
          </a:xfrm>
          <a:prstGeom prst="rect">
            <a:avLst/>
          </a:prstGeom>
          <a:noFill/>
          <a:ln/>
        </p:spPr>
        <p:txBody>
          <a:bodyPr wrap="square" rtlCol="0" anchor="ctr"/>
          <a:lstStyle/>
          <a:p>
            <a:pPr indent="0" marL="0">
              <a:buNone/>
            </a:pPr>
            <a:r>
              <a:rPr lang="en-US" sz="1000" dirty="0">
                <a:solidFill>
                  <a:schemeClr val="accent6"/>
                </a:solidFill>
              </a:rPr>
              <a:t>GBLSTSVM · Work done before the fuzzy study</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325880"/>
            <a:ext cx="7589520" cy="2377440"/>
          </a:xfrm>
          <a:prstGeom prst="rect">
            <a:avLst/>
          </a:prstGeom>
          <a:noFill/>
          <a:ln/>
        </p:spPr>
        <p:txBody>
          <a:bodyPr wrap="square" rtlCol="0" anchor="b"/>
          <a:lstStyle/>
          <a:p>
            <a:pPr algn="l" indent="0" marL="0">
              <a:buNone/>
            </a:pPr>
            <a:r>
              <a:rPr lang="en-US" sz="4000" b="1" dirty="0">
                <a:solidFill>
                  <a:schemeClr val="bg1"/>
                </a:solidFill>
              </a:rPr>
              <a:t>GBLSTSVM Groundwork Before the Fuzzy Study</a:t>
            </a:r>
            <a:endParaRPr lang="en-US" sz="4000" dirty="0"/>
          </a:p>
        </p:txBody>
      </p:sp>
      <p:sp>
        <p:nvSpPr>
          <p:cNvPr id="3" name="Text 0"/>
          <p:cNvSpPr/>
          <p:nvPr>
            <p:ph idx="101" type="body" hasCustomPrompt="1"/>
          </p:nvPr>
        </p:nvSpPr>
        <p:spPr>
          <a:xfrm>
            <a:off x="731520" y="3931920"/>
            <a:ext cx="7589520" cy="1737360"/>
          </a:xfrm>
          <a:prstGeom prst="rect">
            <a:avLst/>
          </a:prstGeom>
          <a:noFill/>
          <a:ln/>
        </p:spPr>
        <p:txBody>
          <a:bodyPr wrap="square" rtlCol="0" anchor="t"/>
          <a:lstStyle/>
          <a:p>
            <a:pPr algn="l" indent="0" marL="0">
              <a:buNone/>
            </a:pPr>
            <a:r>
              <a:rPr lang="en-US" sz="1800" dirty="0">
                <a:solidFill>
                  <a:schemeClr val="bg2"/>
                </a:solidFill>
              </a:rPr>
              <a:t>Baseline reproduction, ball generation, ten ball-weighting ideas and the M0–M3 classifier-guided models</a:t>
            </a:r>
            <a:endParaRPr lang="en-US" sz="1800" dirty="0"/>
          </a:p>
          <a:p>
            <a:pPr algn="l" indent="0" marL="0">
              <a:spcBef>
                <a:spcPts val="1400"/>
              </a:spcBef>
              <a:buNone/>
            </a:pPr>
            <a:r>
              <a:rPr lang="en-US" sz="1500" dirty="0">
                <a:solidFill>
                  <a:schemeClr val="bg2"/>
                </a:solidFill>
              </a:rPr>
              <a:t>Work done August to September 2026 · Jayagna</a:t>
            </a:r>
            <a:endParaRPr lang="en-US" sz="1800" dirty="0"/>
          </a:p>
        </p:txBody>
      </p:sp>
      <p:sp>
        <p:nvSpPr>
          <p:cNvPr id="4" name="ball-motif"/>
          <p:cNvSpPr/>
          <p:nvPr/>
        </p:nvSpPr>
        <p:spPr>
          <a:xfrm>
            <a:off x="8732520" y="960120"/>
            <a:ext cx="1325880" cy="1325880"/>
          </a:xfrm>
          <a:prstGeom prst="ellipse">
            <a:avLst/>
          </a:prstGeom>
          <a:solidFill>
            <a:schemeClr val="accent1">
              <a:alpha val="75000"/>
            </a:schemeClr>
          </a:solidFill>
          <a:ln w="12700">
            <a:solidFill>
              <a:schemeClr val="bg1"/>
            </a:solidFill>
            <a:prstDash val="solid"/>
          </a:ln>
        </p:spPr>
      </p:sp>
      <p:sp>
        <p:nvSpPr>
          <p:cNvPr id="5" name="ball-motif"/>
          <p:cNvSpPr/>
          <p:nvPr/>
        </p:nvSpPr>
        <p:spPr>
          <a:xfrm>
            <a:off x="10012680" y="640080"/>
            <a:ext cx="777240" cy="777240"/>
          </a:xfrm>
          <a:prstGeom prst="ellipse">
            <a:avLst/>
          </a:prstGeom>
          <a:solidFill>
            <a:schemeClr val="accent1">
              <a:alpha val="75000"/>
            </a:schemeClr>
          </a:solidFill>
          <a:ln w="12700">
            <a:solidFill>
              <a:schemeClr val="bg1"/>
            </a:solidFill>
            <a:prstDash val="solid"/>
          </a:ln>
        </p:spPr>
      </p:sp>
      <p:sp>
        <p:nvSpPr>
          <p:cNvPr id="6" name="ball-motif"/>
          <p:cNvSpPr/>
          <p:nvPr/>
        </p:nvSpPr>
        <p:spPr>
          <a:xfrm>
            <a:off x="9006840" y="2468880"/>
            <a:ext cx="868680" cy="868680"/>
          </a:xfrm>
          <a:prstGeom prst="ellipse">
            <a:avLst/>
          </a:prstGeom>
          <a:solidFill>
            <a:schemeClr val="accent1">
              <a:alpha val="75000"/>
            </a:schemeClr>
          </a:solidFill>
          <a:ln w="12700">
            <a:solidFill>
              <a:schemeClr val="bg1"/>
            </a:solidFill>
            <a:prstDash val="solid"/>
          </a:ln>
        </p:spPr>
      </p:sp>
      <p:sp>
        <p:nvSpPr>
          <p:cNvPr id="7" name="ball-motif"/>
          <p:cNvSpPr/>
          <p:nvPr/>
        </p:nvSpPr>
        <p:spPr>
          <a:xfrm>
            <a:off x="10058400" y="1691640"/>
            <a:ext cx="502920" cy="502920"/>
          </a:xfrm>
          <a:prstGeom prst="ellipse">
            <a:avLst/>
          </a:prstGeom>
          <a:solidFill>
            <a:schemeClr val="accent1">
              <a:alpha val="75000"/>
            </a:schemeClr>
          </a:solidFill>
          <a:ln w="12700">
            <a:solidFill>
              <a:schemeClr val="bg1"/>
            </a:solidFill>
            <a:prstDash val="solid"/>
          </a:ln>
        </p:spPr>
      </p:sp>
      <p:sp>
        <p:nvSpPr>
          <p:cNvPr id="8" name="ball-motif"/>
          <p:cNvSpPr/>
          <p:nvPr/>
        </p:nvSpPr>
        <p:spPr>
          <a:xfrm>
            <a:off x="9829800" y="2697480"/>
            <a:ext cx="292608" cy="292608"/>
          </a:xfrm>
          <a:prstGeom prst="ellipse">
            <a:avLst/>
          </a:prstGeom>
          <a:solidFill>
            <a:schemeClr val="accent1">
              <a:alpha val="75000"/>
            </a:schemeClr>
          </a:solidFill>
          <a:ln w="12700">
            <a:solidFill>
              <a:schemeClr val="bg1"/>
            </a:solidFill>
            <a:prstDash val="solid"/>
          </a:ln>
        </p:spPr>
      </p:sp>
      <p:sp>
        <p:nvSpPr>
          <p:cNvPr id="9" name="ball-motif"/>
          <p:cNvSpPr/>
          <p:nvPr/>
        </p:nvSpPr>
        <p:spPr>
          <a:xfrm>
            <a:off x="10469880" y="3246120"/>
            <a:ext cx="1188720" cy="1188720"/>
          </a:xfrm>
          <a:prstGeom prst="ellipse">
            <a:avLst/>
          </a:prstGeom>
          <a:solidFill>
            <a:schemeClr val="accent5">
              <a:alpha val="75000"/>
            </a:schemeClr>
          </a:solidFill>
          <a:ln w="12700">
            <a:solidFill>
              <a:schemeClr val="bg1"/>
            </a:solidFill>
            <a:prstDash val="solid"/>
          </a:ln>
        </p:spPr>
      </p:sp>
      <p:sp>
        <p:nvSpPr>
          <p:cNvPr id="10" name="ball-motif"/>
          <p:cNvSpPr/>
          <p:nvPr/>
        </p:nvSpPr>
        <p:spPr>
          <a:xfrm>
            <a:off x="9372600" y="4160520"/>
            <a:ext cx="960120" cy="960120"/>
          </a:xfrm>
          <a:prstGeom prst="ellipse">
            <a:avLst/>
          </a:prstGeom>
          <a:solidFill>
            <a:schemeClr val="accent5">
              <a:alpha val="75000"/>
            </a:schemeClr>
          </a:solidFill>
          <a:ln w="12700">
            <a:solidFill>
              <a:schemeClr val="bg1"/>
            </a:solidFill>
            <a:prstDash val="solid"/>
          </a:ln>
        </p:spPr>
      </p:sp>
      <p:sp>
        <p:nvSpPr>
          <p:cNvPr id="11" name="ball-motif"/>
          <p:cNvSpPr/>
          <p:nvPr/>
        </p:nvSpPr>
        <p:spPr>
          <a:xfrm>
            <a:off x="10835640" y="4709160"/>
            <a:ext cx="731520" cy="731520"/>
          </a:xfrm>
          <a:prstGeom prst="ellipse">
            <a:avLst/>
          </a:prstGeom>
          <a:solidFill>
            <a:schemeClr val="accent5">
              <a:alpha val="75000"/>
            </a:schemeClr>
          </a:solidFill>
          <a:ln w="12700">
            <a:solidFill>
              <a:schemeClr val="bg1"/>
            </a:solidFill>
            <a:prstDash val="solid"/>
          </a:ln>
        </p:spPr>
      </p:sp>
      <p:sp>
        <p:nvSpPr>
          <p:cNvPr id="12" name="ball-motif"/>
          <p:cNvSpPr/>
          <p:nvPr/>
        </p:nvSpPr>
        <p:spPr>
          <a:xfrm>
            <a:off x="10241280" y="4572000"/>
            <a:ext cx="347472" cy="347472"/>
          </a:xfrm>
          <a:prstGeom prst="ellipse">
            <a:avLst/>
          </a:prstGeom>
          <a:solidFill>
            <a:schemeClr val="accent5">
              <a:alpha val="75000"/>
            </a:schemeClr>
          </a:solidFill>
          <a:ln w="12700">
            <a:solidFill>
              <a:schemeClr val="bg1"/>
            </a:solidFill>
            <a:prstDash val="solid"/>
          </a:ln>
        </p:spPr>
      </p:sp>
      <p:sp>
        <p:nvSpPr>
          <p:cNvPr id="13" name="ball-motif"/>
          <p:cNvSpPr/>
          <p:nvPr/>
        </p:nvSpPr>
        <p:spPr>
          <a:xfrm>
            <a:off x="11292840" y="2697480"/>
            <a:ext cx="457200" cy="457200"/>
          </a:xfrm>
          <a:prstGeom prst="ellipse">
            <a:avLst/>
          </a:prstGeom>
          <a:solidFill>
            <a:schemeClr val="accent5">
              <a:alpha val="75000"/>
            </a:schemeClr>
          </a:solidFill>
          <a:ln w="12700">
            <a:solidFill>
              <a:schemeClr val="bg1"/>
            </a:solidFill>
            <a:prstDash val="solid"/>
          </a:ln>
        </p:spPr>
      </p:sp>
      <p:sp>
        <p:nvSpPr>
          <p:cNvPr id="14" name="plane-1"/>
          <p:cNvSpPr/>
          <p:nvPr/>
        </p:nvSpPr>
        <p:spPr>
          <a:xfrm flipV="1">
            <a:off x="8366760" y="502920"/>
            <a:ext cx="2834640" cy="3383280"/>
          </a:xfrm>
          <a:prstGeom prst="line">
            <a:avLst/>
          </a:prstGeom>
          <a:noFill/>
          <a:ln w="31750">
            <a:solidFill>
              <a:schemeClr val="accent1"/>
            </a:solidFill>
            <a:prstDash val="solid"/>
          </a:ln>
        </p:spPr>
      </p:sp>
      <p:sp>
        <p:nvSpPr>
          <p:cNvPr id="15" name="plane-2"/>
          <p:cNvSpPr/>
          <p:nvPr/>
        </p:nvSpPr>
        <p:spPr>
          <a:xfrm flipV="1">
            <a:off x="9098280" y="2514600"/>
            <a:ext cx="2788920" cy="3566160"/>
          </a:xfrm>
          <a:prstGeom prst="line">
            <a:avLst/>
          </a:prstGeom>
          <a:noFill/>
          <a:ln w="31750">
            <a:solidFill>
              <a:schemeClr val="accent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OVERVIEW</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Six steps from August to September</a:t>
            </a:r>
            <a:endParaRPr lang="en-US" sz="2800" dirty="0"/>
          </a:p>
        </p:txBody>
      </p:sp>
      <p:sp>
        <p:nvSpPr>
          <p:cNvPr id="4" name="card"/>
          <p:cNvSpPr/>
          <p:nvPr/>
        </p:nvSpPr>
        <p:spPr>
          <a:xfrm>
            <a:off x="548640" y="1600200"/>
            <a:ext cx="1792224" cy="3749040"/>
          </a:xfrm>
          <a:prstGeom prst="roundRect">
            <a:avLst>
              <a:gd name="adj" fmla="val 5102"/>
            </a:avLst>
          </a:prstGeom>
          <a:solidFill>
            <a:schemeClr val="bg2"/>
          </a:solidFill>
          <a:ln w="9525">
            <a:solidFill>
              <a:schemeClr val="bg2"/>
            </a:solidFill>
            <a:prstDash val="solid"/>
          </a:ln>
        </p:spPr>
      </p:sp>
      <p:sp>
        <p:nvSpPr>
          <p:cNvPr id="5" name="badge"/>
          <p:cNvSpPr/>
          <p:nvPr/>
        </p:nvSpPr>
        <p:spPr>
          <a:xfrm>
            <a:off x="731520" y="1783080"/>
            <a:ext cx="502920" cy="502920"/>
          </a:xfrm>
          <a:prstGeom prst="ellipse">
            <a:avLst/>
          </a:prstGeom>
          <a:solidFill>
            <a:schemeClr val="tx2"/>
          </a:solidFill>
          <a:ln w="12700">
            <a:solidFill>
              <a:schemeClr val="tx2"/>
            </a:solidFill>
            <a:prstDash val="solid"/>
          </a:ln>
        </p:spPr>
      </p:sp>
      <p:sp>
        <p:nvSpPr>
          <p:cNvPr id="6" name="Text 4"/>
          <p:cNvSpPr txBox="1"/>
          <p:nvPr/>
        </p:nvSpPr>
        <p:spPr>
          <a:xfrm>
            <a:off x="731520" y="178308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7" name="Text 5"/>
          <p:cNvSpPr txBox="1"/>
          <p:nvPr/>
        </p:nvSpPr>
        <p:spPr>
          <a:xfrm>
            <a:off x="731520" y="2468880"/>
            <a:ext cx="1426464" cy="274320"/>
          </a:xfrm>
          <a:prstGeom prst="rect">
            <a:avLst/>
          </a:prstGeom>
          <a:noFill/>
          <a:ln/>
        </p:spPr>
        <p:txBody>
          <a:bodyPr wrap="square" lIns="0" tIns="0" rIns="0" bIns="0" rtlCol="0" anchor="t"/>
          <a:lstStyle/>
          <a:p>
            <a:pPr indent="0" marL="0">
              <a:buNone/>
            </a:pPr>
            <a:r>
              <a:rPr lang="en-US" sz="1200" b="1" dirty="0">
                <a:solidFill>
                  <a:schemeClr val="accent6"/>
                </a:solidFill>
              </a:rPr>
              <a:t>Aug</a:t>
            </a:r>
            <a:endParaRPr lang="en-US" sz="1200" dirty="0"/>
          </a:p>
        </p:txBody>
      </p:sp>
      <p:sp>
        <p:nvSpPr>
          <p:cNvPr id="8" name="Text 6"/>
          <p:cNvSpPr txBox="1"/>
          <p:nvPr/>
        </p:nvSpPr>
        <p:spPr>
          <a:xfrm>
            <a:off x="731520" y="2788920"/>
            <a:ext cx="1426464" cy="777240"/>
          </a:xfrm>
          <a:prstGeom prst="rect">
            <a:avLst/>
          </a:prstGeom>
          <a:noFill/>
          <a:ln/>
        </p:spPr>
        <p:txBody>
          <a:bodyPr wrap="square" lIns="0" tIns="0" rIns="0" bIns="0" rtlCol="0" anchor="t"/>
          <a:lstStyle/>
          <a:p>
            <a:pPr indent="0" marL="0">
              <a:buNone/>
            </a:pPr>
            <a:r>
              <a:rPr lang="en-US" sz="1600" b="1" dirty="0">
                <a:solidFill>
                  <a:schemeClr val="tx2"/>
                </a:solidFill>
              </a:rPr>
              <a:t>Reproduce the baseline</a:t>
            </a:r>
            <a:endParaRPr lang="en-US" sz="1600" dirty="0"/>
          </a:p>
        </p:txBody>
      </p:sp>
      <p:sp>
        <p:nvSpPr>
          <p:cNvPr id="9" name="Text 7"/>
          <p:cNvSpPr txBox="1"/>
          <p:nvPr/>
        </p:nvSpPr>
        <p:spPr>
          <a:xfrm>
            <a:off x="731520" y="3611880"/>
            <a:ext cx="1426464" cy="1645920"/>
          </a:xfrm>
          <a:prstGeom prst="rect">
            <a:avLst/>
          </a:prstGeom>
          <a:noFill/>
          <a:ln/>
        </p:spPr>
        <p:txBody>
          <a:bodyPr wrap="square" lIns="0" tIns="0" rIns="0" bIns="0" rtlCol="0" anchor="t"/>
          <a:lstStyle/>
          <a:p>
            <a:pPr indent="0" marL="0">
              <a:buNone/>
            </a:pPr>
            <a:r>
              <a:rPr lang="en-US" sz="1300" dirty="0">
                <a:solidFill>
                  <a:schemeClr val="tx1"/>
                </a:solidFill>
              </a:rPr>
              <a:t>Python and MATLAB versions of GBLSTSVM give the same balls and planes.</a:t>
            </a:r>
            <a:endParaRPr lang="en-US" sz="1300" dirty="0"/>
          </a:p>
        </p:txBody>
      </p:sp>
      <p:sp>
        <p:nvSpPr>
          <p:cNvPr id="10" name="timeline-link"/>
          <p:cNvSpPr/>
          <p:nvPr/>
        </p:nvSpPr>
        <p:spPr>
          <a:xfrm>
            <a:off x="1261872" y="2034540"/>
            <a:ext cx="1335024" cy="0"/>
          </a:xfrm>
          <a:prstGeom prst="line">
            <a:avLst/>
          </a:prstGeom>
          <a:noFill/>
          <a:ln w="12700">
            <a:solidFill>
              <a:schemeClr val="accent6"/>
            </a:solidFill>
            <a:prstDash val="dash"/>
          </a:ln>
        </p:spPr>
      </p:sp>
      <p:sp>
        <p:nvSpPr>
          <p:cNvPr id="11" name="card"/>
          <p:cNvSpPr/>
          <p:nvPr/>
        </p:nvSpPr>
        <p:spPr>
          <a:xfrm>
            <a:off x="2414016" y="1600200"/>
            <a:ext cx="1792224" cy="3749040"/>
          </a:xfrm>
          <a:prstGeom prst="roundRect">
            <a:avLst>
              <a:gd name="adj" fmla="val 5102"/>
            </a:avLst>
          </a:prstGeom>
          <a:solidFill>
            <a:schemeClr val="bg2"/>
          </a:solidFill>
          <a:ln w="9525">
            <a:solidFill>
              <a:schemeClr val="bg2"/>
            </a:solidFill>
            <a:prstDash val="solid"/>
          </a:ln>
        </p:spPr>
      </p:sp>
      <p:sp>
        <p:nvSpPr>
          <p:cNvPr id="12" name="badge"/>
          <p:cNvSpPr/>
          <p:nvPr/>
        </p:nvSpPr>
        <p:spPr>
          <a:xfrm>
            <a:off x="2596896" y="1783080"/>
            <a:ext cx="502920" cy="502920"/>
          </a:xfrm>
          <a:prstGeom prst="ellipse">
            <a:avLst/>
          </a:prstGeom>
          <a:solidFill>
            <a:schemeClr val="tx2"/>
          </a:solidFill>
          <a:ln w="12700">
            <a:solidFill>
              <a:schemeClr val="tx2"/>
            </a:solidFill>
            <a:prstDash val="solid"/>
          </a:ln>
        </p:spPr>
      </p:sp>
      <p:sp>
        <p:nvSpPr>
          <p:cNvPr id="13" name="Text 11"/>
          <p:cNvSpPr txBox="1"/>
          <p:nvPr/>
        </p:nvSpPr>
        <p:spPr>
          <a:xfrm>
            <a:off x="2596896" y="178308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4" name="Text 12"/>
          <p:cNvSpPr txBox="1"/>
          <p:nvPr/>
        </p:nvSpPr>
        <p:spPr>
          <a:xfrm>
            <a:off x="2596896" y="2468880"/>
            <a:ext cx="1426464" cy="274320"/>
          </a:xfrm>
          <a:prstGeom prst="rect">
            <a:avLst/>
          </a:prstGeom>
          <a:noFill/>
          <a:ln/>
        </p:spPr>
        <p:txBody>
          <a:bodyPr wrap="square" lIns="0" tIns="0" rIns="0" bIns="0" rtlCol="0" anchor="t"/>
          <a:lstStyle/>
          <a:p>
            <a:pPr indent="0" marL="0">
              <a:buNone/>
            </a:pPr>
            <a:r>
              <a:rPr lang="en-US" sz="1200" b="1" dirty="0">
                <a:solidFill>
                  <a:schemeClr val="accent6"/>
                </a:solidFill>
              </a:rPr>
              <a:t>Aug</a:t>
            </a:r>
            <a:endParaRPr lang="en-US" sz="1200" dirty="0"/>
          </a:p>
        </p:txBody>
      </p:sp>
      <p:sp>
        <p:nvSpPr>
          <p:cNvPr id="15" name="Text 13"/>
          <p:cNvSpPr txBox="1"/>
          <p:nvPr/>
        </p:nvSpPr>
        <p:spPr>
          <a:xfrm>
            <a:off x="2596896" y="2788920"/>
            <a:ext cx="1426464" cy="777240"/>
          </a:xfrm>
          <a:prstGeom prst="rect">
            <a:avLst/>
          </a:prstGeom>
          <a:noFill/>
          <a:ln/>
        </p:spPr>
        <p:txBody>
          <a:bodyPr wrap="square" lIns="0" tIns="0" rIns="0" bIns="0" rtlCol="0" anchor="t"/>
          <a:lstStyle/>
          <a:p>
            <a:pPr indent="0" marL="0">
              <a:buNone/>
            </a:pPr>
            <a:r>
              <a:rPr lang="en-US" sz="1600" b="1" dirty="0">
                <a:solidFill>
                  <a:schemeClr val="tx2"/>
                </a:solidFill>
              </a:rPr>
              <a:t>Ball generation</a:t>
            </a:r>
            <a:endParaRPr lang="en-US" sz="1600" dirty="0"/>
          </a:p>
        </p:txBody>
      </p:sp>
      <p:sp>
        <p:nvSpPr>
          <p:cNvPr id="16" name="Text 14"/>
          <p:cNvSpPr txBox="1"/>
          <p:nvPr/>
        </p:nvSpPr>
        <p:spPr>
          <a:xfrm>
            <a:off x="2596896" y="3611880"/>
            <a:ext cx="1426464" cy="1645920"/>
          </a:xfrm>
          <a:prstGeom prst="rect">
            <a:avLst/>
          </a:prstGeom>
          <a:noFill/>
          <a:ln/>
        </p:spPr>
        <p:txBody>
          <a:bodyPr wrap="square" lIns="0" tIns="0" rIns="0" bIns="0" rtlCol="0" anchor="t"/>
          <a:lstStyle/>
          <a:p>
            <a:pPr indent="0" marL="0">
              <a:buNone/>
            </a:pPr>
            <a:r>
              <a:rPr lang="en-US" sz="1300" dirty="0">
                <a:solidFill>
                  <a:schemeClr val="tx1"/>
                </a:solidFill>
              </a:rPr>
              <a:t>K-means splitting compared with the ADPGBG builder on two moons.</a:t>
            </a:r>
            <a:endParaRPr lang="en-US" sz="1300" dirty="0"/>
          </a:p>
        </p:txBody>
      </p:sp>
      <p:sp>
        <p:nvSpPr>
          <p:cNvPr id="17" name="timeline-link"/>
          <p:cNvSpPr/>
          <p:nvPr/>
        </p:nvSpPr>
        <p:spPr>
          <a:xfrm>
            <a:off x="3127248" y="2034540"/>
            <a:ext cx="1335024" cy="0"/>
          </a:xfrm>
          <a:prstGeom prst="line">
            <a:avLst/>
          </a:prstGeom>
          <a:noFill/>
          <a:ln w="12700">
            <a:solidFill>
              <a:schemeClr val="accent6"/>
            </a:solidFill>
            <a:prstDash val="dash"/>
          </a:ln>
        </p:spPr>
      </p:sp>
      <p:sp>
        <p:nvSpPr>
          <p:cNvPr id="18" name="card"/>
          <p:cNvSpPr/>
          <p:nvPr/>
        </p:nvSpPr>
        <p:spPr>
          <a:xfrm>
            <a:off x="4279392" y="1600200"/>
            <a:ext cx="1792224" cy="3749040"/>
          </a:xfrm>
          <a:prstGeom prst="roundRect">
            <a:avLst>
              <a:gd name="adj" fmla="val 5102"/>
            </a:avLst>
          </a:prstGeom>
          <a:solidFill>
            <a:schemeClr val="bg2"/>
          </a:solidFill>
          <a:ln w="9525">
            <a:solidFill>
              <a:schemeClr val="bg2"/>
            </a:solidFill>
            <a:prstDash val="solid"/>
          </a:ln>
        </p:spPr>
      </p:sp>
      <p:sp>
        <p:nvSpPr>
          <p:cNvPr id="19" name="badge"/>
          <p:cNvSpPr/>
          <p:nvPr/>
        </p:nvSpPr>
        <p:spPr>
          <a:xfrm>
            <a:off x="4462272" y="1783080"/>
            <a:ext cx="502920" cy="502920"/>
          </a:xfrm>
          <a:prstGeom prst="ellipse">
            <a:avLst/>
          </a:prstGeom>
          <a:solidFill>
            <a:schemeClr val="tx2"/>
          </a:solidFill>
          <a:ln w="12700">
            <a:solidFill>
              <a:schemeClr val="tx2"/>
            </a:solidFill>
            <a:prstDash val="solid"/>
          </a:ln>
        </p:spPr>
      </p:sp>
      <p:sp>
        <p:nvSpPr>
          <p:cNvPr id="20" name="Text 18"/>
          <p:cNvSpPr txBox="1"/>
          <p:nvPr/>
        </p:nvSpPr>
        <p:spPr>
          <a:xfrm>
            <a:off x="4462272" y="178308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21" name="Text 19"/>
          <p:cNvSpPr txBox="1"/>
          <p:nvPr/>
        </p:nvSpPr>
        <p:spPr>
          <a:xfrm>
            <a:off x="4462272" y="2468880"/>
            <a:ext cx="1426464" cy="274320"/>
          </a:xfrm>
          <a:prstGeom prst="rect">
            <a:avLst/>
          </a:prstGeom>
          <a:noFill/>
          <a:ln/>
        </p:spPr>
        <p:txBody>
          <a:bodyPr wrap="square" lIns="0" tIns="0" rIns="0" bIns="0" rtlCol="0" anchor="t"/>
          <a:lstStyle/>
          <a:p>
            <a:pPr indent="0" marL="0">
              <a:buNone/>
            </a:pPr>
            <a:r>
              <a:rPr lang="en-US" sz="1200" b="1" dirty="0">
                <a:solidFill>
                  <a:schemeClr val="accent6"/>
                </a:solidFill>
              </a:rPr>
              <a:t>Sessions 1–2</a:t>
            </a:r>
            <a:endParaRPr lang="en-US" sz="1200" dirty="0"/>
          </a:p>
        </p:txBody>
      </p:sp>
      <p:sp>
        <p:nvSpPr>
          <p:cNvPr id="22" name="Text 20"/>
          <p:cNvSpPr txBox="1"/>
          <p:nvPr/>
        </p:nvSpPr>
        <p:spPr>
          <a:xfrm>
            <a:off x="4462272" y="2788920"/>
            <a:ext cx="1426464" cy="777240"/>
          </a:xfrm>
          <a:prstGeom prst="rect">
            <a:avLst/>
          </a:prstGeom>
          <a:noFill/>
          <a:ln/>
        </p:spPr>
        <p:txBody>
          <a:bodyPr wrap="square" lIns="0" tIns="0" rIns="0" bIns="0" rtlCol="0" anchor="t"/>
          <a:lstStyle/>
          <a:p>
            <a:pPr indent="0" marL="0">
              <a:buNone/>
            </a:pPr>
            <a:r>
              <a:rPr lang="en-US" sz="1600" b="1" dirty="0">
                <a:solidFill>
                  <a:schemeClr val="tx2"/>
                </a:solidFill>
              </a:rPr>
              <a:t>Class and reliability weights</a:t>
            </a:r>
            <a:endParaRPr lang="en-US" sz="1600" dirty="0"/>
          </a:p>
        </p:txBody>
      </p:sp>
      <p:sp>
        <p:nvSpPr>
          <p:cNvPr id="23" name="Text 21"/>
          <p:cNvSpPr txBox="1"/>
          <p:nvPr/>
        </p:nvSpPr>
        <p:spPr>
          <a:xfrm>
            <a:off x="4462272" y="3611880"/>
            <a:ext cx="1426464" cy="1645920"/>
          </a:xfrm>
          <a:prstGeom prst="rect">
            <a:avLst/>
          </a:prstGeom>
          <a:noFill/>
          <a:ln/>
        </p:spPr>
        <p:txBody>
          <a:bodyPr wrap="square" lIns="0" tIns="0" rIns="0" bIns="0" rtlCol="0" anchor="t"/>
          <a:lstStyle/>
          <a:p>
            <a:pPr indent="0" marL="0">
              <a:buNone/>
            </a:pPr>
            <a:r>
              <a:rPr lang="en-US" sz="1300" dirty="0">
                <a:solidFill>
                  <a:schemeClr val="tx1"/>
                </a:solidFill>
              </a:rPr>
              <a:t>CW, R, CR, BMRU and overlap weights on three imbalanced datasets.</a:t>
            </a:r>
            <a:endParaRPr lang="en-US" sz="1300" dirty="0"/>
          </a:p>
        </p:txBody>
      </p:sp>
      <p:sp>
        <p:nvSpPr>
          <p:cNvPr id="24" name="timeline-link"/>
          <p:cNvSpPr/>
          <p:nvPr/>
        </p:nvSpPr>
        <p:spPr>
          <a:xfrm>
            <a:off x="4992624" y="2034540"/>
            <a:ext cx="1335024" cy="0"/>
          </a:xfrm>
          <a:prstGeom prst="line">
            <a:avLst/>
          </a:prstGeom>
          <a:noFill/>
          <a:ln w="12700">
            <a:solidFill>
              <a:schemeClr val="accent6"/>
            </a:solidFill>
            <a:prstDash val="dash"/>
          </a:ln>
        </p:spPr>
      </p:sp>
      <p:sp>
        <p:nvSpPr>
          <p:cNvPr id="25" name="card"/>
          <p:cNvSpPr/>
          <p:nvPr/>
        </p:nvSpPr>
        <p:spPr>
          <a:xfrm>
            <a:off x="6144768" y="1600200"/>
            <a:ext cx="1792224" cy="3749040"/>
          </a:xfrm>
          <a:prstGeom prst="roundRect">
            <a:avLst>
              <a:gd name="adj" fmla="val 5102"/>
            </a:avLst>
          </a:prstGeom>
          <a:solidFill>
            <a:schemeClr val="bg2"/>
          </a:solidFill>
          <a:ln w="9525">
            <a:solidFill>
              <a:schemeClr val="bg2"/>
            </a:solidFill>
            <a:prstDash val="solid"/>
          </a:ln>
        </p:spPr>
      </p:sp>
      <p:sp>
        <p:nvSpPr>
          <p:cNvPr id="26" name="badge"/>
          <p:cNvSpPr/>
          <p:nvPr/>
        </p:nvSpPr>
        <p:spPr>
          <a:xfrm>
            <a:off x="6327648" y="1783080"/>
            <a:ext cx="502920" cy="502920"/>
          </a:xfrm>
          <a:prstGeom prst="ellipse">
            <a:avLst/>
          </a:prstGeom>
          <a:solidFill>
            <a:schemeClr val="tx2"/>
          </a:solidFill>
          <a:ln w="12700">
            <a:solidFill>
              <a:schemeClr val="tx2"/>
            </a:solidFill>
            <a:prstDash val="solid"/>
          </a:ln>
        </p:spPr>
      </p:sp>
      <p:sp>
        <p:nvSpPr>
          <p:cNvPr id="27" name="Text 25"/>
          <p:cNvSpPr txBox="1"/>
          <p:nvPr/>
        </p:nvSpPr>
        <p:spPr>
          <a:xfrm>
            <a:off x="6327648" y="178308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28" name="Text 26"/>
          <p:cNvSpPr txBox="1"/>
          <p:nvPr/>
        </p:nvSpPr>
        <p:spPr>
          <a:xfrm>
            <a:off x="6327648" y="2468880"/>
            <a:ext cx="1426464" cy="274320"/>
          </a:xfrm>
          <a:prstGeom prst="rect">
            <a:avLst/>
          </a:prstGeom>
          <a:noFill/>
          <a:ln/>
        </p:spPr>
        <p:txBody>
          <a:bodyPr wrap="square" lIns="0" tIns="0" rIns="0" bIns="0" rtlCol="0" anchor="t"/>
          <a:lstStyle/>
          <a:p>
            <a:pPr indent="0" marL="0">
              <a:buNone/>
            </a:pPr>
            <a:r>
              <a:rPr lang="en-US" sz="1200" b="1" dirty="0">
                <a:solidFill>
                  <a:schemeClr val="accent6"/>
                </a:solidFill>
              </a:rPr>
              <a:t>Session 3, 22 Aug</a:t>
            </a:r>
            <a:endParaRPr lang="en-US" sz="1200" dirty="0"/>
          </a:p>
        </p:txBody>
      </p:sp>
      <p:sp>
        <p:nvSpPr>
          <p:cNvPr id="29" name="Text 27"/>
          <p:cNvSpPr txBox="1"/>
          <p:nvPr/>
        </p:nvSpPr>
        <p:spPr>
          <a:xfrm>
            <a:off x="6327648" y="2788920"/>
            <a:ext cx="1426464" cy="777240"/>
          </a:xfrm>
          <a:prstGeom prst="rect">
            <a:avLst/>
          </a:prstGeom>
          <a:noFill/>
          <a:ln/>
        </p:spPr>
        <p:txBody>
          <a:bodyPr wrap="square" lIns="0" tIns="0" rIns="0" bIns="0" rtlCol="0" anchor="t"/>
          <a:lstStyle/>
          <a:p>
            <a:pPr indent="0" marL="0">
              <a:buNone/>
            </a:pPr>
            <a:r>
              <a:rPr lang="en-US" sz="1600" b="1" dirty="0">
                <a:solidFill>
                  <a:schemeClr val="tx2"/>
                </a:solidFill>
              </a:rPr>
              <a:t>Neighbourhood weights</a:t>
            </a:r>
            <a:endParaRPr lang="en-US" sz="1600" dirty="0"/>
          </a:p>
        </p:txBody>
      </p:sp>
      <p:sp>
        <p:nvSpPr>
          <p:cNvPr id="30" name="Text 28"/>
          <p:cNvSpPr txBox="1"/>
          <p:nvPr/>
        </p:nvSpPr>
        <p:spPr>
          <a:xfrm>
            <a:off x="6327648" y="3611880"/>
            <a:ext cx="1426464" cy="1645920"/>
          </a:xfrm>
          <a:prstGeom prst="rect">
            <a:avLst/>
          </a:prstGeom>
          <a:noFill/>
          <a:ln/>
        </p:spPr>
        <p:txBody>
          <a:bodyPr wrap="square" lIns="0" tIns="0" rIns="0" bIns="0" rtlCol="0" anchor="t"/>
          <a:lstStyle/>
          <a:p>
            <a:pPr indent="0" marL="0">
              <a:buNone/>
            </a:pPr>
            <a:r>
              <a:rPr lang="en-US" sz="1300" dirty="0">
                <a:solidFill>
                  <a:schemeClr val="tx1"/>
                </a:solidFill>
              </a:rPr>
              <a:t>CBCM/CA, IPA, Topo and SA-Topo, built on a k-NN graph of balls.</a:t>
            </a:r>
            <a:endParaRPr lang="en-US" sz="1300" dirty="0"/>
          </a:p>
        </p:txBody>
      </p:sp>
      <p:sp>
        <p:nvSpPr>
          <p:cNvPr id="31" name="timeline-link"/>
          <p:cNvSpPr/>
          <p:nvPr/>
        </p:nvSpPr>
        <p:spPr>
          <a:xfrm>
            <a:off x="6858000" y="2034540"/>
            <a:ext cx="1335024" cy="0"/>
          </a:xfrm>
          <a:prstGeom prst="line">
            <a:avLst/>
          </a:prstGeom>
          <a:noFill/>
          <a:ln w="12700">
            <a:solidFill>
              <a:schemeClr val="accent6"/>
            </a:solidFill>
            <a:prstDash val="dash"/>
          </a:ln>
        </p:spPr>
      </p:sp>
      <p:sp>
        <p:nvSpPr>
          <p:cNvPr id="32" name="card"/>
          <p:cNvSpPr/>
          <p:nvPr/>
        </p:nvSpPr>
        <p:spPr>
          <a:xfrm>
            <a:off x="8010144" y="1600200"/>
            <a:ext cx="1792224" cy="3749040"/>
          </a:xfrm>
          <a:prstGeom prst="roundRect">
            <a:avLst>
              <a:gd name="adj" fmla="val 5102"/>
            </a:avLst>
          </a:prstGeom>
          <a:solidFill>
            <a:schemeClr val="bg2"/>
          </a:solidFill>
          <a:ln w="9525">
            <a:solidFill>
              <a:schemeClr val="bg2"/>
            </a:solidFill>
            <a:prstDash val="solid"/>
          </a:ln>
        </p:spPr>
      </p:sp>
      <p:sp>
        <p:nvSpPr>
          <p:cNvPr id="33" name="badge"/>
          <p:cNvSpPr/>
          <p:nvPr/>
        </p:nvSpPr>
        <p:spPr>
          <a:xfrm>
            <a:off x="8193024" y="1783080"/>
            <a:ext cx="502920" cy="502920"/>
          </a:xfrm>
          <a:prstGeom prst="ellipse">
            <a:avLst/>
          </a:prstGeom>
          <a:solidFill>
            <a:schemeClr val="tx2"/>
          </a:solidFill>
          <a:ln w="12700">
            <a:solidFill>
              <a:schemeClr val="tx2"/>
            </a:solidFill>
            <a:prstDash val="solid"/>
          </a:ln>
        </p:spPr>
      </p:sp>
      <p:sp>
        <p:nvSpPr>
          <p:cNvPr id="34" name="Text 32"/>
          <p:cNvSpPr txBox="1"/>
          <p:nvPr/>
        </p:nvSpPr>
        <p:spPr>
          <a:xfrm>
            <a:off x="8193024" y="178308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35" name="Text 33"/>
          <p:cNvSpPr txBox="1"/>
          <p:nvPr/>
        </p:nvSpPr>
        <p:spPr>
          <a:xfrm>
            <a:off x="8193024" y="2468880"/>
            <a:ext cx="1426464" cy="274320"/>
          </a:xfrm>
          <a:prstGeom prst="rect">
            <a:avLst/>
          </a:prstGeom>
          <a:noFill/>
          <a:ln/>
        </p:spPr>
        <p:txBody>
          <a:bodyPr wrap="square" lIns="0" tIns="0" rIns="0" bIns="0" rtlCol="0" anchor="t"/>
          <a:lstStyle/>
          <a:p>
            <a:pPr indent="0" marL="0">
              <a:buNone/>
            </a:pPr>
            <a:r>
              <a:rPr lang="en-US" sz="1200" b="1" dirty="0">
                <a:solidFill>
                  <a:schemeClr val="accent6"/>
                </a:solidFill>
              </a:rPr>
              <a:t>Sessions 4–7, to 7 Sep</a:t>
            </a:r>
            <a:endParaRPr lang="en-US" sz="1200" dirty="0"/>
          </a:p>
        </p:txBody>
      </p:sp>
      <p:sp>
        <p:nvSpPr>
          <p:cNvPr id="36" name="Text 34"/>
          <p:cNvSpPr txBox="1"/>
          <p:nvPr/>
        </p:nvSpPr>
        <p:spPr>
          <a:xfrm>
            <a:off x="8193024" y="2788920"/>
            <a:ext cx="1426464" cy="777240"/>
          </a:xfrm>
          <a:prstGeom prst="rect">
            <a:avLst/>
          </a:prstGeom>
          <a:noFill/>
          <a:ln/>
        </p:spPr>
        <p:txBody>
          <a:bodyPr wrap="square" lIns="0" tIns="0" rIns="0" bIns="0" rtlCol="0" anchor="t"/>
          <a:lstStyle/>
          <a:p>
            <a:pPr indent="0" marL="0">
              <a:buNone/>
            </a:pPr>
            <a:r>
              <a:rPr lang="en-US" sz="1600" b="1" dirty="0">
                <a:solidFill>
                  <a:schemeClr val="tx2"/>
                </a:solidFill>
              </a:rPr>
              <a:t>Granulation and compression</a:t>
            </a:r>
            <a:endParaRPr lang="en-US" sz="1600" dirty="0"/>
          </a:p>
        </p:txBody>
      </p:sp>
      <p:sp>
        <p:nvSpPr>
          <p:cNvPr id="37" name="Text 35"/>
          <p:cNvSpPr txBox="1"/>
          <p:nvPr/>
        </p:nvSpPr>
        <p:spPr>
          <a:xfrm>
            <a:off x="8193024" y="3611880"/>
            <a:ext cx="1426464" cy="1645920"/>
          </a:xfrm>
          <a:prstGeom prst="rect">
            <a:avLst/>
          </a:prstGeom>
          <a:noFill/>
          <a:ln/>
        </p:spPr>
        <p:txBody>
          <a:bodyPr wrap="square" lIns="0" tIns="0" rIns="0" bIns="0" rtlCol="0" anchor="t"/>
          <a:lstStyle/>
          <a:p>
            <a:pPr indent="0" marL="0">
              <a:buNone/>
            </a:pPr>
            <a:r>
              <a:rPr lang="en-US" sz="1300" dirty="0">
                <a:solidFill>
                  <a:schemeClr val="tx1"/>
                </a:solidFill>
              </a:rPr>
              <a:t>Split rules, entropy order and ball budgets on 17 datasets × 10 seeds.</a:t>
            </a:r>
            <a:endParaRPr lang="en-US" sz="1300" dirty="0"/>
          </a:p>
        </p:txBody>
      </p:sp>
      <p:sp>
        <p:nvSpPr>
          <p:cNvPr id="38" name="timeline-link"/>
          <p:cNvSpPr/>
          <p:nvPr/>
        </p:nvSpPr>
        <p:spPr>
          <a:xfrm>
            <a:off x="8723376" y="2034540"/>
            <a:ext cx="1335024" cy="0"/>
          </a:xfrm>
          <a:prstGeom prst="line">
            <a:avLst/>
          </a:prstGeom>
          <a:noFill/>
          <a:ln w="12700">
            <a:solidFill>
              <a:schemeClr val="accent6"/>
            </a:solidFill>
            <a:prstDash val="dash"/>
          </a:ln>
        </p:spPr>
      </p:sp>
      <p:sp>
        <p:nvSpPr>
          <p:cNvPr id="39" name="card"/>
          <p:cNvSpPr/>
          <p:nvPr/>
        </p:nvSpPr>
        <p:spPr>
          <a:xfrm>
            <a:off x="9875520" y="1600200"/>
            <a:ext cx="1792224" cy="3749040"/>
          </a:xfrm>
          <a:prstGeom prst="roundRect">
            <a:avLst>
              <a:gd name="adj" fmla="val 5102"/>
            </a:avLst>
          </a:prstGeom>
          <a:solidFill>
            <a:schemeClr val="bg2"/>
          </a:solidFill>
          <a:ln w="9525">
            <a:solidFill>
              <a:schemeClr val="bg2"/>
            </a:solidFill>
            <a:prstDash val="solid"/>
          </a:ln>
        </p:spPr>
      </p:sp>
      <p:sp>
        <p:nvSpPr>
          <p:cNvPr id="40" name="badge"/>
          <p:cNvSpPr/>
          <p:nvPr/>
        </p:nvSpPr>
        <p:spPr>
          <a:xfrm>
            <a:off x="10058400" y="1783080"/>
            <a:ext cx="502920" cy="502920"/>
          </a:xfrm>
          <a:prstGeom prst="ellipse">
            <a:avLst/>
          </a:prstGeom>
          <a:solidFill>
            <a:schemeClr val="accent1"/>
          </a:solidFill>
          <a:ln w="12700">
            <a:solidFill>
              <a:schemeClr val="accent1"/>
            </a:solidFill>
            <a:prstDash val="solid"/>
          </a:ln>
        </p:spPr>
      </p:sp>
      <p:sp>
        <p:nvSpPr>
          <p:cNvPr id="41" name="Text 39"/>
          <p:cNvSpPr txBox="1"/>
          <p:nvPr/>
        </p:nvSpPr>
        <p:spPr>
          <a:xfrm>
            <a:off x="10058400" y="178308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6</a:t>
            </a:r>
            <a:endParaRPr lang="en-US" sz="1700" dirty="0"/>
          </a:p>
        </p:txBody>
      </p:sp>
      <p:sp>
        <p:nvSpPr>
          <p:cNvPr id="42" name="Text 40"/>
          <p:cNvSpPr txBox="1"/>
          <p:nvPr/>
        </p:nvSpPr>
        <p:spPr>
          <a:xfrm>
            <a:off x="10058400" y="2468880"/>
            <a:ext cx="1426464" cy="274320"/>
          </a:xfrm>
          <a:prstGeom prst="rect">
            <a:avLst/>
          </a:prstGeom>
          <a:noFill/>
          <a:ln/>
        </p:spPr>
        <p:txBody>
          <a:bodyPr wrap="square" lIns="0" tIns="0" rIns="0" bIns="0" rtlCol="0" anchor="t"/>
          <a:lstStyle/>
          <a:p>
            <a:pPr indent="0" marL="0">
              <a:buNone/>
            </a:pPr>
            <a:r>
              <a:rPr lang="en-US" sz="1200" b="1" dirty="0">
                <a:solidFill>
                  <a:schemeClr val="accent6"/>
                </a:solidFill>
              </a:rPr>
              <a:t>28–29 Sep</a:t>
            </a:r>
            <a:endParaRPr lang="en-US" sz="1200" dirty="0"/>
          </a:p>
        </p:txBody>
      </p:sp>
      <p:sp>
        <p:nvSpPr>
          <p:cNvPr id="43" name="Text 41"/>
          <p:cNvSpPr txBox="1"/>
          <p:nvPr/>
        </p:nvSpPr>
        <p:spPr>
          <a:xfrm>
            <a:off x="10058400" y="2788920"/>
            <a:ext cx="1426464" cy="777240"/>
          </a:xfrm>
          <a:prstGeom prst="rect">
            <a:avLst/>
          </a:prstGeom>
          <a:noFill/>
          <a:ln/>
        </p:spPr>
        <p:txBody>
          <a:bodyPr wrap="square" lIns="0" tIns="0" rIns="0" bIns="0" rtlCol="0" anchor="t"/>
          <a:lstStyle/>
          <a:p>
            <a:pPr indent="0" marL="0">
              <a:buNone/>
            </a:pPr>
            <a:r>
              <a:rPr lang="en-US" sz="1600" b="1" dirty="0">
                <a:solidFill>
                  <a:schemeClr val="tx2"/>
                </a:solidFill>
              </a:rPr>
              <a:t>M0–M3 models</a:t>
            </a:r>
            <a:endParaRPr lang="en-US" sz="1600" dirty="0"/>
          </a:p>
        </p:txBody>
      </p:sp>
      <p:sp>
        <p:nvSpPr>
          <p:cNvPr id="44" name="Text 42"/>
          <p:cNvSpPr txBox="1"/>
          <p:nvPr/>
        </p:nvSpPr>
        <p:spPr>
          <a:xfrm>
            <a:off x="10058400" y="3611880"/>
            <a:ext cx="1426464" cy="1645920"/>
          </a:xfrm>
          <a:prstGeom prst="rect">
            <a:avLst/>
          </a:prstGeom>
          <a:noFill/>
          <a:ln/>
        </p:spPr>
        <p:txBody>
          <a:bodyPr wrap="square" lIns="0" tIns="0" rIns="0" bIns="0" rtlCol="0" anchor="t"/>
          <a:lstStyle/>
          <a:p>
            <a:pPr indent="0" marL="0">
              <a:buNone/>
            </a:pPr>
            <a:r>
              <a:rPr lang="en-US" sz="1300" dirty="0">
                <a:solidFill>
                  <a:schemeClr val="tx1"/>
                </a:solidFill>
              </a:rPr>
              <a:t>Classifier-guided splitting (M1) and reliability weights (M2).</a:t>
            </a:r>
            <a:endParaRPr lang="en-US" sz="1300" dirty="0"/>
          </a:p>
        </p:txBody>
      </p:sp>
      <p:sp>
        <p:nvSpPr>
          <p:cNvPr id="45"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46"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47" name="Text 45"/>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Only class weighting helped reliably; Session 7 traced the other gains to data compression, not ball structure.</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BACKGROUND</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GBLSTSVM trains two planes on ball centres</a:t>
            </a:r>
            <a:endParaRPr lang="en-US" sz="2800" dirty="0"/>
          </a:p>
        </p:txBody>
      </p:sp>
      <p:pic>
        <p:nvPicPr>
          <p:cNvPr id="4" name="Image 0" descr="Training points and the granular balls that replace them, with the two GBLSTSVM planes">    </p:cNvPr>
          <p:cNvPicPr>
            <a:picLocks noChangeAspect="1"/>
          </p:cNvPicPr>
          <p:nvPr/>
        </p:nvPicPr>
        <p:blipFill>
          <a:blip r:embed="rId1"/>
          <a:stretch>
            <a:fillRect/>
          </a:stretch>
        </p:blipFill>
        <p:spPr>
          <a:xfrm>
            <a:off x="548640" y="1463040"/>
            <a:ext cx="6400800" cy="3518321"/>
          </a:xfrm>
          <a:prstGeom prst="rect">
            <a:avLst/>
          </a:prstGeom>
        </p:spPr>
      </p:pic>
      <p:sp>
        <p:nvSpPr>
          <p:cNvPr id="5" name="card"/>
          <p:cNvSpPr/>
          <p:nvPr/>
        </p:nvSpPr>
        <p:spPr>
          <a:xfrm>
            <a:off x="7223760" y="1463040"/>
            <a:ext cx="4389120" cy="4069080"/>
          </a:xfrm>
          <a:prstGeom prst="roundRect">
            <a:avLst>
              <a:gd name="adj" fmla="val 2247"/>
            </a:avLst>
          </a:prstGeom>
          <a:solidFill>
            <a:schemeClr val="bg2"/>
          </a:solidFill>
          <a:ln w="9525">
            <a:solidFill>
              <a:schemeClr val="bg2"/>
            </a:solidFill>
            <a:prstDash val="solid"/>
          </a:ln>
        </p:spPr>
      </p:sp>
      <p:sp>
        <p:nvSpPr>
          <p:cNvPr id="6" name="Text 3"/>
          <p:cNvSpPr txBox="1"/>
          <p:nvPr/>
        </p:nvSpPr>
        <p:spPr>
          <a:xfrm>
            <a:off x="7406640" y="1645920"/>
            <a:ext cx="4023360" cy="3749040"/>
          </a:xfrm>
          <a:prstGeom prst="rect">
            <a:avLst/>
          </a:prstGeom>
          <a:noFill/>
          <a:ln/>
        </p:spPr>
        <p:txBody>
          <a:bodyPr wrap="square" lIns="0" tIns="0" rIns="0" bIns="0" rtlCol="0" anchor="t"/>
          <a:lstStyle/>
          <a:p>
            <a:pPr marL="203200" indent="-203200">
              <a:spcAft>
                <a:spcPts val="1000"/>
              </a:spcAft>
              <a:buSzPct val="100000"/>
              <a:buChar char="•"/>
            </a:pPr>
            <a:r>
              <a:rPr lang="en-US" sz="1500" b="1" dirty="0">
                <a:solidFill>
                  <a:schemeClr val="tx1"/>
                </a:solidFill>
              </a:rPr>
              <a:t>Twin SVM: </a:t>
            </a:r>
            <a:r>
              <a:rPr lang="en-US" sz="1500" dirty="0">
                <a:solidFill>
                  <a:schemeClr val="tx1"/>
                </a:solidFill>
              </a:rPr>
              <a:t>two non-parallel planes, each close to one class and far from the other [1].</a:t>
            </a:r>
            <a:endParaRPr lang="en-US" sz="1500" dirty="0"/>
          </a:p>
          <a:p>
            <a:pPr marL="203200" indent="-203200">
              <a:spcAft>
                <a:spcPts val="1000"/>
              </a:spcAft>
              <a:buSzPct val="100000"/>
              <a:buChar char="•"/>
            </a:pPr>
            <a:r>
              <a:rPr lang="en-US" sz="1500" b="1" dirty="0">
                <a:solidFill>
                  <a:schemeClr val="tx1"/>
                </a:solidFill>
              </a:rPr>
              <a:t>Least squares: </a:t>
            </a:r>
            <a:r>
              <a:rPr lang="en-US" sz="1500" dirty="0">
                <a:solidFill>
                  <a:schemeClr val="tx1"/>
                </a:solidFill>
              </a:rPr>
              <a:t>equalities replace inequalities, so each plane is one linear solve [2].</a:t>
            </a:r>
            <a:endParaRPr lang="en-US" sz="1500" dirty="0"/>
          </a:p>
          <a:p>
            <a:pPr marL="203200" indent="-203200">
              <a:spcAft>
                <a:spcPts val="1000"/>
              </a:spcAft>
              <a:buSzPct val="100000"/>
              <a:buChar char="•"/>
            </a:pPr>
            <a:r>
              <a:rPr lang="en-US" sz="1500" b="1" dirty="0">
                <a:solidFill>
                  <a:schemeClr val="tx1"/>
                </a:solidFill>
              </a:rPr>
              <a:t>Granular ball: </a:t>
            </a:r>
            <a:r>
              <a:rPr lang="en-US" sz="1500" dirty="0">
                <a:solidFill>
                  <a:schemeClr val="tx1"/>
                </a:solidFill>
              </a:rPr>
              <a:t>centre, radius (mean distance), majority label and purity of a group of points [3].</a:t>
            </a:r>
            <a:endParaRPr lang="en-US" sz="1500" dirty="0"/>
          </a:p>
          <a:p>
            <a:pPr marL="203200" indent="-203200">
              <a:spcAft>
                <a:spcPts val="1000"/>
              </a:spcAft>
              <a:buSzPct val="100000"/>
              <a:buChar char="•"/>
            </a:pPr>
            <a:r>
              <a:rPr lang="en-US" sz="1500" b="1" dirty="0">
                <a:solidFill>
                  <a:schemeClr val="tx1"/>
                </a:solidFill>
              </a:rPr>
              <a:t>GBLSTSVM: </a:t>
            </a:r>
            <a:r>
              <a:rPr lang="en-US" sz="1500" dirty="0">
                <a:solidFill>
                  <a:schemeClr val="tx1"/>
                </a:solidFill>
              </a:rPr>
              <a:t>trains on ball centres and radii instead of points; balls with one point are deleted [4].</a:t>
            </a:r>
            <a:endParaRPr lang="en-US" sz="1500" dirty="0"/>
          </a:p>
        </p:txBody>
      </p:sp>
      <p:sp>
        <p:nvSpPr>
          <p:cNvPr id="7"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8"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9" name="Text 6"/>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Every model in this deck changes either how the balls are built or how much each ball counts.</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BACKGROUND</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Each plane is one linear solve</a:t>
            </a:r>
            <a:endParaRPr lang="en-US" sz="2800" dirty="0"/>
          </a:p>
        </p:txBody>
      </p:sp>
      <p:sp>
        <p:nvSpPr>
          <p:cNvPr id="4" name="formula"/>
          <p:cNvSpPr/>
          <p:nvPr/>
        </p:nvSpPr>
        <p:spPr>
          <a:xfrm>
            <a:off x="548640" y="1463040"/>
            <a:ext cx="5486400" cy="4023360"/>
          </a:xfrm>
          <a:prstGeom prst="roundRect">
            <a:avLst>
              <a:gd name="adj" fmla="val 2273"/>
            </a:avLst>
          </a:prstGeom>
          <a:solidFill>
            <a:schemeClr val="bg2"/>
          </a:solidFill>
          <a:ln w="9525">
            <a:solidFill>
              <a:schemeClr val="bg2"/>
            </a:solidFill>
            <a:prstDash val="solid"/>
          </a:ln>
        </p:spPr>
      </p:sp>
      <p:sp>
        <p:nvSpPr>
          <p:cNvPr id="5" name="Text 3"/>
          <p:cNvSpPr txBox="1"/>
          <p:nvPr/>
        </p:nvSpPr>
        <p:spPr>
          <a:xfrm>
            <a:off x="731520" y="1609344"/>
            <a:ext cx="5120640" cy="3785616"/>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Plane 1 (near class +1)</a:t>
            </a:r>
            <a:endParaRPr lang="en-US" sz="1600" dirty="0"/>
          </a:p>
          <a:p>
            <a:pPr indent="0" marL="0">
              <a:spcAft>
                <a:spcPts val="400"/>
              </a:spcAft>
              <a:buNone/>
            </a:pPr>
            <a:r>
              <a:rPr lang="en-US" sz="1600" dirty="0">
                <a:solidFill>
                  <a:schemeClr val="tx1"/>
                </a:solidFill>
              </a:rPr>
              <a:t>min ½‖A w</a:t>
            </a:r>
            <a:r>
              <a:rPr lang="en-US" sz="1600" baseline="-40000" dirty="0">
                <a:solidFill>
                  <a:schemeClr val="tx1"/>
                </a:solidFill>
              </a:rPr>
              <a:t>1</a:t>
            </a:r>
            <a:r>
              <a:rPr lang="en-US" sz="1600" dirty="0">
                <a:solidFill>
                  <a:schemeClr val="tx1"/>
                </a:solidFill>
              </a:rPr>
              <a:t> + e</a:t>
            </a:r>
            <a:r>
              <a:rPr lang="en-US" sz="1600" baseline="-40000" dirty="0">
                <a:solidFill>
                  <a:schemeClr val="tx1"/>
                </a:solidFill>
              </a:rPr>
              <a:t>1</a:t>
            </a:r>
            <a:r>
              <a:rPr lang="en-US" sz="1600" dirty="0">
                <a:solidFill>
                  <a:schemeClr val="tx1"/>
                </a:solidFill>
              </a:rPr>
              <a:t> b</a:t>
            </a:r>
            <a:r>
              <a:rPr lang="en-US" sz="1600" baseline="-40000" dirty="0">
                <a:solidFill>
                  <a:schemeClr val="tx1"/>
                </a:solidFill>
              </a:rPr>
              <a:t>1</a:t>
            </a:r>
            <a:r>
              <a:rPr lang="en-US" sz="1600" dirty="0">
                <a:solidFill>
                  <a:schemeClr val="tx1"/>
                </a:solidFill>
              </a:rPr>
              <a:t>‖</a:t>
            </a:r>
            <a:r>
              <a:rPr lang="en-US" sz="1600" baseline="30000" dirty="0">
                <a:solidFill>
                  <a:schemeClr val="tx1"/>
                </a:solidFill>
              </a:rPr>
              <a:t>2</a:t>
            </a:r>
            <a:r>
              <a:rPr lang="en-US" sz="1600" dirty="0">
                <a:solidFill>
                  <a:schemeClr val="tx1"/>
                </a:solidFill>
              </a:rPr>
              <a:t> + (c</a:t>
            </a:r>
            <a:r>
              <a:rPr lang="en-US" sz="1600" baseline="-40000" dirty="0">
                <a:solidFill>
                  <a:schemeClr val="tx1"/>
                </a:solidFill>
              </a:rPr>
              <a:t>1</a:t>
            </a:r>
            <a:r>
              <a:rPr lang="en-US" sz="1600" dirty="0">
                <a:solidFill>
                  <a:schemeClr val="tx1"/>
                </a:solidFill>
              </a:rPr>
              <a:t>/2)‖ξ‖</a:t>
            </a:r>
            <a:r>
              <a:rPr lang="en-US" sz="1600" baseline="30000" dirty="0">
                <a:solidFill>
                  <a:schemeClr val="tx1"/>
                </a:solidFill>
              </a:rPr>
              <a:t>2</a:t>
            </a:r>
            <a:endParaRPr lang="en-US" sz="1600" dirty="0"/>
          </a:p>
          <a:p>
            <a:pPr indent="0" marL="0">
              <a:spcAft>
                <a:spcPts val="400"/>
              </a:spcAft>
              <a:buNone/>
            </a:pPr>
            <a:r>
              <a:rPr lang="en-US" sz="1600" dirty="0">
                <a:solidFill>
                  <a:schemeClr val="tx1"/>
                </a:solidFill>
              </a:rPr>
              <a:t>s.t.  −(B w</a:t>
            </a:r>
            <a:r>
              <a:rPr lang="en-US" sz="1600" baseline="-40000" dirty="0">
                <a:solidFill>
                  <a:schemeClr val="tx1"/>
                </a:solidFill>
              </a:rPr>
              <a:t>1</a:t>
            </a:r>
            <a:r>
              <a:rPr lang="en-US" sz="1600" dirty="0">
                <a:solidFill>
                  <a:schemeClr val="tx1"/>
                </a:solidFill>
              </a:rPr>
              <a:t> + e</a:t>
            </a:r>
            <a:r>
              <a:rPr lang="en-US" sz="1600" baseline="-40000" dirty="0">
                <a:solidFill>
                  <a:schemeClr val="tx1"/>
                </a:solidFill>
              </a:rPr>
              <a:t>2</a:t>
            </a:r>
            <a:r>
              <a:rPr lang="en-US" sz="1600" dirty="0">
                <a:solidFill>
                  <a:schemeClr val="tx1"/>
                </a:solidFill>
              </a:rPr>
              <a:t> b</a:t>
            </a:r>
            <a:r>
              <a:rPr lang="en-US" sz="1600" baseline="-40000" dirty="0">
                <a:solidFill>
                  <a:schemeClr val="tx1"/>
                </a:solidFill>
              </a:rPr>
              <a:t>1</a:t>
            </a:r>
            <a:r>
              <a:rPr lang="en-US" sz="1600" dirty="0">
                <a:solidFill>
                  <a:schemeClr val="tx1"/>
                </a:solidFill>
              </a:rPr>
              <a:t>) + ξ = e</a:t>
            </a:r>
            <a:r>
              <a:rPr lang="en-US" sz="1600" baseline="-40000" dirty="0">
                <a:solidFill>
                  <a:schemeClr val="tx1"/>
                </a:solidFill>
              </a:rPr>
              <a:t>2</a:t>
            </a:r>
            <a:r>
              <a:rPr lang="en-US" sz="1600" dirty="0">
                <a:solidFill>
                  <a:schemeClr val="tx1"/>
                </a:solidFill>
              </a:rPr>
              <a:t> + R</a:t>
            </a:r>
            <a:r>
              <a:rPr lang="en-US" sz="1600" baseline="-40000" dirty="0">
                <a:solidFill>
                  <a:schemeClr val="tx1"/>
                </a:solidFill>
              </a:rPr>
              <a:t>−</a:t>
            </a:r>
            <a:endParaRPr lang="en-US" sz="1600" dirty="0"/>
          </a:p>
          <a:p>
            <a:pPr indent="0" marL="0">
              <a:spcAft>
                <a:spcPts val="400"/>
              </a:spcAft>
              <a:buNone/>
            </a:pPr>
            <a:r>
              <a:rPr lang="en-US" sz="1600" dirty="0">
                <a:solidFill>
                  <a:schemeClr val="tx1"/>
                </a:solidFill>
              </a:rPr>
              <a:t>u</a:t>
            </a:r>
            <a:r>
              <a:rPr lang="en-US" sz="1600" baseline="-40000" dirty="0">
                <a:solidFill>
                  <a:schemeClr val="tx1"/>
                </a:solidFill>
              </a:rPr>
              <a:t>1</a:t>
            </a:r>
            <a:r>
              <a:rPr lang="en-US" sz="1600" dirty="0">
                <a:solidFill>
                  <a:schemeClr val="tx1"/>
                </a:solidFill>
              </a:rPr>
              <a:t> = −(G</a:t>
            </a:r>
            <a:r>
              <a:rPr lang="en-US" sz="1600" baseline="30000" dirty="0">
                <a:solidFill>
                  <a:schemeClr val="tx1"/>
                </a:solidFill>
              </a:rPr>
              <a:t>T</a:t>
            </a:r>
            <a:r>
              <a:rPr lang="en-US" sz="1600" dirty="0">
                <a:solidFill>
                  <a:schemeClr val="tx1"/>
                </a:solidFill>
              </a:rPr>
              <a:t>G + (1/c</a:t>
            </a:r>
            <a:r>
              <a:rPr lang="en-US" sz="1600" baseline="-40000" dirty="0">
                <a:solidFill>
                  <a:schemeClr val="tx1"/>
                </a:solidFill>
              </a:rPr>
              <a:t>1</a:t>
            </a:r>
            <a:r>
              <a:rPr lang="en-US" sz="1600" dirty="0">
                <a:solidFill>
                  <a:schemeClr val="tx1"/>
                </a:solidFill>
              </a:rPr>
              <a:t>) H</a:t>
            </a:r>
            <a:r>
              <a:rPr lang="en-US" sz="1600" baseline="30000" dirty="0">
                <a:solidFill>
                  <a:schemeClr val="tx1"/>
                </a:solidFill>
              </a:rPr>
              <a:t>T</a:t>
            </a:r>
            <a:r>
              <a:rPr lang="en-US" sz="1600" dirty="0">
                <a:solidFill>
                  <a:schemeClr val="tx1"/>
                </a:solidFill>
              </a:rPr>
              <a:t>H + εI)</a:t>
            </a:r>
            <a:r>
              <a:rPr lang="en-US" sz="1600" baseline="30000" dirty="0">
                <a:solidFill>
                  <a:schemeClr val="tx1"/>
                </a:solidFill>
              </a:rPr>
              <a:t>-1</a:t>
            </a:r>
            <a:r>
              <a:rPr lang="en-US" sz="1600" dirty="0">
                <a:solidFill>
                  <a:schemeClr val="tx1"/>
                </a:solidFill>
              </a:rPr>
              <a:t> G</a:t>
            </a:r>
            <a:r>
              <a:rPr lang="en-US" sz="1600" baseline="30000" dirty="0">
                <a:solidFill>
                  <a:schemeClr val="tx1"/>
                </a:solidFill>
              </a:rPr>
              <a:t>T</a:t>
            </a:r>
            <a:r>
              <a:rPr lang="en-US" sz="1600" dirty="0">
                <a:solidFill>
                  <a:schemeClr val="tx1"/>
                </a:solidFill>
              </a:rPr>
              <a:t>(e</a:t>
            </a:r>
            <a:r>
              <a:rPr lang="en-US" sz="1600" baseline="-40000" dirty="0">
                <a:solidFill>
                  <a:schemeClr val="tx1"/>
                </a:solidFill>
              </a:rPr>
              <a:t>2</a:t>
            </a:r>
            <a:r>
              <a:rPr lang="en-US" sz="1600" dirty="0">
                <a:solidFill>
                  <a:schemeClr val="tx1"/>
                </a:solidFill>
              </a:rPr>
              <a:t> + R</a:t>
            </a:r>
            <a:r>
              <a:rPr lang="en-US" sz="1600" baseline="-40000" dirty="0">
                <a:solidFill>
                  <a:schemeClr val="tx1"/>
                </a:solidFill>
              </a:rPr>
              <a:t>−</a:t>
            </a:r>
            <a:r>
              <a:rPr lang="en-US" sz="1600" dirty="0">
                <a:solidFill>
                  <a:schemeClr val="tx1"/>
                </a:solidFill>
              </a:rPr>
              <a:t>)</a:t>
            </a:r>
            <a:endParaRPr lang="en-US" sz="1600" dirty="0"/>
          </a:p>
          <a:p>
            <a:pPr indent="0" marL="0">
              <a:spcBef>
                <a:spcPts val="800"/>
              </a:spcBef>
              <a:spcAft>
                <a:spcPts val="400"/>
              </a:spcAft>
              <a:buNone/>
            </a:pPr>
            <a:r>
              <a:rPr lang="en-US" sz="1600" b="1" dirty="0">
                <a:solidFill>
                  <a:schemeClr val="tx2"/>
                </a:solidFill>
              </a:rPr>
              <a:t>Plane 2 (near class −1)</a:t>
            </a:r>
            <a:endParaRPr lang="en-US" sz="1600" dirty="0"/>
          </a:p>
          <a:p>
            <a:pPr indent="0" marL="0">
              <a:spcAft>
                <a:spcPts val="400"/>
              </a:spcAft>
              <a:buNone/>
            </a:pPr>
            <a:r>
              <a:rPr lang="en-US" sz="1600" dirty="0">
                <a:solidFill>
                  <a:schemeClr val="tx1"/>
                </a:solidFill>
              </a:rPr>
              <a:t>u</a:t>
            </a:r>
            <a:r>
              <a:rPr lang="en-US" sz="1600" baseline="-40000" dirty="0">
                <a:solidFill>
                  <a:schemeClr val="tx1"/>
                </a:solidFill>
              </a:rPr>
              <a:t>2</a:t>
            </a:r>
            <a:r>
              <a:rPr lang="en-US" sz="1600" dirty="0">
                <a:solidFill>
                  <a:schemeClr val="tx1"/>
                </a:solidFill>
              </a:rPr>
              <a:t> = (H</a:t>
            </a:r>
            <a:r>
              <a:rPr lang="en-US" sz="1600" baseline="30000" dirty="0">
                <a:solidFill>
                  <a:schemeClr val="tx1"/>
                </a:solidFill>
              </a:rPr>
              <a:t>T</a:t>
            </a:r>
            <a:r>
              <a:rPr lang="en-US" sz="1600" dirty="0">
                <a:solidFill>
                  <a:schemeClr val="tx1"/>
                </a:solidFill>
              </a:rPr>
              <a:t>H + (1/c</a:t>
            </a:r>
            <a:r>
              <a:rPr lang="en-US" sz="1600" baseline="-40000" dirty="0">
                <a:solidFill>
                  <a:schemeClr val="tx1"/>
                </a:solidFill>
              </a:rPr>
              <a:t>2</a:t>
            </a:r>
            <a:r>
              <a:rPr lang="en-US" sz="1600" dirty="0">
                <a:solidFill>
                  <a:schemeClr val="tx1"/>
                </a:solidFill>
              </a:rPr>
              <a:t>) G</a:t>
            </a:r>
            <a:r>
              <a:rPr lang="en-US" sz="1600" baseline="30000" dirty="0">
                <a:solidFill>
                  <a:schemeClr val="tx1"/>
                </a:solidFill>
              </a:rPr>
              <a:t>T</a:t>
            </a:r>
            <a:r>
              <a:rPr lang="en-US" sz="1600" dirty="0">
                <a:solidFill>
                  <a:schemeClr val="tx1"/>
                </a:solidFill>
              </a:rPr>
              <a:t>G + εI)</a:t>
            </a:r>
            <a:r>
              <a:rPr lang="en-US" sz="1600" baseline="30000" dirty="0">
                <a:solidFill>
                  <a:schemeClr val="tx1"/>
                </a:solidFill>
              </a:rPr>
              <a:t>-1</a:t>
            </a:r>
            <a:r>
              <a:rPr lang="en-US" sz="1600" dirty="0">
                <a:solidFill>
                  <a:schemeClr val="tx1"/>
                </a:solidFill>
              </a:rPr>
              <a:t> H</a:t>
            </a:r>
            <a:r>
              <a:rPr lang="en-US" sz="1600" baseline="30000" dirty="0">
                <a:solidFill>
                  <a:schemeClr val="tx1"/>
                </a:solidFill>
              </a:rPr>
              <a:t>T</a:t>
            </a:r>
            <a:r>
              <a:rPr lang="en-US" sz="1600" dirty="0">
                <a:solidFill>
                  <a:schemeClr val="tx1"/>
                </a:solidFill>
              </a:rPr>
              <a:t>(e</a:t>
            </a:r>
            <a:r>
              <a:rPr lang="en-US" sz="1600" baseline="-40000" dirty="0">
                <a:solidFill>
                  <a:schemeClr val="tx1"/>
                </a:solidFill>
              </a:rPr>
              <a:t>1</a:t>
            </a:r>
            <a:r>
              <a:rPr lang="en-US" sz="1600" dirty="0">
                <a:solidFill>
                  <a:schemeClr val="tx1"/>
                </a:solidFill>
              </a:rPr>
              <a:t> + R</a:t>
            </a:r>
            <a:r>
              <a:rPr lang="en-US" sz="1600" baseline="-40000" dirty="0">
                <a:solidFill>
                  <a:schemeClr val="tx1"/>
                </a:solidFill>
              </a:rPr>
              <a:t>+</a:t>
            </a:r>
            <a:r>
              <a:rPr lang="en-US" sz="1600" dirty="0">
                <a:solidFill>
                  <a:schemeClr val="tx1"/>
                </a:solidFill>
              </a:rPr>
              <a:t>)</a:t>
            </a:r>
            <a:endParaRPr lang="en-US" sz="1600" dirty="0"/>
          </a:p>
          <a:p>
            <a:pPr indent="0" marL="0">
              <a:spcBef>
                <a:spcPts val="800"/>
              </a:spcBef>
              <a:spcAft>
                <a:spcPts val="400"/>
              </a:spcAft>
              <a:buNone/>
            </a:pPr>
            <a:r>
              <a:rPr lang="en-US" sz="1600" b="1" dirty="0">
                <a:solidFill>
                  <a:schemeClr val="tx2"/>
                </a:solidFill>
              </a:rPr>
              <a:t>Decision rule</a:t>
            </a:r>
            <a:endParaRPr lang="en-US" sz="1600" dirty="0"/>
          </a:p>
          <a:p>
            <a:pPr indent="0" marL="0">
              <a:spcAft>
                <a:spcPts val="400"/>
              </a:spcAft>
              <a:buNone/>
            </a:pPr>
            <a:r>
              <a:rPr lang="en-US" sz="1600" dirty="0">
                <a:solidFill>
                  <a:schemeClr val="tx1"/>
                </a:solidFill>
              </a:rPr>
              <a:t>predict +1 if |x</a:t>
            </a:r>
            <a:r>
              <a:rPr lang="en-US" sz="1600" baseline="30000" dirty="0">
                <a:solidFill>
                  <a:schemeClr val="tx1"/>
                </a:solidFill>
              </a:rPr>
              <a:t>T</a:t>
            </a:r>
            <a:r>
              <a:rPr lang="en-US" sz="1600" dirty="0">
                <a:solidFill>
                  <a:schemeClr val="tx1"/>
                </a:solidFill>
              </a:rPr>
              <a:t>w</a:t>
            </a:r>
            <a:r>
              <a:rPr lang="en-US" sz="1600" baseline="-40000" dirty="0">
                <a:solidFill>
                  <a:schemeClr val="tx1"/>
                </a:solidFill>
              </a:rPr>
              <a:t>2</a:t>
            </a:r>
            <a:r>
              <a:rPr lang="en-US" sz="1600" dirty="0">
                <a:solidFill>
                  <a:schemeClr val="tx1"/>
                </a:solidFill>
              </a:rPr>
              <a:t> + b</a:t>
            </a:r>
            <a:r>
              <a:rPr lang="en-US" sz="1600" baseline="-40000" dirty="0">
                <a:solidFill>
                  <a:schemeClr val="tx1"/>
                </a:solidFill>
              </a:rPr>
              <a:t>2</a:t>
            </a:r>
            <a:r>
              <a:rPr lang="en-US" sz="1600" dirty="0">
                <a:solidFill>
                  <a:schemeClr val="tx1"/>
                </a:solidFill>
              </a:rPr>
              <a:t>| &gt; |x</a:t>
            </a:r>
            <a:r>
              <a:rPr lang="en-US" sz="1600" baseline="30000" dirty="0">
                <a:solidFill>
                  <a:schemeClr val="tx1"/>
                </a:solidFill>
              </a:rPr>
              <a:t>T</a:t>
            </a:r>
            <a:r>
              <a:rPr lang="en-US" sz="1600" dirty="0">
                <a:solidFill>
                  <a:schemeClr val="tx1"/>
                </a:solidFill>
              </a:rPr>
              <a:t>w</a:t>
            </a:r>
            <a:r>
              <a:rPr lang="en-US" sz="1600" baseline="-40000" dirty="0">
                <a:solidFill>
                  <a:schemeClr val="tx1"/>
                </a:solidFill>
              </a:rPr>
              <a:t>1</a:t>
            </a:r>
            <a:r>
              <a:rPr lang="en-US" sz="1600" dirty="0">
                <a:solidFill>
                  <a:schemeClr val="tx1"/>
                </a:solidFill>
              </a:rPr>
              <a:t> + b</a:t>
            </a:r>
            <a:r>
              <a:rPr lang="en-US" sz="1600" baseline="-40000" dirty="0">
                <a:solidFill>
                  <a:schemeClr val="tx1"/>
                </a:solidFill>
              </a:rPr>
              <a:t>1</a:t>
            </a:r>
            <a:r>
              <a:rPr lang="en-US" sz="1600" dirty="0">
                <a:solidFill>
                  <a:schemeClr val="tx1"/>
                </a:solidFill>
              </a:rPr>
              <a:t>|</a:t>
            </a:r>
            <a:endParaRPr lang="en-US" sz="1600" dirty="0"/>
          </a:p>
          <a:p>
            <a:pPr indent="0" marL="0">
              <a:spcBef>
                <a:spcPts val="800"/>
              </a:spcBef>
              <a:spcAft>
                <a:spcPts val="400"/>
              </a:spcAft>
              <a:buNone/>
            </a:pPr>
            <a:r>
              <a:rPr lang="en-US" sz="1200" dirty="0">
                <a:solidFill>
                  <a:schemeClr val="accent6"/>
                </a:solidFill>
              </a:rPr>
              <a:t>H = [A e], G = [B e]; A, B hold the ball centres of each class and R</a:t>
            </a:r>
            <a:r>
              <a:rPr lang="en-US" sz="1200" baseline="-40000" dirty="0">
                <a:solidFill>
                  <a:schemeClr val="accent6"/>
                </a:solidFill>
              </a:rPr>
              <a:t>+</a:t>
            </a:r>
            <a:r>
              <a:rPr lang="en-US" sz="1200" dirty="0">
                <a:solidFill>
                  <a:schemeClr val="accent6"/>
                </a:solidFill>
              </a:rPr>
              <a:t>, R</a:t>
            </a:r>
            <a:r>
              <a:rPr lang="en-US" sz="1200" baseline="-40000" dirty="0">
                <a:solidFill>
                  <a:schemeClr val="accent6"/>
                </a:solidFill>
              </a:rPr>
              <a:t>−</a:t>
            </a:r>
            <a:r>
              <a:rPr lang="en-US" sz="1200" dirty="0">
                <a:solidFill>
                  <a:schemeClr val="accent6"/>
                </a:solidFill>
              </a:rPr>
              <a:t> their radii.</a:t>
            </a:r>
            <a:endParaRPr lang="en-US" sz="1600" dirty="0"/>
          </a:p>
        </p:txBody>
      </p:sp>
      <p:sp>
        <p:nvSpPr>
          <p:cNvPr id="6" name="code-frame"/>
          <p:cNvSpPr/>
          <p:nvPr/>
        </p:nvSpPr>
        <p:spPr>
          <a:xfrm>
            <a:off x="6263640" y="1463040"/>
            <a:ext cx="5349240" cy="2456688"/>
          </a:xfrm>
          <a:prstGeom prst="roundRect">
            <a:avLst>
              <a:gd name="adj" fmla="val 2978"/>
            </a:avLst>
          </a:prstGeom>
          <a:solidFill>
            <a:schemeClr val="tx2"/>
          </a:solidFill>
          <a:ln w="9525">
            <a:solidFill>
              <a:schemeClr val="tx2"/>
            </a:solidFill>
            <a:prstDash val="solid"/>
          </a:ln>
        </p:spPr>
      </p:sp>
      <p:sp>
        <p:nvSpPr>
          <p:cNvPr id="7" name="code-dot"/>
          <p:cNvSpPr/>
          <p:nvPr/>
        </p:nvSpPr>
        <p:spPr>
          <a:xfrm>
            <a:off x="6409944" y="1581912"/>
            <a:ext cx="109728" cy="109728"/>
          </a:xfrm>
          <a:prstGeom prst="ellipse">
            <a:avLst/>
          </a:prstGeom>
          <a:solidFill>
            <a:schemeClr val="bg2">
              <a:alpha val="55000"/>
            </a:schemeClr>
          </a:solidFill>
          <a:ln w="12700">
            <a:solidFill>
              <a:schemeClr val="bg2">
                <a:alpha val="55000"/>
              </a:schemeClr>
            </a:solidFill>
            <a:prstDash val="solid"/>
          </a:ln>
        </p:spPr>
      </p:sp>
      <p:sp>
        <p:nvSpPr>
          <p:cNvPr id="8" name="code-dot"/>
          <p:cNvSpPr/>
          <p:nvPr/>
        </p:nvSpPr>
        <p:spPr>
          <a:xfrm>
            <a:off x="6592824" y="1581912"/>
            <a:ext cx="109728" cy="109728"/>
          </a:xfrm>
          <a:prstGeom prst="ellipse">
            <a:avLst/>
          </a:prstGeom>
          <a:solidFill>
            <a:schemeClr val="bg2">
              <a:alpha val="55000"/>
            </a:schemeClr>
          </a:solidFill>
          <a:ln w="12700">
            <a:solidFill>
              <a:schemeClr val="bg2">
                <a:alpha val="55000"/>
              </a:schemeClr>
            </a:solidFill>
            <a:prstDash val="solid"/>
          </a:ln>
        </p:spPr>
      </p:sp>
      <p:sp>
        <p:nvSpPr>
          <p:cNvPr id="9" name="code-dot"/>
          <p:cNvSpPr/>
          <p:nvPr/>
        </p:nvSpPr>
        <p:spPr>
          <a:xfrm>
            <a:off x="6775704" y="1581912"/>
            <a:ext cx="109728" cy="109728"/>
          </a:xfrm>
          <a:prstGeom prst="ellipse">
            <a:avLst/>
          </a:prstGeom>
          <a:solidFill>
            <a:schemeClr val="bg2">
              <a:alpha val="55000"/>
            </a:schemeClr>
          </a:solidFill>
          <a:ln w="12700">
            <a:solidFill>
              <a:schemeClr val="bg2">
                <a:alpha val="55000"/>
              </a:schemeClr>
            </a:solidFill>
            <a:prstDash val="solid"/>
          </a:ln>
        </p:spPr>
      </p:sp>
      <p:sp>
        <p:nvSpPr>
          <p:cNvPr id="10" name="Text 8"/>
          <p:cNvSpPr txBox="1"/>
          <p:nvPr/>
        </p:nvSpPr>
        <p:spPr>
          <a:xfrm>
            <a:off x="7013448" y="1499616"/>
            <a:ext cx="4434840" cy="27432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gen_ball_new.py · _fit_provisional_gblstsvm</a:t>
            </a:r>
            <a:endParaRPr lang="en-US" sz="1100" dirty="0"/>
          </a:p>
        </p:txBody>
      </p:sp>
      <p:sp>
        <p:nvSpPr>
          <p:cNvPr id="11" name="code-body"/>
          <p:cNvSpPr/>
          <p:nvPr/>
        </p:nvSpPr>
        <p:spPr>
          <a:xfrm>
            <a:off x="6300216" y="1810512"/>
            <a:ext cx="5276088" cy="2072640"/>
          </a:xfrm>
          <a:prstGeom prst="rect">
            <a:avLst/>
          </a:prstGeom>
          <a:solidFill>
            <a:schemeClr val="bg1"/>
          </a:solidFill>
          <a:ln w="12700">
            <a:solidFill>
              <a:schemeClr val="bg1"/>
            </a:solidFill>
            <a:prstDash val="solid"/>
          </a:ln>
        </p:spPr>
      </p:sp>
      <p:sp>
        <p:nvSpPr>
          <p:cNvPr id="12" name="code"/>
          <p:cNvSpPr txBox="1"/>
          <p:nvPr/>
        </p:nvSpPr>
        <p:spPr>
          <a:xfrm>
            <a:off x="6391656" y="1901952"/>
            <a:ext cx="5093208" cy="1926336"/>
          </a:xfrm>
          <a:prstGeom prst="rect">
            <a:avLst/>
          </a:prstGeom>
          <a:noFill/>
          <a:ln/>
        </p:spPr>
        <p:txBody>
          <a:bodyPr wrap="square" lIns="0" tIns="0" rIns="0" bIns="0" rtlCol="0" anchor="t"/>
          <a:lstStyle/>
          <a:p>
            <a:pPr indent="0" marL="0">
              <a:lnSpc>
                <a:spcPct val="100000"/>
              </a:lnSpc>
              <a:buNone/>
            </a:pPr>
            <a:r>
              <a:rPr lang="en-US" sz="1000" dirty="0">
                <a:solidFill>
                  <a:schemeClr val="tx1"/>
                </a:solidFill>
                <a:latin typeface="Courier New" pitchFamily="34" charset="0"/>
                <a:ea typeface="Courier New" pitchFamily="34" charset="-122"/>
                <a:cs typeface="Courier New" pitchFamily="34" charset="-120"/>
              </a:rPr>
              <a:t>A = np.asarray([b.center </a:t>
            </a:r>
            <a:r>
              <a:rPr lang="en-US" sz="1000" b="1" dirty="0">
                <a:solidFill>
                  <a:schemeClr val="accent3"/>
                </a:solidFill>
                <a:latin typeface="Courier New" pitchFamily="34" charset="0"/>
                <a:ea typeface="Courier New" pitchFamily="34" charset="-122"/>
                <a:cs typeface="Courier New" pitchFamily="34" charset="-120"/>
              </a:rPr>
              <a:t>for</a:t>
            </a:r>
            <a:r>
              <a:rPr lang="en-US" sz="1000" dirty="0">
                <a:solidFill>
                  <a:schemeClr val="tx1"/>
                </a:solidFill>
                <a:latin typeface="Courier New" pitchFamily="34" charset="0"/>
                <a:ea typeface="Courier New" pitchFamily="34" charset="-122"/>
                <a:cs typeface="Courier New" pitchFamily="34" charset="-120"/>
              </a:rPr>
              <a:t> b </a:t>
            </a:r>
            <a:r>
              <a:rPr lang="en-US" sz="1000" b="1" dirty="0">
                <a:solidFill>
                  <a:schemeClr val="accent3"/>
                </a:solidFill>
                <a:latin typeface="Courier New" pitchFamily="34" charset="0"/>
                <a:ea typeface="Courier New" pitchFamily="34" charset="-122"/>
                <a:cs typeface="Courier New" pitchFamily="34" charset="-120"/>
              </a:rPr>
              <a:t>in</a:t>
            </a:r>
            <a:r>
              <a:rPr lang="en-US" sz="1000" dirty="0">
                <a:solidFill>
                  <a:schemeClr val="tx1"/>
                </a:solidFill>
                <a:latin typeface="Courier New" pitchFamily="34" charset="0"/>
                <a:ea typeface="Courier New" pitchFamily="34" charset="-122"/>
                <a:cs typeface="Courier New" pitchFamily="34" charset="-120"/>
              </a:rPr>
              <a:t> pos])</a:t>
            </a:r>
            <a:endParaRPr lang="en-US" sz="1000" dirty="0"/>
          </a:p>
          <a:p>
            <a:pPr indent="0" marL="0">
              <a:lnSpc>
                <a:spcPct val="100000"/>
              </a:lnSpc>
              <a:buNone/>
            </a:pPr>
            <a:r>
              <a:rPr lang="en-US" sz="1000" dirty="0">
                <a:solidFill>
                  <a:schemeClr val="tx1"/>
                </a:solidFill>
                <a:latin typeface="Courier New" pitchFamily="34" charset="0"/>
                <a:ea typeface="Courier New" pitchFamily="34" charset="-122"/>
                <a:cs typeface="Courier New" pitchFamily="34" charset="-120"/>
              </a:rPr>
              <a:t>B = np.asarray([b.center </a:t>
            </a:r>
            <a:r>
              <a:rPr lang="en-US" sz="1000" b="1" dirty="0">
                <a:solidFill>
                  <a:schemeClr val="accent3"/>
                </a:solidFill>
                <a:latin typeface="Courier New" pitchFamily="34" charset="0"/>
                <a:ea typeface="Courier New" pitchFamily="34" charset="-122"/>
                <a:cs typeface="Courier New" pitchFamily="34" charset="-120"/>
              </a:rPr>
              <a:t>for</a:t>
            </a:r>
            <a:r>
              <a:rPr lang="en-US" sz="1000" dirty="0">
                <a:solidFill>
                  <a:schemeClr val="tx1"/>
                </a:solidFill>
                <a:latin typeface="Courier New" pitchFamily="34" charset="0"/>
                <a:ea typeface="Courier New" pitchFamily="34" charset="-122"/>
                <a:cs typeface="Courier New" pitchFamily="34" charset="-120"/>
              </a:rPr>
              <a:t> b </a:t>
            </a:r>
            <a:r>
              <a:rPr lang="en-US" sz="1000" b="1" dirty="0">
                <a:solidFill>
                  <a:schemeClr val="accent3"/>
                </a:solidFill>
                <a:latin typeface="Courier New" pitchFamily="34" charset="0"/>
                <a:ea typeface="Courier New" pitchFamily="34" charset="-122"/>
                <a:cs typeface="Courier New" pitchFamily="34" charset="-120"/>
              </a:rPr>
              <a:t>in</a:t>
            </a:r>
            <a:r>
              <a:rPr lang="en-US" sz="1000" dirty="0">
                <a:solidFill>
                  <a:schemeClr val="tx1"/>
                </a:solidFill>
                <a:latin typeface="Courier New" pitchFamily="34" charset="0"/>
                <a:ea typeface="Courier New" pitchFamily="34" charset="-122"/>
                <a:cs typeface="Courier New" pitchFamily="34" charset="-120"/>
              </a:rPr>
              <a:t> neg])</a:t>
            </a:r>
            <a:endParaRPr lang="en-US" sz="1000" dirty="0"/>
          </a:p>
          <a:p>
            <a:pPr indent="0" marL="0">
              <a:lnSpc>
                <a:spcPct val="100000"/>
              </a:lnSpc>
              <a:buNone/>
            </a:pPr>
            <a:r>
              <a:rPr lang="en-US" sz="1000" dirty="0">
                <a:solidFill>
                  <a:schemeClr val="tx1"/>
                </a:solidFill>
                <a:latin typeface="Courier New" pitchFamily="34" charset="0"/>
                <a:ea typeface="Courier New" pitchFamily="34" charset="-122"/>
                <a:cs typeface="Courier New" pitchFamily="34" charset="-120"/>
              </a:rPr>
              <a:t>H = np.column_stack((A, e1))</a:t>
            </a:r>
            <a:endParaRPr lang="en-US" sz="1000" dirty="0"/>
          </a:p>
          <a:p>
            <a:pPr indent="0" marL="0">
              <a:lnSpc>
                <a:spcPct val="100000"/>
              </a:lnSpc>
              <a:buNone/>
            </a:pPr>
            <a:r>
              <a:rPr lang="en-US" sz="1000" dirty="0">
                <a:solidFill>
                  <a:schemeClr val="tx1"/>
                </a:solidFill>
                <a:latin typeface="Courier New" pitchFamily="34" charset="0"/>
                <a:ea typeface="Courier New" pitchFamily="34" charset="-122"/>
                <a:cs typeface="Courier New" pitchFamily="34" charset="-120"/>
              </a:rPr>
              <a:t>G = np.column_stack((B, e2))</a:t>
            </a:r>
            <a:endParaRPr lang="en-US" sz="1000" dirty="0"/>
          </a:p>
          <a:p>
            <a:pPr indent="0" marL="0">
              <a:lnSpc>
                <a:spcPct val="100000"/>
              </a:lnSpc>
              <a:buNone/>
            </a:pPr>
            <a:r>
              <a:rPr lang="en-US" sz="1000" dirty="0">
                <a:solidFill>
                  <a:schemeClr val="tx1"/>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chemeClr val="tx1"/>
                </a:solidFill>
                <a:latin typeface="Courier New" pitchFamily="34" charset="0"/>
                <a:ea typeface="Courier New" pitchFamily="34" charset="-122"/>
                <a:cs typeface="Courier New" pitchFamily="34" charset="-120"/>
              </a:rPr>
              <a:t>lhs1 = G.T @ G + (</a:t>
            </a:r>
            <a:r>
              <a:rPr lang="en-US" sz="1000" dirty="0">
                <a:solidFill>
                  <a:schemeClr val="accent4"/>
                </a:solidFill>
                <a:latin typeface="Courier New" pitchFamily="34" charset="0"/>
                <a:ea typeface="Courier New" pitchFamily="34" charset="-122"/>
                <a:cs typeface="Courier New" pitchFamily="34" charset="-120"/>
              </a:rPr>
              <a:t>1.0</a:t>
            </a:r>
            <a:r>
              <a:rPr lang="en-US" sz="1000" dirty="0">
                <a:solidFill>
                  <a:schemeClr val="tx1"/>
                </a:solidFill>
                <a:latin typeface="Courier New" pitchFamily="34" charset="0"/>
                <a:ea typeface="Courier New" pitchFamily="34" charset="-122"/>
                <a:cs typeface="Courier New" pitchFamily="34" charset="-120"/>
              </a:rPr>
              <a:t> / c1) * (H.T @ H) + reg_term * identity</a:t>
            </a:r>
            <a:endParaRPr lang="en-US" sz="1000" dirty="0"/>
          </a:p>
          <a:p>
            <a:pPr indent="0" marL="0">
              <a:lnSpc>
                <a:spcPct val="100000"/>
              </a:lnSpc>
              <a:buNone/>
            </a:pPr>
            <a:r>
              <a:rPr lang="en-US" sz="1000" dirty="0">
                <a:solidFill>
                  <a:schemeClr val="tx1"/>
                </a:solidFill>
                <a:latin typeface="Courier New" pitchFamily="34" charset="0"/>
                <a:ea typeface="Courier New" pitchFamily="34" charset="-122"/>
                <a:cs typeface="Courier New" pitchFamily="34" charset="-120"/>
              </a:rPr>
              <a:t>rhs1 = np.concatenate((B.T @ (e2 + R_neg), [np.sum(e2 + R_neg)]))</a:t>
            </a:r>
            <a:endParaRPr lang="en-US" sz="1000" dirty="0"/>
          </a:p>
          <a:p>
            <a:pPr indent="0" marL="0">
              <a:lnSpc>
                <a:spcPct val="100000"/>
              </a:lnSpc>
              <a:buNone/>
            </a:pPr>
            <a:r>
              <a:rPr lang="en-US" sz="1000" dirty="0">
                <a:solidFill>
                  <a:schemeClr val="tx1"/>
                </a:solidFill>
                <a:latin typeface="Courier New" pitchFamily="34" charset="0"/>
                <a:ea typeface="Courier New" pitchFamily="34" charset="-122"/>
                <a:cs typeface="Courier New" pitchFamily="34" charset="-120"/>
              </a:rPr>
              <a:t>lhs2 = H.T @ H + (</a:t>
            </a:r>
            <a:r>
              <a:rPr lang="en-US" sz="1000" dirty="0">
                <a:solidFill>
                  <a:schemeClr val="accent4"/>
                </a:solidFill>
                <a:latin typeface="Courier New" pitchFamily="34" charset="0"/>
                <a:ea typeface="Courier New" pitchFamily="34" charset="-122"/>
                <a:cs typeface="Courier New" pitchFamily="34" charset="-120"/>
              </a:rPr>
              <a:t>1.0</a:t>
            </a:r>
            <a:r>
              <a:rPr lang="en-US" sz="1000" dirty="0">
                <a:solidFill>
                  <a:schemeClr val="tx1"/>
                </a:solidFill>
                <a:latin typeface="Courier New" pitchFamily="34" charset="0"/>
                <a:ea typeface="Courier New" pitchFamily="34" charset="-122"/>
                <a:cs typeface="Courier New" pitchFamily="34" charset="-120"/>
              </a:rPr>
              <a:t> / c2) * (G.T @ G) + reg_term * identity</a:t>
            </a:r>
            <a:endParaRPr lang="en-US" sz="1000" dirty="0"/>
          </a:p>
          <a:p>
            <a:pPr indent="0" marL="0">
              <a:lnSpc>
                <a:spcPct val="100000"/>
              </a:lnSpc>
              <a:buNone/>
            </a:pPr>
            <a:r>
              <a:rPr lang="en-US" sz="1000" dirty="0">
                <a:solidFill>
                  <a:schemeClr val="tx1"/>
                </a:solidFill>
                <a:latin typeface="Courier New" pitchFamily="34" charset="0"/>
                <a:ea typeface="Courier New" pitchFamily="34" charset="-122"/>
                <a:cs typeface="Courier New" pitchFamily="34" charset="-120"/>
              </a:rPr>
              <a:t>rhs2 = np.concatenate((A.T @ (e1 + R_pos), [np.sum(e1 + R_pos)]))</a:t>
            </a:r>
            <a:endParaRPr lang="en-US" sz="1000" dirty="0"/>
          </a:p>
          <a:p>
            <a:pPr indent="0" marL="0">
              <a:lnSpc>
                <a:spcPct val="100000"/>
              </a:lnSpc>
              <a:buNone/>
            </a:pPr>
            <a:r>
              <a:rPr lang="en-US" sz="1000" dirty="0">
                <a:solidFill>
                  <a:schemeClr val="tx1"/>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chemeClr val="tx1"/>
                </a:solidFill>
                <a:latin typeface="Courier New" pitchFamily="34" charset="0"/>
                <a:ea typeface="Courier New" pitchFamily="34" charset="-122"/>
                <a:cs typeface="Courier New" pitchFamily="34" charset="-120"/>
              </a:rPr>
              <a:t>hyper1 = -np.linalg.solve(lhs1, rhs1)</a:t>
            </a:r>
            <a:endParaRPr lang="en-US" sz="1000" dirty="0"/>
          </a:p>
          <a:p>
            <a:pPr indent="0" marL="0">
              <a:lnSpc>
                <a:spcPct val="100000"/>
              </a:lnSpc>
              <a:buNone/>
            </a:pPr>
            <a:r>
              <a:rPr lang="en-US" sz="1000" dirty="0">
                <a:solidFill>
                  <a:schemeClr val="tx1"/>
                </a:solidFill>
                <a:latin typeface="Courier New" pitchFamily="34" charset="0"/>
                <a:ea typeface="Courier New" pitchFamily="34" charset="-122"/>
                <a:cs typeface="Courier New" pitchFamily="34" charset="-120"/>
              </a:rPr>
              <a:t>hyper2 = np.linalg.solve(lhs2, rhs2)</a:t>
            </a:r>
            <a:endParaRPr lang="en-US" sz="1000" dirty="0"/>
          </a:p>
        </p:txBody>
      </p:sp>
      <p:sp>
        <p:nvSpPr>
          <p:cNvPr id="13"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4"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5" name="Text 13"/>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The radius enters the right-hand side, so larger balls push the opposite plane further away.</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BASELINE REPRODUCTION</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Python and MATLAB versions match the original code</a:t>
            </a:r>
            <a:endParaRPr lang="en-US" sz="2800" dirty="0"/>
          </a:p>
        </p:txBody>
      </p:sp>
      <p:sp>
        <p:nvSpPr>
          <p:cNvPr id="4" name="stat"/>
          <p:cNvSpPr/>
          <p:nvPr/>
        </p:nvSpPr>
        <p:spPr>
          <a:xfrm>
            <a:off x="548640" y="1463040"/>
            <a:ext cx="3566160" cy="1325880"/>
          </a:xfrm>
          <a:prstGeom prst="roundRect">
            <a:avLst>
              <a:gd name="adj" fmla="val 6897"/>
            </a:avLst>
          </a:prstGeom>
          <a:solidFill>
            <a:schemeClr val="bg2"/>
          </a:solidFill>
          <a:ln w="9525">
            <a:solidFill>
              <a:schemeClr val="bg2"/>
            </a:solidFill>
            <a:prstDash val="solid"/>
          </a:ln>
        </p:spPr>
      </p:sp>
      <p:sp>
        <p:nvSpPr>
          <p:cNvPr id="5" name="Text 3"/>
          <p:cNvSpPr txBox="1"/>
          <p:nvPr/>
        </p:nvSpPr>
        <p:spPr>
          <a:xfrm>
            <a:off x="731520" y="1572768"/>
            <a:ext cx="3200400" cy="6629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18 / 18</a:t>
            </a:r>
            <a:endParaRPr lang="en-US" sz="3000" dirty="0"/>
          </a:p>
        </p:txBody>
      </p:sp>
      <p:sp>
        <p:nvSpPr>
          <p:cNvPr id="6" name="Text 4"/>
          <p:cNvSpPr txBox="1"/>
          <p:nvPr/>
        </p:nvSpPr>
        <p:spPr>
          <a:xfrm>
            <a:off x="731520" y="2235708"/>
            <a:ext cx="3200400" cy="480060"/>
          </a:xfrm>
          <a:prstGeom prst="rect">
            <a:avLst/>
          </a:prstGeom>
          <a:noFill/>
          <a:ln/>
        </p:spPr>
        <p:txBody>
          <a:bodyPr wrap="square" lIns="0" tIns="0" rIns="0" bIns="0" rtlCol="0" anchor="t"/>
          <a:lstStyle/>
          <a:p>
            <a:pPr indent="0" marL="0">
              <a:buNone/>
            </a:pPr>
            <a:r>
              <a:rPr lang="en-US" sz="1200" dirty="0">
                <a:solidFill>
                  <a:schemeClr val="tx1"/>
                </a:solidFill>
              </a:rPr>
              <a:t>balls identical to the original script on the same seed</a:t>
            </a:r>
            <a:endParaRPr lang="en-US" sz="1200" dirty="0"/>
          </a:p>
        </p:txBody>
      </p:sp>
      <p:sp>
        <p:nvSpPr>
          <p:cNvPr id="7" name="stat"/>
          <p:cNvSpPr/>
          <p:nvPr/>
        </p:nvSpPr>
        <p:spPr>
          <a:xfrm>
            <a:off x="4297680" y="1463040"/>
            <a:ext cx="3566160" cy="1325880"/>
          </a:xfrm>
          <a:prstGeom prst="roundRect">
            <a:avLst>
              <a:gd name="adj" fmla="val 6897"/>
            </a:avLst>
          </a:prstGeom>
          <a:solidFill>
            <a:schemeClr val="bg2"/>
          </a:solidFill>
          <a:ln w="9525">
            <a:solidFill>
              <a:schemeClr val="bg2"/>
            </a:solidFill>
            <a:prstDash val="solid"/>
          </a:ln>
        </p:spPr>
      </p:sp>
      <p:sp>
        <p:nvSpPr>
          <p:cNvPr id="8" name="Text 6"/>
          <p:cNvSpPr txBox="1"/>
          <p:nvPr/>
        </p:nvSpPr>
        <p:spPr>
          <a:xfrm>
            <a:off x="4480560" y="1572768"/>
            <a:ext cx="3200400" cy="6629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100%</a:t>
            </a:r>
            <a:endParaRPr lang="en-US" sz="3000" dirty="0"/>
          </a:p>
        </p:txBody>
      </p:sp>
      <p:sp>
        <p:nvSpPr>
          <p:cNvPr id="9" name="Text 7"/>
          <p:cNvSpPr txBox="1"/>
          <p:nvPr/>
        </p:nvSpPr>
        <p:spPr>
          <a:xfrm>
            <a:off x="4480560" y="2235708"/>
            <a:ext cx="3200400" cy="480060"/>
          </a:xfrm>
          <a:prstGeom prst="rect">
            <a:avLst/>
          </a:prstGeom>
          <a:noFill/>
          <a:ln/>
        </p:spPr>
        <p:txBody>
          <a:bodyPr wrap="square" lIns="0" tIns="0" rIns="0" bIns="0" rtlCol="0" anchor="t"/>
          <a:lstStyle/>
          <a:p>
            <a:pPr indent="0" marL="0">
              <a:buNone/>
            </a:pPr>
            <a:r>
              <a:rPr lang="en-US" sz="1200" dirty="0">
                <a:solidFill>
                  <a:schemeClr val="tx1"/>
                </a:solidFill>
              </a:rPr>
              <a:t>agreement on the benchmark linear systems</a:t>
            </a:r>
            <a:endParaRPr lang="en-US" sz="1200" dirty="0"/>
          </a:p>
        </p:txBody>
      </p:sp>
      <p:sp>
        <p:nvSpPr>
          <p:cNvPr id="10" name="stat"/>
          <p:cNvSpPr/>
          <p:nvPr/>
        </p:nvSpPr>
        <p:spPr>
          <a:xfrm>
            <a:off x="8046720" y="1463040"/>
            <a:ext cx="3566160" cy="1325880"/>
          </a:xfrm>
          <a:prstGeom prst="roundRect">
            <a:avLst>
              <a:gd name="adj" fmla="val 6897"/>
            </a:avLst>
          </a:prstGeom>
          <a:solidFill>
            <a:schemeClr val="bg2"/>
          </a:solidFill>
          <a:ln w="9525">
            <a:solidFill>
              <a:schemeClr val="bg2"/>
            </a:solidFill>
            <a:prstDash val="solid"/>
          </a:ln>
        </p:spPr>
      </p:sp>
      <p:sp>
        <p:nvSpPr>
          <p:cNvPr id="11" name="Text 9"/>
          <p:cNvSpPr txBox="1"/>
          <p:nvPr/>
        </p:nvSpPr>
        <p:spPr>
          <a:xfrm>
            <a:off x="8229600" y="1572768"/>
            <a:ext cx="3200400" cy="6629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94.74%</a:t>
            </a:r>
            <a:endParaRPr lang="en-US" sz="3000" dirty="0"/>
          </a:p>
        </p:txBody>
      </p:sp>
      <p:sp>
        <p:nvSpPr>
          <p:cNvPr id="12" name="Text 10"/>
          <p:cNvSpPr txBox="1"/>
          <p:nvPr/>
        </p:nvSpPr>
        <p:spPr>
          <a:xfrm>
            <a:off x="8229600" y="2235708"/>
            <a:ext cx="3200400" cy="480060"/>
          </a:xfrm>
          <a:prstGeom prst="rect">
            <a:avLst/>
          </a:prstGeom>
          <a:noFill/>
          <a:ln/>
        </p:spPr>
        <p:txBody>
          <a:bodyPr wrap="square" lIns="0" tIns="0" rIns="0" bIns="0" rtlCol="0" anchor="t"/>
          <a:lstStyle/>
          <a:p>
            <a:pPr indent="0" marL="0">
              <a:buNone/>
            </a:pPr>
            <a:r>
              <a:rPr lang="en-US" sz="1200" dirty="0">
                <a:solidFill>
                  <a:schemeClr val="tx1"/>
                </a:solidFill>
              </a:rPr>
              <a:t>breast-cancer accuracy, trained and tested in under 0.037 s (MATLAB)</a:t>
            </a:r>
            <a:endParaRPr lang="en-US" sz="1200" dirty="0"/>
          </a:p>
        </p:txBody>
      </p:sp>
      <p:sp>
        <p:nvSpPr>
          <p:cNvPr id="13" name="card"/>
          <p:cNvSpPr/>
          <p:nvPr/>
        </p:nvSpPr>
        <p:spPr>
          <a:xfrm>
            <a:off x="548640" y="2971800"/>
            <a:ext cx="5440680" cy="2514600"/>
          </a:xfrm>
          <a:prstGeom prst="roundRect">
            <a:avLst>
              <a:gd name="adj" fmla="val 3636"/>
            </a:avLst>
          </a:prstGeom>
          <a:solidFill>
            <a:schemeClr val="bg2"/>
          </a:solidFill>
          <a:ln w="9525">
            <a:solidFill>
              <a:schemeClr val="bg2"/>
            </a:solidFill>
            <a:prstDash val="solid"/>
          </a:ln>
        </p:spPr>
      </p:sp>
      <p:sp>
        <p:nvSpPr>
          <p:cNvPr id="14" name="Text 12"/>
          <p:cNvSpPr txBox="1"/>
          <p:nvPr/>
        </p:nvSpPr>
        <p:spPr>
          <a:xfrm>
            <a:off x="731520" y="3108960"/>
            <a:ext cx="5029200" cy="320040"/>
          </a:xfrm>
          <a:prstGeom prst="rect">
            <a:avLst/>
          </a:prstGeom>
          <a:noFill/>
          <a:ln/>
        </p:spPr>
        <p:txBody>
          <a:bodyPr wrap="square" lIns="0" tIns="0" rIns="0" bIns="0" rtlCol="0" anchor="t"/>
          <a:lstStyle/>
          <a:p>
            <a:pPr indent="0" marL="0">
              <a:buNone/>
            </a:pPr>
            <a:r>
              <a:rPr lang="en-US" sz="1600" b="1" dirty="0">
                <a:solidFill>
                  <a:schemeClr val="tx2"/>
                </a:solidFill>
              </a:rPr>
              <a:t>Python suite (GBLSTSVM-Ex)</a:t>
            </a:r>
            <a:endParaRPr lang="en-US" sz="1600" dirty="0"/>
          </a:p>
        </p:txBody>
      </p:sp>
      <p:sp>
        <p:nvSpPr>
          <p:cNvPr id="15" name="Text 13"/>
          <p:cNvSpPr txBox="1"/>
          <p:nvPr/>
        </p:nvSpPr>
        <p:spPr>
          <a:xfrm>
            <a:off x="731520" y="3520440"/>
            <a:ext cx="5120640" cy="19202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scikit-learn style fit / predict / decision_function in src/gblstsvm.py</a:t>
            </a:r>
            <a:endParaRPr lang="en-US" sz="1400" dirty="0"/>
          </a:p>
          <a:p>
            <a:pPr marL="203200" indent="-203200">
              <a:spcAft>
                <a:spcPts val="600"/>
              </a:spcAft>
              <a:buSzPct val="100000"/>
              <a:buChar char="•"/>
            </a:pPr>
            <a:r>
              <a:rPr lang="en-US" sz="1400" dirty="0">
                <a:solidFill>
                  <a:schemeClr val="tx1"/>
                </a:solidFill>
              </a:rPr>
              <a:t>original GBLSTSVM.py kept frozen as the reference</a:t>
            </a:r>
            <a:endParaRPr lang="en-US" sz="1400" dirty="0"/>
          </a:p>
          <a:p>
            <a:pPr marL="203200" indent="-203200">
              <a:spcAft>
                <a:spcPts val="600"/>
              </a:spcAft>
              <a:buSzPct val="100000"/>
              <a:buChar char="•"/>
            </a:pPr>
            <a:r>
              <a:rPr lang="en-US" sz="1400" dirty="0">
                <a:solidFill>
                  <a:schemeClr val="tx1"/>
                </a:solidFill>
              </a:rPr>
              <a:t>one module per extension: class weights, reliability, overlap and others</a:t>
            </a:r>
            <a:endParaRPr lang="en-US" sz="1400" dirty="0"/>
          </a:p>
          <a:p>
            <a:pPr marL="203200" indent="-203200">
              <a:spcAft>
                <a:spcPts val="600"/>
              </a:spcAft>
              <a:buSzPct val="100000"/>
              <a:buChar char="•"/>
            </a:pPr>
            <a:r>
              <a:rPr lang="en-US" sz="1400" dirty="0">
                <a:solidFill>
                  <a:schemeClr val="tx1"/>
                </a:solidFill>
              </a:rPr>
              <a:t>tests for matrix equality, ball counts and tolerances</a:t>
            </a:r>
            <a:endParaRPr lang="en-US" sz="1400" dirty="0"/>
          </a:p>
        </p:txBody>
      </p:sp>
      <p:sp>
        <p:nvSpPr>
          <p:cNvPr id="16" name="card"/>
          <p:cNvSpPr/>
          <p:nvPr/>
        </p:nvSpPr>
        <p:spPr>
          <a:xfrm>
            <a:off x="6172200" y="2971800"/>
            <a:ext cx="5440680" cy="2514600"/>
          </a:xfrm>
          <a:prstGeom prst="roundRect">
            <a:avLst>
              <a:gd name="adj" fmla="val 3636"/>
            </a:avLst>
          </a:prstGeom>
          <a:solidFill>
            <a:schemeClr val="bg2"/>
          </a:solidFill>
          <a:ln w="9525">
            <a:solidFill>
              <a:schemeClr val="bg2"/>
            </a:solidFill>
            <a:prstDash val="solid"/>
          </a:ln>
        </p:spPr>
      </p:sp>
      <p:sp>
        <p:nvSpPr>
          <p:cNvPr id="17" name="Text 15"/>
          <p:cNvSpPr txBox="1"/>
          <p:nvPr/>
        </p:nvSpPr>
        <p:spPr>
          <a:xfrm>
            <a:off x="6355080" y="3108960"/>
            <a:ext cx="5029200" cy="320040"/>
          </a:xfrm>
          <a:prstGeom prst="rect">
            <a:avLst/>
          </a:prstGeom>
          <a:noFill/>
          <a:ln/>
        </p:spPr>
        <p:txBody>
          <a:bodyPr wrap="square" lIns="0" tIns="0" rIns="0" bIns="0" rtlCol="0" anchor="t"/>
          <a:lstStyle/>
          <a:p>
            <a:pPr indent="0" marL="0">
              <a:buNone/>
            </a:pPr>
            <a:r>
              <a:rPr lang="en-US" sz="1600" b="1" dirty="0">
                <a:solidFill>
                  <a:schemeClr val="tx2"/>
                </a:solidFill>
              </a:rPr>
              <a:t>MATLAB suite</a:t>
            </a:r>
            <a:endParaRPr lang="en-US" sz="1600" dirty="0"/>
          </a:p>
        </p:txBody>
      </p:sp>
      <p:sp>
        <p:nvSpPr>
          <p:cNvPr id="18" name="Text 16"/>
          <p:cNvSpPr txBox="1"/>
          <p:nvPr/>
        </p:nvSpPr>
        <p:spPr>
          <a:xfrm>
            <a:off x="6355080" y="3520440"/>
            <a:ext cx="5120640" cy="19202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backslash solve (M \ RHS) instead of an explicit inverse</a:t>
            </a:r>
            <a:endParaRPr lang="en-US" sz="1400" dirty="0"/>
          </a:p>
          <a:p>
            <a:pPr marL="203200" indent="-203200">
              <a:spcAft>
                <a:spcPts val="600"/>
              </a:spcAft>
              <a:buSzPct val="100000"/>
              <a:buChar char="•"/>
            </a:pPr>
            <a:r>
              <a:rPr lang="en-US" sz="1400" dirty="0">
                <a:solidFill>
                  <a:schemeClr val="tx1"/>
                </a:solidFill>
              </a:rPr>
              <a:t>GranularBall class with 5 k-means replicates per split</a:t>
            </a:r>
            <a:endParaRPr lang="en-US" sz="1400" dirty="0"/>
          </a:p>
          <a:p>
            <a:pPr marL="203200" indent="-203200">
              <a:spcAft>
                <a:spcPts val="600"/>
              </a:spcAft>
              <a:buSzPct val="100000"/>
              <a:buChar char="•"/>
            </a:pPr>
            <a:r>
              <a:rPr lang="en-US" sz="1400" dirty="0">
                <a:solidFill>
                  <a:schemeClr val="tx1"/>
                </a:solidFill>
              </a:rPr>
              <a:t>self-contained: LSTWGBSVM.m, gen_balls.m, GBLSTSVM_demo.m</a:t>
            </a:r>
            <a:endParaRPr lang="en-US" sz="1400" dirty="0"/>
          </a:p>
          <a:p>
            <a:pPr marL="203200" indent="-203200">
              <a:spcAft>
                <a:spcPts val="600"/>
              </a:spcAft>
              <a:buSzPct val="100000"/>
              <a:buChar char="•"/>
            </a:pPr>
            <a:r>
              <a:rPr lang="en-US" sz="1400" dirty="0">
                <a:solidFill>
                  <a:schemeClr val="tx1"/>
                </a:solidFill>
              </a:rPr>
              <a:t>2-D visual suite used for the two-moons study</a:t>
            </a:r>
            <a:endParaRPr lang="en-US" sz="1400" dirty="0"/>
          </a:p>
        </p:txBody>
      </p:sp>
      <p:sp>
        <p:nvSpPr>
          <p:cNvPr id="19"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20"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21" name="Text 19"/>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With a trusted baseline, every later model could be compared against the same code.</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BASELINE REPRODUCTION</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Four places where the paper and the code differ</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011680"/>
                <a:gridCol w="2834640"/>
                <a:gridCol w="3017520"/>
                <a:gridCol w="3200400"/>
              </a:tblGrid>
              <a:tr h="411480">
                <a:tc>
                  <a:txBody>
                    <a:bodyPr/>
                    <a:lstStyle/>
                    <a:p>
                      <a:pPr indent="0" marL="0">
                        <a:buNone/>
                      </a:pPr>
                      <a:r>
                        <a:rPr lang="en-US" sz="1400" b="1" dirty="0">
                          <a:solidFill>
                            <a:schemeClr val="bg1"/>
                          </a:solidFill>
                        </a:rPr>
                        <a:t>Aspect</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Paper</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Original code</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What we kept</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777240">
                <a:tc>
                  <a:txBody>
                    <a:bodyPr/>
                    <a:lstStyle/>
                    <a:p>
                      <a:pPr indent="0" marL="0">
                        <a:buNone/>
                      </a:pPr>
                      <a:r>
                        <a:rPr lang="en-US" sz="1400" b="1" dirty="0">
                          <a:solidFill>
                            <a:schemeClr val="tx1"/>
                          </a:solidFill>
                        </a:rPr>
                        <a:t>Regularisation</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one penalty for all plane parameters</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separate c1 and c2 on H'H and G'G</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separate c1, c2: handles imbalance between the two planes</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777240">
                <a:tc>
                  <a:txBody>
                    <a:bodyPr/>
                    <a:lstStyle/>
                    <a:p>
                      <a:pPr indent="0" marL="0">
                        <a:buNone/>
                      </a:pPr>
                      <a:r>
                        <a:rPr lang="en-US" sz="1400" b="1" dirty="0">
                          <a:solidFill>
                            <a:schemeClr val="tx1"/>
                          </a:solidFill>
                        </a:rPr>
                        <a:t>Radius column</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features are the ball centres (d columns)</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radius briefly grouped with the features</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store [centre (d), radius, label] separately</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777240">
                <a:tc>
                  <a:txBody>
                    <a:bodyPr/>
                    <a:lstStyle/>
                    <a:p>
                      <a:pPr indent="0" marL="0">
                        <a:buNone/>
                      </a:pPr>
                      <a:r>
                        <a:rPr lang="en-US" sz="1400" b="1" dirty="0">
                          <a:solidFill>
                            <a:schemeClr val="tx1"/>
                          </a:solidFill>
                        </a:rPr>
                        <a:t>Solving</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written as an explicit inverse</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np.linalg.inv (Python), backslash (MATLAB)</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linear solve, never an explicit inverse</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777240">
                <a:tc>
                  <a:txBody>
                    <a:bodyPr/>
                    <a:lstStyle/>
                    <a:p>
                      <a:pPr indent="0" marL="0">
                        <a:buNone/>
                      </a:pPr>
                      <a:r>
                        <a:rPr lang="en-US" sz="1400" b="1" dirty="0">
                          <a:solidFill>
                            <a:schemeClr val="tx1"/>
                          </a:solidFill>
                        </a:rPr>
                        <a:t>2-means splits</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no replicate count given</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one k-means run can stall in a bad split</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5 replicates and a safe fallback</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sp>
        <p:nvSpPr>
          <p:cNvPr id="5"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6"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7" name="Text 4"/>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These choices are small, but writing them down makes later comparisons reproducible.</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BALL GENERATION</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Two ways to build balls: k-means splitting and ADPGBG</a:t>
            </a:r>
            <a:endParaRPr lang="en-US" sz="2800" dirty="0"/>
          </a:p>
        </p:txBody>
      </p:sp>
      <p:sp>
        <p:nvSpPr>
          <p:cNvPr id="4" name="card"/>
          <p:cNvSpPr/>
          <p:nvPr/>
        </p:nvSpPr>
        <p:spPr>
          <a:xfrm>
            <a:off x="548640" y="1463040"/>
            <a:ext cx="5440680" cy="4023360"/>
          </a:xfrm>
          <a:prstGeom prst="roundRect">
            <a:avLst>
              <a:gd name="adj" fmla="val 2273"/>
            </a:avLst>
          </a:prstGeom>
          <a:solidFill>
            <a:schemeClr val="bg2"/>
          </a:solidFill>
          <a:ln w="9525">
            <a:solidFill>
              <a:schemeClr val="bg2"/>
            </a:solidFill>
            <a:prstDash val="solid"/>
          </a:ln>
        </p:spPr>
      </p:sp>
      <p:sp>
        <p:nvSpPr>
          <p:cNvPr id="5" name="badge"/>
          <p:cNvSpPr/>
          <p:nvPr/>
        </p:nvSpPr>
        <p:spPr>
          <a:xfrm>
            <a:off x="777240" y="1645920"/>
            <a:ext cx="457200" cy="457200"/>
          </a:xfrm>
          <a:prstGeom prst="ellipse">
            <a:avLst/>
          </a:prstGeom>
          <a:solidFill>
            <a:schemeClr val="accent2"/>
          </a:solidFill>
          <a:ln w="12700">
            <a:solidFill>
              <a:schemeClr val="accent2"/>
            </a:solidFill>
            <a:prstDash val="solid"/>
          </a:ln>
        </p:spPr>
      </p:sp>
      <p:sp>
        <p:nvSpPr>
          <p:cNvPr id="6" name="Text 4"/>
          <p:cNvSpPr txBox="1"/>
          <p:nvPr/>
        </p:nvSpPr>
        <p:spPr>
          <a:xfrm>
            <a:off x="777240"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417320" y="1645920"/>
            <a:ext cx="4389120" cy="457200"/>
          </a:xfrm>
          <a:prstGeom prst="rect">
            <a:avLst/>
          </a:prstGeom>
          <a:noFill/>
          <a:ln/>
        </p:spPr>
        <p:txBody>
          <a:bodyPr wrap="square" lIns="0" tIns="0" rIns="0" bIns="0" rtlCol="0" anchor="ctr"/>
          <a:lstStyle/>
          <a:p>
            <a:pPr indent="0" marL="0">
              <a:buNone/>
            </a:pPr>
            <a:r>
              <a:rPr lang="en-US" sz="1800" b="1" dirty="0">
                <a:solidFill>
                  <a:schemeClr val="tx2"/>
                </a:solidFill>
              </a:rPr>
              <a:t>K-means splitting (original)</a:t>
            </a:r>
            <a:endParaRPr lang="en-US" sz="1800" dirty="0"/>
          </a:p>
        </p:txBody>
      </p:sp>
      <p:sp>
        <p:nvSpPr>
          <p:cNvPr id="8" name="Text 6"/>
          <p:cNvSpPr txBox="1"/>
          <p:nvPr/>
        </p:nvSpPr>
        <p:spPr>
          <a:xfrm>
            <a:off x="777240" y="2331720"/>
            <a:ext cx="4983480" cy="30632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Start with one ball holding all points.</a:t>
            </a:r>
            <a:endParaRPr lang="en-US" sz="1500" dirty="0"/>
          </a:p>
          <a:p>
            <a:pPr marL="203200" indent="-203200">
              <a:spcAft>
                <a:spcPts val="900"/>
              </a:spcAft>
              <a:buSzPct val="100000"/>
              <a:buChar char="•"/>
            </a:pPr>
            <a:r>
              <a:rPr lang="en-US" sz="1500" dirty="0">
                <a:solidFill>
                  <a:schemeClr val="tx1"/>
                </a:solidFill>
              </a:rPr>
              <a:t>While a ball's purity is below the threshold, split it with 2-means and repeat.</a:t>
            </a:r>
            <a:endParaRPr lang="en-US" sz="1500" dirty="0"/>
          </a:p>
          <a:p>
            <a:pPr marL="203200" indent="-203200">
              <a:spcAft>
                <a:spcPts val="900"/>
              </a:spcAft>
              <a:buSzPct val="100000"/>
              <a:buChar char="•"/>
            </a:pPr>
            <a:r>
              <a:rPr lang="en-US" sz="1500" dirty="0">
                <a:solidFill>
                  <a:schemeClr val="tx1"/>
                </a:solidFill>
              </a:rPr>
              <a:t>The split line ignores the class boundary, so on curved data balls can straddle it.</a:t>
            </a:r>
            <a:endParaRPr lang="en-US" sz="1500" dirty="0"/>
          </a:p>
          <a:p>
            <a:pPr marL="203200" indent="-203200">
              <a:spcAft>
                <a:spcPts val="900"/>
              </a:spcAft>
              <a:buSzPct val="100000"/>
              <a:buChar char="•"/>
            </a:pPr>
            <a:r>
              <a:rPr lang="en-US" sz="1500" dirty="0">
                <a:solidFill>
                  <a:schemeClr val="tx1"/>
                </a:solidFill>
              </a:rPr>
              <a:t>The purity threshold (0.80 to 1.0) must be tuned for each dataset.</a:t>
            </a:r>
            <a:endParaRPr lang="en-US" sz="1500" dirty="0"/>
          </a:p>
        </p:txBody>
      </p:sp>
      <p:sp>
        <p:nvSpPr>
          <p:cNvPr id="9" name="card"/>
          <p:cNvSpPr/>
          <p:nvPr/>
        </p:nvSpPr>
        <p:spPr>
          <a:xfrm>
            <a:off x="6172200" y="1463040"/>
            <a:ext cx="5440680" cy="4023360"/>
          </a:xfrm>
          <a:prstGeom prst="roundRect">
            <a:avLst>
              <a:gd name="adj" fmla="val 2273"/>
            </a:avLst>
          </a:prstGeom>
          <a:solidFill>
            <a:schemeClr val="bg2"/>
          </a:solidFill>
          <a:ln w="9525">
            <a:solidFill>
              <a:schemeClr val="bg2"/>
            </a:solidFill>
            <a:prstDash val="solid"/>
          </a:ln>
        </p:spPr>
      </p:sp>
      <p:sp>
        <p:nvSpPr>
          <p:cNvPr id="10" name="badge"/>
          <p:cNvSpPr/>
          <p:nvPr/>
        </p:nvSpPr>
        <p:spPr>
          <a:xfrm>
            <a:off x="6400800" y="1645920"/>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6400800"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7040880" y="1645920"/>
            <a:ext cx="4389120" cy="457200"/>
          </a:xfrm>
          <a:prstGeom prst="rect">
            <a:avLst/>
          </a:prstGeom>
          <a:noFill/>
          <a:ln/>
        </p:spPr>
        <p:txBody>
          <a:bodyPr wrap="square" lIns="0" tIns="0" rIns="0" bIns="0" rtlCol="0" anchor="ctr"/>
          <a:lstStyle/>
          <a:p>
            <a:pPr indent="0" marL="0">
              <a:buNone/>
            </a:pPr>
            <a:r>
              <a:rPr lang="en-US" sz="1800" b="1" dirty="0">
                <a:solidFill>
                  <a:schemeClr val="tx2"/>
                </a:solidFill>
              </a:rPr>
              <a:t>ADPGBG [5]</a:t>
            </a:r>
            <a:endParaRPr lang="en-US" sz="1800" dirty="0"/>
          </a:p>
        </p:txBody>
      </p:sp>
      <p:sp>
        <p:nvSpPr>
          <p:cNvPr id="13" name="Text 11"/>
          <p:cNvSpPr txBox="1"/>
          <p:nvPr/>
        </p:nvSpPr>
        <p:spPr>
          <a:xfrm>
            <a:off x="6400800" y="2331720"/>
            <a:ext cx="4983480" cy="30632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Grow each ball from a centre until it reaches the nearest point of the other class: hd1st(c) = min</a:t>
            </a:r>
            <a:r>
              <a:rPr lang="en-US" sz="1500" baseline="-40000" dirty="0">
                <a:solidFill>
                  <a:schemeClr val="tx1"/>
                </a:solidFill>
              </a:rPr>
              <a:t>l(x) ≠ l(c)</a:t>
            </a:r>
            <a:r>
              <a:rPr lang="en-US" sz="1500" dirty="0">
                <a:solidFill>
                  <a:schemeClr val="tx1"/>
                </a:solidFill>
              </a:rPr>
              <a:t> d(c, x).</a:t>
            </a:r>
            <a:endParaRPr lang="en-US" sz="1500" dirty="0"/>
          </a:p>
          <a:p>
            <a:pPr marL="203200" indent="-203200">
              <a:spcAft>
                <a:spcPts val="900"/>
              </a:spcAft>
              <a:buSzPct val="100000"/>
              <a:buChar char="•"/>
            </a:pPr>
            <a:r>
              <a:rPr lang="en-US" sz="1500" dirty="0">
                <a:solidFill>
                  <a:schemeClr val="tx1"/>
                </a:solidFill>
              </a:rPr>
              <a:t>Members: T = {x : d(x, c) &lt; hd1st(c)}, then centre = mean(T) and radius = mean distance.</a:t>
            </a:r>
            <a:endParaRPr lang="en-US" sz="1500" dirty="0"/>
          </a:p>
          <a:p>
            <a:pPr marL="203200" indent="-203200">
              <a:spcAft>
                <a:spcPts val="900"/>
              </a:spcAft>
              <a:buSzPct val="100000"/>
              <a:buChar char="•"/>
            </a:pPr>
            <a:r>
              <a:rPr lang="en-US" sz="1500" dirty="0">
                <a:solidFill>
                  <a:schemeClr val="tx1"/>
                </a:solidFill>
              </a:rPr>
              <a:t>No purity threshold to tune.</a:t>
            </a:r>
            <a:endParaRPr lang="en-US" sz="1500" dirty="0"/>
          </a:p>
          <a:p>
            <a:pPr marL="203200" indent="-203200">
              <a:spcAft>
                <a:spcPts val="900"/>
              </a:spcAft>
              <a:buSzPct val="100000"/>
              <a:buChar char="•"/>
            </a:pPr>
            <a:r>
              <a:rPr lang="en-US" sz="1500" dirty="0">
                <a:solidFill>
                  <a:schemeClr val="tx1"/>
                </a:solidFill>
              </a:rPr>
              <a:t>A second distance, hd2nd, flags single isolated points as noise.</a:t>
            </a:r>
            <a:endParaRPr lang="en-US" sz="1500" dirty="0"/>
          </a:p>
        </p:txBody>
      </p:sp>
      <p:sp>
        <p:nvSpPr>
          <p:cNvPr id="14"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5"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6" name="Text 14"/>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ADPGBG builds balls from the class boundary inward instead of cutting blindly.</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BALL GENERATION</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Two moons: fewer balls with ADPGBG, but no overlap either way</a:t>
            </a:r>
            <a:endParaRPr lang="en-US" sz="2800" dirty="0"/>
          </a:p>
        </p:txBody>
      </p:sp>
      <p:pic>
        <p:nvPicPr>
          <p:cNvPr id="4" name="Image 0" descr="Two-moons data with k-means balls (left) and ADPGBG balls (right)">    </p:cNvPr>
          <p:cNvPicPr>
            <a:picLocks noChangeAspect="1"/>
          </p:cNvPicPr>
          <p:nvPr/>
        </p:nvPicPr>
        <p:blipFill>
          <a:blip r:embed="rId1"/>
          <a:stretch>
            <a:fillRect/>
          </a:stretch>
        </p:blipFill>
        <p:spPr>
          <a:xfrm>
            <a:off x="548640" y="1417320"/>
            <a:ext cx="6949440" cy="2467760"/>
          </a:xfrm>
          <a:prstGeom prst="rect">
            <a:avLst/>
          </a:prstGeom>
        </p:spPr>
      </p:pic>
      <p:sp>
        <p:nvSpPr>
          <p:cNvPr id="5" name="Text 2"/>
          <p:cNvSpPr txBox="1"/>
          <p:nvPr/>
        </p:nvSpPr>
        <p:spPr>
          <a:xfrm>
            <a:off x="548640" y="3977640"/>
            <a:ext cx="6949440" cy="457200"/>
          </a:xfrm>
          <a:prstGeom prst="rect">
            <a:avLst/>
          </a:prstGeom>
          <a:noFill/>
          <a:ln/>
        </p:spPr>
        <p:txBody>
          <a:bodyPr wrap="square" lIns="0" tIns="0" rIns="0" bIns="0" rtlCol="0" anchor="t"/>
          <a:lstStyle/>
          <a:p>
            <a:pPr indent="0" marL="0">
              <a:buNone/>
            </a:pPr>
            <a:r>
              <a:rPr lang="en-US" sz="1200" i="1" dirty="0">
                <a:solidFill>
                  <a:schemeClr val="accent6"/>
                </a:solidFill>
              </a:rPr>
              <a:t>Python re-run, October: two moons, n = 300, noise 0.20, seed 42; k-means at purity 0.985 with balls of under 2 points removed.</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26680" y="1463040"/>
          <a:ext cx="3886200" cy="914400"/>
        </p:xfrm>
        <a:graphic>
          <a:graphicData uri="http://schemas.openxmlformats.org/drawingml/2006/table">
            <a:tbl>
              <a:tblPr/>
              <a:tblGrid>
                <a:gridCol w="1371600"/>
                <a:gridCol w="960120"/>
                <a:gridCol w="777240"/>
                <a:gridCol w="777240"/>
              </a:tblGrid>
              <a:tr h="384048">
                <a:tc>
                  <a:txBody>
                    <a:bodyPr/>
                    <a:lstStyle/>
                    <a:p>
                      <a:pPr indent="0" marL="0">
                        <a:buNone/>
                      </a:pP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MATLAB (Aug, old deck)</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Python (Oct)</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Python (Oct)</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1"/>
                          </a:solidFill>
                        </a:rPr>
                        <a:t>Noise</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200" dirty="0">
                          <a:solidFill>
                            <a:schemeClr val="tx1"/>
                          </a:solidFill>
                        </a:rPr>
                        <a:t>0.08</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200" dirty="0">
                          <a:solidFill>
                            <a:schemeClr val="tx1"/>
                          </a:solidFill>
                        </a:rPr>
                        <a:t>0.08</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200" dirty="0">
                          <a:solidFill>
                            <a:schemeClr val="tx1"/>
                          </a:solidFill>
                        </a:rPr>
                        <a:t>0.20</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84048">
                <a:tc>
                  <a:txBody>
                    <a:bodyPr/>
                    <a:lstStyle/>
                    <a:p>
                      <a:pPr indent="0" marL="0">
                        <a:buNone/>
                      </a:pPr>
                      <a:r>
                        <a:rPr lang="en-US" sz="1200" b="1" dirty="0">
                          <a:solidFill>
                            <a:schemeClr val="tx1"/>
                          </a:solidFill>
                        </a:rPr>
                        <a:t>K-means balls</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200" dirty="0">
                          <a:solidFill>
                            <a:schemeClr val="tx1"/>
                          </a:solidFill>
                        </a:rPr>
                        <a:t>75</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200" dirty="0">
                          <a:solidFill>
                            <a:schemeClr val="tx1"/>
                          </a:solidFill>
                        </a:rPr>
                        <a:t>9</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200" dirty="0">
                          <a:solidFill>
                            <a:schemeClr val="tx1"/>
                          </a:solidFill>
                        </a:rPr>
                        <a:t>37</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84048">
                <a:tc>
                  <a:txBody>
                    <a:bodyPr/>
                    <a:lstStyle/>
                    <a:p>
                      <a:pPr indent="0" marL="0">
                        <a:buNone/>
                      </a:pPr>
                      <a:r>
                        <a:rPr lang="en-US" sz="1200" b="1" dirty="0">
                          <a:solidFill>
                            <a:schemeClr val="tx1"/>
                          </a:solidFill>
                        </a:rPr>
                        <a:t>ADPGBG balls</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200" dirty="0">
                          <a:solidFill>
                            <a:schemeClr val="tx1"/>
                          </a:solidFill>
                        </a:rPr>
                        <a:t>7</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200" dirty="0">
                          <a:solidFill>
                            <a:schemeClr val="tx1"/>
                          </a:solidFill>
                        </a:rPr>
                        <a:t>9</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200" dirty="0">
                          <a:solidFill>
                            <a:schemeClr val="tx1"/>
                          </a:solidFill>
                        </a:rPr>
                        <a:t>23</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84048">
                <a:tc>
                  <a:txBody>
                    <a:bodyPr/>
                    <a:lstStyle/>
                    <a:p>
                      <a:pPr indent="0" marL="0">
                        <a:buNone/>
                      </a:pPr>
                      <a:r>
                        <a:rPr lang="en-US" sz="1200" b="1" dirty="0">
                          <a:solidFill>
                            <a:schemeClr val="tx1"/>
                          </a:solidFill>
                        </a:rPr>
                        <a:t>Overlapping pairs, k-means</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200" dirty="0">
                          <a:solidFill>
                            <a:schemeClr val="tx1"/>
                          </a:solidFill>
                        </a:rPr>
                        <a:t>278</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200" dirty="0">
                          <a:solidFill>
                            <a:schemeClr val="tx1"/>
                          </a:solidFill>
                        </a:rPr>
                        <a:t>0</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200" dirty="0">
                          <a:solidFill>
                            <a:schemeClr val="tx1"/>
                          </a:solidFill>
                        </a:rPr>
                        <a:t>0</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84048">
                <a:tc>
                  <a:txBody>
                    <a:bodyPr/>
                    <a:lstStyle/>
                    <a:p>
                      <a:pPr indent="0" marL="0">
                        <a:buNone/>
                      </a:pPr>
                      <a:r>
                        <a:rPr lang="en-US" sz="1200" b="1" dirty="0">
                          <a:solidFill>
                            <a:schemeClr val="tx1"/>
                          </a:solidFill>
                        </a:rPr>
                        <a:t>Overlapping pairs, ADPGBG</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200" dirty="0">
                          <a:solidFill>
                            <a:schemeClr val="tx1"/>
                          </a:solidFill>
                        </a:rPr>
                        <a:t>0</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200" dirty="0">
                          <a:solidFill>
                            <a:schemeClr val="tx1"/>
                          </a:solidFill>
                        </a:rPr>
                        <a:t>0</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200" dirty="0">
                          <a:solidFill>
                            <a:schemeClr val="tx1"/>
                          </a:solidFill>
                        </a:rPr>
                        <a:t>0</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sp>
        <p:nvSpPr>
          <p:cNvPr id="7" name="card"/>
          <p:cNvSpPr/>
          <p:nvPr/>
        </p:nvSpPr>
        <p:spPr>
          <a:xfrm>
            <a:off x="548640" y="4526280"/>
            <a:ext cx="11064240" cy="960120"/>
          </a:xfrm>
          <a:prstGeom prst="roundRect">
            <a:avLst>
              <a:gd name="adj" fmla="val 9524"/>
            </a:avLst>
          </a:prstGeom>
          <a:solidFill>
            <a:schemeClr val="bg2"/>
          </a:solidFill>
          <a:ln w="9525">
            <a:solidFill>
              <a:schemeClr val="bg2"/>
            </a:solidFill>
            <a:prstDash val="solid"/>
          </a:ln>
        </p:spPr>
      </p:sp>
      <p:sp>
        <p:nvSpPr>
          <p:cNvPr id="8" name="Text 4"/>
          <p:cNvSpPr txBox="1"/>
          <p:nvPr/>
        </p:nvSpPr>
        <p:spPr>
          <a:xfrm>
            <a:off x="731520" y="4599432"/>
            <a:ext cx="10698480" cy="822960"/>
          </a:xfrm>
          <a:prstGeom prst="rect">
            <a:avLst/>
          </a:prstGeom>
          <a:noFill/>
          <a:ln/>
        </p:spPr>
        <p:txBody>
          <a:bodyPr wrap="square" lIns="0" tIns="0" rIns="0" bIns="0" rtlCol="0" anchor="ctr"/>
          <a:lstStyle/>
          <a:p>
            <a:pPr indent="0" marL="0">
              <a:buNone/>
            </a:pPr>
            <a:r>
              <a:rPr lang="en-US" sz="1350" b="1" dirty="0">
                <a:solidFill>
                  <a:schemeClr val="accent2"/>
                </a:solidFill>
              </a:rPr>
              <a:t>Open question: </a:t>
            </a:r>
            <a:r>
              <a:rPr lang="en-US" sz="1350" dirty="0">
                <a:solidFill>
                  <a:schemeClr val="tx1"/>
                </a:solidFill>
              </a:rPr>
              <a:t>the MATLAB run reported 278 overlapping pairs (10% of 75 × 74 / 2). The Python re-run gives none at either noise level. The MATLAB run probably counted balls before small ones were removed or used a different radius (inferred, not checked). Later, round 5 of the fuzzy study found no accuracy gain from ADPGBG.</a:t>
            </a:r>
            <a:endParaRPr lang="en-US" sz="1350" dirty="0"/>
          </a:p>
        </p:txBody>
      </p:sp>
      <p:sp>
        <p:nvSpPr>
          <p:cNvPr id="9"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0"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1" name="Text 7"/>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ADPGBG gives fewer balls; the 278-conflict claim did not reproduce and must be re-checked before use.</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BALL WEIGHTING MODELS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How the weighting models were tested</a:t>
            </a:r>
            <a:endParaRPr lang="en-US" sz="2800" dirty="0"/>
          </a:p>
        </p:txBody>
      </p:sp>
      <p:sp>
        <p:nvSpPr>
          <p:cNvPr id="4" name="card"/>
          <p:cNvSpPr/>
          <p:nvPr/>
        </p:nvSpPr>
        <p:spPr>
          <a:xfrm>
            <a:off x="548640" y="1463040"/>
            <a:ext cx="1755648" cy="1143000"/>
          </a:xfrm>
          <a:prstGeom prst="roundRect">
            <a:avLst>
              <a:gd name="adj" fmla="val 8000"/>
            </a:avLst>
          </a:prstGeom>
          <a:solidFill>
            <a:schemeClr val="bg2"/>
          </a:solidFill>
          <a:ln w="9525">
            <a:solidFill>
              <a:schemeClr val="bg2"/>
            </a:solidFill>
            <a:prstDash val="solid"/>
          </a:ln>
        </p:spPr>
      </p:sp>
      <p:sp>
        <p:nvSpPr>
          <p:cNvPr id="5" name="Text 3"/>
          <p:cNvSpPr txBox="1"/>
          <p:nvPr/>
        </p:nvSpPr>
        <p:spPr>
          <a:xfrm>
            <a:off x="685800" y="1554480"/>
            <a:ext cx="1508760" cy="365760"/>
          </a:xfrm>
          <a:prstGeom prst="rect">
            <a:avLst/>
          </a:prstGeom>
          <a:noFill/>
          <a:ln/>
        </p:spPr>
        <p:txBody>
          <a:bodyPr wrap="square" lIns="0" tIns="0" rIns="0" bIns="0" rtlCol="0" anchor="t"/>
          <a:lstStyle/>
          <a:p>
            <a:pPr indent="0" marL="0">
              <a:buNone/>
            </a:pPr>
            <a:r>
              <a:rPr lang="en-US" sz="1700" b="1" dirty="0">
                <a:solidFill>
                  <a:schemeClr val="tx2"/>
                </a:solidFill>
              </a:rPr>
              <a:t>diabetes</a:t>
            </a:r>
            <a:endParaRPr lang="en-US" sz="1700" dirty="0"/>
          </a:p>
        </p:txBody>
      </p:sp>
      <p:sp>
        <p:nvSpPr>
          <p:cNvPr id="6" name="Text 4"/>
          <p:cNvSpPr txBox="1"/>
          <p:nvPr/>
        </p:nvSpPr>
        <p:spPr>
          <a:xfrm>
            <a:off x="685800" y="1938528"/>
            <a:ext cx="1508760" cy="594360"/>
          </a:xfrm>
          <a:prstGeom prst="rect">
            <a:avLst/>
          </a:prstGeom>
          <a:noFill/>
          <a:ln/>
        </p:spPr>
        <p:txBody>
          <a:bodyPr wrap="square" lIns="0" tIns="0" rIns="0" bIns="0" rtlCol="0" anchor="t"/>
          <a:lstStyle/>
          <a:p>
            <a:pPr indent="0" marL="0">
              <a:buNone/>
            </a:pPr>
            <a:r>
              <a:rPr lang="en-US" sz="1300" dirty="0">
                <a:solidFill>
                  <a:schemeClr val="accent6"/>
                </a:solidFill>
              </a:rPr>
              <a:t>768 points</a:t>
            </a:r>
            <a:endParaRPr lang="en-US" sz="1300" dirty="0"/>
          </a:p>
          <a:p>
            <a:pPr indent="0" marL="0">
              <a:buNone/>
            </a:pPr>
            <a:r>
              <a:rPr lang="en-US" sz="1300" dirty="0">
                <a:solidFill>
                  <a:schemeClr val="accent6"/>
                </a:solidFill>
              </a:rPr>
              <a:t>imbalance 1.87</a:t>
            </a:r>
            <a:endParaRPr lang="en-US" sz="1300" dirty="0"/>
          </a:p>
        </p:txBody>
      </p:sp>
      <p:sp>
        <p:nvSpPr>
          <p:cNvPr id="7" name="card"/>
          <p:cNvSpPr/>
          <p:nvPr/>
        </p:nvSpPr>
        <p:spPr>
          <a:xfrm>
            <a:off x="2395728" y="1463040"/>
            <a:ext cx="1755648" cy="1143000"/>
          </a:xfrm>
          <a:prstGeom prst="roundRect">
            <a:avLst>
              <a:gd name="adj" fmla="val 8000"/>
            </a:avLst>
          </a:prstGeom>
          <a:solidFill>
            <a:schemeClr val="bg2"/>
          </a:solidFill>
          <a:ln w="9525">
            <a:solidFill>
              <a:schemeClr val="bg2"/>
            </a:solidFill>
            <a:prstDash val="solid"/>
          </a:ln>
        </p:spPr>
      </p:sp>
      <p:sp>
        <p:nvSpPr>
          <p:cNvPr id="8" name="Text 6"/>
          <p:cNvSpPr txBox="1"/>
          <p:nvPr/>
        </p:nvSpPr>
        <p:spPr>
          <a:xfrm>
            <a:off x="2532888" y="1554480"/>
            <a:ext cx="1508760" cy="365760"/>
          </a:xfrm>
          <a:prstGeom prst="rect">
            <a:avLst/>
          </a:prstGeom>
          <a:noFill/>
          <a:ln/>
        </p:spPr>
        <p:txBody>
          <a:bodyPr wrap="square" lIns="0" tIns="0" rIns="0" bIns="0" rtlCol="0" anchor="t"/>
          <a:lstStyle/>
          <a:p>
            <a:pPr indent="0" marL="0">
              <a:buNone/>
            </a:pPr>
            <a:r>
              <a:rPr lang="en-US" sz="1700" b="1" dirty="0">
                <a:solidFill>
                  <a:schemeClr val="tx2"/>
                </a:solidFill>
              </a:rPr>
              <a:t>ecoli2</a:t>
            </a:r>
            <a:endParaRPr lang="en-US" sz="1700" dirty="0"/>
          </a:p>
        </p:txBody>
      </p:sp>
      <p:sp>
        <p:nvSpPr>
          <p:cNvPr id="9" name="Text 7"/>
          <p:cNvSpPr txBox="1"/>
          <p:nvPr/>
        </p:nvSpPr>
        <p:spPr>
          <a:xfrm>
            <a:off x="2532888" y="1938528"/>
            <a:ext cx="1508760" cy="594360"/>
          </a:xfrm>
          <a:prstGeom prst="rect">
            <a:avLst/>
          </a:prstGeom>
          <a:noFill/>
          <a:ln/>
        </p:spPr>
        <p:txBody>
          <a:bodyPr wrap="square" lIns="0" tIns="0" rIns="0" bIns="0" rtlCol="0" anchor="t"/>
          <a:lstStyle/>
          <a:p>
            <a:pPr indent="0" marL="0">
              <a:buNone/>
            </a:pPr>
            <a:r>
              <a:rPr lang="en-US" sz="1300" dirty="0">
                <a:solidFill>
                  <a:schemeClr val="accent6"/>
                </a:solidFill>
              </a:rPr>
              <a:t>336 points</a:t>
            </a:r>
            <a:endParaRPr lang="en-US" sz="1300" dirty="0"/>
          </a:p>
          <a:p>
            <a:pPr indent="0" marL="0">
              <a:buNone/>
            </a:pPr>
            <a:r>
              <a:rPr lang="en-US" sz="1300" dirty="0">
                <a:solidFill>
                  <a:schemeClr val="accent6"/>
                </a:solidFill>
              </a:rPr>
              <a:t>imbalance 5.46</a:t>
            </a:r>
            <a:endParaRPr lang="en-US" sz="1300" dirty="0"/>
          </a:p>
        </p:txBody>
      </p:sp>
      <p:sp>
        <p:nvSpPr>
          <p:cNvPr id="10" name="card"/>
          <p:cNvSpPr/>
          <p:nvPr/>
        </p:nvSpPr>
        <p:spPr>
          <a:xfrm>
            <a:off x="4242816" y="1463040"/>
            <a:ext cx="1755648" cy="1143000"/>
          </a:xfrm>
          <a:prstGeom prst="roundRect">
            <a:avLst>
              <a:gd name="adj" fmla="val 8000"/>
            </a:avLst>
          </a:prstGeom>
          <a:solidFill>
            <a:schemeClr val="bg2"/>
          </a:solidFill>
          <a:ln w="9525">
            <a:solidFill>
              <a:schemeClr val="bg2"/>
            </a:solidFill>
            <a:prstDash val="solid"/>
          </a:ln>
        </p:spPr>
      </p:sp>
      <p:sp>
        <p:nvSpPr>
          <p:cNvPr id="11" name="Text 9"/>
          <p:cNvSpPr txBox="1"/>
          <p:nvPr/>
        </p:nvSpPr>
        <p:spPr>
          <a:xfrm>
            <a:off x="4379976" y="1554480"/>
            <a:ext cx="1508760" cy="365760"/>
          </a:xfrm>
          <a:prstGeom prst="rect">
            <a:avLst/>
          </a:prstGeom>
          <a:noFill/>
          <a:ln/>
        </p:spPr>
        <p:txBody>
          <a:bodyPr wrap="square" lIns="0" tIns="0" rIns="0" bIns="0" rtlCol="0" anchor="t"/>
          <a:lstStyle/>
          <a:p>
            <a:pPr indent="0" marL="0">
              <a:buNone/>
            </a:pPr>
            <a:r>
              <a:rPr lang="en-US" sz="1700" b="1" dirty="0">
                <a:solidFill>
                  <a:schemeClr val="tx2"/>
                </a:solidFill>
              </a:rPr>
              <a:t>vehicle0</a:t>
            </a:r>
            <a:endParaRPr lang="en-US" sz="1700" dirty="0"/>
          </a:p>
        </p:txBody>
      </p:sp>
      <p:sp>
        <p:nvSpPr>
          <p:cNvPr id="12" name="Text 10"/>
          <p:cNvSpPr txBox="1"/>
          <p:nvPr/>
        </p:nvSpPr>
        <p:spPr>
          <a:xfrm>
            <a:off x="4379976" y="1938528"/>
            <a:ext cx="1508760" cy="594360"/>
          </a:xfrm>
          <a:prstGeom prst="rect">
            <a:avLst/>
          </a:prstGeom>
          <a:noFill/>
          <a:ln/>
        </p:spPr>
        <p:txBody>
          <a:bodyPr wrap="square" lIns="0" tIns="0" rIns="0" bIns="0" rtlCol="0" anchor="t"/>
          <a:lstStyle/>
          <a:p>
            <a:pPr indent="0" marL="0">
              <a:buNone/>
            </a:pPr>
            <a:r>
              <a:rPr lang="en-US" sz="1300" dirty="0">
                <a:solidFill>
                  <a:schemeClr val="accent6"/>
                </a:solidFill>
              </a:rPr>
              <a:t>846 points</a:t>
            </a:r>
            <a:endParaRPr lang="en-US" sz="1300" dirty="0"/>
          </a:p>
          <a:p>
            <a:pPr indent="0" marL="0">
              <a:buNone/>
            </a:pPr>
            <a:r>
              <a:rPr lang="en-US" sz="1300" dirty="0">
                <a:solidFill>
                  <a:schemeClr val="accent6"/>
                </a:solidFill>
              </a:rPr>
              <a:t>imbalance 3.25</a:t>
            </a:r>
            <a:endParaRPr lang="en-US" sz="1300" dirty="0"/>
          </a:p>
        </p:txBody>
      </p:sp>
      <p:sp>
        <p:nvSpPr>
          <p:cNvPr id="13" name="Text 11"/>
          <p:cNvSpPr txBox="1"/>
          <p:nvPr/>
        </p:nvSpPr>
        <p:spPr>
          <a:xfrm>
            <a:off x="548640" y="2788920"/>
            <a:ext cx="5486400" cy="2743200"/>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chemeClr val="tx1"/>
                </a:solidFill>
              </a:rPr>
              <a:t>KEEL imbalanced datasets [14]; stratified 70/15/15 split, seed 42, no scaling.</a:t>
            </a:r>
            <a:endParaRPr lang="en-US" sz="1450" dirty="0"/>
          </a:p>
          <a:p>
            <a:pPr marL="203200" indent="-203200">
              <a:spcAft>
                <a:spcPts val="800"/>
              </a:spcAft>
              <a:buSzPct val="100000"/>
              <a:buChar char="•"/>
            </a:pPr>
            <a:r>
              <a:rPr lang="en-US" sz="1450" dirty="0">
                <a:solidFill>
                  <a:schemeClr val="tx1"/>
                </a:solidFill>
              </a:rPr>
              <a:t>c1 = 100, c2 = 0.01, purity 0.95, balls of under 2 points removed.</a:t>
            </a:r>
            <a:endParaRPr lang="en-US" sz="1450" dirty="0"/>
          </a:p>
          <a:p>
            <a:pPr marL="203200" indent="-203200">
              <a:spcAft>
                <a:spcPts val="800"/>
              </a:spcAft>
              <a:buSzPct val="100000"/>
              <a:buChar char="•"/>
            </a:pPr>
            <a:r>
              <a:rPr lang="en-US" sz="1450" dirty="0">
                <a:solidFill>
                  <a:schemeClr val="tx1"/>
                </a:solidFill>
              </a:rPr>
              <a:t>Phase 8 added a validation grid and seeds {0, 1, 2, 3, 4, 42}; later screens used 17 datasets × 3 seeds.</a:t>
            </a:r>
            <a:endParaRPr lang="en-US" sz="1450" dirty="0"/>
          </a:p>
          <a:p>
            <a:pPr marL="203200" indent="-203200">
              <a:spcAft>
                <a:spcPts val="800"/>
              </a:spcAft>
              <a:buSzPct val="100000"/>
              <a:buChar char="•"/>
            </a:pPr>
            <a:r>
              <a:rPr lang="en-US" sz="1450" b="1" dirty="0">
                <a:solidFill>
                  <a:schemeClr val="tx1"/>
                </a:solidFill>
              </a:rPr>
              <a:t>Control: </a:t>
            </a:r>
            <a:r>
              <a:rPr lang="en-US" sz="1450" dirty="0">
                <a:solidFill>
                  <a:schemeClr val="tx1"/>
                </a:solidFill>
              </a:rPr>
              <a:t>every new weight is compared with CW (class weights), not only with plain GBLSTSVM.</a:t>
            </a:r>
            <a:endParaRPr lang="en-US" sz="1450" dirty="0"/>
          </a:p>
        </p:txBody>
      </p:sp>
      <p:sp>
        <p:nvSpPr>
          <p:cNvPr id="14" name="formula"/>
          <p:cNvSpPr/>
          <p:nvPr/>
        </p:nvSpPr>
        <p:spPr>
          <a:xfrm>
            <a:off x="6263640" y="1463040"/>
            <a:ext cx="5349240" cy="1371600"/>
          </a:xfrm>
          <a:prstGeom prst="roundRect">
            <a:avLst>
              <a:gd name="adj" fmla="val 6667"/>
            </a:avLst>
          </a:prstGeom>
          <a:solidFill>
            <a:schemeClr val="bg2"/>
          </a:solidFill>
          <a:ln w="9525">
            <a:solidFill>
              <a:schemeClr val="bg2"/>
            </a:solidFill>
            <a:prstDash val="solid"/>
          </a:ln>
        </p:spPr>
      </p:sp>
      <p:sp>
        <p:nvSpPr>
          <p:cNvPr id="15" name="Text 13"/>
          <p:cNvSpPr txBox="1"/>
          <p:nvPr/>
        </p:nvSpPr>
        <p:spPr>
          <a:xfrm>
            <a:off x="6446520" y="1591056"/>
            <a:ext cx="4983480" cy="292608"/>
          </a:xfrm>
          <a:prstGeom prst="rect">
            <a:avLst/>
          </a:prstGeom>
          <a:noFill/>
          <a:ln/>
        </p:spPr>
        <p:txBody>
          <a:bodyPr wrap="square" lIns="0" tIns="0" rIns="0" bIns="0" rtlCol="0" anchor="t"/>
          <a:lstStyle/>
          <a:p>
            <a:pPr indent="0" marL="0">
              <a:buNone/>
            </a:pPr>
            <a:r>
              <a:rPr lang="en-US" sz="1500" b="1" dirty="0">
                <a:solidFill>
                  <a:schemeClr val="tx2"/>
                </a:solidFill>
              </a:rPr>
              <a:t>Where a ball weight w enters (plane 1)</a:t>
            </a:r>
            <a:endParaRPr lang="en-US" sz="1500" dirty="0"/>
          </a:p>
        </p:txBody>
      </p:sp>
      <p:sp>
        <p:nvSpPr>
          <p:cNvPr id="16" name="Text 14"/>
          <p:cNvSpPr txBox="1"/>
          <p:nvPr/>
        </p:nvSpPr>
        <p:spPr>
          <a:xfrm>
            <a:off x="6446520" y="1938528"/>
            <a:ext cx="4983480" cy="80467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(G</a:t>
            </a:r>
            <a:r>
              <a:rPr lang="en-US" sz="1400" baseline="30000" dirty="0">
                <a:solidFill>
                  <a:schemeClr val="tx1"/>
                </a:solidFill>
              </a:rPr>
              <a:t>T</a:t>
            </a:r>
            <a:r>
              <a:rPr lang="en-US" sz="1400" dirty="0">
                <a:solidFill>
                  <a:schemeClr val="tx1"/>
                </a:solidFill>
              </a:rPr>
              <a:t> W G + (1/c</a:t>
            </a:r>
            <a:r>
              <a:rPr lang="en-US" sz="1400" baseline="-40000" dirty="0">
                <a:solidFill>
                  <a:schemeClr val="tx1"/>
                </a:solidFill>
              </a:rPr>
              <a:t>1</a:t>
            </a:r>
            <a:r>
              <a:rPr lang="en-US" sz="1400" dirty="0">
                <a:solidFill>
                  <a:schemeClr val="tx1"/>
                </a:solidFill>
              </a:rPr>
              <a:t>) H</a:t>
            </a:r>
            <a:r>
              <a:rPr lang="en-US" sz="1400" baseline="30000" dirty="0">
                <a:solidFill>
                  <a:schemeClr val="tx1"/>
                </a:solidFill>
              </a:rPr>
              <a:t>T</a:t>
            </a:r>
            <a:r>
              <a:rPr lang="en-US" sz="1400" dirty="0">
                <a:solidFill>
                  <a:schemeClr val="tx1"/>
                </a:solidFill>
              </a:rPr>
              <a:t>H + εI) u</a:t>
            </a:r>
            <a:r>
              <a:rPr lang="en-US" sz="1400" baseline="-40000" dirty="0">
                <a:solidFill>
                  <a:schemeClr val="tx1"/>
                </a:solidFill>
              </a:rPr>
              <a:t>1</a:t>
            </a:r>
            <a:r>
              <a:rPr lang="en-US" sz="1400" dirty="0">
                <a:solidFill>
                  <a:schemeClr val="tx1"/>
                </a:solidFill>
              </a:rPr>
              <a:t> = −G</a:t>
            </a:r>
            <a:r>
              <a:rPr lang="en-US" sz="1400" baseline="30000" dirty="0">
                <a:solidFill>
                  <a:schemeClr val="tx1"/>
                </a:solidFill>
              </a:rPr>
              <a:t>T</a:t>
            </a:r>
            <a:r>
              <a:rPr lang="en-US" sz="1400" dirty="0">
                <a:solidFill>
                  <a:schemeClr val="tx1"/>
                </a:solidFill>
              </a:rPr>
              <a:t> W (e</a:t>
            </a:r>
            <a:r>
              <a:rPr lang="en-US" sz="1400" baseline="-40000" dirty="0">
                <a:solidFill>
                  <a:schemeClr val="tx1"/>
                </a:solidFill>
              </a:rPr>
              <a:t>2</a:t>
            </a:r>
            <a:r>
              <a:rPr lang="en-US" sz="1400" dirty="0">
                <a:solidFill>
                  <a:schemeClr val="tx1"/>
                </a:solidFill>
              </a:rPr>
              <a:t> + R</a:t>
            </a:r>
            <a:r>
              <a:rPr lang="en-US" sz="1400" baseline="-40000" dirty="0">
                <a:solidFill>
                  <a:schemeClr val="tx1"/>
                </a:solidFill>
              </a:rPr>
              <a:t>−</a:t>
            </a:r>
            <a:r>
              <a:rPr lang="en-US" sz="1400" dirty="0">
                <a:solidFill>
                  <a:schemeClr val="tx1"/>
                </a:solidFill>
              </a:rPr>
              <a:t>)</a:t>
            </a:r>
            <a:endParaRPr lang="en-US" sz="1400" dirty="0"/>
          </a:p>
          <a:p>
            <a:pPr indent="0" marL="0">
              <a:spcAft>
                <a:spcPts val="400"/>
              </a:spcAft>
              <a:buNone/>
            </a:pPr>
            <a:r>
              <a:rPr lang="en-US" sz="1400" dirty="0">
                <a:solidFill>
                  <a:schemeClr val="tx1"/>
                </a:solidFill>
              </a:rPr>
              <a:t>W = diag(w) over the opposite-class balls</a:t>
            </a:r>
            <a:endParaRPr lang="en-US" sz="1400" dirty="0"/>
          </a:p>
        </p:txBody>
      </p:sp>
      <p:sp>
        <p:nvSpPr>
          <p:cNvPr id="17" name="code-frame"/>
          <p:cNvSpPr/>
          <p:nvPr/>
        </p:nvSpPr>
        <p:spPr>
          <a:xfrm>
            <a:off x="6263640" y="2971800"/>
            <a:ext cx="5349240" cy="2344293"/>
          </a:xfrm>
          <a:prstGeom prst="roundRect">
            <a:avLst>
              <a:gd name="adj" fmla="val 3120"/>
            </a:avLst>
          </a:prstGeom>
          <a:solidFill>
            <a:schemeClr val="tx2"/>
          </a:solidFill>
          <a:ln w="9525">
            <a:solidFill>
              <a:schemeClr val="tx2"/>
            </a:solidFill>
            <a:prstDash val="solid"/>
          </a:ln>
        </p:spPr>
      </p:sp>
      <p:sp>
        <p:nvSpPr>
          <p:cNvPr id="18" name="code-dot"/>
          <p:cNvSpPr/>
          <p:nvPr/>
        </p:nvSpPr>
        <p:spPr>
          <a:xfrm>
            <a:off x="6409944" y="3090672"/>
            <a:ext cx="109728" cy="109728"/>
          </a:xfrm>
          <a:prstGeom prst="ellipse">
            <a:avLst/>
          </a:prstGeom>
          <a:solidFill>
            <a:schemeClr val="bg2">
              <a:alpha val="55000"/>
            </a:schemeClr>
          </a:solidFill>
          <a:ln w="12700">
            <a:solidFill>
              <a:schemeClr val="bg2">
                <a:alpha val="55000"/>
              </a:schemeClr>
            </a:solidFill>
            <a:prstDash val="solid"/>
          </a:ln>
        </p:spPr>
      </p:sp>
      <p:sp>
        <p:nvSpPr>
          <p:cNvPr id="19" name="code-dot"/>
          <p:cNvSpPr/>
          <p:nvPr/>
        </p:nvSpPr>
        <p:spPr>
          <a:xfrm>
            <a:off x="6592824" y="3090672"/>
            <a:ext cx="109728" cy="109728"/>
          </a:xfrm>
          <a:prstGeom prst="ellipse">
            <a:avLst/>
          </a:prstGeom>
          <a:solidFill>
            <a:schemeClr val="bg2">
              <a:alpha val="55000"/>
            </a:schemeClr>
          </a:solidFill>
          <a:ln w="12700">
            <a:solidFill>
              <a:schemeClr val="bg2">
                <a:alpha val="55000"/>
              </a:schemeClr>
            </a:solidFill>
            <a:prstDash val="solid"/>
          </a:ln>
        </p:spPr>
      </p:sp>
      <p:sp>
        <p:nvSpPr>
          <p:cNvPr id="20" name="code-dot"/>
          <p:cNvSpPr/>
          <p:nvPr/>
        </p:nvSpPr>
        <p:spPr>
          <a:xfrm>
            <a:off x="6775704" y="3090672"/>
            <a:ext cx="109728" cy="109728"/>
          </a:xfrm>
          <a:prstGeom prst="ellipse">
            <a:avLst/>
          </a:prstGeom>
          <a:solidFill>
            <a:schemeClr val="bg2">
              <a:alpha val="55000"/>
            </a:schemeClr>
          </a:solidFill>
          <a:ln w="12700">
            <a:solidFill>
              <a:schemeClr val="bg2">
                <a:alpha val="55000"/>
              </a:schemeClr>
            </a:solidFill>
            <a:prstDash val="solid"/>
          </a:ln>
        </p:spPr>
      </p:sp>
      <p:sp>
        <p:nvSpPr>
          <p:cNvPr id="21" name="Text 19"/>
          <p:cNvSpPr txBox="1"/>
          <p:nvPr/>
        </p:nvSpPr>
        <p:spPr>
          <a:xfrm>
            <a:off x="7013448" y="3008376"/>
            <a:ext cx="4434840" cy="27432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src/cw_gblstsvm.py · solve_cw_gblstsvm_systems</a:t>
            </a:r>
            <a:endParaRPr lang="en-US" sz="1100" dirty="0"/>
          </a:p>
        </p:txBody>
      </p:sp>
      <p:sp>
        <p:nvSpPr>
          <p:cNvPr id="22" name="code-body"/>
          <p:cNvSpPr/>
          <p:nvPr/>
        </p:nvSpPr>
        <p:spPr>
          <a:xfrm>
            <a:off x="6300216" y="3319272"/>
            <a:ext cx="5276088" cy="1960245"/>
          </a:xfrm>
          <a:prstGeom prst="rect">
            <a:avLst/>
          </a:prstGeom>
          <a:solidFill>
            <a:schemeClr val="bg1"/>
          </a:solidFill>
          <a:ln w="12700">
            <a:solidFill>
              <a:schemeClr val="bg1"/>
            </a:solidFill>
            <a:prstDash val="solid"/>
          </a:ln>
        </p:spPr>
      </p:sp>
      <p:sp>
        <p:nvSpPr>
          <p:cNvPr id="23" name="code"/>
          <p:cNvSpPr txBox="1"/>
          <p:nvPr/>
        </p:nvSpPr>
        <p:spPr>
          <a:xfrm>
            <a:off x="6391656" y="3410712"/>
            <a:ext cx="5093208" cy="1813941"/>
          </a:xfrm>
          <a:prstGeom prst="rect">
            <a:avLst/>
          </a:prstGeom>
          <a:noFill/>
          <a:ln/>
        </p:spPr>
        <p:txBody>
          <a:bodyPr wrap="square" lIns="0" tIns="0" rIns="0" bIns="0" rtlCol="0" anchor="t"/>
          <a:lstStyle/>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gram_hp1 = _weighted_gram(mat_G, w_opp_hp1) + (</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    </a:t>
            </a:r>
            <a:r>
              <a:rPr lang="en-US" sz="1250" dirty="0">
                <a:solidFill>
                  <a:schemeClr val="accent4"/>
                </a:solidFill>
                <a:latin typeface="Courier New" pitchFamily="34" charset="0"/>
                <a:ea typeface="Courier New" pitchFamily="34" charset="-122"/>
                <a:cs typeface="Courier New" pitchFamily="34" charset="-120"/>
              </a:rPr>
              <a:t>1.0</a:t>
            </a:r>
            <a:r>
              <a:rPr lang="en-US" sz="1250" dirty="0">
                <a:solidFill>
                  <a:schemeClr val="tx1"/>
                </a:solidFill>
                <a:latin typeface="Courier New" pitchFamily="34" charset="0"/>
                <a:ea typeface="Courier New" pitchFamily="34" charset="-122"/>
                <a:cs typeface="Courier New" pitchFamily="34" charset="-120"/>
              </a:rPr>
              <a:t> / c1) * _weighted_gram(mat_H, w_own_hp1)</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inv_p_1 = np.linalg.inv(gram_hp1 + eye)</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e2_R_neg = mat_e2 + R_neg</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rhs_1_top = _weighted_matvec(B, w_opp_hp1, e2_R_neg)</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rhs_1_bottom = _weighted_matvec(</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    mat_e2, w_opp_hp1, mat_e2 + R_neg)</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rhs_1 = np.concatenate([rhs_1_top, rhs_1_bottom])</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hyper_p_1 = -</a:t>
            </a:r>
            <a:r>
              <a:rPr lang="en-US" sz="1250" dirty="0">
                <a:solidFill>
                  <a:schemeClr val="accent4"/>
                </a:solidFill>
                <a:latin typeface="Courier New" pitchFamily="34" charset="0"/>
                <a:ea typeface="Courier New" pitchFamily="34" charset="-122"/>
                <a:cs typeface="Courier New" pitchFamily="34" charset="-120"/>
              </a:rPr>
              <a:t>1.0</a:t>
            </a:r>
            <a:r>
              <a:rPr lang="en-US" sz="1250" dirty="0">
                <a:solidFill>
                  <a:schemeClr val="tx1"/>
                </a:solidFill>
                <a:latin typeface="Courier New" pitchFamily="34" charset="0"/>
                <a:ea typeface="Courier New" pitchFamily="34" charset="-122"/>
                <a:cs typeface="Courier New" pitchFamily="34" charset="-120"/>
              </a:rPr>
              <a:t> * inv_p_1 @ rhs_1.reshape(-</a:t>
            </a:r>
            <a:r>
              <a:rPr lang="en-US" sz="1250" dirty="0">
                <a:solidFill>
                  <a:schemeClr val="accent4"/>
                </a:solidFill>
                <a:latin typeface="Courier New" pitchFamily="34" charset="0"/>
                <a:ea typeface="Courier New" pitchFamily="34" charset="-122"/>
                <a:cs typeface="Courier New" pitchFamily="34" charset="-120"/>
              </a:rPr>
              <a:t>1</a:t>
            </a:r>
            <a:r>
              <a:rPr lang="en-US" sz="1250" dirty="0">
                <a:solidFill>
                  <a:schemeClr val="tx1"/>
                </a:solidFill>
                <a:latin typeface="Courier New" pitchFamily="34" charset="0"/>
                <a:ea typeface="Courier New" pitchFamily="34" charset="-122"/>
                <a:cs typeface="Courier New" pitchFamily="34" charset="-120"/>
              </a:rPr>
              <a:t>, </a:t>
            </a:r>
            <a:r>
              <a:rPr lang="en-US" sz="1250" dirty="0">
                <a:solidFill>
                  <a:schemeClr val="accent4"/>
                </a:solidFill>
                <a:latin typeface="Courier New" pitchFamily="34" charset="0"/>
                <a:ea typeface="Courier New" pitchFamily="34" charset="-122"/>
                <a:cs typeface="Courier New" pitchFamily="34" charset="-120"/>
              </a:rPr>
              <a:t>1</a:t>
            </a:r>
            <a:r>
              <a:rPr lang="en-US" sz="1250" dirty="0">
                <a:solidFill>
                  <a:schemeClr val="tx1"/>
                </a:solidFill>
                <a:latin typeface="Courier New" pitchFamily="34" charset="0"/>
                <a:ea typeface="Courier New" pitchFamily="34" charset="-122"/>
                <a:cs typeface="Courier New" pitchFamily="34" charset="-120"/>
              </a:rPr>
              <a:t>)</a:t>
            </a:r>
            <a:endParaRPr lang="en-US" sz="1250" dirty="0"/>
          </a:p>
        </p:txBody>
      </p:sp>
      <p:sp>
        <p:nvSpPr>
          <p:cNvPr id="24"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25"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26" name="Text 24"/>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A new weight had to beat class weighting, so any gain had to come from the ball itself.</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BALL WEIGHTING MODELS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CW, R and CR: does ball reliability add anything?</a:t>
            </a:r>
            <a:endParaRPr lang="en-US" sz="2800" dirty="0"/>
          </a:p>
        </p:txBody>
      </p:sp>
      <p:sp>
        <p:nvSpPr>
          <p:cNvPr id="4" name="formula"/>
          <p:cNvSpPr/>
          <p:nvPr/>
        </p:nvSpPr>
        <p:spPr>
          <a:xfrm>
            <a:off x="548640" y="1463040"/>
            <a:ext cx="3621024" cy="1325880"/>
          </a:xfrm>
          <a:prstGeom prst="roundRect">
            <a:avLst>
              <a:gd name="adj" fmla="val 6897"/>
            </a:avLst>
          </a:prstGeom>
          <a:solidFill>
            <a:schemeClr val="bg2"/>
          </a:solidFill>
          <a:ln w="9525">
            <a:solidFill>
              <a:schemeClr val="bg2"/>
            </a:solidFill>
            <a:prstDash val="solid"/>
          </a:ln>
        </p:spPr>
      </p:sp>
      <p:sp>
        <p:nvSpPr>
          <p:cNvPr id="5" name="Text 3"/>
          <p:cNvSpPr txBox="1"/>
          <p:nvPr/>
        </p:nvSpPr>
        <p:spPr>
          <a:xfrm>
            <a:off x="731520" y="1591056"/>
            <a:ext cx="3255264" cy="292608"/>
          </a:xfrm>
          <a:prstGeom prst="rect">
            <a:avLst/>
          </a:prstGeom>
          <a:noFill/>
          <a:ln/>
        </p:spPr>
        <p:txBody>
          <a:bodyPr wrap="square" lIns="0" tIns="0" rIns="0" bIns="0" rtlCol="0" anchor="t"/>
          <a:lstStyle/>
          <a:p>
            <a:pPr indent="0" marL="0">
              <a:buNone/>
            </a:pPr>
            <a:r>
              <a:rPr lang="en-US" sz="1500" b="1" dirty="0">
                <a:solidFill>
                  <a:schemeClr val="tx2"/>
                </a:solidFill>
              </a:rPr>
              <a:t>CW: class weight</a:t>
            </a:r>
            <a:endParaRPr lang="en-US" sz="1500" dirty="0"/>
          </a:p>
        </p:txBody>
      </p:sp>
      <p:sp>
        <p:nvSpPr>
          <p:cNvPr id="6" name="Text 4"/>
          <p:cNvSpPr txBox="1"/>
          <p:nvPr/>
        </p:nvSpPr>
        <p:spPr>
          <a:xfrm>
            <a:off x="731520" y="1938528"/>
            <a:ext cx="3255264" cy="75895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κ</a:t>
            </a:r>
            <a:r>
              <a:rPr lang="en-US" sz="1400" baseline="-40000" dirty="0">
                <a:solidFill>
                  <a:schemeClr val="tx1"/>
                </a:solidFill>
              </a:rPr>
              <a:t>c</a:t>
            </a:r>
            <a:r>
              <a:rPr lang="en-US" sz="1400" dirty="0">
                <a:solidFill>
                  <a:schemeClr val="tx1"/>
                </a:solidFill>
              </a:rPr>
              <a:t> = n / (2 n</a:t>
            </a:r>
            <a:r>
              <a:rPr lang="en-US" sz="1400" baseline="-40000" dirty="0">
                <a:solidFill>
                  <a:schemeClr val="tx1"/>
                </a:solidFill>
              </a:rPr>
              <a:t>c</a:t>
            </a:r>
            <a:r>
              <a:rPr lang="en-US" sz="1400" dirty="0">
                <a:solidFill>
                  <a:schemeClr val="tx1"/>
                </a:solidFill>
              </a:rPr>
              <a:t>)</a:t>
            </a:r>
            <a:endParaRPr lang="en-US" sz="1400" dirty="0"/>
          </a:p>
          <a:p>
            <a:pPr indent="0" marL="0">
              <a:spcAft>
                <a:spcPts val="400"/>
              </a:spcAft>
              <a:buNone/>
            </a:pPr>
            <a:r>
              <a:rPr lang="en-US" sz="1400" dirty="0">
                <a:solidFill>
                  <a:schemeClr val="tx1"/>
                </a:solidFill>
              </a:rPr>
              <a:t>w</a:t>
            </a:r>
            <a:r>
              <a:rPr lang="en-US" sz="1400" baseline="-40000" dirty="0">
                <a:solidFill>
                  <a:schemeClr val="tx1"/>
                </a:solidFill>
              </a:rPr>
              <a:t>i</a:t>
            </a:r>
            <a:r>
              <a:rPr lang="en-US" sz="1400" dirty="0">
                <a:solidFill>
                  <a:schemeClr val="tx1"/>
                </a:solidFill>
              </a:rPr>
              <a:t> = κ for the ball's class</a:t>
            </a:r>
            <a:endParaRPr lang="en-US" sz="1400" dirty="0"/>
          </a:p>
        </p:txBody>
      </p:sp>
      <p:sp>
        <p:nvSpPr>
          <p:cNvPr id="7" name="formula"/>
          <p:cNvSpPr/>
          <p:nvPr/>
        </p:nvSpPr>
        <p:spPr>
          <a:xfrm>
            <a:off x="4270248" y="1463040"/>
            <a:ext cx="3621024" cy="1325880"/>
          </a:xfrm>
          <a:prstGeom prst="roundRect">
            <a:avLst>
              <a:gd name="adj" fmla="val 6897"/>
            </a:avLst>
          </a:prstGeom>
          <a:solidFill>
            <a:schemeClr val="bg2"/>
          </a:solidFill>
          <a:ln w="9525">
            <a:solidFill>
              <a:schemeClr val="bg2"/>
            </a:solidFill>
            <a:prstDash val="solid"/>
          </a:ln>
        </p:spPr>
      </p:sp>
      <p:sp>
        <p:nvSpPr>
          <p:cNvPr id="8" name="Text 6"/>
          <p:cNvSpPr txBox="1"/>
          <p:nvPr/>
        </p:nvSpPr>
        <p:spPr>
          <a:xfrm>
            <a:off x="4453128" y="1591056"/>
            <a:ext cx="3255264" cy="292608"/>
          </a:xfrm>
          <a:prstGeom prst="rect">
            <a:avLst/>
          </a:prstGeom>
          <a:noFill/>
          <a:ln/>
        </p:spPr>
        <p:txBody>
          <a:bodyPr wrap="square" lIns="0" tIns="0" rIns="0" bIns="0" rtlCol="0" anchor="t"/>
          <a:lstStyle/>
          <a:p>
            <a:pPr indent="0" marL="0">
              <a:buNone/>
            </a:pPr>
            <a:r>
              <a:rPr lang="en-US" sz="1500" b="1" dirty="0">
                <a:solidFill>
                  <a:schemeClr val="tx2"/>
                </a:solidFill>
              </a:rPr>
              <a:t>R: ball reliability</a:t>
            </a:r>
            <a:endParaRPr lang="en-US" sz="1500" dirty="0"/>
          </a:p>
        </p:txBody>
      </p:sp>
      <p:sp>
        <p:nvSpPr>
          <p:cNvPr id="9" name="Text 7"/>
          <p:cNvSpPr txBox="1"/>
          <p:nvPr/>
        </p:nvSpPr>
        <p:spPr>
          <a:xfrm>
            <a:off x="4453128" y="1938528"/>
            <a:ext cx="3255264" cy="75895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a:t>
            </a:r>
            <a:r>
              <a:rPr lang="en-US" sz="1400" baseline="-40000" dirty="0">
                <a:solidFill>
                  <a:schemeClr val="tx1"/>
                </a:solidFill>
              </a:rPr>
              <a:t>i</a:t>
            </a:r>
            <a:r>
              <a:rPr lang="en-US" sz="1400" dirty="0">
                <a:solidFill>
                  <a:schemeClr val="tx1"/>
                </a:solidFill>
              </a:rPr>
              <a:t> = ε + (1 − ε) p</a:t>
            </a:r>
            <a:r>
              <a:rPr lang="en-US" sz="1400" baseline="-40000" dirty="0">
                <a:solidFill>
                  <a:schemeClr val="tx1"/>
                </a:solidFill>
              </a:rPr>
              <a:t>i</a:t>
            </a:r>
            <a:r>
              <a:rPr lang="en-US" sz="1400" baseline="30000" dirty="0">
                <a:solidFill>
                  <a:schemeClr val="tx1"/>
                </a:solidFill>
              </a:rPr>
              <a:t>γ</a:t>
            </a:r>
            <a:r>
              <a:rPr lang="en-US" sz="1400" dirty="0">
                <a:solidFill>
                  <a:schemeClr val="tx1"/>
                </a:solidFill>
              </a:rPr>
              <a:t> exp(−λ r̃</a:t>
            </a:r>
            <a:r>
              <a:rPr lang="en-US" sz="1400" baseline="-40000" dirty="0">
                <a:solidFill>
                  <a:schemeClr val="tx1"/>
                </a:solidFill>
              </a:rPr>
              <a:t>i</a:t>
            </a:r>
            <a:r>
              <a:rPr lang="en-US" sz="1400" dirty="0">
                <a:solidFill>
                  <a:schemeClr val="tx1"/>
                </a:solidFill>
              </a:rPr>
              <a:t> (1 − p</a:t>
            </a:r>
            <a:r>
              <a:rPr lang="en-US" sz="1400" baseline="-40000" dirty="0">
                <a:solidFill>
                  <a:schemeClr val="tx1"/>
                </a:solidFill>
              </a:rPr>
              <a:t>i</a:t>
            </a:r>
            <a:r>
              <a:rPr lang="en-US" sz="1400" dirty="0">
                <a:solidFill>
                  <a:schemeClr val="tx1"/>
                </a:solidFill>
              </a:rPr>
              <a:t>))</a:t>
            </a:r>
            <a:endParaRPr lang="en-US" sz="1400" dirty="0"/>
          </a:p>
          <a:p>
            <a:pPr indent="0" marL="0">
              <a:spcAft>
                <a:spcPts val="400"/>
              </a:spcAft>
              <a:buNone/>
            </a:pPr>
            <a:r>
              <a:rPr lang="en-US" sz="1400" dirty="0">
                <a:solidFill>
                  <a:schemeClr val="tx1"/>
                </a:solidFill>
              </a:rPr>
              <a:t>p = purity, r̃ = r / median(r)</a:t>
            </a:r>
            <a:endParaRPr lang="en-US" sz="1400" dirty="0"/>
          </a:p>
        </p:txBody>
      </p:sp>
      <p:sp>
        <p:nvSpPr>
          <p:cNvPr id="10" name="formula"/>
          <p:cNvSpPr/>
          <p:nvPr/>
        </p:nvSpPr>
        <p:spPr>
          <a:xfrm>
            <a:off x="7991856" y="1463040"/>
            <a:ext cx="3621024" cy="1325880"/>
          </a:xfrm>
          <a:prstGeom prst="roundRect">
            <a:avLst>
              <a:gd name="adj" fmla="val 6897"/>
            </a:avLst>
          </a:prstGeom>
          <a:solidFill>
            <a:schemeClr val="bg2"/>
          </a:solidFill>
          <a:ln w="9525">
            <a:solidFill>
              <a:schemeClr val="bg2"/>
            </a:solidFill>
            <a:prstDash val="solid"/>
          </a:ln>
        </p:spPr>
      </p:sp>
      <p:sp>
        <p:nvSpPr>
          <p:cNvPr id="11" name="Text 9"/>
          <p:cNvSpPr txBox="1"/>
          <p:nvPr/>
        </p:nvSpPr>
        <p:spPr>
          <a:xfrm>
            <a:off x="8174736" y="1591056"/>
            <a:ext cx="3255264" cy="292608"/>
          </a:xfrm>
          <a:prstGeom prst="rect">
            <a:avLst/>
          </a:prstGeom>
          <a:noFill/>
          <a:ln/>
        </p:spPr>
        <p:txBody>
          <a:bodyPr wrap="square" lIns="0" tIns="0" rIns="0" bIns="0" rtlCol="0" anchor="t"/>
          <a:lstStyle/>
          <a:p>
            <a:pPr indent="0" marL="0">
              <a:buNone/>
            </a:pPr>
            <a:r>
              <a:rPr lang="en-US" sz="1500" b="1" dirty="0">
                <a:solidFill>
                  <a:schemeClr val="tx2"/>
                </a:solidFill>
              </a:rPr>
              <a:t>CR: both</a:t>
            </a:r>
            <a:endParaRPr lang="en-US" sz="1500" dirty="0"/>
          </a:p>
        </p:txBody>
      </p:sp>
      <p:sp>
        <p:nvSpPr>
          <p:cNvPr id="12" name="Text 10"/>
          <p:cNvSpPr txBox="1"/>
          <p:nvPr/>
        </p:nvSpPr>
        <p:spPr>
          <a:xfrm>
            <a:off x="8174736" y="1938528"/>
            <a:ext cx="3255264" cy="75895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w</a:t>
            </a:r>
            <a:r>
              <a:rPr lang="en-US" sz="1400" baseline="-40000" dirty="0">
                <a:solidFill>
                  <a:schemeClr val="tx1"/>
                </a:solidFill>
              </a:rPr>
              <a:t>i</a:t>
            </a:r>
            <a:r>
              <a:rPr lang="en-US" sz="1400" dirty="0">
                <a:solidFill>
                  <a:schemeClr val="tx1"/>
                </a:solidFill>
              </a:rPr>
              <a:t> = κ · a</a:t>
            </a:r>
            <a:r>
              <a:rPr lang="en-US" sz="1400" baseline="-40000" dirty="0">
                <a:solidFill>
                  <a:schemeClr val="tx1"/>
                </a:solidFill>
              </a:rPr>
              <a:t>i</a:t>
            </a:r>
            <a:endParaRPr lang="en-US" sz="1400" dirty="0"/>
          </a:p>
          <a:p>
            <a:pPr indent="0" marL="0">
              <a:spcAft>
                <a:spcPts val="400"/>
              </a:spcAft>
              <a:buNone/>
            </a:pPr>
            <a:r>
              <a:rPr lang="en-US" sz="1400" dirty="0">
                <a:solidFill>
                  <a:schemeClr val="tx1"/>
                </a:solidFill>
              </a:rPr>
              <a:t>is CR better than CW?</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971800"/>
          <a:ext cx="6035040" cy="914400"/>
        </p:xfrm>
        <a:graphic>
          <a:graphicData uri="http://schemas.openxmlformats.org/drawingml/2006/table">
            <a:tbl>
              <a:tblPr/>
              <a:tblGrid>
                <a:gridCol w="2743200"/>
                <a:gridCol w="1097280"/>
                <a:gridCol w="1097280"/>
                <a:gridCol w="1097280"/>
              </a:tblGrid>
              <a:tr h="393192">
                <a:tc>
                  <a:txBody>
                    <a:bodyPr/>
                    <a:lstStyle/>
                    <a:p>
                      <a:pPr indent="0" marL="0">
                        <a:buNone/>
                      </a:pPr>
                      <a:r>
                        <a:rPr lang="en-US" sz="1300" b="1" dirty="0">
                          <a:solidFill>
                            <a:schemeClr val="bg1"/>
                          </a:solidFill>
                        </a:rPr>
                        <a:t>Macro F1 difference</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diabetes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ecoli2</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vehicle0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393192">
                <a:tc>
                  <a:txBody>
                    <a:bodyPr/>
                    <a:lstStyle/>
                    <a:p>
                      <a:pPr indent="0" marL="0">
                        <a:buNone/>
                      </a:pPr>
                      <a:r>
                        <a:rPr lang="en-US" sz="1300" dirty="0">
                          <a:solidFill>
                            <a:schemeClr val="tx1"/>
                          </a:solidFill>
                        </a:rPr>
                        <a:t>CW − GBLSTSVM, tuned test</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+0.003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−0.025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+0.011</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93192">
                <a:tc>
                  <a:txBody>
                    <a:bodyPr/>
                    <a:lstStyle/>
                    <a:p>
                      <a:pPr indent="0" marL="0">
                        <a:buNone/>
                      </a:pPr>
                      <a:r>
                        <a:rPr lang="en-US" sz="1300" dirty="0">
                          <a:solidFill>
                            <a:schemeClr val="tx1"/>
                          </a:solidFill>
                        </a:rPr>
                        <a:t>CW − GBLSTSVM, 6-seed mean</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−0.029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−0.008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−0.017</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93192">
                <a:tc>
                  <a:txBody>
                    <a:bodyPr/>
                    <a:lstStyle/>
                    <a:p>
                      <a:pPr indent="0" marL="0">
                        <a:buNone/>
                      </a:pPr>
                      <a:r>
                        <a:rPr lang="en-US" sz="1300" dirty="0">
                          <a:solidFill>
                            <a:schemeClr val="tx1"/>
                          </a:solidFill>
                        </a:rPr>
                        <a:t>R − GBLSTSVM, tuned test</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−0.008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0.000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−0.012</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93192">
                <a:tc>
                  <a:txBody>
                    <a:bodyPr/>
                    <a:lstStyle/>
                    <a:p>
                      <a:pPr indent="0" marL="0">
                        <a:buNone/>
                      </a:pPr>
                      <a:r>
                        <a:rPr lang="en-US" sz="1300" b="1" dirty="0">
                          <a:solidFill>
                            <a:schemeClr val="tx1"/>
                          </a:solidFill>
                        </a:rPr>
                        <a:t>CR − CW, tuned test</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b="1" dirty="0">
                          <a:solidFill>
                            <a:schemeClr val="tx1"/>
                          </a:solidFill>
                        </a:rPr>
                        <a:t>−0.007</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b="1" dirty="0">
                          <a:solidFill>
                            <a:schemeClr val="tx1"/>
                          </a:solidFill>
                        </a:rPr>
                        <a:t>0.000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b="1" dirty="0">
                          <a:solidFill>
                            <a:schemeClr val="tx1"/>
                          </a:solidFill>
                        </a:rPr>
                        <a:t>0.000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93192">
                <a:tc>
                  <a:txBody>
                    <a:bodyPr/>
                    <a:lstStyle/>
                    <a:p>
                      <a:pPr indent="0" marL="0">
                        <a:buNone/>
                      </a:pPr>
                      <a:r>
                        <a:rPr lang="en-US" sz="1300" dirty="0">
                          <a:solidFill>
                            <a:schemeClr val="tx1"/>
                          </a:solidFill>
                        </a:rPr>
                        <a:t>Mean reliability</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0.998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0.995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0.999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sp>
        <p:nvSpPr>
          <p:cNvPr id="14" name="code-frame"/>
          <p:cNvSpPr/>
          <p:nvPr/>
        </p:nvSpPr>
        <p:spPr>
          <a:xfrm>
            <a:off x="6812280" y="2971800"/>
            <a:ext cx="4800600" cy="1557528"/>
          </a:xfrm>
          <a:prstGeom prst="roundRect">
            <a:avLst>
              <a:gd name="adj" fmla="val 4697"/>
            </a:avLst>
          </a:prstGeom>
          <a:solidFill>
            <a:schemeClr val="tx2"/>
          </a:solidFill>
          <a:ln w="9525">
            <a:solidFill>
              <a:schemeClr val="tx2"/>
            </a:solidFill>
            <a:prstDash val="solid"/>
          </a:ln>
        </p:spPr>
      </p:sp>
      <p:sp>
        <p:nvSpPr>
          <p:cNvPr id="15" name="code-dot"/>
          <p:cNvSpPr/>
          <p:nvPr/>
        </p:nvSpPr>
        <p:spPr>
          <a:xfrm>
            <a:off x="6958584" y="3090672"/>
            <a:ext cx="109728" cy="109728"/>
          </a:xfrm>
          <a:prstGeom prst="ellipse">
            <a:avLst/>
          </a:prstGeom>
          <a:solidFill>
            <a:schemeClr val="bg2">
              <a:alpha val="55000"/>
            </a:schemeClr>
          </a:solidFill>
          <a:ln w="12700">
            <a:solidFill>
              <a:schemeClr val="bg2">
                <a:alpha val="55000"/>
              </a:schemeClr>
            </a:solidFill>
            <a:prstDash val="solid"/>
          </a:ln>
        </p:spPr>
      </p:sp>
      <p:sp>
        <p:nvSpPr>
          <p:cNvPr id="16" name="code-dot"/>
          <p:cNvSpPr/>
          <p:nvPr/>
        </p:nvSpPr>
        <p:spPr>
          <a:xfrm>
            <a:off x="7141464" y="3090672"/>
            <a:ext cx="109728" cy="109728"/>
          </a:xfrm>
          <a:prstGeom prst="ellipse">
            <a:avLst/>
          </a:prstGeom>
          <a:solidFill>
            <a:schemeClr val="bg2">
              <a:alpha val="55000"/>
            </a:schemeClr>
          </a:solidFill>
          <a:ln w="12700">
            <a:solidFill>
              <a:schemeClr val="bg2">
                <a:alpha val="55000"/>
              </a:schemeClr>
            </a:solidFill>
            <a:prstDash val="solid"/>
          </a:ln>
        </p:spPr>
      </p:sp>
      <p:sp>
        <p:nvSpPr>
          <p:cNvPr id="17" name="code-dot"/>
          <p:cNvSpPr/>
          <p:nvPr/>
        </p:nvSpPr>
        <p:spPr>
          <a:xfrm>
            <a:off x="7324344" y="3090672"/>
            <a:ext cx="109728" cy="109728"/>
          </a:xfrm>
          <a:prstGeom prst="ellipse">
            <a:avLst/>
          </a:prstGeom>
          <a:solidFill>
            <a:schemeClr val="bg2">
              <a:alpha val="55000"/>
            </a:schemeClr>
          </a:solidFill>
          <a:ln w="12700">
            <a:solidFill>
              <a:schemeClr val="bg2">
                <a:alpha val="55000"/>
              </a:schemeClr>
            </a:solidFill>
            <a:prstDash val="solid"/>
          </a:ln>
        </p:spPr>
      </p:sp>
      <p:sp>
        <p:nvSpPr>
          <p:cNvPr id="18" name="Text 15"/>
          <p:cNvSpPr txBox="1"/>
          <p:nvPr/>
        </p:nvSpPr>
        <p:spPr>
          <a:xfrm>
            <a:off x="7562088" y="3008376"/>
            <a:ext cx="3886200" cy="27432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src/reliability.py · ball_reliability_score</a:t>
            </a:r>
            <a:endParaRPr lang="en-US" sz="1100" dirty="0"/>
          </a:p>
        </p:txBody>
      </p:sp>
      <p:sp>
        <p:nvSpPr>
          <p:cNvPr id="19" name="code-body"/>
          <p:cNvSpPr/>
          <p:nvPr/>
        </p:nvSpPr>
        <p:spPr>
          <a:xfrm>
            <a:off x="6848856" y="3319272"/>
            <a:ext cx="4727448" cy="1173480"/>
          </a:xfrm>
          <a:prstGeom prst="rect">
            <a:avLst/>
          </a:prstGeom>
          <a:solidFill>
            <a:schemeClr val="bg1"/>
          </a:solidFill>
          <a:ln w="12700">
            <a:solidFill>
              <a:schemeClr val="bg1"/>
            </a:solidFill>
            <a:prstDash val="solid"/>
          </a:ln>
        </p:spPr>
      </p:sp>
      <p:sp>
        <p:nvSpPr>
          <p:cNvPr id="20" name="code"/>
          <p:cNvSpPr txBox="1"/>
          <p:nvPr/>
        </p:nvSpPr>
        <p:spPr>
          <a:xfrm>
            <a:off x="6940296" y="3410712"/>
            <a:ext cx="4544568" cy="1027176"/>
          </a:xfrm>
          <a:prstGeom prst="rect">
            <a:avLst/>
          </a:prstGeom>
          <a:noFill/>
          <a:ln/>
        </p:spPr>
        <p:txBody>
          <a:bodyPr wrap="square" lIns="0" tIns="0" rIns="0" bIns="0" rtlCol="0" anchor="t"/>
          <a:lstStyle/>
          <a:p>
            <a:pPr indent="0" marL="0">
              <a:lnSpc>
                <a:spcPct val="100000"/>
              </a:lnSpc>
              <a:buNone/>
            </a:pPr>
            <a:r>
              <a:rPr lang="en-US" sz="1200" b="1" dirty="0">
                <a:solidFill>
                  <a:schemeClr val="accent3"/>
                </a:solidFill>
                <a:latin typeface="Courier New" pitchFamily="34" charset="0"/>
                <a:ea typeface="Courier New" pitchFamily="34" charset="-122"/>
                <a:cs typeface="Courier New" pitchFamily="34" charset="-120"/>
              </a:rPr>
              <a:t>elif</a:t>
            </a:r>
            <a:r>
              <a:rPr lang="en-US" sz="1200" dirty="0">
                <a:solidFill>
                  <a:schemeClr val="tx1"/>
                </a:solidFill>
                <a:latin typeface="Courier New" pitchFamily="34" charset="0"/>
                <a:ea typeface="Courier New" pitchFamily="34" charset="-122"/>
                <a:cs typeface="Courier New" pitchFamily="34" charset="-120"/>
              </a:rPr>
              <a:t> variant == </a:t>
            </a:r>
            <a:r>
              <a:rPr lang="en-US" sz="1200" dirty="0">
                <a:solidFill>
                  <a:schemeClr val="accent2"/>
                </a:solidFill>
                <a:latin typeface="Courier New" pitchFamily="34" charset="0"/>
                <a:ea typeface="Courier New" pitchFamily="34" charset="-122"/>
                <a:cs typeface="Courier New" pitchFamily="34" charset="-120"/>
              </a:rPr>
              <a:t>"full"</a:t>
            </a: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    core = (p**gamma) * float(</a:t>
            </a:r>
            <a:endParaRPr lang="en-US" sz="1200" dirty="0"/>
          </a:p>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        np.exp(-lambda_r * r_tilde * (</a:t>
            </a:r>
            <a:r>
              <a:rPr lang="en-US" sz="1200" dirty="0">
                <a:solidFill>
                  <a:schemeClr val="accent4"/>
                </a:solidFill>
                <a:latin typeface="Courier New" pitchFamily="34" charset="0"/>
                <a:ea typeface="Courier New" pitchFamily="34" charset="-122"/>
                <a:cs typeface="Courier New" pitchFamily="34" charset="-120"/>
              </a:rPr>
              <a:t>1.0</a:t>
            </a:r>
            <a:r>
              <a:rPr lang="en-US" sz="1200" dirty="0">
                <a:solidFill>
                  <a:schemeClr val="tx1"/>
                </a:solidFill>
                <a:latin typeface="Courier New" pitchFamily="34" charset="0"/>
                <a:ea typeface="Courier New" pitchFamily="34" charset="-122"/>
                <a:cs typeface="Courier New" pitchFamily="34" charset="-120"/>
              </a:rPr>
              <a:t> - p)))</a:t>
            </a:r>
            <a:endParaRPr lang="en-US" sz="1200" dirty="0"/>
          </a:p>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b="1" dirty="0">
                <a:solidFill>
                  <a:schemeClr val="accent3"/>
                </a:solidFill>
                <a:latin typeface="Courier New" pitchFamily="34" charset="0"/>
                <a:ea typeface="Courier New" pitchFamily="34" charset="-122"/>
                <a:cs typeface="Courier New" pitchFamily="34" charset="-120"/>
              </a:rPr>
              <a:t>return</a:t>
            </a:r>
            <a:r>
              <a:rPr lang="en-US" sz="1200" dirty="0">
                <a:solidFill>
                  <a:schemeClr val="tx1"/>
                </a:solidFill>
                <a:latin typeface="Courier New" pitchFamily="34" charset="0"/>
                <a:ea typeface="Courier New" pitchFamily="34" charset="-122"/>
                <a:cs typeface="Courier New" pitchFamily="34" charset="-120"/>
              </a:rPr>
              <a:t> epsilon + (</a:t>
            </a:r>
            <a:r>
              <a:rPr lang="en-US" sz="1200" dirty="0">
                <a:solidFill>
                  <a:schemeClr val="accent4"/>
                </a:solidFill>
                <a:latin typeface="Courier New" pitchFamily="34" charset="0"/>
                <a:ea typeface="Courier New" pitchFamily="34" charset="-122"/>
                <a:cs typeface="Courier New" pitchFamily="34" charset="-120"/>
              </a:rPr>
              <a:t>1.0</a:t>
            </a:r>
            <a:r>
              <a:rPr lang="en-US" sz="1200" dirty="0">
                <a:solidFill>
                  <a:schemeClr val="tx1"/>
                </a:solidFill>
                <a:latin typeface="Courier New" pitchFamily="34" charset="0"/>
                <a:ea typeface="Courier New" pitchFamily="34" charset="-122"/>
                <a:cs typeface="Courier New" pitchFamily="34" charset="-120"/>
              </a:rPr>
              <a:t> - epsilon) * core</a:t>
            </a:r>
            <a:endParaRPr lang="en-US" sz="1200" dirty="0"/>
          </a:p>
        </p:txBody>
      </p:sp>
      <p:sp>
        <p:nvSpPr>
          <p:cNvPr id="21"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22"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23" name="Text 20"/>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At purity 0.95 every ball is nearly pure, so reliability is about 1 and CR equals CW.</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BALL WEIGHTING MODELS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BMRU: trust balls that sit far from the decision boundary</a:t>
            </a:r>
            <a:endParaRPr lang="en-US" sz="2800" dirty="0"/>
          </a:p>
        </p:txBody>
      </p:sp>
      <p:sp>
        <p:nvSpPr>
          <p:cNvPr id="4" name="formula"/>
          <p:cNvSpPr/>
          <p:nvPr/>
        </p:nvSpPr>
        <p:spPr>
          <a:xfrm>
            <a:off x="548640" y="1463040"/>
            <a:ext cx="4434840" cy="1783080"/>
          </a:xfrm>
          <a:prstGeom prst="roundRect">
            <a:avLst>
              <a:gd name="adj" fmla="val 5128"/>
            </a:avLst>
          </a:prstGeom>
          <a:solidFill>
            <a:schemeClr val="bg2"/>
          </a:solidFill>
          <a:ln w="9525">
            <a:solidFill>
              <a:schemeClr val="bg2"/>
            </a:solidFill>
            <a:prstDash val="solid"/>
          </a:ln>
        </p:spPr>
      </p:sp>
      <p:sp>
        <p:nvSpPr>
          <p:cNvPr id="5" name="Text 3"/>
          <p:cNvSpPr txBox="1"/>
          <p:nvPr/>
        </p:nvSpPr>
        <p:spPr>
          <a:xfrm>
            <a:off x="731520" y="1591056"/>
            <a:ext cx="4069080" cy="292608"/>
          </a:xfrm>
          <a:prstGeom prst="rect">
            <a:avLst/>
          </a:prstGeom>
          <a:noFill/>
          <a:ln/>
        </p:spPr>
        <p:txBody>
          <a:bodyPr wrap="square" lIns="0" tIns="0" rIns="0" bIns="0" rtlCol="0" anchor="t"/>
          <a:lstStyle/>
          <a:p>
            <a:pPr indent="0" marL="0">
              <a:buNone/>
            </a:pPr>
            <a:r>
              <a:rPr lang="en-US" sz="1500" b="1" dirty="0">
                <a:solidFill>
                  <a:schemeClr val="tx2"/>
                </a:solidFill>
              </a:rPr>
              <a:t>Ball-margin reliability update</a:t>
            </a:r>
            <a:endParaRPr lang="en-US" sz="1500" dirty="0"/>
          </a:p>
        </p:txBody>
      </p:sp>
      <p:sp>
        <p:nvSpPr>
          <p:cNvPr id="6" name="Text 4"/>
          <p:cNvSpPr txBox="1"/>
          <p:nvPr/>
        </p:nvSpPr>
        <p:spPr>
          <a:xfrm>
            <a:off x="731520" y="1938528"/>
            <a:ext cx="4069080" cy="121615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a:t>
            </a:r>
            <a:r>
              <a:rPr lang="en-US" sz="1400" baseline="-40000" dirty="0">
                <a:solidFill>
                  <a:schemeClr val="tx1"/>
                </a:solidFill>
              </a:rPr>
              <a:t>i</a:t>
            </a:r>
            <a:r>
              <a:rPr lang="en-US" sz="1400" dirty="0">
                <a:solidFill>
                  <a:schemeClr val="tx1"/>
                </a:solidFill>
              </a:rPr>
              <a:t> = |f</a:t>
            </a:r>
            <a:r>
              <a:rPr lang="en-US" sz="1400" baseline="-40000" dirty="0">
                <a:solidFill>
                  <a:schemeClr val="tx1"/>
                </a:solidFill>
              </a:rPr>
              <a:t>2</a:t>
            </a:r>
            <a:r>
              <a:rPr lang="en-US" sz="1400" dirty="0">
                <a:solidFill>
                  <a:schemeClr val="tx1"/>
                </a:solidFill>
              </a:rPr>
              <a:t>(c</a:t>
            </a:r>
            <a:r>
              <a:rPr lang="en-US" sz="1400" baseline="-40000" dirty="0">
                <a:solidFill>
                  <a:schemeClr val="tx1"/>
                </a:solidFill>
              </a:rPr>
              <a:t>i</a:t>
            </a:r>
            <a:r>
              <a:rPr lang="en-US" sz="1400" dirty="0">
                <a:solidFill>
                  <a:schemeClr val="tx1"/>
                </a:solidFill>
              </a:rPr>
              <a:t>)| − |f</a:t>
            </a:r>
            <a:r>
              <a:rPr lang="en-US" sz="1400" baseline="-40000" dirty="0">
                <a:solidFill>
                  <a:schemeClr val="tx1"/>
                </a:solidFill>
              </a:rPr>
              <a:t>1</a:t>
            </a:r>
            <a:r>
              <a:rPr lang="en-US" sz="1400" dirty="0">
                <a:solidFill>
                  <a:schemeClr val="tx1"/>
                </a:solidFill>
              </a:rPr>
              <a:t>(c</a:t>
            </a:r>
            <a:r>
              <a:rPr lang="en-US" sz="1400" baseline="-40000" dirty="0">
                <a:solidFill>
                  <a:schemeClr val="tx1"/>
                </a:solidFill>
              </a:rPr>
              <a:t>i</a:t>
            </a:r>
            <a:r>
              <a:rPr lang="en-US" sz="1400" dirty="0">
                <a:solidFill>
                  <a:schemeClr val="tx1"/>
                </a:solidFill>
              </a:rPr>
              <a:t>)|  (margin at the centre)</a:t>
            </a:r>
            <a:endParaRPr lang="en-US" sz="1400" dirty="0"/>
          </a:p>
          <a:p>
            <a:pPr indent="0" marL="0">
              <a:spcAft>
                <a:spcPts val="400"/>
              </a:spcAft>
              <a:buNone/>
            </a:pPr>
            <a:r>
              <a:rPr lang="en-US" sz="1400" dirty="0">
                <a:solidFill>
                  <a:schemeClr val="tx1"/>
                </a:solidFill>
              </a:rPr>
              <a:t>u</a:t>
            </a:r>
            <a:r>
              <a:rPr lang="en-US" sz="1400" baseline="-40000" dirty="0">
                <a:solidFill>
                  <a:schemeClr val="tx1"/>
                </a:solidFill>
              </a:rPr>
              <a:t>i</a:t>
            </a:r>
            <a:r>
              <a:rPr lang="en-US" sz="1400" dirty="0">
                <a:solidFill>
                  <a:schemeClr val="tx1"/>
                </a:solidFill>
              </a:rPr>
              <a:t> = 2 r</a:t>
            </a:r>
            <a:r>
              <a:rPr lang="en-US" sz="1400" baseline="-40000" dirty="0">
                <a:solidFill>
                  <a:schemeClr val="tx1"/>
                </a:solidFill>
              </a:rPr>
              <a:t>i</a:t>
            </a:r>
            <a:r>
              <a:rPr lang="en-US" sz="1400" dirty="0">
                <a:solidFill>
                  <a:schemeClr val="tx1"/>
                </a:solidFill>
              </a:rPr>
              <a:t> / (|s</a:t>
            </a:r>
            <a:r>
              <a:rPr lang="en-US" sz="1400" baseline="-40000" dirty="0">
                <a:solidFill>
                  <a:schemeClr val="tx1"/>
                </a:solidFill>
              </a:rPr>
              <a:t>i</a:t>
            </a:r>
            <a:r>
              <a:rPr lang="en-US" sz="1400" dirty="0">
                <a:solidFill>
                  <a:schemeClr val="tx1"/>
                </a:solidFill>
              </a:rPr>
              <a:t>| + ε),   μ</a:t>
            </a:r>
            <a:r>
              <a:rPr lang="en-US" sz="1400" baseline="-40000" dirty="0">
                <a:solidFill>
                  <a:schemeClr val="tx1"/>
                </a:solidFill>
              </a:rPr>
              <a:t>i</a:t>
            </a:r>
            <a:r>
              <a:rPr lang="en-US" sz="1400" dirty="0">
                <a:solidFill>
                  <a:schemeClr val="tx1"/>
                </a:solidFill>
              </a:rPr>
              <a:t> = exp(−α u</a:t>
            </a:r>
            <a:r>
              <a:rPr lang="en-US" sz="1400" baseline="-40000" dirty="0">
                <a:solidFill>
                  <a:schemeClr val="tx1"/>
                </a:solidFill>
              </a:rPr>
              <a:t>i</a:t>
            </a:r>
            <a:r>
              <a:rPr lang="en-US" sz="1400" dirty="0">
                <a:solidFill>
                  <a:schemeClr val="tx1"/>
                </a:solidFill>
              </a:rPr>
              <a:t>)</a:t>
            </a:r>
            <a:endParaRPr lang="en-US" sz="1400" dirty="0"/>
          </a:p>
          <a:p>
            <a:pPr indent="0" marL="0">
              <a:spcAft>
                <a:spcPts val="400"/>
              </a:spcAft>
              <a:buNone/>
            </a:pPr>
            <a:r>
              <a:rPr lang="en-US" sz="1400" dirty="0">
                <a:solidFill>
                  <a:schemeClr val="tx1"/>
                </a:solidFill>
              </a:rPr>
              <a:t>fit → weight → refit, for 3 to 5 rounds</a:t>
            </a:r>
            <a:endParaRPr lang="en-US" sz="1400" dirty="0"/>
          </a:p>
        </p:txBody>
      </p:sp>
      <p:sp>
        <p:nvSpPr>
          <p:cNvPr id="7" name="code-frame"/>
          <p:cNvSpPr/>
          <p:nvPr/>
        </p:nvSpPr>
        <p:spPr>
          <a:xfrm>
            <a:off x="548640" y="3383280"/>
            <a:ext cx="4434840" cy="1557528"/>
          </a:xfrm>
          <a:prstGeom prst="roundRect">
            <a:avLst>
              <a:gd name="adj" fmla="val 4697"/>
            </a:avLst>
          </a:prstGeom>
          <a:solidFill>
            <a:schemeClr val="tx2"/>
          </a:solidFill>
          <a:ln w="9525">
            <a:solidFill>
              <a:schemeClr val="tx2"/>
            </a:solidFill>
            <a:prstDash val="solid"/>
          </a:ln>
        </p:spPr>
      </p:sp>
      <p:sp>
        <p:nvSpPr>
          <p:cNvPr id="8" name="code-dot"/>
          <p:cNvSpPr/>
          <p:nvPr/>
        </p:nvSpPr>
        <p:spPr>
          <a:xfrm>
            <a:off x="694944" y="3502152"/>
            <a:ext cx="109728" cy="109728"/>
          </a:xfrm>
          <a:prstGeom prst="ellipse">
            <a:avLst/>
          </a:prstGeom>
          <a:solidFill>
            <a:schemeClr val="bg2">
              <a:alpha val="55000"/>
            </a:schemeClr>
          </a:solidFill>
          <a:ln w="12700">
            <a:solidFill>
              <a:schemeClr val="bg2">
                <a:alpha val="55000"/>
              </a:schemeClr>
            </a:solidFill>
            <a:prstDash val="solid"/>
          </a:ln>
        </p:spPr>
      </p:sp>
      <p:sp>
        <p:nvSpPr>
          <p:cNvPr id="9" name="code-dot"/>
          <p:cNvSpPr/>
          <p:nvPr/>
        </p:nvSpPr>
        <p:spPr>
          <a:xfrm>
            <a:off x="877824" y="3502152"/>
            <a:ext cx="109728" cy="109728"/>
          </a:xfrm>
          <a:prstGeom prst="ellipse">
            <a:avLst/>
          </a:prstGeom>
          <a:solidFill>
            <a:schemeClr val="bg2">
              <a:alpha val="55000"/>
            </a:schemeClr>
          </a:solidFill>
          <a:ln w="12700">
            <a:solidFill>
              <a:schemeClr val="bg2">
                <a:alpha val="55000"/>
              </a:schemeClr>
            </a:solidFill>
            <a:prstDash val="solid"/>
          </a:ln>
        </p:spPr>
      </p:sp>
      <p:sp>
        <p:nvSpPr>
          <p:cNvPr id="10" name="code-dot"/>
          <p:cNvSpPr/>
          <p:nvPr/>
        </p:nvSpPr>
        <p:spPr>
          <a:xfrm>
            <a:off x="1060704" y="3502152"/>
            <a:ext cx="109728" cy="109728"/>
          </a:xfrm>
          <a:prstGeom prst="ellipse">
            <a:avLst/>
          </a:prstGeom>
          <a:solidFill>
            <a:schemeClr val="bg2">
              <a:alpha val="55000"/>
            </a:schemeClr>
          </a:solidFill>
          <a:ln w="12700">
            <a:solidFill>
              <a:schemeClr val="bg2">
                <a:alpha val="55000"/>
              </a:schemeClr>
            </a:solidFill>
            <a:prstDash val="solid"/>
          </a:ln>
        </p:spPr>
      </p:sp>
      <p:sp>
        <p:nvSpPr>
          <p:cNvPr id="11" name="Text 9"/>
          <p:cNvSpPr txBox="1"/>
          <p:nvPr/>
        </p:nvSpPr>
        <p:spPr>
          <a:xfrm>
            <a:off x="1298448" y="3419856"/>
            <a:ext cx="3520440" cy="27432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src/bmru.py</a:t>
            </a:r>
            <a:endParaRPr lang="en-US" sz="1100" dirty="0"/>
          </a:p>
        </p:txBody>
      </p:sp>
      <p:sp>
        <p:nvSpPr>
          <p:cNvPr id="12" name="code-body"/>
          <p:cNvSpPr/>
          <p:nvPr/>
        </p:nvSpPr>
        <p:spPr>
          <a:xfrm>
            <a:off x="585216" y="3730752"/>
            <a:ext cx="4361688" cy="1173480"/>
          </a:xfrm>
          <a:prstGeom prst="rect">
            <a:avLst/>
          </a:prstGeom>
          <a:solidFill>
            <a:schemeClr val="bg1"/>
          </a:solidFill>
          <a:ln w="12700">
            <a:solidFill>
              <a:schemeClr val="bg1"/>
            </a:solidFill>
            <a:prstDash val="solid"/>
          </a:ln>
        </p:spPr>
      </p:sp>
      <p:sp>
        <p:nvSpPr>
          <p:cNvPr id="13" name="code"/>
          <p:cNvSpPr txBox="1"/>
          <p:nvPr/>
        </p:nvSpPr>
        <p:spPr>
          <a:xfrm>
            <a:off x="676656" y="3822192"/>
            <a:ext cx="4178808" cy="1027176"/>
          </a:xfrm>
          <a:prstGeom prst="rect">
            <a:avLst/>
          </a:prstGeom>
          <a:noFill/>
          <a:ln/>
        </p:spPr>
        <p:txBody>
          <a:bodyPr wrap="square" lIns="0" tIns="0" rIns="0" bIns="0" rtlCol="0" anchor="t"/>
          <a:lstStyle/>
          <a:p>
            <a:pPr indent="0" marL="0">
              <a:lnSpc>
                <a:spcPct val="100000"/>
              </a:lnSpc>
              <a:buNone/>
            </a:pPr>
            <a:r>
              <a:rPr lang="en-US" sz="1000" b="1" dirty="0">
                <a:solidFill>
                  <a:schemeClr val="accent3"/>
                </a:solidFill>
                <a:latin typeface="Courier New" pitchFamily="34" charset="0"/>
                <a:ea typeface="Courier New" pitchFamily="34" charset="-122"/>
                <a:cs typeface="Courier New" pitchFamily="34" charset="-120"/>
              </a:rPr>
              <a:t>if</a:t>
            </a:r>
            <a:r>
              <a:rPr lang="en-US" sz="1000" dirty="0">
                <a:solidFill>
                  <a:schemeClr val="tx1"/>
                </a:solidFill>
                <a:latin typeface="Courier New" pitchFamily="34" charset="0"/>
                <a:ea typeface="Courier New" pitchFamily="34" charset="-122"/>
                <a:cs typeface="Courier New" pitchFamily="34" charset="-120"/>
              </a:rPr>
              <a:t> r == </a:t>
            </a:r>
            <a:r>
              <a:rPr lang="en-US" sz="1000" dirty="0">
                <a:solidFill>
                  <a:schemeClr val="accent4"/>
                </a:solidFill>
                <a:latin typeface="Courier New" pitchFamily="34" charset="0"/>
                <a:ea typeface="Courier New" pitchFamily="34" charset="-122"/>
                <a:cs typeface="Courier New" pitchFamily="34" charset="-120"/>
              </a:rPr>
              <a:t>0.0</a:t>
            </a:r>
            <a:r>
              <a:rPr lang="en-US" sz="1000" dirty="0">
                <a:solidFill>
                  <a:schemeClr val="tx1"/>
                </a:solidFill>
                <a:latin typeface="Courier New" pitchFamily="34" charset="0"/>
                <a:ea typeface="Courier New" pitchFamily="34" charset="-122"/>
                <a:cs typeface="Courier New" pitchFamily="34" charset="-120"/>
              </a:rPr>
              <a:t>:</a:t>
            </a:r>
            <a:endParaRPr lang="en-US" sz="1000" dirty="0"/>
          </a:p>
          <a:p>
            <a:pPr indent="0" marL="0">
              <a:lnSpc>
                <a:spcPct val="100000"/>
              </a:lnSpc>
              <a:buNone/>
            </a:pPr>
            <a:r>
              <a:rPr lang="en-US" sz="1000" dirty="0">
                <a:solidFill>
                  <a:schemeClr val="tx1"/>
                </a:solidFill>
                <a:latin typeface="Courier New" pitchFamily="34" charset="0"/>
                <a:ea typeface="Courier New" pitchFamily="34" charset="-122"/>
                <a:cs typeface="Courier New" pitchFamily="34" charset="-120"/>
              </a:rPr>
              <a:t>    </a:t>
            </a:r>
            <a:r>
              <a:rPr lang="en-US" sz="1000" b="1" dirty="0">
                <a:solidFill>
                  <a:schemeClr val="accent3"/>
                </a:solidFill>
                <a:latin typeface="Courier New" pitchFamily="34" charset="0"/>
                <a:ea typeface="Courier New" pitchFamily="34" charset="-122"/>
                <a:cs typeface="Courier New" pitchFamily="34" charset="-120"/>
              </a:rPr>
              <a:t>return</a:t>
            </a:r>
            <a:r>
              <a:rPr lang="en-US" sz="1000" dirty="0">
                <a:solidFill>
                  <a:schemeClr val="tx1"/>
                </a:solidFill>
                <a:latin typeface="Courier New" pitchFamily="34" charset="0"/>
                <a:ea typeface="Courier New" pitchFamily="34" charset="-122"/>
                <a:cs typeface="Courier New" pitchFamily="34" charset="-120"/>
              </a:rPr>
              <a:t> </a:t>
            </a:r>
            <a:r>
              <a:rPr lang="en-US" sz="1000" dirty="0">
                <a:solidFill>
                  <a:schemeClr val="accent4"/>
                </a:solidFill>
                <a:latin typeface="Courier New" pitchFamily="34" charset="0"/>
                <a:ea typeface="Courier New" pitchFamily="34" charset="-122"/>
                <a:cs typeface="Courier New" pitchFamily="34" charset="-120"/>
              </a:rPr>
              <a:t>0.0</a:t>
            </a:r>
            <a:endParaRPr lang="en-US" sz="1000" dirty="0"/>
          </a:p>
          <a:p>
            <a:pPr indent="0" marL="0">
              <a:lnSpc>
                <a:spcPct val="100000"/>
              </a:lnSpc>
              <a:buNone/>
            </a:pPr>
            <a:r>
              <a:rPr lang="en-US" sz="1000" b="1" dirty="0">
                <a:solidFill>
                  <a:schemeClr val="accent3"/>
                </a:solidFill>
                <a:latin typeface="Courier New" pitchFamily="34" charset="0"/>
                <a:ea typeface="Courier New" pitchFamily="34" charset="-122"/>
                <a:cs typeface="Courier New" pitchFamily="34" charset="-120"/>
              </a:rPr>
              <a:t>return</a:t>
            </a:r>
            <a:r>
              <a:rPr lang="en-US" sz="1000" dirty="0">
                <a:solidFill>
                  <a:schemeClr val="tx1"/>
                </a:solidFill>
                <a:latin typeface="Courier New" pitchFamily="34" charset="0"/>
                <a:ea typeface="Courier New" pitchFamily="34" charset="-122"/>
                <a:cs typeface="Courier New" pitchFamily="34" charset="-120"/>
              </a:rPr>
              <a:t> (</a:t>
            </a:r>
            <a:r>
              <a:rPr lang="en-US" sz="1000" dirty="0">
                <a:solidFill>
                  <a:schemeClr val="accent4"/>
                </a:solidFill>
                <a:latin typeface="Courier New" pitchFamily="34" charset="0"/>
                <a:ea typeface="Courier New" pitchFamily="34" charset="-122"/>
                <a:cs typeface="Courier New" pitchFamily="34" charset="-120"/>
              </a:rPr>
              <a:t>2.0</a:t>
            </a:r>
            <a:r>
              <a:rPr lang="en-US" sz="1000" dirty="0">
                <a:solidFill>
                  <a:schemeClr val="tx1"/>
                </a:solidFill>
                <a:latin typeface="Courier New" pitchFamily="34" charset="0"/>
                <a:ea typeface="Courier New" pitchFamily="34" charset="-122"/>
                <a:cs typeface="Courier New" pitchFamily="34" charset="-120"/>
              </a:rPr>
              <a:t> * r) / (abs(float(margin)) + epsilon)</a:t>
            </a:r>
            <a:endParaRPr lang="en-US" sz="1000" dirty="0"/>
          </a:p>
          <a:p>
            <a:pPr indent="0" marL="0">
              <a:lnSpc>
                <a:spcPct val="100000"/>
              </a:lnSpc>
              <a:buNone/>
            </a:pPr>
            <a:r>
              <a:rPr lang="en-US" sz="1000" dirty="0">
                <a:solidFill>
                  <a:schemeClr val="tx1"/>
                </a:solidFill>
                <a:latin typeface="Courier New" pitchFamily="34" charset="0"/>
                <a:ea typeface="Courier New" pitchFamily="34" charset="-122"/>
                <a:cs typeface="Courier New" pitchFamily="34" charset="-120"/>
              </a:rPr>
              <a:t>...</a:t>
            </a:r>
            <a:endParaRPr lang="en-US" sz="1000" dirty="0"/>
          </a:p>
          <a:p>
            <a:pPr indent="0" marL="0">
              <a:lnSpc>
                <a:spcPct val="100000"/>
              </a:lnSpc>
              <a:buNone/>
            </a:pPr>
            <a:r>
              <a:rPr lang="en-US" sz="1000" dirty="0">
                <a:solidFill>
                  <a:schemeClr val="tx1"/>
                </a:solidFill>
                <a:latin typeface="Courier New" pitchFamily="34" charset="0"/>
                <a:ea typeface="Courier New" pitchFamily="34" charset="-122"/>
                <a:cs typeface="Courier New" pitchFamily="34" charset="-120"/>
              </a:rPr>
              <a:t>u = bmru_uncertainty(radius, margin, epsilon=epsilon)</a:t>
            </a:r>
            <a:endParaRPr lang="en-US" sz="1000" dirty="0"/>
          </a:p>
          <a:p>
            <a:pPr indent="0" marL="0">
              <a:lnSpc>
                <a:spcPct val="100000"/>
              </a:lnSpc>
              <a:buNone/>
            </a:pPr>
            <a:r>
              <a:rPr lang="en-US" sz="1000" dirty="0">
                <a:solidFill>
                  <a:schemeClr val="tx1"/>
                </a:solidFill>
                <a:latin typeface="Courier New" pitchFamily="34" charset="0"/>
                <a:ea typeface="Courier New" pitchFamily="34" charset="-122"/>
                <a:cs typeface="Courier New" pitchFamily="34" charset="-120"/>
              </a:rPr>
              <a:t>mu = float(np.exp(-alpha * u))</a:t>
            </a:r>
            <a:endParaRPr lang="en-US" sz="1000" dirty="0"/>
          </a:p>
        </p:txBody>
      </p:sp>
      <p:pic>
        <p:nvPicPr>
          <p:cNvPr id="14" name="Image 0" descr="BMRU on 2-D two moons and on the 8-feature pima data">    </p:cNvPr>
          <p:cNvPicPr>
            <a:picLocks noChangeAspect="1"/>
          </p:cNvPicPr>
          <p:nvPr/>
        </p:nvPicPr>
        <p:blipFill>
          <a:blip r:embed="rId1"/>
          <a:stretch>
            <a:fillRect/>
          </a:stretch>
        </p:blipFill>
        <p:spPr>
          <a:xfrm>
            <a:off x="5215346" y="1417320"/>
            <a:ext cx="6394269" cy="2743200"/>
          </a:xfrm>
          <a:prstGeom prst="rect">
            <a:avLst/>
          </a:prstGeom>
        </p:spPr>
      </p:pic>
      <p:sp>
        <p:nvSpPr>
          <p:cNvPr id="15" name="stat"/>
          <p:cNvSpPr/>
          <p:nvPr/>
        </p:nvSpPr>
        <p:spPr>
          <a:xfrm>
            <a:off x="5212080" y="4251960"/>
            <a:ext cx="2057400" cy="1234440"/>
          </a:xfrm>
          <a:prstGeom prst="roundRect">
            <a:avLst>
              <a:gd name="adj" fmla="val 7407"/>
            </a:avLst>
          </a:prstGeom>
          <a:solidFill>
            <a:schemeClr val="bg2"/>
          </a:solidFill>
          <a:ln w="9525">
            <a:solidFill>
              <a:schemeClr val="bg2"/>
            </a:solidFill>
            <a:prstDash val="solid"/>
          </a:ln>
        </p:spPr>
      </p:sp>
      <p:sp>
        <p:nvSpPr>
          <p:cNvPr id="16" name="Text 13"/>
          <p:cNvSpPr txBox="1"/>
          <p:nvPr/>
        </p:nvSpPr>
        <p:spPr>
          <a:xfrm>
            <a:off x="5394960" y="4361688"/>
            <a:ext cx="1691640" cy="61722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98.7%</a:t>
            </a:r>
            <a:endParaRPr lang="en-US" sz="2400" dirty="0"/>
          </a:p>
        </p:txBody>
      </p:sp>
      <p:sp>
        <p:nvSpPr>
          <p:cNvPr id="17" name="Text 14"/>
          <p:cNvSpPr txBox="1"/>
          <p:nvPr/>
        </p:nvSpPr>
        <p:spPr>
          <a:xfrm>
            <a:off x="5394960" y="4978908"/>
            <a:ext cx="1691640" cy="434340"/>
          </a:xfrm>
          <a:prstGeom prst="rect">
            <a:avLst/>
          </a:prstGeom>
          <a:noFill/>
          <a:ln/>
        </p:spPr>
        <p:txBody>
          <a:bodyPr wrap="square" lIns="0" tIns="0" rIns="0" bIns="0" rtlCol="0" anchor="t"/>
          <a:lstStyle/>
          <a:p>
            <a:pPr indent="0" marL="0">
              <a:buNone/>
            </a:pPr>
            <a:r>
              <a:rPr lang="en-US" sz="1200" dirty="0">
                <a:solidFill>
                  <a:schemeClr val="tx1"/>
                </a:solidFill>
              </a:rPr>
              <a:t>diabetes balls flagged; 0% really cross the boundary</a:t>
            </a:r>
            <a:endParaRPr lang="en-US" sz="1200" dirty="0"/>
          </a:p>
        </p:txBody>
      </p:sp>
      <p:sp>
        <p:nvSpPr>
          <p:cNvPr id="18" name="stat"/>
          <p:cNvSpPr/>
          <p:nvPr/>
        </p:nvSpPr>
        <p:spPr>
          <a:xfrm>
            <a:off x="7388352" y="4251960"/>
            <a:ext cx="2057400" cy="1234440"/>
          </a:xfrm>
          <a:prstGeom prst="roundRect">
            <a:avLst>
              <a:gd name="adj" fmla="val 7407"/>
            </a:avLst>
          </a:prstGeom>
          <a:solidFill>
            <a:schemeClr val="bg2"/>
          </a:solidFill>
          <a:ln w="9525">
            <a:solidFill>
              <a:schemeClr val="bg2"/>
            </a:solidFill>
            <a:prstDash val="solid"/>
          </a:ln>
        </p:spPr>
      </p:sp>
      <p:sp>
        <p:nvSpPr>
          <p:cNvPr id="19" name="Text 16"/>
          <p:cNvSpPr txBox="1"/>
          <p:nvPr/>
        </p:nvSpPr>
        <p:spPr>
          <a:xfrm>
            <a:off x="7571232" y="4361688"/>
            <a:ext cx="1691640" cy="61722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98.2%</a:t>
            </a:r>
            <a:endParaRPr lang="en-US" sz="2400" dirty="0"/>
          </a:p>
        </p:txBody>
      </p:sp>
      <p:sp>
        <p:nvSpPr>
          <p:cNvPr id="20" name="Text 17"/>
          <p:cNvSpPr txBox="1"/>
          <p:nvPr/>
        </p:nvSpPr>
        <p:spPr>
          <a:xfrm>
            <a:off x="7571232" y="4978908"/>
            <a:ext cx="1691640" cy="434340"/>
          </a:xfrm>
          <a:prstGeom prst="rect">
            <a:avLst/>
          </a:prstGeom>
          <a:noFill/>
          <a:ln/>
        </p:spPr>
        <p:txBody>
          <a:bodyPr wrap="square" lIns="0" tIns="0" rIns="0" bIns="0" rtlCol="0" anchor="t"/>
          <a:lstStyle/>
          <a:p>
            <a:pPr indent="0" marL="0">
              <a:buNone/>
            </a:pPr>
            <a:r>
              <a:rPr lang="en-US" sz="1200" dirty="0">
                <a:solidFill>
                  <a:schemeClr val="tx1"/>
                </a:solidFill>
              </a:rPr>
              <a:t>vehicle0 balls flagged; 5.4% cross the boundary</a:t>
            </a:r>
            <a:endParaRPr lang="en-US" sz="1200" dirty="0"/>
          </a:p>
        </p:txBody>
      </p:sp>
      <p:sp>
        <p:nvSpPr>
          <p:cNvPr id="21" name="stat"/>
          <p:cNvSpPr/>
          <p:nvPr/>
        </p:nvSpPr>
        <p:spPr>
          <a:xfrm>
            <a:off x="9555480" y="4251960"/>
            <a:ext cx="2057400" cy="1234440"/>
          </a:xfrm>
          <a:prstGeom prst="roundRect">
            <a:avLst>
              <a:gd name="adj" fmla="val 7407"/>
            </a:avLst>
          </a:prstGeom>
          <a:solidFill>
            <a:schemeClr val="bg2"/>
          </a:solidFill>
          <a:ln w="9525">
            <a:solidFill>
              <a:schemeClr val="bg2"/>
            </a:solidFill>
            <a:prstDash val="solid"/>
          </a:ln>
        </p:spPr>
      </p:sp>
      <p:sp>
        <p:nvSpPr>
          <p:cNvPr id="22" name="Text 19"/>
          <p:cNvSpPr txBox="1"/>
          <p:nvPr/>
        </p:nvSpPr>
        <p:spPr>
          <a:xfrm>
            <a:off x="9738360" y="4361688"/>
            <a:ext cx="1691640" cy="61722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0.40 → 0.00</a:t>
            </a:r>
            <a:endParaRPr lang="en-US" sz="2400" dirty="0"/>
          </a:p>
        </p:txBody>
      </p:sp>
      <p:sp>
        <p:nvSpPr>
          <p:cNvPr id="23" name="Text 20"/>
          <p:cNvSpPr txBox="1"/>
          <p:nvPr/>
        </p:nvSpPr>
        <p:spPr>
          <a:xfrm>
            <a:off x="9738360" y="4978908"/>
            <a:ext cx="1691640" cy="434340"/>
          </a:xfrm>
          <a:prstGeom prst="rect">
            <a:avLst/>
          </a:prstGeom>
          <a:noFill/>
          <a:ln/>
        </p:spPr>
        <p:txBody>
          <a:bodyPr wrap="square" lIns="0" tIns="0" rIns="0" bIns="0" rtlCol="0" anchor="t"/>
          <a:lstStyle/>
          <a:p>
            <a:pPr indent="0" marL="0">
              <a:buNone/>
            </a:pPr>
            <a:r>
              <a:rPr lang="en-US" sz="1200" dirty="0">
                <a:solidFill>
                  <a:schemeClr val="tx1"/>
                </a:solidFill>
              </a:rPr>
              <a:t>vehicle0 minority recall, CW + BMRU vs CW</a:t>
            </a:r>
            <a:endParaRPr lang="en-US" sz="1200" dirty="0"/>
          </a:p>
        </p:txBody>
      </p:sp>
      <p:sp>
        <p:nvSpPr>
          <p:cNvPr id="24"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25"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26" name="Text 23"/>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With 8 or more features every ball is wider than its margin, so BMRU down-weights almost all of them.</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BALL WEIGHTING MODELS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Overlap weight: boost minority balls that touch the other class</a:t>
            </a:r>
            <a:endParaRPr lang="en-US" sz="2800" dirty="0"/>
          </a:p>
        </p:txBody>
      </p:sp>
      <p:sp>
        <p:nvSpPr>
          <p:cNvPr id="4" name="ball-i"/>
          <p:cNvSpPr/>
          <p:nvPr/>
        </p:nvSpPr>
        <p:spPr>
          <a:xfrm>
            <a:off x="822960" y="1691640"/>
            <a:ext cx="2103120" cy="2103120"/>
          </a:xfrm>
          <a:prstGeom prst="ellipse">
            <a:avLst/>
          </a:prstGeom>
          <a:solidFill>
            <a:schemeClr val="accent3">
              <a:alpha val="22000"/>
            </a:schemeClr>
          </a:solidFill>
          <a:ln w="19050">
            <a:solidFill>
              <a:schemeClr val="accent3"/>
            </a:solidFill>
            <a:prstDash val="solid"/>
          </a:ln>
        </p:spPr>
      </p:sp>
      <p:sp>
        <p:nvSpPr>
          <p:cNvPr id="5" name="ball-j"/>
          <p:cNvSpPr/>
          <p:nvPr/>
        </p:nvSpPr>
        <p:spPr>
          <a:xfrm>
            <a:off x="2423160" y="2011680"/>
            <a:ext cx="1463040" cy="1463040"/>
          </a:xfrm>
          <a:prstGeom prst="ellipse">
            <a:avLst/>
          </a:prstGeom>
          <a:solidFill>
            <a:schemeClr val="accent2">
              <a:alpha val="22000"/>
            </a:schemeClr>
          </a:solidFill>
          <a:ln w="19050">
            <a:solidFill>
              <a:schemeClr val="accent2"/>
            </a:solidFill>
            <a:prstDash val="solid"/>
          </a:ln>
        </p:spPr>
      </p:sp>
      <p:sp>
        <p:nvSpPr>
          <p:cNvPr id="6" name="d-ij"/>
          <p:cNvSpPr/>
          <p:nvPr/>
        </p:nvSpPr>
        <p:spPr>
          <a:xfrm>
            <a:off x="1874520" y="2743200"/>
            <a:ext cx="1280160" cy="0"/>
          </a:xfrm>
          <a:prstGeom prst="line">
            <a:avLst/>
          </a:prstGeom>
          <a:noFill/>
          <a:ln w="15875">
            <a:solidFill>
              <a:schemeClr val="tx1"/>
            </a:solidFill>
            <a:prstDash val="dash"/>
          </a:ln>
        </p:spPr>
      </p:sp>
      <p:sp>
        <p:nvSpPr>
          <p:cNvPr id="7" name="r-i"/>
          <p:cNvSpPr/>
          <p:nvPr/>
        </p:nvSpPr>
        <p:spPr>
          <a:xfrm>
            <a:off x="822960" y="2743200"/>
            <a:ext cx="1051560" cy="0"/>
          </a:xfrm>
          <a:prstGeom prst="line">
            <a:avLst/>
          </a:prstGeom>
          <a:noFill/>
          <a:ln w="22225">
            <a:solidFill>
              <a:schemeClr val="accent3"/>
            </a:solidFill>
            <a:prstDash val="solid"/>
          </a:ln>
        </p:spPr>
      </p:sp>
      <p:sp>
        <p:nvSpPr>
          <p:cNvPr id="8" name="r-j"/>
          <p:cNvSpPr/>
          <p:nvPr/>
        </p:nvSpPr>
        <p:spPr>
          <a:xfrm>
            <a:off x="3154680" y="2743200"/>
            <a:ext cx="731520" cy="0"/>
          </a:xfrm>
          <a:prstGeom prst="line">
            <a:avLst/>
          </a:prstGeom>
          <a:noFill/>
          <a:ln w="22225">
            <a:solidFill>
              <a:schemeClr val="accent2"/>
            </a:solidFill>
            <a:prstDash val="solid"/>
          </a:ln>
        </p:spPr>
      </p:sp>
      <p:sp>
        <p:nvSpPr>
          <p:cNvPr id="9" name="Text 7"/>
          <p:cNvSpPr txBox="1"/>
          <p:nvPr/>
        </p:nvSpPr>
        <p:spPr>
          <a:xfrm>
            <a:off x="1097280" y="2788920"/>
            <a:ext cx="548640" cy="274320"/>
          </a:xfrm>
          <a:prstGeom prst="rect">
            <a:avLst/>
          </a:prstGeom>
          <a:noFill/>
          <a:ln/>
        </p:spPr>
        <p:txBody>
          <a:bodyPr wrap="square" lIns="0" tIns="0" rIns="0" bIns="0" rtlCol="0" anchor="t"/>
          <a:lstStyle/>
          <a:p>
            <a:pPr indent="0" marL="0">
              <a:buNone/>
            </a:pPr>
            <a:r>
              <a:rPr lang="en-US" sz="1400" b="1" dirty="0">
                <a:solidFill>
                  <a:schemeClr val="accent3"/>
                </a:solidFill>
              </a:rPr>
              <a:t>r</a:t>
            </a:r>
            <a:r>
              <a:rPr lang="en-US" sz="1400" b="1" baseline="-40000" dirty="0">
                <a:solidFill>
                  <a:schemeClr val="accent3"/>
                </a:solidFill>
              </a:rPr>
              <a:t>i</a:t>
            </a:r>
            <a:endParaRPr lang="en-US" sz="1400" dirty="0"/>
          </a:p>
        </p:txBody>
      </p:sp>
      <p:sp>
        <p:nvSpPr>
          <p:cNvPr id="10" name="Text 8"/>
          <p:cNvSpPr txBox="1"/>
          <p:nvPr/>
        </p:nvSpPr>
        <p:spPr>
          <a:xfrm>
            <a:off x="3337560" y="2788920"/>
            <a:ext cx="548640" cy="274320"/>
          </a:xfrm>
          <a:prstGeom prst="rect">
            <a:avLst/>
          </a:prstGeom>
          <a:noFill/>
          <a:ln/>
        </p:spPr>
        <p:txBody>
          <a:bodyPr wrap="square" lIns="0" tIns="0" rIns="0" bIns="0" rtlCol="0" anchor="t"/>
          <a:lstStyle/>
          <a:p>
            <a:pPr indent="0" marL="0">
              <a:buNone/>
            </a:pPr>
            <a:r>
              <a:rPr lang="en-US" sz="1400" b="1" dirty="0">
                <a:solidFill>
                  <a:schemeClr val="accent2"/>
                </a:solidFill>
              </a:rPr>
              <a:t>r</a:t>
            </a:r>
            <a:r>
              <a:rPr lang="en-US" sz="1400" b="1" baseline="-40000" dirty="0">
                <a:solidFill>
                  <a:schemeClr val="accent2"/>
                </a:solidFill>
              </a:rPr>
              <a:t>j</a:t>
            </a:r>
            <a:endParaRPr lang="en-US" sz="1400" dirty="0"/>
          </a:p>
        </p:txBody>
      </p:sp>
      <p:sp>
        <p:nvSpPr>
          <p:cNvPr id="11" name="Text 9"/>
          <p:cNvSpPr txBox="1"/>
          <p:nvPr/>
        </p:nvSpPr>
        <p:spPr>
          <a:xfrm>
            <a:off x="2286000" y="2450592"/>
            <a:ext cx="548640" cy="274320"/>
          </a:xfrm>
          <a:prstGeom prst="rect">
            <a:avLst/>
          </a:prstGeom>
          <a:noFill/>
          <a:ln/>
        </p:spPr>
        <p:txBody>
          <a:bodyPr wrap="square" lIns="0" tIns="0" rIns="0" bIns="0" rtlCol="0" anchor="t"/>
          <a:lstStyle/>
          <a:p>
            <a:pPr indent="0" marL="0">
              <a:buNone/>
            </a:pPr>
            <a:r>
              <a:rPr lang="en-US" sz="1400" b="1" dirty="0">
                <a:solidFill>
                  <a:schemeClr val="tx1"/>
                </a:solidFill>
              </a:rPr>
              <a:t>d</a:t>
            </a:r>
            <a:r>
              <a:rPr lang="en-US" sz="1400" b="1" baseline="-40000" dirty="0">
                <a:solidFill>
                  <a:schemeClr val="tx1"/>
                </a:solidFill>
              </a:rPr>
              <a:t>ij</a:t>
            </a:r>
            <a:endParaRPr lang="en-US" sz="1400" dirty="0"/>
          </a:p>
        </p:txBody>
      </p:sp>
      <p:sp>
        <p:nvSpPr>
          <p:cNvPr id="12" name="formula"/>
          <p:cNvSpPr/>
          <p:nvPr/>
        </p:nvSpPr>
        <p:spPr>
          <a:xfrm>
            <a:off x="548640" y="3977640"/>
            <a:ext cx="4206240" cy="1508760"/>
          </a:xfrm>
          <a:prstGeom prst="roundRect">
            <a:avLst>
              <a:gd name="adj" fmla="val 6061"/>
            </a:avLst>
          </a:prstGeom>
          <a:solidFill>
            <a:schemeClr val="bg2"/>
          </a:solidFill>
          <a:ln w="9525">
            <a:solidFill>
              <a:schemeClr val="bg2"/>
            </a:solidFill>
            <a:prstDash val="solid"/>
          </a:ln>
        </p:spPr>
      </p:sp>
      <p:sp>
        <p:nvSpPr>
          <p:cNvPr id="13" name="Text 11"/>
          <p:cNvSpPr txBox="1"/>
          <p:nvPr/>
        </p:nvSpPr>
        <p:spPr>
          <a:xfrm>
            <a:off x="731520" y="4123944"/>
            <a:ext cx="3840480" cy="1271016"/>
          </a:xfrm>
          <a:prstGeom prst="rect">
            <a:avLst/>
          </a:prstGeom>
          <a:noFill/>
          <a:ln/>
        </p:spPr>
        <p:txBody>
          <a:bodyPr wrap="square" lIns="0" tIns="0" rIns="0" bIns="0" rtlCol="0" anchor="t"/>
          <a:lstStyle/>
          <a:p>
            <a:pPr indent="0" marL="0">
              <a:spcAft>
                <a:spcPts val="400"/>
              </a:spcAft>
              <a:buNone/>
            </a:pPr>
            <a:r>
              <a:rPr lang="en-US" sz="1350" dirty="0">
                <a:solidFill>
                  <a:schemeClr val="tx1"/>
                </a:solidFill>
              </a:rPr>
              <a:t>O</a:t>
            </a:r>
            <a:r>
              <a:rPr lang="en-US" sz="1350" baseline="-40000" dirty="0">
                <a:solidFill>
                  <a:schemeClr val="tx1"/>
                </a:solidFill>
              </a:rPr>
              <a:t>ij</a:t>
            </a:r>
            <a:r>
              <a:rPr lang="en-US" sz="1350" dirty="0">
                <a:solidFill>
                  <a:schemeClr val="tx1"/>
                </a:solidFill>
              </a:rPr>
              <a:t> = max(0, (r</a:t>
            </a:r>
            <a:r>
              <a:rPr lang="en-US" sz="1350" baseline="-40000" dirty="0">
                <a:solidFill>
                  <a:schemeClr val="tx1"/>
                </a:solidFill>
              </a:rPr>
              <a:t>i</a:t>
            </a:r>
            <a:r>
              <a:rPr lang="en-US" sz="1350" dirty="0">
                <a:solidFill>
                  <a:schemeClr val="tx1"/>
                </a:solidFill>
              </a:rPr>
              <a:t> + r</a:t>
            </a:r>
            <a:r>
              <a:rPr lang="en-US" sz="1350" baseline="-40000" dirty="0">
                <a:solidFill>
                  <a:schemeClr val="tx1"/>
                </a:solidFill>
              </a:rPr>
              <a:t>j</a:t>
            </a:r>
            <a:r>
              <a:rPr lang="en-US" sz="1350" dirty="0">
                <a:solidFill>
                  <a:schemeClr val="tx1"/>
                </a:solidFill>
              </a:rPr>
              <a:t> − d</a:t>
            </a:r>
            <a:r>
              <a:rPr lang="en-US" sz="1350" baseline="-40000" dirty="0">
                <a:solidFill>
                  <a:schemeClr val="tx1"/>
                </a:solidFill>
              </a:rPr>
              <a:t>ij</a:t>
            </a:r>
            <a:r>
              <a:rPr lang="en-US" sz="1350" dirty="0">
                <a:solidFill>
                  <a:schemeClr val="tx1"/>
                </a:solidFill>
              </a:rPr>
              <a:t>) / (r</a:t>
            </a:r>
            <a:r>
              <a:rPr lang="en-US" sz="1350" baseline="-40000" dirty="0">
                <a:solidFill>
                  <a:schemeClr val="tx1"/>
                </a:solidFill>
              </a:rPr>
              <a:t>i</a:t>
            </a:r>
            <a:r>
              <a:rPr lang="en-US" sz="1350" dirty="0">
                <a:solidFill>
                  <a:schemeClr val="tx1"/>
                </a:solidFill>
              </a:rPr>
              <a:t> + r</a:t>
            </a:r>
            <a:r>
              <a:rPr lang="en-US" sz="1350" baseline="-40000" dirty="0">
                <a:solidFill>
                  <a:schemeClr val="tx1"/>
                </a:solidFill>
              </a:rPr>
              <a:t>j</a:t>
            </a:r>
            <a:r>
              <a:rPr lang="en-US" sz="1350" dirty="0">
                <a:solidFill>
                  <a:schemeClr val="tx1"/>
                </a:solidFill>
              </a:rPr>
              <a:t> + ε))</a:t>
            </a:r>
            <a:endParaRPr lang="en-US" sz="1350" dirty="0"/>
          </a:p>
          <a:p>
            <a:pPr indent="0" marL="0">
              <a:spcAft>
                <a:spcPts val="400"/>
              </a:spcAft>
              <a:buNone/>
            </a:pPr>
            <a:r>
              <a:rPr lang="en-US" sz="1350" dirty="0">
                <a:solidFill>
                  <a:schemeClr val="tx1"/>
                </a:solidFill>
              </a:rPr>
              <a:t>O</a:t>
            </a:r>
            <a:r>
              <a:rPr lang="en-US" sz="1350" baseline="-40000" dirty="0">
                <a:solidFill>
                  <a:schemeClr val="tx1"/>
                </a:solidFill>
              </a:rPr>
              <a:t>i</a:t>
            </a:r>
            <a:r>
              <a:rPr lang="en-US" sz="1350" dirty="0">
                <a:solidFill>
                  <a:schemeClr val="tx1"/>
                </a:solidFill>
              </a:rPr>
              <a:t> = mean of the 3 largest O</a:t>
            </a:r>
            <a:r>
              <a:rPr lang="en-US" sz="1350" baseline="-40000" dirty="0">
                <a:solidFill>
                  <a:schemeClr val="tx1"/>
                </a:solidFill>
              </a:rPr>
              <a:t>ij</a:t>
            </a:r>
            <a:endParaRPr lang="en-US" sz="1350" dirty="0"/>
          </a:p>
          <a:p>
            <a:pPr indent="0" marL="0">
              <a:spcAft>
                <a:spcPts val="400"/>
              </a:spcAft>
              <a:buNone/>
            </a:pPr>
            <a:r>
              <a:rPr lang="en-US" sz="1350" dirty="0">
                <a:solidFill>
                  <a:schemeClr val="tx1"/>
                </a:solidFill>
              </a:rPr>
              <a:t>minority μ</a:t>
            </a:r>
            <a:r>
              <a:rPr lang="en-US" sz="1350" baseline="-40000" dirty="0">
                <a:solidFill>
                  <a:schemeClr val="tx1"/>
                </a:solidFill>
              </a:rPr>
              <a:t>i</a:t>
            </a:r>
            <a:r>
              <a:rPr lang="en-US" sz="1350" dirty="0">
                <a:solidFill>
                  <a:schemeClr val="tx1"/>
                </a:solidFill>
              </a:rPr>
              <a:t> = 1 + αO</a:t>
            </a:r>
            <a:r>
              <a:rPr lang="en-US" sz="1350" baseline="-40000" dirty="0">
                <a:solidFill>
                  <a:schemeClr val="tx1"/>
                </a:solidFill>
              </a:rPr>
              <a:t>i</a:t>
            </a:r>
            <a:r>
              <a:rPr lang="en-US" sz="1350" dirty="0">
                <a:solidFill>
                  <a:schemeClr val="tx1"/>
                </a:solidFill>
              </a:rPr>
              <a:t>, majority μ</a:t>
            </a:r>
            <a:r>
              <a:rPr lang="en-US" sz="1350" baseline="-40000" dirty="0">
                <a:solidFill>
                  <a:schemeClr val="tx1"/>
                </a:solidFill>
              </a:rPr>
              <a:t>i</a:t>
            </a:r>
            <a:r>
              <a:rPr lang="en-US" sz="1350" dirty="0">
                <a:solidFill>
                  <a:schemeClr val="tx1"/>
                </a:solidFill>
              </a:rPr>
              <a:t> = 1 − αO</a:t>
            </a:r>
            <a:r>
              <a:rPr lang="en-US" sz="1350" baseline="-40000" dirty="0">
                <a:solidFill>
                  <a:schemeClr val="tx1"/>
                </a:solidFill>
              </a:rPr>
              <a:t>i</a:t>
            </a:r>
            <a:endParaRPr lang="en-US" sz="1350" dirty="0"/>
          </a:p>
        </p:txBody>
      </p:sp>
      <p:graphicFrame>
        <p:nvGraphicFramePr>
          <p:cNvPr id="14" name="Chart 0" descr=""/>
          <p:cNvGraphicFramePr/>
          <p:nvPr/>
        </p:nvGraphicFramePr>
        <p:xfrm>
          <a:off x="4983480" y="1417320"/>
          <a:ext cx="3291840" cy="4069080"/>
        </p:xfrm>
        <a:graphic xmlns:a="http://schemas.openxmlformats.org/drawingml/2006/main">
          <a:graphicData uri="http://schemas.openxmlformats.org/drawingml/2006/chart">
            <c:chart xmlns:c="http://schemas.openxmlformats.org/drawingml/2006/chart" r:id="rId1"/>
          </a:graphicData>
        </a:graphic>
      </p:graphicFrame>
      <p:sp>
        <p:nvSpPr>
          <p:cNvPr id="15" name="code-frame"/>
          <p:cNvSpPr/>
          <p:nvPr/>
        </p:nvSpPr>
        <p:spPr>
          <a:xfrm>
            <a:off x="8503920" y="1463040"/>
            <a:ext cx="3108960" cy="1497584"/>
          </a:xfrm>
          <a:prstGeom prst="roundRect">
            <a:avLst>
              <a:gd name="adj" fmla="val 4885"/>
            </a:avLst>
          </a:prstGeom>
          <a:solidFill>
            <a:schemeClr val="tx2"/>
          </a:solidFill>
          <a:ln w="9525">
            <a:solidFill>
              <a:schemeClr val="tx2"/>
            </a:solidFill>
            <a:prstDash val="solid"/>
          </a:ln>
        </p:spPr>
      </p:sp>
      <p:sp>
        <p:nvSpPr>
          <p:cNvPr id="16" name="code-dot"/>
          <p:cNvSpPr/>
          <p:nvPr/>
        </p:nvSpPr>
        <p:spPr>
          <a:xfrm>
            <a:off x="8650224" y="1581912"/>
            <a:ext cx="109728" cy="109728"/>
          </a:xfrm>
          <a:prstGeom prst="ellipse">
            <a:avLst/>
          </a:prstGeom>
          <a:solidFill>
            <a:schemeClr val="bg2">
              <a:alpha val="55000"/>
            </a:schemeClr>
          </a:solidFill>
          <a:ln w="12700">
            <a:solidFill>
              <a:schemeClr val="bg2">
                <a:alpha val="55000"/>
              </a:schemeClr>
            </a:solidFill>
            <a:prstDash val="solid"/>
          </a:ln>
        </p:spPr>
      </p:sp>
      <p:sp>
        <p:nvSpPr>
          <p:cNvPr id="17" name="code-dot"/>
          <p:cNvSpPr/>
          <p:nvPr/>
        </p:nvSpPr>
        <p:spPr>
          <a:xfrm>
            <a:off x="8833104" y="1581912"/>
            <a:ext cx="109728" cy="109728"/>
          </a:xfrm>
          <a:prstGeom prst="ellipse">
            <a:avLst/>
          </a:prstGeom>
          <a:solidFill>
            <a:schemeClr val="bg2">
              <a:alpha val="55000"/>
            </a:schemeClr>
          </a:solidFill>
          <a:ln w="12700">
            <a:solidFill>
              <a:schemeClr val="bg2">
                <a:alpha val="55000"/>
              </a:schemeClr>
            </a:solidFill>
            <a:prstDash val="solid"/>
          </a:ln>
        </p:spPr>
      </p:sp>
      <p:sp>
        <p:nvSpPr>
          <p:cNvPr id="18" name="code-dot"/>
          <p:cNvSpPr/>
          <p:nvPr/>
        </p:nvSpPr>
        <p:spPr>
          <a:xfrm>
            <a:off x="9015984" y="1581912"/>
            <a:ext cx="109728" cy="109728"/>
          </a:xfrm>
          <a:prstGeom prst="ellipse">
            <a:avLst/>
          </a:prstGeom>
          <a:solidFill>
            <a:schemeClr val="bg2">
              <a:alpha val="55000"/>
            </a:schemeClr>
          </a:solidFill>
          <a:ln w="12700">
            <a:solidFill>
              <a:schemeClr val="bg2">
                <a:alpha val="55000"/>
              </a:schemeClr>
            </a:solidFill>
            <a:prstDash val="solid"/>
          </a:ln>
        </p:spPr>
      </p:sp>
      <p:sp>
        <p:nvSpPr>
          <p:cNvPr id="19" name="Text 16"/>
          <p:cNvSpPr txBox="1"/>
          <p:nvPr/>
        </p:nvSpPr>
        <p:spPr>
          <a:xfrm>
            <a:off x="9253728" y="1499616"/>
            <a:ext cx="2194560" cy="27432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src/overlap.py</a:t>
            </a:r>
            <a:endParaRPr lang="en-US" sz="1100" dirty="0"/>
          </a:p>
        </p:txBody>
      </p:sp>
      <p:sp>
        <p:nvSpPr>
          <p:cNvPr id="20" name="code-body"/>
          <p:cNvSpPr/>
          <p:nvPr/>
        </p:nvSpPr>
        <p:spPr>
          <a:xfrm>
            <a:off x="8540496" y="1810512"/>
            <a:ext cx="3035808" cy="1113536"/>
          </a:xfrm>
          <a:prstGeom prst="rect">
            <a:avLst/>
          </a:prstGeom>
          <a:solidFill>
            <a:schemeClr val="bg1"/>
          </a:solidFill>
          <a:ln w="12700">
            <a:solidFill>
              <a:schemeClr val="bg1"/>
            </a:solidFill>
            <a:prstDash val="solid"/>
          </a:ln>
        </p:spPr>
      </p:sp>
      <p:sp>
        <p:nvSpPr>
          <p:cNvPr id="21" name="code"/>
          <p:cNvSpPr txBox="1"/>
          <p:nvPr/>
        </p:nvSpPr>
        <p:spPr>
          <a:xfrm>
            <a:off x="8631936" y="1901952"/>
            <a:ext cx="2852928" cy="967232"/>
          </a:xfrm>
          <a:prstGeom prst="rect">
            <a:avLst/>
          </a:prstGeom>
          <a:noFill/>
          <a:ln/>
        </p:spPr>
        <p:txBody>
          <a:bodyPr wrap="square" lIns="0" tIns="0" rIns="0" bIns="0" rtlCol="0" anchor="t"/>
          <a:lstStyle/>
          <a:p>
            <a:pPr indent="0" marL="0">
              <a:lnSpc>
                <a:spcPct val="100000"/>
              </a:lnSpc>
              <a:buNone/>
            </a:pPr>
            <a:r>
              <a:rPr lang="en-US" sz="800" dirty="0">
                <a:solidFill>
                  <a:schemeClr val="tx1"/>
                </a:solidFill>
                <a:latin typeface="Courier New" pitchFamily="34" charset="0"/>
                <a:ea typeface="Courier New" pitchFamily="34" charset="-122"/>
                <a:cs typeface="Courier New" pitchFamily="34" charset="-120"/>
              </a:rPr>
              <a:t>denom = ri + rj + epsilon</a:t>
            </a:r>
            <a:endParaRPr lang="en-US" sz="800" dirty="0"/>
          </a:p>
          <a:p>
            <a:pPr indent="0" marL="0">
              <a:lnSpc>
                <a:spcPct val="100000"/>
              </a:lnSpc>
              <a:buNone/>
            </a:pPr>
            <a:r>
              <a:rPr lang="en-US" sz="800" b="1" dirty="0">
                <a:solidFill>
                  <a:schemeClr val="accent3"/>
                </a:solidFill>
                <a:latin typeface="Courier New" pitchFamily="34" charset="0"/>
                <a:ea typeface="Courier New" pitchFamily="34" charset="-122"/>
                <a:cs typeface="Courier New" pitchFamily="34" charset="-120"/>
              </a:rPr>
              <a:t>return</a:t>
            </a:r>
            <a:r>
              <a:rPr lang="en-US" sz="800" dirty="0">
                <a:solidFill>
                  <a:schemeClr val="tx1"/>
                </a:solidFill>
                <a:latin typeface="Courier New" pitchFamily="34" charset="0"/>
                <a:ea typeface="Courier New" pitchFamily="34" charset="-122"/>
                <a:cs typeface="Courier New" pitchFamily="34" charset="-120"/>
              </a:rPr>
              <a:t> float(max(</a:t>
            </a:r>
            <a:r>
              <a:rPr lang="en-US" sz="800" dirty="0">
                <a:solidFill>
                  <a:schemeClr val="accent4"/>
                </a:solidFill>
                <a:latin typeface="Courier New" pitchFamily="34" charset="0"/>
                <a:ea typeface="Courier New" pitchFamily="34" charset="-122"/>
                <a:cs typeface="Courier New" pitchFamily="34" charset="-120"/>
              </a:rPr>
              <a:t>0.0</a:t>
            </a:r>
            <a:r>
              <a:rPr lang="en-US" sz="800" dirty="0">
                <a:solidFill>
                  <a:schemeClr val="tx1"/>
                </a:solidFill>
                <a:latin typeface="Courier New" pitchFamily="34" charset="0"/>
                <a:ea typeface="Courier New" pitchFamily="34" charset="-122"/>
                <a:cs typeface="Courier New" pitchFamily="34" charset="-120"/>
              </a:rPr>
              <a:t>, (ri + rj - d) / denom))</a:t>
            </a:r>
            <a:endParaRPr lang="en-US" sz="800" dirty="0"/>
          </a:p>
          <a:p>
            <a:pPr indent="0" marL="0">
              <a:lnSpc>
                <a:spcPct val="100000"/>
              </a:lnSpc>
              <a:buNone/>
            </a:pPr>
            <a:r>
              <a:rPr lang="en-US" sz="800" dirty="0">
                <a:solidFill>
                  <a:schemeClr val="tx1"/>
                </a:solidFill>
                <a:latin typeface="Courier New" pitchFamily="34" charset="0"/>
                <a:ea typeface="Courier New" pitchFamily="34" charset="-122"/>
                <a:cs typeface="Courier New" pitchFamily="34" charset="-120"/>
              </a:rPr>
              <a:t>...</a:t>
            </a:r>
            <a:endParaRPr lang="en-US" sz="800" dirty="0"/>
          </a:p>
          <a:p>
            <a:pPr indent="0" marL="0">
              <a:lnSpc>
                <a:spcPct val="100000"/>
              </a:lnSpc>
              <a:buNone/>
            </a:pPr>
            <a:r>
              <a:rPr lang="en-US" sz="800" b="1" dirty="0">
                <a:solidFill>
                  <a:schemeClr val="accent3"/>
                </a:solidFill>
                <a:latin typeface="Courier New" pitchFamily="34" charset="0"/>
                <a:ea typeface="Courier New" pitchFamily="34" charset="-122"/>
                <a:cs typeface="Courier New" pitchFamily="34" charset="-120"/>
              </a:rPr>
              <a:t>if</a:t>
            </a:r>
            <a:r>
              <a:rPr lang="en-US" sz="800" dirty="0">
                <a:solidFill>
                  <a:schemeClr val="tx1"/>
                </a:solidFill>
                <a:latin typeface="Courier New" pitchFamily="34" charset="0"/>
                <a:ea typeface="Courier New" pitchFamily="34" charset="-122"/>
                <a:cs typeface="Courier New" pitchFamily="34" charset="-120"/>
              </a:rPr>
              <a:t> ball.label == minority_label:</a:t>
            </a:r>
            <a:endParaRPr lang="en-US" sz="800" dirty="0"/>
          </a:p>
          <a:p>
            <a:pPr indent="0" marL="0">
              <a:lnSpc>
                <a:spcPct val="100000"/>
              </a:lnSpc>
              <a:buNone/>
            </a:pPr>
            <a:r>
              <a:rPr lang="en-US" sz="800" dirty="0">
                <a:solidFill>
                  <a:schemeClr val="tx1"/>
                </a:solidFill>
                <a:latin typeface="Courier New" pitchFamily="34" charset="0"/>
                <a:ea typeface="Courier New" pitchFamily="34" charset="-122"/>
                <a:cs typeface="Courier New" pitchFamily="34" charset="-120"/>
              </a:rPr>
              <a:t>    mu[i] = </a:t>
            </a:r>
            <a:r>
              <a:rPr lang="en-US" sz="800" dirty="0">
                <a:solidFill>
                  <a:schemeClr val="accent4"/>
                </a:solidFill>
                <a:latin typeface="Courier New" pitchFamily="34" charset="0"/>
                <a:ea typeface="Courier New" pitchFamily="34" charset="-122"/>
                <a:cs typeface="Courier New" pitchFamily="34" charset="-120"/>
              </a:rPr>
              <a:t>1.0</a:t>
            </a:r>
            <a:r>
              <a:rPr lang="en-US" sz="800" dirty="0">
                <a:solidFill>
                  <a:schemeClr val="tx1"/>
                </a:solidFill>
                <a:latin typeface="Courier New" pitchFamily="34" charset="0"/>
                <a:ea typeface="Courier New" pitchFamily="34" charset="-122"/>
                <a:cs typeface="Courier New" pitchFamily="34" charset="-120"/>
              </a:rPr>
              <a:t> + alpha * O[i]</a:t>
            </a:r>
            <a:endParaRPr lang="en-US" sz="800" dirty="0"/>
          </a:p>
          <a:p>
            <a:pPr indent="0" marL="0">
              <a:lnSpc>
                <a:spcPct val="100000"/>
              </a:lnSpc>
              <a:buNone/>
            </a:pPr>
            <a:r>
              <a:rPr lang="en-US" sz="800" b="1" dirty="0">
                <a:solidFill>
                  <a:schemeClr val="accent3"/>
                </a:solidFill>
                <a:latin typeface="Courier New" pitchFamily="34" charset="0"/>
                <a:ea typeface="Courier New" pitchFamily="34" charset="-122"/>
                <a:cs typeface="Courier New" pitchFamily="34" charset="-120"/>
              </a:rPr>
              <a:t>else</a:t>
            </a:r>
            <a:r>
              <a:rPr lang="en-US" sz="800" dirty="0">
                <a:solidFill>
                  <a:schemeClr val="tx1"/>
                </a:solidFill>
                <a:latin typeface="Courier New" pitchFamily="34" charset="0"/>
                <a:ea typeface="Courier New" pitchFamily="34" charset="-122"/>
                <a:cs typeface="Courier New" pitchFamily="34" charset="-120"/>
              </a:rPr>
              <a:t>:</a:t>
            </a:r>
            <a:endParaRPr lang="en-US" sz="800" dirty="0"/>
          </a:p>
          <a:p>
            <a:pPr indent="0" marL="0">
              <a:lnSpc>
                <a:spcPct val="100000"/>
              </a:lnSpc>
              <a:buNone/>
            </a:pPr>
            <a:r>
              <a:rPr lang="en-US" sz="800" dirty="0">
                <a:solidFill>
                  <a:schemeClr val="tx1"/>
                </a:solidFill>
                <a:latin typeface="Courier New" pitchFamily="34" charset="0"/>
                <a:ea typeface="Courier New" pitchFamily="34" charset="-122"/>
                <a:cs typeface="Courier New" pitchFamily="34" charset="-120"/>
              </a:rPr>
              <a:t>    mu[i] = </a:t>
            </a:r>
            <a:r>
              <a:rPr lang="en-US" sz="800" dirty="0">
                <a:solidFill>
                  <a:schemeClr val="accent4"/>
                </a:solidFill>
                <a:latin typeface="Courier New" pitchFamily="34" charset="0"/>
                <a:ea typeface="Courier New" pitchFamily="34" charset="-122"/>
                <a:cs typeface="Courier New" pitchFamily="34" charset="-120"/>
              </a:rPr>
              <a:t>1.0</a:t>
            </a:r>
            <a:r>
              <a:rPr lang="en-US" sz="800" dirty="0">
                <a:solidFill>
                  <a:schemeClr val="tx1"/>
                </a:solidFill>
                <a:latin typeface="Courier New" pitchFamily="34" charset="0"/>
                <a:ea typeface="Courier New" pitchFamily="34" charset="-122"/>
                <a:cs typeface="Courier New" pitchFamily="34" charset="-120"/>
              </a:rPr>
              <a:t> - alpha * O[i]</a:t>
            </a:r>
            <a:endParaRPr lang="en-US" sz="800" dirty="0"/>
          </a:p>
        </p:txBody>
      </p:sp>
      <p:sp>
        <p:nvSpPr>
          <p:cNvPr id="22" name="card"/>
          <p:cNvSpPr/>
          <p:nvPr/>
        </p:nvSpPr>
        <p:spPr>
          <a:xfrm>
            <a:off x="8503920" y="4069080"/>
            <a:ext cx="3108960" cy="1417320"/>
          </a:xfrm>
          <a:prstGeom prst="roundRect">
            <a:avLst>
              <a:gd name="adj" fmla="val 6452"/>
            </a:avLst>
          </a:prstGeom>
          <a:solidFill>
            <a:schemeClr val="bg2"/>
          </a:solidFill>
          <a:ln w="9525">
            <a:solidFill>
              <a:schemeClr val="bg2"/>
            </a:solidFill>
            <a:prstDash val="solid"/>
          </a:ln>
        </p:spPr>
      </p:sp>
      <p:sp>
        <p:nvSpPr>
          <p:cNvPr id="23" name="Text 20"/>
          <p:cNvSpPr txBox="1"/>
          <p:nvPr/>
        </p:nvSpPr>
        <p:spPr>
          <a:xfrm>
            <a:off x="8641080" y="4160520"/>
            <a:ext cx="2834640" cy="1234440"/>
          </a:xfrm>
          <a:prstGeom prst="rect">
            <a:avLst/>
          </a:prstGeom>
          <a:noFill/>
          <a:ln/>
        </p:spPr>
        <p:txBody>
          <a:bodyPr wrap="square" lIns="0" tIns="0" rIns="0" bIns="0" rtlCol="0" anchor="t"/>
          <a:lstStyle/>
          <a:p>
            <a:pPr indent="0" marL="0">
              <a:buNone/>
            </a:pPr>
            <a:r>
              <a:rPr lang="en-US" sz="1300" b="1" dirty="0">
                <a:solidFill>
                  <a:schemeClr val="accent2"/>
                </a:solidFill>
              </a:rPr>
              <a:t>CW + overlap − CW = 0</a:t>
            </a:r>
            <a:endParaRPr lang="en-US" sz="1300" dirty="0"/>
          </a:p>
          <a:p>
            <a:pPr indent="0" marL="0">
              <a:buNone/>
            </a:pPr>
            <a:r>
              <a:rPr lang="en-US" sz="1300" dirty="0">
                <a:solidFill>
                  <a:schemeClr val="tx1"/>
                </a:solidFill>
              </a:rPr>
              <a:t>on every metric for all three datasets; correlation of the weights with CW ≈ 0.998.</a:t>
            </a:r>
            <a:endParaRPr lang="en-US" sz="1300" dirty="0"/>
          </a:p>
        </p:txBody>
      </p:sp>
      <p:sp>
        <p:nvSpPr>
          <p:cNvPr id="24"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25"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26" name="Text 23"/>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Pure balls rarely overlap, so the overlap weight was zero for most balls and changed nothing.</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BALL WEIGHTING MODELS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CBCM: give weight to contested balls</a:t>
            </a:r>
            <a:endParaRPr lang="en-US" sz="2800" dirty="0"/>
          </a:p>
        </p:txBody>
      </p:sp>
      <p:sp>
        <p:nvSpPr>
          <p:cNvPr id="4" name="formula"/>
          <p:cNvSpPr/>
          <p:nvPr/>
        </p:nvSpPr>
        <p:spPr>
          <a:xfrm>
            <a:off x="548640" y="1463040"/>
            <a:ext cx="5760720" cy="2011680"/>
          </a:xfrm>
          <a:prstGeom prst="roundRect">
            <a:avLst>
              <a:gd name="adj" fmla="val 4545"/>
            </a:avLst>
          </a:prstGeom>
          <a:solidFill>
            <a:schemeClr val="bg2"/>
          </a:solidFill>
          <a:ln w="9525">
            <a:solidFill>
              <a:schemeClr val="bg2"/>
            </a:solidFill>
            <a:prstDash val="solid"/>
          </a:ln>
        </p:spPr>
      </p:sp>
      <p:sp>
        <p:nvSpPr>
          <p:cNvPr id="5" name="Text 3"/>
          <p:cNvSpPr txBox="1"/>
          <p:nvPr/>
        </p:nvSpPr>
        <p:spPr>
          <a:xfrm>
            <a:off x="731520" y="1591056"/>
            <a:ext cx="5394960" cy="292608"/>
          </a:xfrm>
          <a:prstGeom prst="rect">
            <a:avLst/>
          </a:prstGeom>
          <a:noFill/>
          <a:ln/>
        </p:spPr>
        <p:txBody>
          <a:bodyPr wrap="square" lIns="0" tIns="0" rIns="0" bIns="0" rtlCol="0" anchor="t"/>
          <a:lstStyle/>
          <a:p>
            <a:pPr indent="0" marL="0">
              <a:buNone/>
            </a:pPr>
            <a:r>
              <a:rPr lang="en-US" sz="1500" b="1" dirty="0">
                <a:solidFill>
                  <a:schemeClr val="tx2"/>
                </a:solidFill>
              </a:rPr>
              <a:t>Competition among the k nearest balls</a:t>
            </a:r>
            <a:endParaRPr lang="en-US" sz="1500" dirty="0"/>
          </a:p>
        </p:txBody>
      </p:sp>
      <p:sp>
        <p:nvSpPr>
          <p:cNvPr id="6" name="Text 4"/>
          <p:cNvSpPr txBox="1"/>
          <p:nvPr/>
        </p:nvSpPr>
        <p:spPr>
          <a:xfrm>
            <a:off x="731520" y="1938528"/>
            <a:ext cx="5394960" cy="144475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k = max(5, ⌈0.05 N⌉), g</a:t>
            </a:r>
            <a:r>
              <a:rPr lang="en-US" sz="1400" baseline="-40000" dirty="0">
                <a:solidFill>
                  <a:schemeClr val="tx1"/>
                </a:solidFill>
              </a:rPr>
              <a:t>ij</a:t>
            </a:r>
            <a:r>
              <a:rPr lang="en-US" sz="1400" dirty="0">
                <a:solidFill>
                  <a:schemeClr val="tx1"/>
                </a:solidFill>
              </a:rPr>
              <a:t> = exp(−d</a:t>
            </a:r>
            <a:r>
              <a:rPr lang="en-US" sz="1400" baseline="-40000" dirty="0">
                <a:solidFill>
                  <a:schemeClr val="tx1"/>
                </a:solidFill>
              </a:rPr>
              <a:t>ij</a:t>
            </a:r>
            <a:r>
              <a:rPr lang="en-US" sz="1400" baseline="30000" dirty="0">
                <a:solidFill>
                  <a:schemeClr val="tx1"/>
                </a:solidFill>
              </a:rPr>
              <a:t>2</a:t>
            </a:r>
            <a:r>
              <a:rPr lang="en-US" sz="1400" dirty="0">
                <a:solidFill>
                  <a:schemeClr val="tx1"/>
                </a:solidFill>
              </a:rPr>
              <a:t> / 2σ</a:t>
            </a:r>
            <a:r>
              <a:rPr lang="en-US" sz="1400" baseline="-40000" dirty="0">
                <a:solidFill>
                  <a:schemeClr val="tx1"/>
                </a:solidFill>
              </a:rPr>
              <a:t>i</a:t>
            </a:r>
            <a:r>
              <a:rPr lang="en-US" sz="1400" baseline="30000" dirty="0">
                <a:solidFill>
                  <a:schemeClr val="tx1"/>
                </a:solidFill>
              </a:rPr>
              <a:t>2</a:t>
            </a:r>
            <a:r>
              <a:rPr lang="en-US" sz="1400" dirty="0">
                <a:solidFill>
                  <a:schemeClr val="tx1"/>
                </a:solidFill>
              </a:rPr>
              <a:t>), σ</a:t>
            </a:r>
            <a:r>
              <a:rPr lang="en-US" sz="1400" baseline="-40000" dirty="0">
                <a:solidFill>
                  <a:schemeClr val="tx1"/>
                </a:solidFill>
              </a:rPr>
              <a:t>i</a:t>
            </a:r>
            <a:r>
              <a:rPr lang="en-US" sz="1400" dirty="0">
                <a:solidFill>
                  <a:schemeClr val="tx1"/>
                </a:solidFill>
              </a:rPr>
              <a:t> = median distance</a:t>
            </a:r>
            <a:endParaRPr lang="en-US" sz="1400" dirty="0"/>
          </a:p>
          <a:p>
            <a:pPr indent="0" marL="0">
              <a:spcAft>
                <a:spcPts val="400"/>
              </a:spcAft>
              <a:buNone/>
            </a:pPr>
            <a:r>
              <a:rPr lang="en-US" sz="1400" dirty="0">
                <a:solidFill>
                  <a:schemeClr val="tx1"/>
                </a:solidFill>
              </a:rPr>
              <a:t>comp</a:t>
            </a:r>
            <a:r>
              <a:rPr lang="en-US" sz="1400" baseline="-40000" dirty="0">
                <a:solidFill>
                  <a:schemeClr val="tx1"/>
                </a:solidFill>
              </a:rPr>
              <a:t>i</a:t>
            </a:r>
            <a:r>
              <a:rPr lang="en-US" sz="1400" dirty="0">
                <a:solidFill>
                  <a:schemeClr val="tx1"/>
                </a:solidFill>
              </a:rPr>
              <a:t> = Σ</a:t>
            </a:r>
            <a:r>
              <a:rPr lang="en-US" sz="1400" baseline="-40000" dirty="0">
                <a:solidFill>
                  <a:schemeClr val="tx1"/>
                </a:solidFill>
              </a:rPr>
              <a:t>opposite</a:t>
            </a:r>
            <a:r>
              <a:rPr lang="en-US" sz="1400" dirty="0">
                <a:solidFill>
                  <a:schemeClr val="tx1"/>
                </a:solidFill>
              </a:rPr>
              <a:t> g</a:t>
            </a:r>
            <a:r>
              <a:rPr lang="en-US" sz="1400" baseline="-40000" dirty="0">
                <a:solidFill>
                  <a:schemeClr val="tx1"/>
                </a:solidFill>
              </a:rPr>
              <a:t>ij</a:t>
            </a:r>
            <a:r>
              <a:rPr lang="en-US" sz="1400" dirty="0">
                <a:solidFill>
                  <a:schemeClr val="tx1"/>
                </a:solidFill>
              </a:rPr>
              <a:t> / Σ</a:t>
            </a:r>
            <a:r>
              <a:rPr lang="en-US" sz="1400" baseline="-40000" dirty="0">
                <a:solidFill>
                  <a:schemeClr val="tx1"/>
                </a:solidFill>
              </a:rPr>
              <a:t>j</a:t>
            </a:r>
            <a:r>
              <a:rPr lang="en-US" sz="1400" dirty="0">
                <a:solidFill>
                  <a:schemeClr val="tx1"/>
                </a:solidFill>
              </a:rPr>
              <a:t> g</a:t>
            </a:r>
            <a:r>
              <a:rPr lang="en-US" sz="1400" baseline="-40000" dirty="0">
                <a:solidFill>
                  <a:schemeClr val="tx1"/>
                </a:solidFill>
              </a:rPr>
              <a:t>ij</a:t>
            </a:r>
            <a:endParaRPr lang="en-US" sz="1400" dirty="0"/>
          </a:p>
          <a:p>
            <a:pPr indent="0" marL="0">
              <a:spcAft>
                <a:spcPts val="400"/>
              </a:spcAft>
              <a:buNone/>
            </a:pPr>
            <a:r>
              <a:rPr lang="en-US" sz="1400" dirty="0">
                <a:solidFill>
                  <a:schemeClr val="tx1"/>
                </a:solidFill>
              </a:rPr>
              <a:t>μA</a:t>
            </a:r>
            <a:r>
              <a:rPr lang="en-US" sz="1400" baseline="-40000" dirty="0">
                <a:solidFill>
                  <a:schemeClr val="tx1"/>
                </a:solidFill>
              </a:rPr>
              <a:t>i</a:t>
            </a:r>
            <a:r>
              <a:rPr lang="en-US" sz="1400" dirty="0">
                <a:solidFill>
                  <a:schemeClr val="tx1"/>
                </a:solidFill>
              </a:rPr>
              <a:t> = 4 comp</a:t>
            </a:r>
            <a:r>
              <a:rPr lang="en-US" sz="1400" baseline="-40000" dirty="0">
                <a:solidFill>
                  <a:schemeClr val="tx1"/>
                </a:solidFill>
              </a:rPr>
              <a:t>i</a:t>
            </a:r>
            <a:r>
              <a:rPr lang="en-US" sz="1400" dirty="0">
                <a:solidFill>
                  <a:schemeClr val="tx1"/>
                </a:solidFill>
              </a:rPr>
              <a:t> (1 − comp</a:t>
            </a:r>
            <a:r>
              <a:rPr lang="en-US" sz="1400" baseline="-40000" dirty="0">
                <a:solidFill>
                  <a:schemeClr val="tx1"/>
                </a:solidFill>
              </a:rPr>
              <a:t>i</a:t>
            </a:r>
            <a:r>
              <a:rPr lang="en-US" sz="1400" dirty="0">
                <a:solidFill>
                  <a:schemeClr val="tx1"/>
                </a:solidFill>
              </a:rPr>
              <a:t>)  (largest at comp = ½)</a:t>
            </a:r>
            <a:endParaRPr lang="en-US" sz="1400" dirty="0"/>
          </a:p>
          <a:p>
            <a:pPr indent="0" marL="0">
              <a:spcAft>
                <a:spcPts val="400"/>
              </a:spcAft>
              <a:buNone/>
            </a:pPr>
            <a:r>
              <a:rPr lang="en-US" sz="1400" dirty="0">
                <a:solidFill>
                  <a:schemeClr val="tx1"/>
                </a:solidFill>
              </a:rPr>
              <a:t>CA: w = κ · μA     CC: w = κ · μA · μB (μB = density support)</a:t>
            </a:r>
            <a:endParaRPr lang="en-US" sz="1400" dirty="0"/>
          </a:p>
        </p:txBody>
      </p:sp>
      <p:sp>
        <p:nvSpPr>
          <p:cNvPr id="7" name="code-frame"/>
          <p:cNvSpPr/>
          <p:nvPr/>
        </p:nvSpPr>
        <p:spPr>
          <a:xfrm>
            <a:off x="548640" y="3611880"/>
            <a:ext cx="5760720" cy="1864741"/>
          </a:xfrm>
          <a:prstGeom prst="roundRect">
            <a:avLst>
              <a:gd name="adj" fmla="val 3923"/>
            </a:avLst>
          </a:prstGeom>
          <a:solidFill>
            <a:schemeClr val="tx2"/>
          </a:solidFill>
          <a:ln w="9525">
            <a:solidFill>
              <a:schemeClr val="tx2"/>
            </a:solidFill>
            <a:prstDash val="solid"/>
          </a:ln>
        </p:spPr>
      </p:sp>
      <p:sp>
        <p:nvSpPr>
          <p:cNvPr id="8" name="code-dot"/>
          <p:cNvSpPr/>
          <p:nvPr/>
        </p:nvSpPr>
        <p:spPr>
          <a:xfrm>
            <a:off x="694944" y="3730752"/>
            <a:ext cx="109728" cy="109728"/>
          </a:xfrm>
          <a:prstGeom prst="ellipse">
            <a:avLst/>
          </a:prstGeom>
          <a:solidFill>
            <a:schemeClr val="bg2">
              <a:alpha val="55000"/>
            </a:schemeClr>
          </a:solidFill>
          <a:ln w="12700">
            <a:solidFill>
              <a:schemeClr val="bg2">
                <a:alpha val="55000"/>
              </a:schemeClr>
            </a:solidFill>
            <a:prstDash val="solid"/>
          </a:ln>
        </p:spPr>
      </p:sp>
      <p:sp>
        <p:nvSpPr>
          <p:cNvPr id="9" name="code-dot"/>
          <p:cNvSpPr/>
          <p:nvPr/>
        </p:nvSpPr>
        <p:spPr>
          <a:xfrm>
            <a:off x="877824" y="3730752"/>
            <a:ext cx="109728" cy="109728"/>
          </a:xfrm>
          <a:prstGeom prst="ellipse">
            <a:avLst/>
          </a:prstGeom>
          <a:solidFill>
            <a:schemeClr val="bg2">
              <a:alpha val="55000"/>
            </a:schemeClr>
          </a:solidFill>
          <a:ln w="12700">
            <a:solidFill>
              <a:schemeClr val="bg2">
                <a:alpha val="55000"/>
              </a:schemeClr>
            </a:solidFill>
            <a:prstDash val="solid"/>
          </a:ln>
        </p:spPr>
      </p:sp>
      <p:sp>
        <p:nvSpPr>
          <p:cNvPr id="10" name="code-dot"/>
          <p:cNvSpPr/>
          <p:nvPr/>
        </p:nvSpPr>
        <p:spPr>
          <a:xfrm>
            <a:off x="1060704" y="3730752"/>
            <a:ext cx="109728" cy="109728"/>
          </a:xfrm>
          <a:prstGeom prst="ellipse">
            <a:avLst/>
          </a:prstGeom>
          <a:solidFill>
            <a:schemeClr val="bg2">
              <a:alpha val="55000"/>
            </a:schemeClr>
          </a:solidFill>
          <a:ln w="12700">
            <a:solidFill>
              <a:schemeClr val="bg2">
                <a:alpha val="55000"/>
              </a:schemeClr>
            </a:solidFill>
            <a:prstDash val="solid"/>
          </a:ln>
        </p:spPr>
      </p:sp>
      <p:sp>
        <p:nvSpPr>
          <p:cNvPr id="11" name="Text 9"/>
          <p:cNvSpPr txBox="1"/>
          <p:nvPr/>
        </p:nvSpPr>
        <p:spPr>
          <a:xfrm>
            <a:off x="1298448" y="3648456"/>
            <a:ext cx="4846320" cy="27432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src/cbcm.py · compute_competition_membership</a:t>
            </a:r>
            <a:endParaRPr lang="en-US" sz="1100" dirty="0"/>
          </a:p>
        </p:txBody>
      </p:sp>
      <p:sp>
        <p:nvSpPr>
          <p:cNvPr id="12" name="code-body"/>
          <p:cNvSpPr/>
          <p:nvPr/>
        </p:nvSpPr>
        <p:spPr>
          <a:xfrm>
            <a:off x="585216" y="3959352"/>
            <a:ext cx="5687568" cy="1480693"/>
          </a:xfrm>
          <a:prstGeom prst="rect">
            <a:avLst/>
          </a:prstGeom>
          <a:solidFill>
            <a:schemeClr val="bg1"/>
          </a:solidFill>
          <a:ln w="12700">
            <a:solidFill>
              <a:schemeClr val="bg1"/>
            </a:solidFill>
            <a:prstDash val="solid"/>
          </a:ln>
        </p:spPr>
      </p:sp>
      <p:sp>
        <p:nvSpPr>
          <p:cNvPr id="13" name="code"/>
          <p:cNvSpPr txBox="1"/>
          <p:nvPr/>
        </p:nvSpPr>
        <p:spPr>
          <a:xfrm>
            <a:off x="676656" y="4050792"/>
            <a:ext cx="5504688" cy="1334389"/>
          </a:xfrm>
          <a:prstGeom prst="rect">
            <a:avLst/>
          </a:prstGeom>
          <a:noFill/>
          <a:ln/>
        </p:spPr>
        <p:txBody>
          <a:bodyPr wrap="square" lIns="0" tIns="0" rIns="0" bIns="0" rtlCol="0" anchor="t"/>
          <a:lstStyle/>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dists = np.linalg.norm(centers[i] - centers[idx], axis=</a:t>
            </a:r>
            <a:r>
              <a:rPr lang="en-US" sz="1150" dirty="0">
                <a:solidFill>
                  <a:schemeClr val="accent4"/>
                </a:solidFill>
                <a:latin typeface="Courier New" pitchFamily="34" charset="0"/>
                <a:ea typeface="Courier New" pitchFamily="34" charset="-122"/>
                <a:cs typeface="Courier New" pitchFamily="34" charset="-120"/>
              </a:rPr>
              <a:t>1</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sigma_i = _adaptive_bandwidth(dists, sigma_eps=sigma_eps)</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weights = _gaussian_weights(dists, sigma_i)</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opp = labels[idx] != labels[i]</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comp_a[i] = float(np.sum(weights[opp]) / w_sum)</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mu_a = </a:t>
            </a:r>
            <a:r>
              <a:rPr lang="en-US" sz="1150" dirty="0">
                <a:solidFill>
                  <a:schemeClr val="accent4"/>
                </a:solidFill>
                <a:latin typeface="Courier New" pitchFamily="34" charset="0"/>
                <a:ea typeface="Courier New" pitchFamily="34" charset="-122"/>
                <a:cs typeface="Courier New" pitchFamily="34" charset="-120"/>
              </a:rPr>
              <a:t>4.0</a:t>
            </a:r>
            <a:r>
              <a:rPr lang="en-US" sz="1150" dirty="0">
                <a:solidFill>
                  <a:schemeClr val="tx1"/>
                </a:solidFill>
                <a:latin typeface="Courier New" pitchFamily="34" charset="0"/>
                <a:ea typeface="Courier New" pitchFamily="34" charset="-122"/>
                <a:cs typeface="Courier New" pitchFamily="34" charset="-120"/>
              </a:rPr>
              <a:t> * comp_a * (</a:t>
            </a:r>
            <a:r>
              <a:rPr lang="en-US" sz="1150" dirty="0">
                <a:solidFill>
                  <a:schemeClr val="accent4"/>
                </a:solidFill>
                <a:latin typeface="Courier New" pitchFamily="34" charset="0"/>
                <a:ea typeface="Courier New" pitchFamily="34" charset="-122"/>
                <a:cs typeface="Courier New" pitchFamily="34" charset="-120"/>
              </a:rPr>
              <a:t>1.0</a:t>
            </a:r>
            <a:r>
              <a:rPr lang="en-US" sz="1150" dirty="0">
                <a:solidFill>
                  <a:schemeClr val="tx1"/>
                </a:solidFill>
                <a:latin typeface="Courier New" pitchFamily="34" charset="0"/>
                <a:ea typeface="Courier New" pitchFamily="34" charset="-122"/>
                <a:cs typeface="Courier New" pitchFamily="34" charset="-120"/>
              </a:rPr>
              <a:t> - comp_a)</a:t>
            </a:r>
            <a:endParaRPr lang="en-US" sz="1150" dirty="0"/>
          </a:p>
        </p:txBody>
      </p:sp>
      <p:pic>
        <p:nvPicPr>
          <p:cNvPr id="14" name="Image 0" descr="k-NN graph of ball centres coloured by competition membership">    </p:cNvPr>
          <p:cNvPicPr>
            <a:picLocks noChangeAspect="1"/>
          </p:cNvPicPr>
          <p:nvPr/>
        </p:nvPicPr>
        <p:blipFill>
          <a:blip r:embed="rId1"/>
          <a:stretch>
            <a:fillRect/>
          </a:stretch>
        </p:blipFill>
        <p:spPr>
          <a:xfrm>
            <a:off x="6537960" y="1417320"/>
            <a:ext cx="5074920" cy="3830589"/>
          </a:xfrm>
          <a:prstGeom prst="rect">
            <a:avLst/>
          </a:prstGeom>
        </p:spPr>
      </p:pic>
      <p:sp>
        <p:nvSpPr>
          <p:cNvPr id="15"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6"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7" name="Text 14"/>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CA gives the most weight to balls whose neighbours are half from the other class.</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BALL WEIGHTING MODELS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CA: one clean gain on vehicle0, unstable elsewhere</a:t>
            </a:r>
            <a:endParaRPr lang="en-US" sz="2800" dirty="0"/>
          </a:p>
        </p:txBody>
      </p:sp>
      <p:graphicFrame>
        <p:nvGraphicFramePr>
          <p:cNvPr id="4" name="Chart 0" descr=""/>
          <p:cNvGraphicFramePr/>
          <p:nvPr/>
        </p:nvGraphicFramePr>
        <p:xfrm>
          <a:off x="548640" y="1417320"/>
          <a:ext cx="5394960" cy="406908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172200" y="1463040"/>
          <a:ext cx="5440680" cy="914400"/>
        </p:xfrm>
        <a:graphic>
          <a:graphicData uri="http://schemas.openxmlformats.org/drawingml/2006/table">
            <a:tbl>
              <a:tblPr/>
              <a:tblGrid>
                <a:gridCol w="2971800"/>
                <a:gridCol w="960120"/>
                <a:gridCol w="1508760"/>
              </a:tblGrid>
              <a:tr h="457200">
                <a:tc>
                  <a:txBody>
                    <a:bodyPr/>
                    <a:lstStyle/>
                    <a:p>
                      <a:pPr indent="0" marL="0">
                        <a:buNone/>
                      </a:pPr>
                      <a:r>
                        <a:rPr lang="en-US" sz="1300" b="1" dirty="0">
                          <a:solidFill>
                            <a:schemeClr val="bg1"/>
                          </a:solidFill>
                        </a:rPr>
                        <a:t>Check</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CW</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CA</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457200">
                <a:tc>
                  <a:txBody>
                    <a:bodyPr/>
                    <a:lstStyle/>
                    <a:p>
                      <a:pPr indent="0" marL="0">
                        <a:buNone/>
                      </a:pPr>
                      <a:r>
                        <a:rPr lang="en-US" sz="1300" dirty="0">
                          <a:solidFill>
                            <a:schemeClr val="tx1"/>
                          </a:solidFill>
                        </a:rPr>
                        <a:t>vehicle0, 5-fold CV, G-mean</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0.710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0.720 ± 0.085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57200">
                <a:tc>
                  <a:txBody>
                    <a:bodyPr/>
                    <a:lstStyle/>
                    <a:p>
                      <a:pPr indent="0" marL="0">
                        <a:buNone/>
                      </a:pPr>
                      <a:r>
                        <a:rPr lang="en-US" sz="1300" dirty="0">
                          <a:solidFill>
                            <a:schemeClr val="tx1"/>
                          </a:solidFill>
                        </a:rPr>
                        <a:t>CC vs CW on that CV (Wilcoxon p)</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p = 1.0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57200">
                <a:tc>
                  <a:txBody>
                    <a:bodyPr/>
                    <a:lstStyle/>
                    <a:p>
                      <a:pPr indent="0" marL="0">
                        <a:buNone/>
                      </a:pPr>
                      <a:r>
                        <a:rPr lang="en-US" sz="1300" dirty="0">
                          <a:solidFill>
                            <a:schemeClr val="tx1"/>
                          </a:solidFill>
                        </a:rPr>
                        <a:t>17 datasets × 3 seeds, mean macro F1</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b="1" dirty="0">
                          <a:solidFill>
                            <a:schemeClr val="tx1"/>
                          </a:solidFill>
                        </a:rPr>
                        <a:t>0.550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0.537</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57200">
                <a:tc>
                  <a:txBody>
                    <a:bodyPr/>
                    <a:lstStyle/>
                    <a:p>
                      <a:pPr indent="0" marL="0">
                        <a:buNone/>
                      </a:pPr>
                      <a:r>
                        <a:rPr lang="en-US" sz="1300" dirty="0">
                          <a:solidFill>
                            <a:schemeClr val="tx1"/>
                          </a:solidFill>
                        </a:rPr>
                        <a:t>Datasets where CA beats CW</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7 of 17</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57200">
                <a:tc>
                  <a:txBody>
                    <a:bodyPr/>
                    <a:lstStyle/>
                    <a:p>
                      <a:pPr indent="0" marL="0">
                        <a:buNone/>
                      </a:pPr>
                      <a:r>
                        <a:rPr lang="en-US" sz="1300" dirty="0">
                          <a:solidFill>
                            <a:schemeClr val="tx1"/>
                          </a:solidFill>
                        </a:rPr>
                        <a:t>bcw_original, macro F1</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b="1" dirty="0">
                          <a:solidFill>
                            <a:schemeClr val="tx1"/>
                          </a:solidFill>
                        </a:rPr>
                        <a:t>0.849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0.397</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57200">
                <a:tc>
                  <a:txBody>
                    <a:bodyPr/>
                    <a:lstStyle/>
                    <a:p>
                      <a:pPr indent="0" marL="0">
                        <a:buNone/>
                      </a:pPr>
                      <a:r>
                        <a:rPr lang="en-US" sz="1300" dirty="0">
                          <a:solidFill>
                            <a:schemeClr val="tx1"/>
                          </a:solidFill>
                        </a:rPr>
                        <a:t>ecoli2 noise check</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failed: noise rewarded</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sp>
        <p:nvSpPr>
          <p:cNvPr id="6" name="Text 2"/>
          <p:cNvSpPr txBox="1"/>
          <p:nvPr/>
        </p:nvSpPr>
        <p:spPr>
          <a:xfrm>
            <a:off x="7955280" y="5138928"/>
            <a:ext cx="3017520" cy="201168"/>
          </a:xfrm>
          <a:prstGeom prst="rect">
            <a:avLst/>
          </a:prstGeom>
          <a:noFill/>
          <a:ln/>
        </p:spPr>
        <p:txBody>
          <a:bodyPr wrap="square" lIns="0" tIns="0" rIns="0" bIns="0" rtlCol="0" anchor="t"/>
          <a:lstStyle/>
          <a:p>
            <a:pPr algn="r" indent="0" marL="0">
              <a:buNone/>
            </a:pPr>
            <a:r>
              <a:rPr lang="en-US" sz="1000" dirty="0">
                <a:solidFill>
                  <a:schemeClr val="accent6"/>
                </a:solidFill>
              </a:rPr>
              <a:t>Mean over 17 datasets computed from topo_broad_screening_aggregate.csv</a:t>
            </a:r>
            <a:endParaRPr lang="en-US" sz="1000" dirty="0"/>
          </a:p>
        </p:txBody>
      </p:sp>
      <p:sp>
        <p:nvSpPr>
          <p:cNvPr id="7"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8"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9" name="Text 5"/>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CA's gain on vehicle0 shrank under cross-validation and reversed on other data; it stayed only as a reference.</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BALL WEIGHTING MODELS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IPA and Topo: two fixes for CA's noise problem</a:t>
            </a:r>
            <a:endParaRPr lang="en-US" sz="2800" dirty="0"/>
          </a:p>
        </p:txBody>
      </p:sp>
      <p:sp>
        <p:nvSpPr>
          <p:cNvPr id="4" name="formula"/>
          <p:cNvSpPr/>
          <p:nvPr/>
        </p:nvSpPr>
        <p:spPr>
          <a:xfrm>
            <a:off x="548640" y="1463040"/>
            <a:ext cx="5760720" cy="1280160"/>
          </a:xfrm>
          <a:prstGeom prst="roundRect">
            <a:avLst>
              <a:gd name="adj" fmla="val 7143"/>
            </a:avLst>
          </a:prstGeom>
          <a:solidFill>
            <a:schemeClr val="bg2"/>
          </a:solidFill>
          <a:ln w="9525">
            <a:solidFill>
              <a:schemeClr val="bg2"/>
            </a:solidFill>
            <a:prstDash val="solid"/>
          </a:ln>
        </p:spPr>
      </p:sp>
      <p:sp>
        <p:nvSpPr>
          <p:cNvPr id="5" name="Text 3"/>
          <p:cNvSpPr txBox="1"/>
          <p:nvPr/>
        </p:nvSpPr>
        <p:spPr>
          <a:xfrm>
            <a:off x="731520" y="1591056"/>
            <a:ext cx="5394960" cy="292608"/>
          </a:xfrm>
          <a:prstGeom prst="rect">
            <a:avLst/>
          </a:prstGeom>
          <a:noFill/>
          <a:ln/>
        </p:spPr>
        <p:txBody>
          <a:bodyPr wrap="square" lIns="0" tIns="0" rIns="0" bIns="0" rtlCol="0" anchor="t"/>
          <a:lstStyle/>
          <a:p>
            <a:pPr indent="0" marL="0">
              <a:buNone/>
            </a:pPr>
            <a:r>
              <a:rPr lang="en-US" sz="1500" b="1" dirty="0">
                <a:solidFill>
                  <a:schemeClr val="tx2"/>
                </a:solidFill>
              </a:rPr>
              <a:t>IPA: penalise isolated balls</a:t>
            </a:r>
            <a:endParaRPr lang="en-US" sz="1500" dirty="0"/>
          </a:p>
        </p:txBody>
      </p:sp>
      <p:sp>
        <p:nvSpPr>
          <p:cNvPr id="6" name="Text 4"/>
          <p:cNvSpPr txBox="1"/>
          <p:nvPr/>
        </p:nvSpPr>
        <p:spPr>
          <a:xfrm>
            <a:off x="731520" y="1938528"/>
            <a:ext cx="5394960" cy="713232"/>
          </a:xfrm>
          <a:prstGeom prst="rect">
            <a:avLst/>
          </a:prstGeom>
          <a:noFill/>
          <a:ln/>
        </p:spPr>
        <p:txBody>
          <a:bodyPr wrap="square" lIns="0" tIns="0" rIns="0" bIns="0" rtlCol="0" anchor="t"/>
          <a:lstStyle/>
          <a:p>
            <a:pPr indent="0" marL="0">
              <a:spcAft>
                <a:spcPts val="400"/>
              </a:spcAft>
              <a:buNone/>
            </a:pPr>
            <a:r>
              <a:rPr lang="en-US" sz="1350" dirty="0">
                <a:solidFill>
                  <a:schemeClr val="tx1"/>
                </a:solidFill>
              </a:rPr>
              <a:t>A = 2 min(c, 1 − c);  ρ</a:t>
            </a:r>
            <a:r>
              <a:rPr lang="en-US" sz="1350" baseline="-40000" dirty="0">
                <a:solidFill>
                  <a:schemeClr val="tx1"/>
                </a:solidFill>
              </a:rPr>
              <a:t>i</a:t>
            </a:r>
            <a:r>
              <a:rPr lang="en-US" sz="1350" dirty="0">
                <a:solidFill>
                  <a:schemeClr val="tx1"/>
                </a:solidFill>
              </a:rPr>
              <a:t> = q</a:t>
            </a:r>
            <a:r>
              <a:rPr lang="en-US" sz="1350" baseline="-40000" dirty="0">
                <a:solidFill>
                  <a:schemeClr val="tx1"/>
                </a:solidFill>
              </a:rPr>
              <a:t>i</a:t>
            </a:r>
            <a:r>
              <a:rPr lang="en-US" sz="1350" dirty="0">
                <a:solidFill>
                  <a:schemeClr val="tx1"/>
                </a:solidFill>
              </a:rPr>
              <a:t> / median</a:t>
            </a:r>
            <a:r>
              <a:rPr lang="en-US" sz="1350" baseline="-40000" dirty="0">
                <a:solidFill>
                  <a:schemeClr val="tx1"/>
                </a:solidFill>
              </a:rPr>
              <a:t>y</a:t>
            </a:r>
            <a:r>
              <a:rPr lang="en-US" sz="1350" dirty="0">
                <a:solidFill>
                  <a:schemeClr val="tx1"/>
                </a:solidFill>
              </a:rPr>
              <a:t>(q), q = distance to nearest same-class ball</a:t>
            </a:r>
            <a:endParaRPr lang="en-US" sz="1350" dirty="0"/>
          </a:p>
          <a:p>
            <a:pPr indent="0" marL="0">
              <a:spcAft>
                <a:spcPts val="400"/>
              </a:spcAft>
              <a:buNone/>
            </a:pPr>
            <a:r>
              <a:rPr lang="en-US" sz="1350" dirty="0">
                <a:solidFill>
                  <a:schemeClr val="tx1"/>
                </a:solidFill>
              </a:rPr>
              <a:t>μ</a:t>
            </a:r>
            <a:r>
              <a:rPr lang="en-US" sz="1350" baseline="-40000" dirty="0">
                <a:solidFill>
                  <a:schemeClr val="tx1"/>
                </a:solidFill>
              </a:rPr>
              <a:t>i</a:t>
            </a:r>
            <a:r>
              <a:rPr lang="en-US" sz="1350" dirty="0">
                <a:solidFill>
                  <a:schemeClr val="tx1"/>
                </a:solidFill>
              </a:rPr>
              <a:t> = A / (1 + λ max(0, ρ</a:t>
            </a:r>
            <a:r>
              <a:rPr lang="en-US" sz="1350" baseline="-40000" dirty="0">
                <a:solidFill>
                  <a:schemeClr val="tx1"/>
                </a:solidFill>
              </a:rPr>
              <a:t>i</a:t>
            </a:r>
            <a:r>
              <a:rPr lang="en-US" sz="1350" dirty="0">
                <a:solidFill>
                  <a:schemeClr val="tx1"/>
                </a:solidFill>
              </a:rPr>
              <a:t> − 1))</a:t>
            </a:r>
            <a:endParaRPr lang="en-US" sz="1350" dirty="0"/>
          </a:p>
        </p:txBody>
      </p:sp>
      <p:sp>
        <p:nvSpPr>
          <p:cNvPr id="7" name="formula"/>
          <p:cNvSpPr/>
          <p:nvPr/>
        </p:nvSpPr>
        <p:spPr>
          <a:xfrm>
            <a:off x="548640" y="2834640"/>
            <a:ext cx="5760720" cy="1280160"/>
          </a:xfrm>
          <a:prstGeom prst="roundRect">
            <a:avLst>
              <a:gd name="adj" fmla="val 7143"/>
            </a:avLst>
          </a:prstGeom>
          <a:solidFill>
            <a:schemeClr val="bg2"/>
          </a:solidFill>
          <a:ln w="9525">
            <a:solidFill>
              <a:schemeClr val="bg2"/>
            </a:solidFill>
            <a:prstDash val="solid"/>
          </a:ln>
        </p:spPr>
      </p:sp>
      <p:sp>
        <p:nvSpPr>
          <p:cNvPr id="8" name="Text 6"/>
          <p:cNvSpPr txBox="1"/>
          <p:nvPr/>
        </p:nvSpPr>
        <p:spPr>
          <a:xfrm>
            <a:off x="731520" y="2962656"/>
            <a:ext cx="5394960" cy="292608"/>
          </a:xfrm>
          <a:prstGeom prst="rect">
            <a:avLst/>
          </a:prstGeom>
          <a:noFill/>
          <a:ln/>
        </p:spPr>
        <p:txBody>
          <a:bodyPr wrap="square" lIns="0" tIns="0" rIns="0" bIns="0" rtlCol="0" anchor="t"/>
          <a:lstStyle/>
          <a:p>
            <a:pPr indent="0" marL="0">
              <a:buNone/>
            </a:pPr>
            <a:r>
              <a:rPr lang="en-US" sz="1500" b="1" dirty="0">
                <a:solidFill>
                  <a:schemeClr val="tx2"/>
                </a:solidFill>
              </a:rPr>
              <a:t>Topo and SupportAware-Topo: count only mutual links</a:t>
            </a:r>
            <a:endParaRPr lang="en-US" sz="1500" dirty="0"/>
          </a:p>
        </p:txBody>
      </p:sp>
      <p:sp>
        <p:nvSpPr>
          <p:cNvPr id="9" name="Text 7"/>
          <p:cNvSpPr txBox="1"/>
          <p:nvPr/>
        </p:nvSpPr>
        <p:spPr>
          <a:xfrm>
            <a:off x="731520" y="3310128"/>
            <a:ext cx="5394960" cy="713232"/>
          </a:xfrm>
          <a:prstGeom prst="rect">
            <a:avLst/>
          </a:prstGeom>
          <a:noFill/>
          <a:ln/>
        </p:spPr>
        <p:txBody>
          <a:bodyPr wrap="square" lIns="0" tIns="0" rIns="0" bIns="0" rtlCol="0" anchor="t"/>
          <a:lstStyle/>
          <a:p>
            <a:pPr indent="0" marL="0">
              <a:spcAft>
                <a:spcPts val="400"/>
              </a:spcAft>
              <a:buNone/>
            </a:pPr>
            <a:r>
              <a:rPr lang="en-US" sz="1350" dirty="0">
                <a:solidFill>
                  <a:schemeClr val="tx1"/>
                </a:solidFill>
              </a:rPr>
              <a:t>Topo: μ</a:t>
            </a:r>
            <a:r>
              <a:rPr lang="en-US" sz="1350" baseline="-40000" dirty="0">
                <a:solidFill>
                  <a:schemeClr val="tx1"/>
                </a:solidFill>
              </a:rPr>
              <a:t>i</a:t>
            </a:r>
            <a:r>
              <a:rPr lang="en-US" sz="1350" dirty="0">
                <a:solidFill>
                  <a:schemeClr val="tx1"/>
                </a:solidFill>
              </a:rPr>
              <a:t> = A · R</a:t>
            </a:r>
            <a:r>
              <a:rPr lang="en-US" sz="1350" baseline="-40000" dirty="0">
                <a:solidFill>
                  <a:schemeClr val="tx1"/>
                </a:solidFill>
              </a:rPr>
              <a:t>opp</a:t>
            </a:r>
            <a:r>
              <a:rPr lang="en-US" sz="1350" dirty="0">
                <a:solidFill>
                  <a:schemeClr val="tx1"/>
                </a:solidFill>
              </a:rPr>
              <a:t>, R</a:t>
            </a:r>
            <a:r>
              <a:rPr lang="en-US" sz="1350" baseline="-40000" dirty="0">
                <a:solidFill>
                  <a:schemeClr val="tx1"/>
                </a:solidFill>
              </a:rPr>
              <a:t>opp</a:t>
            </a:r>
            <a:r>
              <a:rPr lang="en-US" sz="1350" dirty="0">
                <a:solidFill>
                  <a:schemeClr val="tx1"/>
                </a:solidFill>
              </a:rPr>
              <a:t> = n</a:t>
            </a:r>
            <a:r>
              <a:rPr lang="en-US" sz="1350" baseline="-40000" dirty="0">
                <a:solidFill>
                  <a:schemeClr val="tx1"/>
                </a:solidFill>
              </a:rPr>
              <a:t>recip</a:t>
            </a:r>
            <a:r>
              <a:rPr lang="en-US" sz="1350" dirty="0">
                <a:solidFill>
                  <a:schemeClr val="tx1"/>
                </a:solidFill>
              </a:rPr>
              <a:t> / (n</a:t>
            </a:r>
            <a:r>
              <a:rPr lang="en-US" sz="1350" baseline="-40000" dirty="0">
                <a:solidFill>
                  <a:schemeClr val="tx1"/>
                </a:solidFill>
              </a:rPr>
              <a:t>opp</a:t>
            </a:r>
            <a:r>
              <a:rPr lang="en-US" sz="1350" dirty="0">
                <a:solidFill>
                  <a:schemeClr val="tx1"/>
                </a:solidFill>
              </a:rPr>
              <a:t> + ε)</a:t>
            </a:r>
            <a:endParaRPr lang="en-US" sz="1350" dirty="0"/>
          </a:p>
          <a:p>
            <a:pPr indent="0" marL="0">
              <a:spcAft>
                <a:spcPts val="400"/>
              </a:spcAft>
              <a:buNone/>
            </a:pPr>
            <a:r>
              <a:rPr lang="en-US" sz="1350" dirty="0">
                <a:solidFill>
                  <a:schemeClr val="tx1"/>
                </a:solidFill>
              </a:rPr>
              <a:t>SA-Topo: c = n</a:t>
            </a:r>
            <a:r>
              <a:rPr lang="en-US" sz="1350" baseline="-40000" dirty="0">
                <a:solidFill>
                  <a:schemeClr val="tx1"/>
                </a:solidFill>
              </a:rPr>
              <a:t>opp</a:t>
            </a:r>
            <a:r>
              <a:rPr lang="en-US" sz="1350" dirty="0">
                <a:solidFill>
                  <a:schemeClr val="tx1"/>
                </a:solidFill>
              </a:rPr>
              <a:t> / (n</a:t>
            </a:r>
            <a:r>
              <a:rPr lang="en-US" sz="1350" baseline="-40000" dirty="0">
                <a:solidFill>
                  <a:schemeClr val="tx1"/>
                </a:solidFill>
              </a:rPr>
              <a:t>opp</a:t>
            </a:r>
            <a:r>
              <a:rPr lang="en-US" sz="1350" dirty="0">
                <a:solidFill>
                  <a:schemeClr val="tx1"/>
                </a:solidFill>
              </a:rPr>
              <a:t> + 1), R</a:t>
            </a:r>
            <a:r>
              <a:rPr lang="en-US" sz="1350" baseline="30000" dirty="0">
                <a:solidFill>
                  <a:schemeClr val="tx1"/>
                </a:solidFill>
              </a:rPr>
              <a:t>S</a:t>
            </a:r>
            <a:r>
              <a:rPr lang="en-US" sz="1350" dirty="0">
                <a:solidFill>
                  <a:schemeClr val="tx1"/>
                </a:solidFill>
              </a:rPr>
              <a:t> = c R</a:t>
            </a:r>
            <a:r>
              <a:rPr lang="en-US" sz="1350" baseline="-40000" dirty="0">
                <a:solidFill>
                  <a:schemeClr val="tx1"/>
                </a:solidFill>
              </a:rPr>
              <a:t>opp</a:t>
            </a:r>
            <a:r>
              <a:rPr lang="en-US" sz="1350" dirty="0">
                <a:solidFill>
                  <a:schemeClr val="tx1"/>
                </a:solidFill>
              </a:rPr>
              <a:t> + (1 − c)</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4206240"/>
          <a:ext cx="5760720" cy="914400"/>
        </p:xfrm>
        <a:graphic>
          <a:graphicData uri="http://schemas.openxmlformats.org/drawingml/2006/table">
            <a:tbl>
              <a:tblPr/>
              <a:tblGrid>
                <a:gridCol w="1463040"/>
                <a:gridCol w="4297680"/>
              </a:tblGrid>
              <a:tr h="329184">
                <a:tc>
                  <a:txBody>
                    <a:bodyPr/>
                    <a:lstStyle/>
                    <a:p>
                      <a:pPr indent="0" marL="0">
                        <a:buNone/>
                      </a:pPr>
                      <a:r>
                        <a:rPr lang="en-US" sz="1200" b="1" dirty="0">
                          <a:solidFill>
                            <a:schemeClr val="bg1"/>
                          </a:solidFill>
                        </a:rPr>
                        <a:t>vs CA</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Result</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329184">
                <a:tc>
                  <a:txBody>
                    <a:bodyPr/>
                    <a:lstStyle/>
                    <a:p>
                      <a:pPr indent="0" marL="0">
                        <a:buNone/>
                      </a:pPr>
                      <a:r>
                        <a:rPr lang="en-US" sz="1200" b="1" dirty="0">
                          <a:solidFill>
                            <a:schemeClr val="tx1"/>
                          </a:solidFill>
                        </a:rPr>
                        <a:t>IPA</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200" dirty="0">
                          <a:solidFill>
                            <a:schemeClr val="tx1"/>
                          </a:solidFill>
                        </a:rPr>
                        <a:t>vehicle0 G-mean −0.020, ecoli2 +0.011, diabetes 0</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29184">
                <a:tc>
                  <a:txBody>
                    <a:bodyPr/>
                    <a:lstStyle/>
                    <a:p>
                      <a:pPr indent="0" marL="0">
                        <a:buNone/>
                      </a:pPr>
                      <a:r>
                        <a:rPr lang="en-US" sz="1200" b="1" dirty="0">
                          <a:solidFill>
                            <a:schemeClr val="tx1"/>
                          </a:solidFill>
                        </a:rPr>
                        <a:t>Topo, 51 runs</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200" dirty="0">
                          <a:solidFill>
                            <a:schemeClr val="tx1"/>
                          </a:solidFill>
                        </a:rPr>
                        <a:t>macro F1 wins/ties/losses 16 / 15 / 20, mean −0.001</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29184">
                <a:tc>
                  <a:txBody>
                    <a:bodyPr/>
                    <a:lstStyle/>
                    <a:p>
                      <a:pPr indent="0" marL="0">
                        <a:buNone/>
                      </a:pPr>
                      <a:r>
                        <a:rPr lang="en-US" sz="1200" b="1" dirty="0">
                          <a:solidFill>
                            <a:schemeClr val="tx1"/>
                          </a:solidFill>
                        </a:rPr>
                        <a:t>SA-Topo, 51 runs</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200" dirty="0">
                          <a:solidFill>
                            <a:schemeClr val="tx1"/>
                          </a:solidFill>
                        </a:rPr>
                        <a:t>15 / 20 / 16, mean +0.003; erased Topo's best win</a:t>
                      </a:r>
                      <a:endParaRPr lang="en-US" sz="12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pic>
        <p:nvPicPr>
          <p:cNvPr id="11" name="Image 0" descr="Opposite-class links between balls, mutual links solid">    </p:cNvPr>
          <p:cNvPicPr>
            <a:picLocks noChangeAspect="1"/>
          </p:cNvPicPr>
          <p:nvPr/>
        </p:nvPicPr>
        <p:blipFill>
          <a:blip r:embed="rId1"/>
          <a:stretch>
            <a:fillRect/>
          </a:stretch>
        </p:blipFill>
        <p:spPr>
          <a:xfrm>
            <a:off x="6537960" y="1417320"/>
            <a:ext cx="5074920" cy="3830589"/>
          </a:xfrm>
          <a:prstGeom prst="rect">
            <a:avLst/>
          </a:prstGeom>
        </p:spPr>
      </p:pic>
      <p:sp>
        <p:nvSpPr>
          <p:cNvPr id="12"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3"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4" name="Text 10"/>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Neither IPA nor Topo beat CA consistently, so the neighbourhood family was closed.</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BALL WEIGHTING MODELS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Ten weighting ideas, one survivor</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103120"/>
                <a:gridCol w="3108960"/>
                <a:gridCol w="3749040"/>
                <a:gridCol w="2103120"/>
              </a:tblGrid>
              <a:tr h="438912">
                <a:tc>
                  <a:txBody>
                    <a:bodyPr/>
                    <a:lstStyle/>
                    <a:p>
                      <a:pPr indent="0" marL="0">
                        <a:buNone/>
                      </a:pPr>
                      <a:r>
                        <a:rPr lang="en-US" sz="1400" b="1" dirty="0">
                          <a:solidFill>
                            <a:schemeClr val="bg1"/>
                          </a:solidFill>
                        </a:rPr>
                        <a:t>Model</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What gets more weight</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Best evidence</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Verdict</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438912">
                <a:tc>
                  <a:txBody>
                    <a:bodyPr/>
                    <a:lstStyle/>
                    <a:p>
                      <a:pPr indent="0" marL="0">
                        <a:buNone/>
                      </a:pPr>
                      <a:r>
                        <a:rPr lang="en-US" sz="1400" b="1" dirty="0">
                          <a:solidFill>
                            <a:schemeClr val="tx1"/>
                          </a:solidFill>
                        </a:rPr>
                        <a:t>CW</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balls of the smaller class</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vehicle0 minority recall 0.33 → 0.40</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b="1" dirty="0">
                          <a:solidFill>
                            <a:schemeClr val="accent1"/>
                          </a:solidFill>
                        </a:rPr>
                        <a:t>kept as control</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38912">
                <a:tc>
                  <a:txBody>
                    <a:bodyPr/>
                    <a:lstStyle/>
                    <a:p>
                      <a:pPr indent="0" marL="0">
                        <a:buNone/>
                      </a:pPr>
                      <a:r>
                        <a:rPr lang="en-US" sz="1400" b="1" dirty="0">
                          <a:solidFill>
                            <a:schemeClr val="tx1"/>
                          </a:solidFill>
                        </a:rPr>
                        <a:t>R</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pure, compact balls</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reliability ≈ 1, no change</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b="1" dirty="0">
                          <a:solidFill>
                            <a:schemeClr val="accent2"/>
                          </a:solidFill>
                        </a:rPr>
                        <a:t>rejected</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38912">
                <a:tc>
                  <a:txBody>
                    <a:bodyPr/>
                    <a:lstStyle/>
                    <a:p>
                      <a:pPr indent="0" marL="0">
                        <a:buNone/>
                      </a:pPr>
                      <a:r>
                        <a:rPr lang="en-US" sz="1400" b="1" dirty="0">
                          <a:solidFill>
                            <a:schemeClr val="tx1"/>
                          </a:solidFill>
                        </a:rPr>
                        <a:t>CR</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class × reliability</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CR − CW ≤ 0 on every dataset</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b="1" dirty="0">
                          <a:solidFill>
                            <a:schemeClr val="accent2"/>
                          </a:solidFill>
                        </a:rPr>
                        <a:t>rejected</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38912">
                <a:tc>
                  <a:txBody>
                    <a:bodyPr/>
                    <a:lstStyle/>
                    <a:p>
                      <a:pPr indent="0" marL="0">
                        <a:buNone/>
                      </a:pPr>
                      <a:r>
                        <a:rPr lang="en-US" sz="1400" b="1" dirty="0">
                          <a:solidFill>
                            <a:schemeClr val="tx1"/>
                          </a:solidFill>
                        </a:rPr>
                        <a:t>BMRU</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balls far from the margin</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98% of balls flagged</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b="1" dirty="0">
                          <a:solidFill>
                            <a:schemeClr val="accent2"/>
                          </a:solidFill>
                        </a:rPr>
                        <a:t>rejected</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38912">
                <a:tc>
                  <a:txBody>
                    <a:bodyPr/>
                    <a:lstStyle/>
                    <a:p>
                      <a:pPr indent="0" marL="0">
                        <a:buNone/>
                      </a:pPr>
                      <a:r>
                        <a:rPr lang="en-US" sz="1400" b="1" dirty="0">
                          <a:solidFill>
                            <a:schemeClr val="tx1"/>
                          </a:solidFill>
                        </a:rPr>
                        <a:t>Overlap (OBRU)</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overlapping minority balls</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overlap 0 for 61–100% of balls</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b="1" dirty="0">
                          <a:solidFill>
                            <a:schemeClr val="accent2"/>
                          </a:solidFill>
                        </a:rPr>
                        <a:t>rejected</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38912">
                <a:tc>
                  <a:txBody>
                    <a:bodyPr/>
                    <a:lstStyle/>
                    <a:p>
                      <a:pPr indent="0" marL="0">
                        <a:buNone/>
                      </a:pPr>
                      <a:r>
                        <a:rPr lang="en-US" sz="1400" b="1" dirty="0">
                          <a:solidFill>
                            <a:schemeClr val="tx1"/>
                          </a:solidFill>
                        </a:rPr>
                        <a:t>CBCM: CA, CC</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contested balls</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vehicle0 only; 7 of 17 datasets</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b="1" dirty="0">
                          <a:solidFill>
                            <a:schemeClr val="accent2"/>
                          </a:solidFill>
                        </a:rPr>
                        <a:t>reference only</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38912">
                <a:tc>
                  <a:txBody>
                    <a:bodyPr/>
                    <a:lstStyle/>
                    <a:p>
                      <a:pPr indent="0" marL="0">
                        <a:buNone/>
                      </a:pPr>
                      <a:r>
                        <a:rPr lang="en-US" sz="1400" b="1" dirty="0">
                          <a:solidFill>
                            <a:schemeClr val="tx1"/>
                          </a:solidFill>
                        </a:rPr>
                        <a:t>IPA</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contested, not isolated</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mixed vs CA</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b="1" dirty="0">
                          <a:solidFill>
                            <a:schemeClr val="accent2"/>
                          </a:solidFill>
                        </a:rPr>
                        <a:t>rejected</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38912">
                <a:tc>
                  <a:txBody>
                    <a:bodyPr/>
                    <a:lstStyle/>
                    <a:p>
                      <a:pPr indent="0" marL="0">
                        <a:buNone/>
                      </a:pPr>
                      <a:r>
                        <a:rPr lang="en-US" sz="1400" b="1" dirty="0">
                          <a:solidFill>
                            <a:schemeClr val="tx1"/>
                          </a:solidFill>
                        </a:rPr>
                        <a:t>Topo, SA-Topo</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contested with mutual links</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16 / 15 / 20 vs CA</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b="1" dirty="0">
                          <a:solidFill>
                            <a:schemeClr val="accent2"/>
                          </a:solidFill>
                        </a:rPr>
                        <a:t>not promoted</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sp>
        <p:nvSpPr>
          <p:cNvPr id="5"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6"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7" name="Text 4"/>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Only class weighting survived, which is why the fuzzy study compared every membership against a fair baseline.</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GRANULATION AND COMPRESSION</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Changing how balls are split did not help either</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148840"/>
                <a:gridCol w="3291840"/>
                <a:gridCol w="3886200"/>
                <a:gridCol w="1737360"/>
              </a:tblGrid>
              <a:tr h="411480">
                <a:tc>
                  <a:txBody>
                    <a:bodyPr/>
                    <a:lstStyle/>
                    <a:p>
                      <a:pPr indent="0" marL="0">
                        <a:buNone/>
                      </a:pPr>
                      <a:r>
                        <a:rPr lang="en-US" sz="1350" b="1" dirty="0">
                          <a:solidFill>
                            <a:schemeClr val="bg1"/>
                          </a:solidFill>
                        </a:rPr>
                        <a:t>Variant</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350" b="1" dirty="0">
                          <a:solidFill>
                            <a:schemeClr val="bg1"/>
                          </a:solidFill>
                        </a:rPr>
                        <a:t>Idea</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350" b="1" dirty="0">
                          <a:solidFill>
                            <a:schemeClr val="bg1"/>
                          </a:solidFill>
                        </a:rPr>
                        <a:t>Result</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350" b="1" dirty="0">
                          <a:solidFill>
                            <a:schemeClr val="bg1"/>
                          </a:solidFill>
                        </a:rPr>
                        <a:t>Verdict</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658368">
                <a:tc>
                  <a:txBody>
                    <a:bodyPr/>
                    <a:lstStyle/>
                    <a:p>
                      <a:pPr indent="0" marL="0">
                        <a:buNone/>
                      </a:pPr>
                      <a:r>
                        <a:rPr lang="en-US" sz="1350" b="1" dirty="0">
                          <a:solidFill>
                            <a:schemeClr val="tx1"/>
                          </a:solidFill>
                        </a:rPr>
                        <a:t>Split-utility gate</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50" dirty="0">
                          <a:solidFill>
                            <a:schemeClr val="tx1"/>
                          </a:solidFill>
                        </a:rPr>
                        <a:t>refuse 2-means splits that peel off a few minority points</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50" dirty="0">
                          <a:solidFill>
                            <a:schemeClr val="tx1"/>
                          </a:solidFill>
                        </a:rPr>
                        <a:t>minority survival 0.58 → 0.99, but macro F1 −0.014</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50" b="1" dirty="0">
                          <a:solidFill>
                            <a:schemeClr val="accent2"/>
                          </a:solidFill>
                        </a:rPr>
                        <a:t>rejected</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658368">
                <a:tc>
                  <a:txBody>
                    <a:bodyPr/>
                    <a:lstStyle/>
                    <a:p>
                      <a:pPr indent="0" marL="0">
                        <a:buNone/>
                      </a:pPr>
                      <a:r>
                        <a:rPr lang="en-US" sz="1350" b="1" dirty="0">
                          <a:solidFill>
                            <a:schemeClr val="tx1"/>
                          </a:solidFill>
                        </a:rPr>
                        <a:t>Online entropy order</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50" dirty="0">
                          <a:solidFill>
                            <a:schemeClr val="tx1"/>
                          </a:solidFill>
                        </a:rPr>
                        <a:t>always split the most mixed ball first</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50" dirty="0">
                          <a:solidFill>
                            <a:schemeClr val="tx1"/>
                          </a:solidFill>
                        </a:rPr>
                        <a:t>F1 0.613 vs 0.597, but 52% of runs collapse</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50" b="1" dirty="0">
                          <a:solidFill>
                            <a:schemeClr val="accent2"/>
                          </a:solidFill>
                        </a:rPr>
                        <a:t>rejected</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658368">
                <a:tc>
                  <a:txBody>
                    <a:bodyPr/>
                    <a:lstStyle/>
                    <a:p>
                      <a:pPr indent="0" marL="0">
                        <a:buNone/>
                      </a:pPr>
                      <a:r>
                        <a:rPr lang="en-US" sz="1350" b="1" dirty="0">
                          <a:solidFill>
                            <a:schemeClr val="tx1"/>
                          </a:solidFill>
                        </a:rPr>
                        <a:t>Ball budget</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50" dirty="0">
                          <a:solidFill>
                            <a:schemeClr val="tx1"/>
                          </a:solidFill>
                        </a:rPr>
                        <a:t>stop at a ball count, not a purity</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50" dirty="0">
                          <a:solidFill>
                            <a:schemeClr val="tx1"/>
                          </a:solidFill>
                        </a:rPr>
                        <a:t>best budget F1 0.514 vs 0.597 at purity 0.90</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50" b="1" dirty="0">
                          <a:solidFill>
                            <a:schemeClr val="accent2"/>
                          </a:solidFill>
                        </a:rPr>
                        <a:t>rejected</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658368">
                <a:tc>
                  <a:txBody>
                    <a:bodyPr/>
                    <a:lstStyle/>
                    <a:p>
                      <a:pPr indent="0" marL="0">
                        <a:buNone/>
                      </a:pPr>
                      <a:r>
                        <a:rPr lang="en-US" sz="1350" b="1" dirty="0">
                          <a:solidFill>
                            <a:schemeClr val="tx1"/>
                          </a:solidFill>
                        </a:rPr>
                        <a:t>Ranked compression</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50" dirty="0">
                          <a:solidFill>
                            <a:schemeClr val="tx1"/>
                          </a:solidFill>
                        </a:rPr>
                        <a:t>keep the K most useful balls</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50" dirty="0">
                          <a:solidFill>
                            <a:schemeClr val="tx1"/>
                          </a:solidFill>
                        </a:rPr>
                        <a:t>all ranking rules gave identical scores (likely a bug)</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50" b="1" dirty="0">
                          <a:solidFill>
                            <a:schemeClr val="accent2"/>
                          </a:solidFill>
                        </a:rPr>
                        <a:t>unclear</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658368">
                <a:tc>
                  <a:txBody>
                    <a:bodyPr/>
                    <a:lstStyle/>
                    <a:p>
                      <a:pPr indent="0" marL="0">
                        <a:buNone/>
                      </a:pPr>
                      <a:r>
                        <a:rPr lang="en-US" sz="1350" b="1" dirty="0">
                          <a:solidFill>
                            <a:schemeClr val="tx1"/>
                          </a:solidFill>
                        </a:rPr>
                        <a:t>Validation-chosen K</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50" dirty="0">
                          <a:solidFill>
                            <a:schemeClr val="tx1"/>
                          </a:solidFill>
                        </a:rPr>
                        <a:t>pick K on the validation split</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50" dirty="0">
                          <a:solidFill>
                            <a:schemeClr val="tx1"/>
                          </a:solidFill>
                        </a:rPr>
                        <a:t>+0.039 F1 (p = 0.002), but the control was not matched</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50" b="1" dirty="0">
                          <a:solidFill>
                            <a:schemeClr val="accent2"/>
                          </a:solidFill>
                        </a:rPr>
                        <a:t>overruled</a:t>
                      </a:r>
                      <a:endParaRPr lang="en-US" sz="135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sp>
        <p:nvSpPr>
          <p:cNvPr id="5" name="Text 2"/>
          <p:cNvSpPr txBox="1"/>
          <p:nvPr/>
        </p:nvSpPr>
        <p:spPr>
          <a:xfrm>
            <a:off x="7955280" y="5230368"/>
            <a:ext cx="3017520" cy="201168"/>
          </a:xfrm>
          <a:prstGeom prst="rect">
            <a:avLst/>
          </a:prstGeom>
          <a:noFill/>
          <a:ln/>
        </p:spPr>
        <p:txBody>
          <a:bodyPr wrap="square" lIns="0" tIns="0" rIns="0" bIns="0" rtlCol="0" anchor="t"/>
          <a:lstStyle/>
          <a:p>
            <a:pPr algn="r" indent="0" marL="0">
              <a:buNone/>
            </a:pPr>
            <a:r>
              <a:rPr lang="en-US" sz="1000" dirty="0">
                <a:solidFill>
                  <a:schemeClr val="accent6"/>
                </a:solidFill>
              </a:rPr>
              <a:t>17 datasets × 10 seeds; purity-0.90 builder as reference</a:t>
            </a:r>
            <a:endParaRPr lang="en-US" sz="1000" dirty="0"/>
          </a:p>
        </p:txBody>
      </p:sp>
      <p:sp>
        <p:nvSpPr>
          <p:cNvPr id="6"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7"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8" name="Text 5"/>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Session 4 found that deleting small balls loses 42% of minority points, a problem the fuzzy study came back to.</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GRANULATION AND COMPRESSION</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Session 7: balls help only by compressing the data</a:t>
            </a:r>
            <a:endParaRPr lang="en-US" sz="2800" dirty="0"/>
          </a:p>
        </p:txBody>
      </p:sp>
      <p:graphicFrame>
        <p:nvGraphicFramePr>
          <p:cNvPr id="4" name="Chart 0" descr=""/>
          <p:cNvGraphicFramePr/>
          <p:nvPr/>
        </p:nvGraphicFramePr>
        <p:xfrm>
          <a:off x="548640" y="1417320"/>
          <a:ext cx="6949440" cy="411480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7726680" y="1463040"/>
            <a:ext cx="3886200" cy="4069080"/>
          </a:xfrm>
          <a:prstGeom prst="roundRect">
            <a:avLst>
              <a:gd name="adj" fmla="val 2353"/>
            </a:avLst>
          </a:prstGeom>
          <a:solidFill>
            <a:schemeClr val="bg2"/>
          </a:solidFill>
          <a:ln w="9525">
            <a:solidFill>
              <a:schemeClr val="bg2"/>
            </a:solidFill>
            <a:prstDash val="solid"/>
          </a:ln>
        </p:spPr>
      </p:sp>
      <p:sp>
        <p:nvSpPr>
          <p:cNvPr id="6" name="Text 3"/>
          <p:cNvSpPr txBox="1"/>
          <p:nvPr/>
        </p:nvSpPr>
        <p:spPr>
          <a:xfrm>
            <a:off x="7909560" y="1645920"/>
            <a:ext cx="3566160" cy="3794760"/>
          </a:xfrm>
          <a:prstGeom prst="rect">
            <a:avLst/>
          </a:prstGeom>
          <a:noFill/>
          <a:ln/>
        </p:spPr>
        <p:txBody>
          <a:bodyPr wrap="square" lIns="0" tIns="0" rIns="0" bIns="0" rtlCol="0" anchor="t"/>
          <a:lstStyle/>
          <a:p>
            <a:pPr marL="203200" indent="-203200">
              <a:spcAft>
                <a:spcPts val="1000"/>
              </a:spcAft>
              <a:buSzPct val="100000"/>
              <a:buChar char="•"/>
            </a:pPr>
            <a:r>
              <a:rPr lang="en-US" sz="1400" b="1" dirty="0">
                <a:solidFill>
                  <a:schemeClr val="tx1"/>
                </a:solidFill>
              </a:rPr>
              <a:t>Same points: </a:t>
            </a:r>
            <a:r>
              <a:rPr lang="en-US" sz="1400" dirty="0">
                <a:solidFill>
                  <a:schemeClr val="tx1"/>
                </a:solidFill>
              </a:rPr>
              <a:t>every arm starts from the same sample indices (hash-checked).</a:t>
            </a:r>
            <a:endParaRPr lang="en-US" sz="1400" dirty="0"/>
          </a:p>
          <a:p>
            <a:pPr marL="203200" indent="-203200">
              <a:spcAft>
                <a:spcPts val="1000"/>
              </a:spcAft>
              <a:buSzPct val="100000"/>
              <a:buChar char="•"/>
            </a:pPr>
            <a:r>
              <a:rPr lang="en-US" sz="1400" b="1" dirty="0">
                <a:solidFill>
                  <a:schemeClr val="tx1"/>
                </a:solidFill>
              </a:rPr>
              <a:t>Balls vs single points: </a:t>
            </a:r>
            <a:r>
              <a:rPr lang="en-US" sz="1400" dirty="0">
                <a:solidFill>
                  <a:schemeClr val="tx1"/>
                </a:solidFill>
              </a:rPr>
              <a:t>+0.13 to +0.14 macro F1, Wilcoxon p &lt; 10</a:t>
            </a:r>
            <a:r>
              <a:rPr lang="en-US" sz="1400" baseline="30000" dirty="0">
                <a:solidFill>
                  <a:schemeClr val="tx1"/>
                </a:solidFill>
              </a:rPr>
              <a:t>−57</a:t>
            </a:r>
            <a:r>
              <a:rPr lang="en-US" sz="1400" dirty="0">
                <a:solidFill>
                  <a:schemeClr val="tx1"/>
                </a:solidFill>
              </a:rPr>
              <a:t>.</a:t>
            </a:r>
            <a:endParaRPr lang="en-US" sz="1400" dirty="0"/>
          </a:p>
          <a:p>
            <a:pPr marL="203200" indent="-203200">
              <a:spcAft>
                <a:spcPts val="1000"/>
              </a:spcAft>
              <a:buSzPct val="100000"/>
              <a:buChar char="•"/>
            </a:pPr>
            <a:r>
              <a:rPr lang="en-US" sz="1400" b="1" dirty="0">
                <a:solidFill>
                  <a:schemeClr val="tx1"/>
                </a:solidFill>
              </a:rPr>
              <a:t>Balls vs a stratified sample of the same size: </a:t>
            </a:r>
            <a:r>
              <a:rPr lang="en-US" sz="1400" dirty="0">
                <a:solidFill>
                  <a:schemeClr val="tx1"/>
                </a:solidFill>
              </a:rPr>
              <a:t>0.6179 each.</a:t>
            </a:r>
            <a:endParaRPr lang="en-US" sz="1400" dirty="0"/>
          </a:p>
          <a:p>
            <a:pPr marL="203200" indent="-203200">
              <a:spcAft>
                <a:spcPts val="1000"/>
              </a:spcAft>
              <a:buSzPct val="100000"/>
              <a:buChar char="•"/>
            </a:pPr>
            <a:r>
              <a:rPr lang="en-US" sz="1400" b="1" dirty="0">
                <a:solidFill>
                  <a:schemeClr val="tx1"/>
                </a:solidFill>
              </a:rPr>
              <a:t>Verdict (CASE B): </a:t>
            </a:r>
            <a:r>
              <a:rPr lang="en-US" sz="1400" dirty="0">
                <a:solidFill>
                  <a:schemeClr val="tx1"/>
                </a:solidFill>
              </a:rPr>
              <a:t>no advantage from ball structure beyond sample-level compression and class weights.</a:t>
            </a:r>
            <a:endParaRPr lang="en-US" sz="1400" dirty="0"/>
          </a:p>
        </p:txBody>
      </p:sp>
      <p:sp>
        <p:nvSpPr>
          <p:cNvPr id="7"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8"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9" name="Text 6"/>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A stratified sample of the same size did exactly as well as the balls.</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M0–M3 CLASSIFIER-GUIDED BALLS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Why let the classifier guide ball splitting</a:t>
            </a:r>
            <a:endParaRPr lang="en-US" sz="2800" dirty="0"/>
          </a:p>
        </p:txBody>
      </p:sp>
      <p:sp>
        <p:nvSpPr>
          <p:cNvPr id="4" name="Text 2"/>
          <p:cNvSpPr txBox="1"/>
          <p:nvPr/>
        </p:nvSpPr>
        <p:spPr>
          <a:xfrm>
            <a:off x="548640" y="1463040"/>
            <a:ext cx="4206240" cy="320040"/>
          </a:xfrm>
          <a:prstGeom prst="rect">
            <a:avLst/>
          </a:prstGeom>
          <a:noFill/>
          <a:ln/>
        </p:spPr>
        <p:txBody>
          <a:bodyPr wrap="square" lIns="0" tIns="0" rIns="0" bIns="0" rtlCol="0" anchor="t"/>
          <a:lstStyle/>
          <a:p>
            <a:pPr indent="0" marL="0">
              <a:buNone/>
            </a:pPr>
            <a:r>
              <a:rPr lang="en-US" sz="1600" b="1" dirty="0">
                <a:solidFill>
                  <a:schemeClr val="tx2"/>
                </a:solidFill>
              </a:rPr>
              <a:t>Original pipeline (M0)</a:t>
            </a:r>
            <a:endParaRPr lang="en-US" sz="1600" dirty="0"/>
          </a:p>
        </p:txBody>
      </p:sp>
      <p:sp>
        <p:nvSpPr>
          <p:cNvPr id="5" name="step"/>
          <p:cNvSpPr/>
          <p:nvPr/>
        </p:nvSpPr>
        <p:spPr>
          <a:xfrm>
            <a:off x="548640" y="1874520"/>
            <a:ext cx="4206240" cy="493776"/>
          </a:xfrm>
          <a:prstGeom prst="roundRect">
            <a:avLst>
              <a:gd name="adj" fmla="val 18519"/>
            </a:avLst>
          </a:prstGeom>
          <a:solidFill>
            <a:schemeClr val="bg2"/>
          </a:solidFill>
          <a:ln w="9525">
            <a:solidFill>
              <a:schemeClr val="bg2"/>
            </a:solidFill>
            <a:prstDash val="solid"/>
          </a:ln>
        </p:spPr>
      </p:sp>
      <p:sp>
        <p:nvSpPr>
          <p:cNvPr id="6" name="badge"/>
          <p:cNvSpPr/>
          <p:nvPr/>
        </p:nvSpPr>
        <p:spPr>
          <a:xfrm>
            <a:off x="658368" y="1938528"/>
            <a:ext cx="365760" cy="365760"/>
          </a:xfrm>
          <a:prstGeom prst="ellipse">
            <a:avLst/>
          </a:prstGeom>
          <a:solidFill>
            <a:schemeClr val="accent6"/>
          </a:solidFill>
          <a:ln w="12700">
            <a:solidFill>
              <a:schemeClr val="accent6"/>
            </a:solidFill>
            <a:prstDash val="solid"/>
          </a:ln>
        </p:spPr>
      </p:sp>
      <p:sp>
        <p:nvSpPr>
          <p:cNvPr id="7" name="Text 5"/>
          <p:cNvSpPr txBox="1"/>
          <p:nvPr/>
        </p:nvSpPr>
        <p:spPr>
          <a:xfrm>
            <a:off x="658368" y="193852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6"/>
          <p:cNvSpPr txBox="1"/>
          <p:nvPr/>
        </p:nvSpPr>
        <p:spPr>
          <a:xfrm>
            <a:off x="1143000" y="1874520"/>
            <a:ext cx="3566160" cy="493776"/>
          </a:xfrm>
          <a:prstGeom prst="rect">
            <a:avLst/>
          </a:prstGeom>
          <a:noFill/>
          <a:ln/>
        </p:spPr>
        <p:txBody>
          <a:bodyPr wrap="square" lIns="0" tIns="0" rIns="0" bIns="0" rtlCol="0" anchor="ctr"/>
          <a:lstStyle/>
          <a:p>
            <a:pPr indent="0" marL="0">
              <a:buNone/>
            </a:pPr>
            <a:r>
              <a:rPr lang="en-US" sz="1350" dirty="0">
                <a:solidFill>
                  <a:schemeClr val="tx1"/>
                </a:solidFill>
              </a:rPr>
              <a:t>All training points start in one ball</a:t>
            </a:r>
            <a:endParaRPr lang="en-US" sz="1350" dirty="0"/>
          </a:p>
        </p:txBody>
      </p:sp>
      <p:sp>
        <p:nvSpPr>
          <p:cNvPr id="9" name="step"/>
          <p:cNvSpPr/>
          <p:nvPr/>
        </p:nvSpPr>
        <p:spPr>
          <a:xfrm>
            <a:off x="548640" y="2478024"/>
            <a:ext cx="4206240" cy="493776"/>
          </a:xfrm>
          <a:prstGeom prst="roundRect">
            <a:avLst>
              <a:gd name="adj" fmla="val 18519"/>
            </a:avLst>
          </a:prstGeom>
          <a:solidFill>
            <a:schemeClr val="bg2"/>
          </a:solidFill>
          <a:ln w="9525">
            <a:solidFill>
              <a:schemeClr val="bg2"/>
            </a:solidFill>
            <a:prstDash val="solid"/>
          </a:ln>
        </p:spPr>
      </p:sp>
      <p:sp>
        <p:nvSpPr>
          <p:cNvPr id="10" name="badge"/>
          <p:cNvSpPr/>
          <p:nvPr/>
        </p:nvSpPr>
        <p:spPr>
          <a:xfrm>
            <a:off x="658368" y="2542032"/>
            <a:ext cx="365760" cy="365760"/>
          </a:xfrm>
          <a:prstGeom prst="ellipse">
            <a:avLst/>
          </a:prstGeom>
          <a:solidFill>
            <a:schemeClr val="accent6"/>
          </a:solidFill>
          <a:ln w="12700">
            <a:solidFill>
              <a:schemeClr val="accent6"/>
            </a:solidFill>
            <a:prstDash val="solid"/>
          </a:ln>
        </p:spPr>
      </p:sp>
      <p:sp>
        <p:nvSpPr>
          <p:cNvPr id="11" name="Text 9"/>
          <p:cNvSpPr txBox="1"/>
          <p:nvPr/>
        </p:nvSpPr>
        <p:spPr>
          <a:xfrm>
            <a:off x="658368" y="25420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1143000" y="2478024"/>
            <a:ext cx="3566160" cy="493776"/>
          </a:xfrm>
          <a:prstGeom prst="rect">
            <a:avLst/>
          </a:prstGeom>
          <a:noFill/>
          <a:ln/>
        </p:spPr>
        <p:txBody>
          <a:bodyPr wrap="square" lIns="0" tIns="0" rIns="0" bIns="0" rtlCol="0" anchor="ctr"/>
          <a:lstStyle/>
          <a:p>
            <a:pPr indent="0" marL="0">
              <a:buNone/>
            </a:pPr>
            <a:r>
              <a:rPr lang="en-US" sz="1350" dirty="0">
                <a:solidFill>
                  <a:schemeClr val="tx1"/>
                </a:solidFill>
              </a:rPr>
              <a:t>Compute centre, radius, label, purity</a:t>
            </a:r>
            <a:endParaRPr lang="en-US" sz="1350" dirty="0"/>
          </a:p>
        </p:txBody>
      </p:sp>
      <p:sp>
        <p:nvSpPr>
          <p:cNvPr id="13" name="step"/>
          <p:cNvSpPr/>
          <p:nvPr/>
        </p:nvSpPr>
        <p:spPr>
          <a:xfrm>
            <a:off x="548640" y="3081528"/>
            <a:ext cx="4206240" cy="493776"/>
          </a:xfrm>
          <a:prstGeom prst="roundRect">
            <a:avLst>
              <a:gd name="adj" fmla="val 18519"/>
            </a:avLst>
          </a:prstGeom>
          <a:solidFill>
            <a:schemeClr val="bg2"/>
          </a:solidFill>
          <a:ln w="9525">
            <a:solidFill>
              <a:schemeClr val="bg2"/>
            </a:solidFill>
            <a:prstDash val="solid"/>
          </a:ln>
        </p:spPr>
      </p:sp>
      <p:sp>
        <p:nvSpPr>
          <p:cNvPr id="14" name="badge"/>
          <p:cNvSpPr/>
          <p:nvPr/>
        </p:nvSpPr>
        <p:spPr>
          <a:xfrm>
            <a:off x="658368" y="3145536"/>
            <a:ext cx="365760" cy="365760"/>
          </a:xfrm>
          <a:prstGeom prst="ellipse">
            <a:avLst/>
          </a:prstGeom>
          <a:solidFill>
            <a:schemeClr val="accent6"/>
          </a:solidFill>
          <a:ln w="12700">
            <a:solidFill>
              <a:schemeClr val="accent6"/>
            </a:solidFill>
            <a:prstDash val="solid"/>
          </a:ln>
        </p:spPr>
      </p:sp>
      <p:sp>
        <p:nvSpPr>
          <p:cNvPr id="15" name="Text 13"/>
          <p:cNvSpPr txBox="1"/>
          <p:nvPr/>
        </p:nvSpPr>
        <p:spPr>
          <a:xfrm>
            <a:off x="658368" y="314553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1143000" y="3081528"/>
            <a:ext cx="3566160" cy="493776"/>
          </a:xfrm>
          <a:prstGeom prst="rect">
            <a:avLst/>
          </a:prstGeom>
          <a:noFill/>
          <a:ln/>
        </p:spPr>
        <p:txBody>
          <a:bodyPr wrap="square" lIns="0" tIns="0" rIns="0" bIns="0" rtlCol="0" anchor="ctr"/>
          <a:lstStyle/>
          <a:p>
            <a:pPr indent="0" marL="0">
              <a:buNone/>
            </a:pPr>
            <a:r>
              <a:rPr lang="en-US" sz="1350" dirty="0">
                <a:solidFill>
                  <a:schemeClr val="tx1"/>
                </a:solidFill>
              </a:rPr>
              <a:t>If purity &lt; threshold, split with 2-means</a:t>
            </a:r>
            <a:endParaRPr lang="en-US" sz="1350" dirty="0"/>
          </a:p>
        </p:txBody>
      </p:sp>
      <p:sp>
        <p:nvSpPr>
          <p:cNvPr id="17" name="step"/>
          <p:cNvSpPr/>
          <p:nvPr/>
        </p:nvSpPr>
        <p:spPr>
          <a:xfrm>
            <a:off x="548640" y="3685032"/>
            <a:ext cx="4206240" cy="493776"/>
          </a:xfrm>
          <a:prstGeom prst="roundRect">
            <a:avLst>
              <a:gd name="adj" fmla="val 18519"/>
            </a:avLst>
          </a:prstGeom>
          <a:solidFill>
            <a:schemeClr val="bg2"/>
          </a:solidFill>
          <a:ln w="9525">
            <a:solidFill>
              <a:schemeClr val="bg2"/>
            </a:solidFill>
            <a:prstDash val="solid"/>
          </a:ln>
        </p:spPr>
      </p:sp>
      <p:sp>
        <p:nvSpPr>
          <p:cNvPr id="18" name="badge"/>
          <p:cNvSpPr/>
          <p:nvPr/>
        </p:nvSpPr>
        <p:spPr>
          <a:xfrm>
            <a:off x="658368" y="3749040"/>
            <a:ext cx="365760" cy="365760"/>
          </a:xfrm>
          <a:prstGeom prst="ellipse">
            <a:avLst/>
          </a:prstGeom>
          <a:solidFill>
            <a:schemeClr val="accent6"/>
          </a:solidFill>
          <a:ln w="12700">
            <a:solidFill>
              <a:schemeClr val="accent6"/>
            </a:solidFill>
            <a:prstDash val="solid"/>
          </a:ln>
        </p:spPr>
      </p:sp>
      <p:sp>
        <p:nvSpPr>
          <p:cNvPr id="19" name="Text 17"/>
          <p:cNvSpPr txBox="1"/>
          <p:nvPr/>
        </p:nvSpPr>
        <p:spPr>
          <a:xfrm>
            <a:off x="658368" y="37490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Text 18"/>
          <p:cNvSpPr txBox="1"/>
          <p:nvPr/>
        </p:nvSpPr>
        <p:spPr>
          <a:xfrm>
            <a:off x="1143000" y="3685032"/>
            <a:ext cx="3566160" cy="493776"/>
          </a:xfrm>
          <a:prstGeom prst="rect">
            <a:avLst/>
          </a:prstGeom>
          <a:noFill/>
          <a:ln/>
        </p:spPr>
        <p:txBody>
          <a:bodyPr wrap="square" lIns="0" tIns="0" rIns="0" bIns="0" rtlCol="0" anchor="ctr"/>
          <a:lstStyle/>
          <a:p>
            <a:pPr indent="0" marL="0">
              <a:buNone/>
            </a:pPr>
            <a:r>
              <a:rPr lang="en-US" sz="1350" dirty="0">
                <a:solidFill>
                  <a:schemeClr val="tx1"/>
                </a:solidFill>
              </a:rPr>
              <a:t>Repeat for impure children</a:t>
            </a:r>
            <a:endParaRPr lang="en-US" sz="1350" dirty="0"/>
          </a:p>
        </p:txBody>
      </p:sp>
      <p:sp>
        <p:nvSpPr>
          <p:cNvPr id="21" name="step"/>
          <p:cNvSpPr/>
          <p:nvPr/>
        </p:nvSpPr>
        <p:spPr>
          <a:xfrm>
            <a:off x="548640" y="4288536"/>
            <a:ext cx="4206240" cy="493776"/>
          </a:xfrm>
          <a:prstGeom prst="roundRect">
            <a:avLst>
              <a:gd name="adj" fmla="val 18519"/>
            </a:avLst>
          </a:prstGeom>
          <a:solidFill>
            <a:schemeClr val="bg2"/>
          </a:solidFill>
          <a:ln w="9525">
            <a:solidFill>
              <a:schemeClr val="bg2"/>
            </a:solidFill>
            <a:prstDash val="solid"/>
          </a:ln>
        </p:spPr>
      </p:sp>
      <p:sp>
        <p:nvSpPr>
          <p:cNvPr id="22" name="badge"/>
          <p:cNvSpPr/>
          <p:nvPr/>
        </p:nvSpPr>
        <p:spPr>
          <a:xfrm>
            <a:off x="658368" y="4352544"/>
            <a:ext cx="365760" cy="365760"/>
          </a:xfrm>
          <a:prstGeom prst="ellipse">
            <a:avLst/>
          </a:prstGeom>
          <a:solidFill>
            <a:schemeClr val="accent6"/>
          </a:solidFill>
          <a:ln w="12700">
            <a:solidFill>
              <a:schemeClr val="accent6"/>
            </a:solidFill>
            <a:prstDash val="solid"/>
          </a:ln>
        </p:spPr>
      </p:sp>
      <p:sp>
        <p:nvSpPr>
          <p:cNvPr id="23" name="Text 21"/>
          <p:cNvSpPr txBox="1"/>
          <p:nvPr/>
        </p:nvSpPr>
        <p:spPr>
          <a:xfrm>
            <a:off x="658368" y="4352544"/>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4" name="Text 22"/>
          <p:cNvSpPr txBox="1"/>
          <p:nvPr/>
        </p:nvSpPr>
        <p:spPr>
          <a:xfrm>
            <a:off x="1143000" y="4288536"/>
            <a:ext cx="3566160" cy="493776"/>
          </a:xfrm>
          <a:prstGeom prst="rect">
            <a:avLst/>
          </a:prstGeom>
          <a:noFill/>
          <a:ln/>
        </p:spPr>
        <p:txBody>
          <a:bodyPr wrap="square" lIns="0" tIns="0" rIns="0" bIns="0" rtlCol="0" anchor="ctr"/>
          <a:lstStyle/>
          <a:p>
            <a:pPr indent="0" marL="0">
              <a:buNone/>
            </a:pPr>
            <a:r>
              <a:rPr lang="en-US" sz="1350" dirty="0">
                <a:solidFill>
                  <a:schemeClr val="tx1"/>
                </a:solidFill>
              </a:rPr>
              <a:t>Delete very small balls</a:t>
            </a:r>
            <a:endParaRPr lang="en-US" sz="1350" dirty="0"/>
          </a:p>
        </p:txBody>
      </p:sp>
      <p:sp>
        <p:nvSpPr>
          <p:cNvPr id="25" name="step"/>
          <p:cNvSpPr/>
          <p:nvPr/>
        </p:nvSpPr>
        <p:spPr>
          <a:xfrm>
            <a:off x="548640" y="4892040"/>
            <a:ext cx="4206240" cy="493776"/>
          </a:xfrm>
          <a:prstGeom prst="roundRect">
            <a:avLst>
              <a:gd name="adj" fmla="val 18519"/>
            </a:avLst>
          </a:prstGeom>
          <a:solidFill>
            <a:schemeClr val="bg2"/>
          </a:solidFill>
          <a:ln w="9525">
            <a:solidFill>
              <a:schemeClr val="bg2"/>
            </a:solidFill>
            <a:prstDash val="solid"/>
          </a:ln>
        </p:spPr>
      </p:sp>
      <p:sp>
        <p:nvSpPr>
          <p:cNvPr id="26" name="badge"/>
          <p:cNvSpPr/>
          <p:nvPr/>
        </p:nvSpPr>
        <p:spPr>
          <a:xfrm>
            <a:off x="658368" y="4956048"/>
            <a:ext cx="365760" cy="365760"/>
          </a:xfrm>
          <a:prstGeom prst="ellipse">
            <a:avLst/>
          </a:prstGeom>
          <a:solidFill>
            <a:schemeClr val="accent6"/>
          </a:solidFill>
          <a:ln w="12700">
            <a:solidFill>
              <a:schemeClr val="accent6"/>
            </a:solidFill>
            <a:prstDash val="solid"/>
          </a:ln>
        </p:spPr>
      </p:sp>
      <p:sp>
        <p:nvSpPr>
          <p:cNvPr id="27" name="Text 25"/>
          <p:cNvSpPr txBox="1"/>
          <p:nvPr/>
        </p:nvSpPr>
        <p:spPr>
          <a:xfrm>
            <a:off x="658368" y="495604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8" name="Text 26"/>
          <p:cNvSpPr txBox="1"/>
          <p:nvPr/>
        </p:nvSpPr>
        <p:spPr>
          <a:xfrm>
            <a:off x="1143000" y="4892040"/>
            <a:ext cx="3566160" cy="493776"/>
          </a:xfrm>
          <a:prstGeom prst="rect">
            <a:avLst/>
          </a:prstGeom>
          <a:noFill/>
          <a:ln/>
        </p:spPr>
        <p:txBody>
          <a:bodyPr wrap="square" lIns="0" tIns="0" rIns="0" bIns="0" rtlCol="0" anchor="ctr"/>
          <a:lstStyle/>
          <a:p>
            <a:pPr indent="0" marL="0">
              <a:buNone/>
            </a:pPr>
            <a:r>
              <a:rPr lang="en-US" sz="1350" dirty="0">
                <a:solidFill>
                  <a:schemeClr val="tx1"/>
                </a:solidFill>
              </a:rPr>
              <a:t>Pass [centre, radius, label] to GBLSTSVM</a:t>
            </a:r>
            <a:endParaRPr lang="en-US" sz="1350" dirty="0"/>
          </a:p>
        </p:txBody>
      </p:sp>
      <p:sp>
        <p:nvSpPr>
          <p:cNvPr id="29" name="Text 27"/>
          <p:cNvSpPr txBox="1"/>
          <p:nvPr/>
        </p:nvSpPr>
        <p:spPr>
          <a:xfrm>
            <a:off x="5120640" y="1463040"/>
            <a:ext cx="6492240" cy="320040"/>
          </a:xfrm>
          <a:prstGeom prst="rect">
            <a:avLst/>
          </a:prstGeom>
          <a:noFill/>
          <a:ln/>
        </p:spPr>
        <p:txBody>
          <a:bodyPr wrap="square" lIns="0" tIns="0" rIns="0" bIns="0" rtlCol="0" anchor="t"/>
          <a:lstStyle/>
          <a:p>
            <a:pPr indent="0" marL="0">
              <a:buNone/>
            </a:pPr>
            <a:r>
              <a:rPr lang="en-US" sz="1600" b="1" dirty="0">
                <a:solidFill>
                  <a:schemeClr val="tx2"/>
                </a:solidFill>
              </a:rPr>
              <a:t>What it cannot see</a:t>
            </a:r>
            <a:endParaRPr lang="en-US" sz="1600" dirty="0"/>
          </a:p>
        </p:txBody>
      </p:sp>
      <p:sp>
        <p:nvSpPr>
          <p:cNvPr id="30" name="card"/>
          <p:cNvSpPr/>
          <p:nvPr/>
        </p:nvSpPr>
        <p:spPr>
          <a:xfrm>
            <a:off x="5120640" y="1874520"/>
            <a:ext cx="6492240" cy="804672"/>
          </a:xfrm>
          <a:prstGeom prst="roundRect">
            <a:avLst>
              <a:gd name="adj" fmla="val 11364"/>
            </a:avLst>
          </a:prstGeom>
          <a:solidFill>
            <a:schemeClr val="bg2"/>
          </a:solidFill>
          <a:ln w="9525">
            <a:solidFill>
              <a:schemeClr val="bg2"/>
            </a:solidFill>
            <a:prstDash val="solid"/>
          </a:ln>
        </p:spPr>
      </p:sp>
      <p:sp>
        <p:nvSpPr>
          <p:cNvPr id="31" name="Text 29"/>
          <p:cNvSpPr txBox="1"/>
          <p:nvPr/>
        </p:nvSpPr>
        <p:spPr>
          <a:xfrm>
            <a:off x="5303520" y="1938528"/>
            <a:ext cx="6172200" cy="694944"/>
          </a:xfrm>
          <a:prstGeom prst="rect">
            <a:avLst/>
          </a:prstGeom>
          <a:noFill/>
          <a:ln/>
        </p:spPr>
        <p:txBody>
          <a:bodyPr wrap="square" lIns="0" tIns="0" rIns="0" bIns="0" rtlCol="0" anchor="t"/>
          <a:lstStyle/>
          <a:p>
            <a:pPr indent="0" marL="0">
              <a:buNone/>
            </a:pPr>
            <a:r>
              <a:rPr lang="en-US" sz="1350" b="1" dirty="0">
                <a:solidFill>
                  <a:schemeClr val="accent2"/>
                </a:solidFill>
              </a:rPr>
              <a:t>Classifier-blind</a:t>
            </a:r>
            <a:endParaRPr lang="en-US" sz="1350" dirty="0"/>
          </a:p>
          <a:p>
            <a:pPr indent="0" marL="0">
              <a:buNone/>
            </a:pPr>
            <a:r>
              <a:rPr lang="en-US" sz="1350" dirty="0">
                <a:solidFill>
                  <a:schemeClr val="tx1"/>
                </a:solidFill>
              </a:rPr>
              <a:t>Two balls of equal purity get the same treatment, even if one sits on the decision boundary.</a:t>
            </a:r>
            <a:endParaRPr lang="en-US" sz="1350" dirty="0"/>
          </a:p>
        </p:txBody>
      </p:sp>
      <p:sp>
        <p:nvSpPr>
          <p:cNvPr id="32" name="card"/>
          <p:cNvSpPr/>
          <p:nvPr/>
        </p:nvSpPr>
        <p:spPr>
          <a:xfrm>
            <a:off x="5120640" y="2779776"/>
            <a:ext cx="6492240" cy="804672"/>
          </a:xfrm>
          <a:prstGeom prst="roundRect">
            <a:avLst>
              <a:gd name="adj" fmla="val 11364"/>
            </a:avLst>
          </a:prstGeom>
          <a:solidFill>
            <a:schemeClr val="bg2"/>
          </a:solidFill>
          <a:ln w="9525">
            <a:solidFill>
              <a:schemeClr val="bg2"/>
            </a:solidFill>
            <a:prstDash val="solid"/>
          </a:ln>
        </p:spPr>
      </p:sp>
      <p:sp>
        <p:nvSpPr>
          <p:cNvPr id="33" name="Text 31"/>
          <p:cNvSpPr txBox="1"/>
          <p:nvPr/>
        </p:nvSpPr>
        <p:spPr>
          <a:xfrm>
            <a:off x="5303520" y="2843784"/>
            <a:ext cx="6172200" cy="694944"/>
          </a:xfrm>
          <a:prstGeom prst="rect">
            <a:avLst/>
          </a:prstGeom>
          <a:noFill/>
          <a:ln/>
        </p:spPr>
        <p:txBody>
          <a:bodyPr wrap="square" lIns="0" tIns="0" rIns="0" bIns="0" rtlCol="0" anchor="t"/>
          <a:lstStyle/>
          <a:p>
            <a:pPr indent="0" marL="0">
              <a:buNone/>
            </a:pPr>
            <a:r>
              <a:rPr lang="en-US" sz="1350" b="1" dirty="0">
                <a:solidFill>
                  <a:schemeClr val="accent2"/>
                </a:solidFill>
              </a:rPr>
              <a:t>Pure boundary balls are ignored</a:t>
            </a:r>
            <a:endParaRPr lang="en-US" sz="1350" dirty="0"/>
          </a:p>
          <a:p>
            <a:pPr indent="0" marL="0">
              <a:buNone/>
            </a:pPr>
            <a:r>
              <a:rPr lang="en-US" sz="1350" dirty="0">
                <a:solidFill>
                  <a:schemeClr val="tx1"/>
                </a:solidFill>
              </a:rPr>
              <a:t>A first score multiplied entropy by the boundary signal, so a pure ball always scored 0.</a:t>
            </a:r>
            <a:endParaRPr lang="en-US" sz="1350" dirty="0"/>
          </a:p>
        </p:txBody>
      </p:sp>
      <p:sp>
        <p:nvSpPr>
          <p:cNvPr id="34" name="card"/>
          <p:cNvSpPr/>
          <p:nvPr/>
        </p:nvSpPr>
        <p:spPr>
          <a:xfrm>
            <a:off x="5120640" y="3685032"/>
            <a:ext cx="6492240" cy="804672"/>
          </a:xfrm>
          <a:prstGeom prst="roundRect">
            <a:avLst>
              <a:gd name="adj" fmla="val 11364"/>
            </a:avLst>
          </a:prstGeom>
          <a:solidFill>
            <a:schemeClr val="bg2"/>
          </a:solidFill>
          <a:ln w="9525">
            <a:solidFill>
              <a:schemeClr val="bg2"/>
            </a:solidFill>
            <a:prstDash val="solid"/>
          </a:ln>
        </p:spPr>
      </p:sp>
      <p:sp>
        <p:nvSpPr>
          <p:cNvPr id="35" name="Text 33"/>
          <p:cNvSpPr txBox="1"/>
          <p:nvPr/>
        </p:nvSpPr>
        <p:spPr>
          <a:xfrm>
            <a:off x="5303520" y="3749040"/>
            <a:ext cx="6172200" cy="694944"/>
          </a:xfrm>
          <a:prstGeom prst="rect">
            <a:avLst/>
          </a:prstGeom>
          <a:noFill/>
          <a:ln/>
        </p:spPr>
        <p:txBody>
          <a:bodyPr wrap="square" lIns="0" tIns="0" rIns="0" bIns="0" rtlCol="0" anchor="t"/>
          <a:lstStyle/>
          <a:p>
            <a:pPr indent="0" marL="0">
              <a:buNone/>
            </a:pPr>
            <a:r>
              <a:rPr lang="en-US" sz="1350" b="1" dirty="0">
                <a:solidFill>
                  <a:schemeClr val="accent2"/>
                </a:solidFill>
              </a:rPr>
              <a:t>Weights were never used</a:t>
            </a:r>
            <a:endParaRPr lang="en-US" sz="1350" dirty="0"/>
          </a:p>
          <a:p>
            <a:pPr indent="0" marL="0">
              <a:buNone/>
            </a:pPr>
            <a:r>
              <a:rPr lang="en-US" sz="1350" dirty="0">
                <a:solidFill>
                  <a:schemeClr val="tx1"/>
                </a:solidFill>
              </a:rPr>
              <a:t>Reliability values were computed and stored, but the solver still saw only centre, radius and label.</a:t>
            </a:r>
            <a:endParaRPr lang="en-US" sz="1350" dirty="0"/>
          </a:p>
        </p:txBody>
      </p:sp>
      <p:sp>
        <p:nvSpPr>
          <p:cNvPr id="36" name="card"/>
          <p:cNvSpPr/>
          <p:nvPr/>
        </p:nvSpPr>
        <p:spPr>
          <a:xfrm>
            <a:off x="5120640" y="4590288"/>
            <a:ext cx="6492240" cy="804672"/>
          </a:xfrm>
          <a:prstGeom prst="roundRect">
            <a:avLst>
              <a:gd name="adj" fmla="val 11364"/>
            </a:avLst>
          </a:prstGeom>
          <a:solidFill>
            <a:schemeClr val="bg2"/>
          </a:solidFill>
          <a:ln w="9525">
            <a:solidFill>
              <a:schemeClr val="bg2"/>
            </a:solidFill>
            <a:prstDash val="solid"/>
          </a:ln>
        </p:spPr>
      </p:sp>
      <p:sp>
        <p:nvSpPr>
          <p:cNvPr id="37" name="Text 35"/>
          <p:cNvSpPr txBox="1"/>
          <p:nvPr/>
        </p:nvSpPr>
        <p:spPr>
          <a:xfrm>
            <a:off x="5303520" y="4654296"/>
            <a:ext cx="6172200" cy="694944"/>
          </a:xfrm>
          <a:prstGeom prst="rect">
            <a:avLst/>
          </a:prstGeom>
          <a:noFill/>
          <a:ln/>
        </p:spPr>
        <p:txBody>
          <a:bodyPr wrap="square" lIns="0" tIns="0" rIns="0" bIns="0" rtlCol="0" anchor="t"/>
          <a:lstStyle/>
          <a:p>
            <a:pPr indent="0" marL="0">
              <a:buNone/>
            </a:pPr>
            <a:r>
              <a:rPr lang="en-US" sz="1350" b="1" dirty="0">
                <a:solidFill>
                  <a:schemeClr val="accent2"/>
                </a:solidFill>
              </a:rPr>
              <a:t>Thresholds do not transfer</a:t>
            </a:r>
            <a:endParaRPr lang="en-US" sz="1350" dirty="0"/>
          </a:p>
          <a:p>
            <a:pPr indent="0" marL="0">
              <a:buNone/>
            </a:pPr>
            <a:r>
              <a:rPr lang="en-US" sz="1350" dirty="0">
                <a:solidFill>
                  <a:schemeClr val="tx1"/>
                </a:solidFill>
              </a:rPr>
              <a:t>A fixed score threshold such as 0.05 is too strict on one dataset and too loose on another.</a:t>
            </a:r>
            <a:endParaRPr lang="en-US" sz="1350" dirty="0"/>
          </a:p>
        </p:txBody>
      </p:sp>
      <p:sp>
        <p:nvSpPr>
          <p:cNvPr id="38"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39"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40" name="Text 38"/>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Purity alone cannot tell an easy interior ball from a ball on the decision boundary.</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M0–M3 CLASSIFIER-GUIDED BALLS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M1: split the balls the current planes are unsure about</a:t>
            </a:r>
            <a:endParaRPr lang="en-US" sz="2800" dirty="0"/>
          </a:p>
        </p:txBody>
      </p:sp>
      <p:pic>
        <p:nvPicPr>
          <p:cNvPr id="4" name="Image 0" descr="Coarse balls with provisional planes, and the balls after margin-guided refinement">    </p:cNvPr>
          <p:cNvPicPr>
            <a:picLocks noChangeAspect="1"/>
          </p:cNvPicPr>
          <p:nvPr/>
        </p:nvPicPr>
        <p:blipFill>
          <a:blip r:embed="rId1"/>
          <a:stretch>
            <a:fillRect/>
          </a:stretch>
        </p:blipFill>
        <p:spPr>
          <a:xfrm>
            <a:off x="548640" y="1417320"/>
            <a:ext cx="7086600" cy="2791253"/>
          </a:xfrm>
          <a:prstGeom prst="rect">
            <a:avLst/>
          </a:prstGeom>
        </p:spPr>
      </p:pic>
      <p:sp>
        <p:nvSpPr>
          <p:cNvPr id="5" name="Text 2"/>
          <p:cNvSpPr txBox="1"/>
          <p:nvPr/>
        </p:nvSpPr>
        <p:spPr>
          <a:xfrm>
            <a:off x="548640" y="4315968"/>
            <a:ext cx="7086600" cy="274320"/>
          </a:xfrm>
          <a:prstGeom prst="rect">
            <a:avLst/>
          </a:prstGeom>
          <a:noFill/>
          <a:ln/>
        </p:spPr>
        <p:txBody>
          <a:bodyPr wrap="square" lIns="0" tIns="0" rIns="0" bIns="0" rtlCol="0" anchor="t"/>
          <a:lstStyle/>
          <a:p>
            <a:pPr indent="0" marL="0">
              <a:buNone/>
            </a:pPr>
            <a:r>
              <a:rPr lang="en-US" sz="1200" i="1" dirty="0">
                <a:solidFill>
                  <a:schemeClr val="accent6"/>
                </a:solidFill>
              </a:rPr>
              <a:t>Two moons, n = 400, noise 0.25. 6 coarse balls become 30 after 7 rounds; 24 of 32 proposed splits were kept.</a:t>
            </a:r>
            <a:endParaRPr lang="en-US" sz="1200" dirty="0"/>
          </a:p>
        </p:txBody>
      </p:sp>
      <p:sp>
        <p:nvSpPr>
          <p:cNvPr id="6" name="loop-step"/>
          <p:cNvSpPr/>
          <p:nvPr/>
        </p:nvSpPr>
        <p:spPr>
          <a:xfrm>
            <a:off x="548640" y="4754880"/>
            <a:ext cx="1298448" cy="685800"/>
          </a:xfrm>
          <a:prstGeom prst="roundRect">
            <a:avLst>
              <a:gd name="adj" fmla="val 13333"/>
            </a:avLst>
          </a:prstGeom>
          <a:solidFill>
            <a:schemeClr val="bg2"/>
          </a:solidFill>
          <a:ln w="9525">
            <a:solidFill>
              <a:schemeClr val="bg2"/>
            </a:solidFill>
            <a:prstDash val="solid"/>
          </a:ln>
        </p:spPr>
      </p:sp>
      <p:sp>
        <p:nvSpPr>
          <p:cNvPr id="7" name="Text 4"/>
          <p:cNvSpPr txBox="1"/>
          <p:nvPr/>
        </p:nvSpPr>
        <p:spPr>
          <a:xfrm>
            <a:off x="603504" y="4754880"/>
            <a:ext cx="1188720" cy="685800"/>
          </a:xfrm>
          <a:prstGeom prst="rect">
            <a:avLst/>
          </a:prstGeom>
          <a:noFill/>
          <a:ln/>
        </p:spPr>
        <p:txBody>
          <a:bodyPr wrap="square" lIns="0" tIns="0" rIns="0" bIns="0" rtlCol="0" anchor="ctr"/>
          <a:lstStyle/>
          <a:p>
            <a:pPr algn="ctr" indent="0" marL="0">
              <a:buNone/>
            </a:pPr>
            <a:r>
              <a:rPr lang="en-US" sz="1250" b="1" dirty="0">
                <a:solidFill>
                  <a:schemeClr val="tx2"/>
                </a:solidFill>
              </a:rPr>
              <a:t>Coarse balls</a:t>
            </a:r>
            <a:endParaRPr lang="en-US" sz="1250" dirty="0"/>
          </a:p>
        </p:txBody>
      </p:sp>
      <p:sp>
        <p:nvSpPr>
          <p:cNvPr id="8" name="Text 5"/>
          <p:cNvSpPr txBox="1"/>
          <p:nvPr/>
        </p:nvSpPr>
        <p:spPr>
          <a:xfrm>
            <a:off x="1847088" y="4754880"/>
            <a:ext cx="137160" cy="685800"/>
          </a:xfrm>
          <a:prstGeom prst="rect">
            <a:avLst/>
          </a:prstGeom>
          <a:noFill/>
          <a:ln/>
        </p:spPr>
        <p:txBody>
          <a:bodyPr wrap="square" lIns="0" tIns="0" rIns="0" bIns="0" rtlCol="0" anchor="ctr"/>
          <a:lstStyle/>
          <a:p>
            <a:pPr algn="ctr" indent="0" marL="0">
              <a:buNone/>
            </a:pPr>
            <a:r>
              <a:rPr lang="en-US" sz="1800" b="1" dirty="0">
                <a:solidFill>
                  <a:schemeClr val="accent6"/>
                </a:solidFill>
              </a:rPr>
              <a:t>›</a:t>
            </a:r>
            <a:endParaRPr lang="en-US" sz="1800" dirty="0"/>
          </a:p>
        </p:txBody>
      </p:sp>
      <p:sp>
        <p:nvSpPr>
          <p:cNvPr id="9" name="loop-step"/>
          <p:cNvSpPr/>
          <p:nvPr/>
        </p:nvSpPr>
        <p:spPr>
          <a:xfrm>
            <a:off x="1984248" y="4754880"/>
            <a:ext cx="1298448" cy="685800"/>
          </a:xfrm>
          <a:prstGeom prst="roundRect">
            <a:avLst>
              <a:gd name="adj" fmla="val 13333"/>
            </a:avLst>
          </a:prstGeom>
          <a:solidFill>
            <a:schemeClr val="bg2"/>
          </a:solidFill>
          <a:ln w="9525">
            <a:solidFill>
              <a:schemeClr val="bg2"/>
            </a:solidFill>
            <a:prstDash val="solid"/>
          </a:ln>
        </p:spPr>
      </p:sp>
      <p:sp>
        <p:nvSpPr>
          <p:cNvPr id="10" name="Text 7"/>
          <p:cNvSpPr txBox="1"/>
          <p:nvPr/>
        </p:nvSpPr>
        <p:spPr>
          <a:xfrm>
            <a:off x="2039112" y="4754880"/>
            <a:ext cx="1188720" cy="685800"/>
          </a:xfrm>
          <a:prstGeom prst="rect">
            <a:avLst/>
          </a:prstGeom>
          <a:noFill/>
          <a:ln/>
        </p:spPr>
        <p:txBody>
          <a:bodyPr wrap="square" lIns="0" tIns="0" rIns="0" bIns="0" rtlCol="0" anchor="ctr"/>
          <a:lstStyle/>
          <a:p>
            <a:pPr algn="ctr" indent="0" marL="0">
              <a:buNone/>
            </a:pPr>
            <a:r>
              <a:rPr lang="en-US" sz="1250" b="1" dirty="0">
                <a:solidFill>
                  <a:schemeClr val="tx2"/>
                </a:solidFill>
              </a:rPr>
              <a:t>Fit planes</a:t>
            </a:r>
            <a:endParaRPr lang="en-US" sz="1250" dirty="0"/>
          </a:p>
        </p:txBody>
      </p:sp>
      <p:sp>
        <p:nvSpPr>
          <p:cNvPr id="11" name="Text 8"/>
          <p:cNvSpPr txBox="1"/>
          <p:nvPr/>
        </p:nvSpPr>
        <p:spPr>
          <a:xfrm>
            <a:off x="3282696" y="4754880"/>
            <a:ext cx="137160" cy="685800"/>
          </a:xfrm>
          <a:prstGeom prst="rect">
            <a:avLst/>
          </a:prstGeom>
          <a:noFill/>
          <a:ln/>
        </p:spPr>
        <p:txBody>
          <a:bodyPr wrap="square" lIns="0" tIns="0" rIns="0" bIns="0" rtlCol="0" anchor="ctr"/>
          <a:lstStyle/>
          <a:p>
            <a:pPr algn="ctr" indent="0" marL="0">
              <a:buNone/>
            </a:pPr>
            <a:r>
              <a:rPr lang="en-US" sz="1800" b="1" dirty="0">
                <a:solidFill>
                  <a:schemeClr val="accent6"/>
                </a:solidFill>
              </a:rPr>
              <a:t>›</a:t>
            </a:r>
            <a:endParaRPr lang="en-US" sz="1800" dirty="0"/>
          </a:p>
        </p:txBody>
      </p:sp>
      <p:sp>
        <p:nvSpPr>
          <p:cNvPr id="12" name="loop-step"/>
          <p:cNvSpPr/>
          <p:nvPr/>
        </p:nvSpPr>
        <p:spPr>
          <a:xfrm>
            <a:off x="3419856" y="4754880"/>
            <a:ext cx="1298448" cy="685800"/>
          </a:xfrm>
          <a:prstGeom prst="roundRect">
            <a:avLst>
              <a:gd name="adj" fmla="val 13333"/>
            </a:avLst>
          </a:prstGeom>
          <a:solidFill>
            <a:schemeClr val="bg2"/>
          </a:solidFill>
          <a:ln w="9525">
            <a:solidFill>
              <a:schemeClr val="bg2"/>
            </a:solidFill>
            <a:prstDash val="solid"/>
          </a:ln>
        </p:spPr>
      </p:sp>
      <p:sp>
        <p:nvSpPr>
          <p:cNvPr id="13" name="Text 10"/>
          <p:cNvSpPr txBox="1"/>
          <p:nvPr/>
        </p:nvSpPr>
        <p:spPr>
          <a:xfrm>
            <a:off x="3474720" y="4754880"/>
            <a:ext cx="1188720" cy="685800"/>
          </a:xfrm>
          <a:prstGeom prst="rect">
            <a:avLst/>
          </a:prstGeom>
          <a:noFill/>
          <a:ln/>
        </p:spPr>
        <p:txBody>
          <a:bodyPr wrap="square" lIns="0" tIns="0" rIns="0" bIns="0" rtlCol="0" anchor="ctr"/>
          <a:lstStyle/>
          <a:p>
            <a:pPr algn="ctr" indent="0" marL="0">
              <a:buNone/>
            </a:pPr>
            <a:r>
              <a:rPr lang="en-US" sz="1250" b="1" dirty="0">
                <a:solidFill>
                  <a:schemeClr val="tx2"/>
                </a:solidFill>
              </a:rPr>
              <a:t>Score balls</a:t>
            </a:r>
            <a:endParaRPr lang="en-US" sz="1250" dirty="0"/>
          </a:p>
        </p:txBody>
      </p:sp>
      <p:sp>
        <p:nvSpPr>
          <p:cNvPr id="14" name="Text 11"/>
          <p:cNvSpPr txBox="1"/>
          <p:nvPr/>
        </p:nvSpPr>
        <p:spPr>
          <a:xfrm>
            <a:off x="4718304" y="4754880"/>
            <a:ext cx="137160" cy="685800"/>
          </a:xfrm>
          <a:prstGeom prst="rect">
            <a:avLst/>
          </a:prstGeom>
          <a:noFill/>
          <a:ln/>
        </p:spPr>
        <p:txBody>
          <a:bodyPr wrap="square" lIns="0" tIns="0" rIns="0" bIns="0" rtlCol="0" anchor="ctr"/>
          <a:lstStyle/>
          <a:p>
            <a:pPr algn="ctr" indent="0" marL="0">
              <a:buNone/>
            </a:pPr>
            <a:r>
              <a:rPr lang="en-US" sz="1800" b="1" dirty="0">
                <a:solidFill>
                  <a:schemeClr val="accent6"/>
                </a:solidFill>
              </a:rPr>
              <a:t>›</a:t>
            </a:r>
            <a:endParaRPr lang="en-US" sz="1800" dirty="0"/>
          </a:p>
        </p:txBody>
      </p:sp>
      <p:sp>
        <p:nvSpPr>
          <p:cNvPr id="15" name="loop-step"/>
          <p:cNvSpPr/>
          <p:nvPr/>
        </p:nvSpPr>
        <p:spPr>
          <a:xfrm>
            <a:off x="4855464" y="4754880"/>
            <a:ext cx="1298448" cy="685800"/>
          </a:xfrm>
          <a:prstGeom prst="roundRect">
            <a:avLst>
              <a:gd name="adj" fmla="val 13333"/>
            </a:avLst>
          </a:prstGeom>
          <a:solidFill>
            <a:schemeClr val="bg2"/>
          </a:solidFill>
          <a:ln w="9525">
            <a:solidFill>
              <a:schemeClr val="bg2"/>
            </a:solidFill>
            <a:prstDash val="solid"/>
          </a:ln>
        </p:spPr>
      </p:sp>
      <p:sp>
        <p:nvSpPr>
          <p:cNvPr id="16" name="Text 13"/>
          <p:cNvSpPr txBox="1"/>
          <p:nvPr/>
        </p:nvSpPr>
        <p:spPr>
          <a:xfrm>
            <a:off x="4910328" y="4754880"/>
            <a:ext cx="1188720" cy="685800"/>
          </a:xfrm>
          <a:prstGeom prst="rect">
            <a:avLst/>
          </a:prstGeom>
          <a:noFill/>
          <a:ln/>
        </p:spPr>
        <p:txBody>
          <a:bodyPr wrap="square" lIns="0" tIns="0" rIns="0" bIns="0" rtlCol="0" anchor="ctr"/>
          <a:lstStyle/>
          <a:p>
            <a:pPr algn="ctr" indent="0" marL="0">
              <a:buNone/>
            </a:pPr>
            <a:r>
              <a:rPr lang="en-US" sz="1250" b="1" dirty="0">
                <a:solidFill>
                  <a:schemeClr val="tx2"/>
                </a:solidFill>
              </a:rPr>
              <a:t>Try a 2-means split</a:t>
            </a:r>
            <a:endParaRPr lang="en-US" sz="1250" dirty="0"/>
          </a:p>
        </p:txBody>
      </p:sp>
      <p:sp>
        <p:nvSpPr>
          <p:cNvPr id="17" name="Text 14"/>
          <p:cNvSpPr txBox="1"/>
          <p:nvPr/>
        </p:nvSpPr>
        <p:spPr>
          <a:xfrm>
            <a:off x="6153912" y="4754880"/>
            <a:ext cx="137160" cy="685800"/>
          </a:xfrm>
          <a:prstGeom prst="rect">
            <a:avLst/>
          </a:prstGeom>
          <a:noFill/>
          <a:ln/>
        </p:spPr>
        <p:txBody>
          <a:bodyPr wrap="square" lIns="0" tIns="0" rIns="0" bIns="0" rtlCol="0" anchor="ctr"/>
          <a:lstStyle/>
          <a:p>
            <a:pPr algn="ctr" indent="0" marL="0">
              <a:buNone/>
            </a:pPr>
            <a:r>
              <a:rPr lang="en-US" sz="1800" b="1" dirty="0">
                <a:solidFill>
                  <a:schemeClr val="accent6"/>
                </a:solidFill>
              </a:rPr>
              <a:t>›</a:t>
            </a:r>
            <a:endParaRPr lang="en-US" sz="1800" dirty="0"/>
          </a:p>
        </p:txBody>
      </p:sp>
      <p:sp>
        <p:nvSpPr>
          <p:cNvPr id="18" name="loop-step"/>
          <p:cNvSpPr/>
          <p:nvPr/>
        </p:nvSpPr>
        <p:spPr>
          <a:xfrm>
            <a:off x="6291072" y="4754880"/>
            <a:ext cx="1298448" cy="685800"/>
          </a:xfrm>
          <a:prstGeom prst="roundRect">
            <a:avLst>
              <a:gd name="adj" fmla="val 13333"/>
            </a:avLst>
          </a:prstGeom>
          <a:solidFill>
            <a:schemeClr val="accent1"/>
          </a:solidFill>
          <a:ln w="9525">
            <a:solidFill>
              <a:schemeClr val="accent1"/>
            </a:solidFill>
            <a:prstDash val="solid"/>
          </a:ln>
        </p:spPr>
      </p:sp>
      <p:sp>
        <p:nvSpPr>
          <p:cNvPr id="19" name="Text 16"/>
          <p:cNvSpPr txBox="1"/>
          <p:nvPr/>
        </p:nvSpPr>
        <p:spPr>
          <a:xfrm>
            <a:off x="6345936" y="4754880"/>
            <a:ext cx="1188720" cy="685800"/>
          </a:xfrm>
          <a:prstGeom prst="rect">
            <a:avLst/>
          </a:prstGeom>
          <a:noFill/>
          <a:ln/>
        </p:spPr>
        <p:txBody>
          <a:bodyPr wrap="square" lIns="0" tIns="0" rIns="0" bIns="0" rtlCol="0" anchor="ctr"/>
          <a:lstStyle/>
          <a:p>
            <a:pPr algn="ctr" indent="0" marL="0">
              <a:buNone/>
            </a:pPr>
            <a:r>
              <a:rPr lang="en-US" sz="1250" b="1" dirty="0">
                <a:solidFill>
                  <a:schemeClr val="bg1"/>
                </a:solidFill>
              </a:rPr>
              <a:t>Keep if gain &gt; min</a:t>
            </a:r>
            <a:endParaRPr lang="en-US" sz="1250" dirty="0"/>
          </a:p>
        </p:txBody>
      </p:sp>
      <p:sp>
        <p:nvSpPr>
          <p:cNvPr id="20" name="formula"/>
          <p:cNvSpPr/>
          <p:nvPr/>
        </p:nvSpPr>
        <p:spPr>
          <a:xfrm>
            <a:off x="7863840" y="1463040"/>
            <a:ext cx="3749040" cy="4023360"/>
          </a:xfrm>
          <a:prstGeom prst="roundRect">
            <a:avLst>
              <a:gd name="adj" fmla="val 2439"/>
            </a:avLst>
          </a:prstGeom>
          <a:solidFill>
            <a:schemeClr val="bg2"/>
          </a:solidFill>
          <a:ln w="9525">
            <a:solidFill>
              <a:schemeClr val="bg2"/>
            </a:solidFill>
            <a:prstDash val="solid"/>
          </a:ln>
        </p:spPr>
      </p:sp>
      <p:sp>
        <p:nvSpPr>
          <p:cNvPr id="21" name="Text 18"/>
          <p:cNvSpPr txBox="1"/>
          <p:nvPr/>
        </p:nvSpPr>
        <p:spPr>
          <a:xfrm>
            <a:off x="8046720" y="1609344"/>
            <a:ext cx="3383280" cy="3785616"/>
          </a:xfrm>
          <a:prstGeom prst="rect">
            <a:avLst/>
          </a:prstGeom>
          <a:noFill/>
          <a:ln/>
        </p:spPr>
        <p:txBody>
          <a:bodyPr wrap="square" lIns="0" tIns="0" rIns="0" bIns="0" rtlCol="0" anchor="t"/>
          <a:lstStyle/>
          <a:p>
            <a:pPr indent="0" marL="0">
              <a:spcAft>
                <a:spcPts val="200"/>
              </a:spcAft>
              <a:buNone/>
            </a:pPr>
            <a:r>
              <a:rPr lang="en-US" sz="1400" b="1" dirty="0">
                <a:solidFill>
                  <a:schemeClr val="tx2"/>
                </a:solidFill>
              </a:rPr>
              <a:t>Plane ambiguity</a:t>
            </a:r>
            <a:endParaRPr lang="en-US" sz="1400" dirty="0"/>
          </a:p>
          <a:p>
            <a:pPr indent="0" marL="0">
              <a:spcAft>
                <a:spcPts val="200"/>
              </a:spcAft>
              <a:buNone/>
            </a:pPr>
            <a:r>
              <a:rPr lang="en-US" sz="1400" dirty="0">
                <a:solidFill>
                  <a:schemeClr val="tx1"/>
                </a:solidFill>
              </a:rPr>
              <a:t>d</a:t>
            </a:r>
            <a:r>
              <a:rPr lang="en-US" sz="1400" baseline="-40000" dirty="0">
                <a:solidFill>
                  <a:schemeClr val="tx1"/>
                </a:solidFill>
              </a:rPr>
              <a:t>k</a:t>
            </a:r>
            <a:r>
              <a:rPr lang="en-US" sz="1400" dirty="0">
                <a:solidFill>
                  <a:schemeClr val="tx1"/>
                </a:solidFill>
              </a:rPr>
              <a:t> = |w</a:t>
            </a:r>
            <a:r>
              <a:rPr lang="en-US" sz="1400" baseline="-40000" dirty="0">
                <a:solidFill>
                  <a:schemeClr val="tx1"/>
                </a:solidFill>
              </a:rPr>
              <a:t>k</a:t>
            </a:r>
            <a:r>
              <a:rPr lang="en-US" sz="1400" baseline="30000" dirty="0">
                <a:solidFill>
                  <a:schemeClr val="tx1"/>
                </a:solidFill>
              </a:rPr>
              <a:t>T</a:t>
            </a:r>
            <a:r>
              <a:rPr lang="en-US" sz="1400" dirty="0">
                <a:solidFill>
                  <a:schemeClr val="tx1"/>
                </a:solidFill>
              </a:rPr>
              <a:t>c</a:t>
            </a:r>
            <a:r>
              <a:rPr lang="en-US" sz="1400" baseline="-40000" dirty="0">
                <a:solidFill>
                  <a:schemeClr val="tx1"/>
                </a:solidFill>
              </a:rPr>
              <a:t>j</a:t>
            </a:r>
            <a:r>
              <a:rPr lang="en-US" sz="1400" dirty="0">
                <a:solidFill>
                  <a:schemeClr val="tx1"/>
                </a:solidFill>
              </a:rPr>
              <a:t> + b</a:t>
            </a:r>
            <a:r>
              <a:rPr lang="en-US" sz="1400" baseline="-40000" dirty="0">
                <a:solidFill>
                  <a:schemeClr val="tx1"/>
                </a:solidFill>
              </a:rPr>
              <a:t>k</a:t>
            </a:r>
            <a:r>
              <a:rPr lang="en-US" sz="1400" dirty="0">
                <a:solidFill>
                  <a:schemeClr val="tx1"/>
                </a:solidFill>
              </a:rPr>
              <a:t>| / ‖w</a:t>
            </a:r>
            <a:r>
              <a:rPr lang="en-US" sz="1400" baseline="-40000" dirty="0">
                <a:solidFill>
                  <a:schemeClr val="tx1"/>
                </a:solidFill>
              </a:rPr>
              <a:t>k</a:t>
            </a:r>
            <a:r>
              <a:rPr lang="en-US" sz="1400" dirty="0">
                <a:solidFill>
                  <a:schemeClr val="tx1"/>
                </a:solidFill>
              </a:rPr>
              <a:t>‖</a:t>
            </a:r>
            <a:endParaRPr lang="en-US" sz="1400" dirty="0"/>
          </a:p>
          <a:p>
            <a:pPr indent="0" marL="0">
              <a:spcAft>
                <a:spcPts val="200"/>
              </a:spcAft>
              <a:buNone/>
            </a:pPr>
            <a:r>
              <a:rPr lang="en-US" sz="1400" dirty="0">
                <a:solidFill>
                  <a:schemeClr val="tx1"/>
                </a:solidFill>
              </a:rPr>
              <a:t>A</a:t>
            </a:r>
            <a:r>
              <a:rPr lang="en-US" sz="1400" baseline="-40000" dirty="0">
                <a:solidFill>
                  <a:schemeClr val="tx1"/>
                </a:solidFill>
              </a:rPr>
              <a:t>j</a:t>
            </a:r>
            <a:r>
              <a:rPr lang="en-US" sz="1400" dirty="0">
                <a:solidFill>
                  <a:schemeClr val="tx1"/>
                </a:solidFill>
              </a:rPr>
              <a:t> = 1 − |d</a:t>
            </a:r>
            <a:r>
              <a:rPr lang="en-US" sz="1400" baseline="-40000" dirty="0">
                <a:solidFill>
                  <a:schemeClr val="tx1"/>
                </a:solidFill>
              </a:rPr>
              <a:t>1</a:t>
            </a:r>
            <a:r>
              <a:rPr lang="en-US" sz="1400" dirty="0">
                <a:solidFill>
                  <a:schemeClr val="tx1"/>
                </a:solidFill>
              </a:rPr>
              <a:t> − d</a:t>
            </a:r>
            <a:r>
              <a:rPr lang="en-US" sz="1400" baseline="-40000" dirty="0">
                <a:solidFill>
                  <a:schemeClr val="tx1"/>
                </a:solidFill>
              </a:rPr>
              <a:t>2</a:t>
            </a:r>
            <a:r>
              <a:rPr lang="en-US" sz="1400" dirty="0">
                <a:solidFill>
                  <a:schemeClr val="tx1"/>
                </a:solidFill>
              </a:rPr>
              <a:t>| / (d</a:t>
            </a:r>
            <a:r>
              <a:rPr lang="en-US" sz="1400" baseline="-40000" dirty="0">
                <a:solidFill>
                  <a:schemeClr val="tx1"/>
                </a:solidFill>
              </a:rPr>
              <a:t>1</a:t>
            </a:r>
            <a:r>
              <a:rPr lang="en-US" sz="1400" dirty="0">
                <a:solidFill>
                  <a:schemeClr val="tx1"/>
                </a:solidFill>
              </a:rPr>
              <a:t> + d</a:t>
            </a:r>
            <a:r>
              <a:rPr lang="en-US" sz="1400" baseline="-40000" dirty="0">
                <a:solidFill>
                  <a:schemeClr val="tx1"/>
                </a:solidFill>
              </a:rPr>
              <a:t>2</a:t>
            </a:r>
            <a:r>
              <a:rPr lang="en-US" sz="1400" dirty="0">
                <a:solidFill>
                  <a:schemeClr val="tx1"/>
                </a:solidFill>
              </a:rPr>
              <a:t>)</a:t>
            </a:r>
            <a:endParaRPr lang="en-US" sz="1400" dirty="0"/>
          </a:p>
          <a:p>
            <a:pPr indent="0" marL="0">
              <a:spcBef>
                <a:spcPts val="600"/>
              </a:spcBef>
              <a:spcAft>
                <a:spcPts val="200"/>
              </a:spcAft>
              <a:buNone/>
            </a:pPr>
            <a:r>
              <a:rPr lang="en-US" sz="1400" b="1" dirty="0">
                <a:solidFill>
                  <a:schemeClr val="tx2"/>
                </a:solidFill>
              </a:rPr>
              <a:t>Boundary signal</a:t>
            </a:r>
            <a:endParaRPr lang="en-US" sz="1400" dirty="0"/>
          </a:p>
          <a:p>
            <a:pPr indent="0" marL="0">
              <a:spcAft>
                <a:spcPts val="200"/>
              </a:spcAft>
              <a:buNone/>
            </a:pPr>
            <a:r>
              <a:rPr lang="en-US" sz="1400" dirty="0">
                <a:solidFill>
                  <a:schemeClr val="tx1"/>
                </a:solidFill>
              </a:rPr>
              <a:t>B</a:t>
            </a:r>
            <a:r>
              <a:rPr lang="en-US" sz="1400" baseline="-40000" dirty="0">
                <a:solidFill>
                  <a:schemeClr val="tx1"/>
                </a:solidFill>
              </a:rPr>
              <a:t>j</a:t>
            </a:r>
            <a:r>
              <a:rPr lang="en-US" sz="1400" dirty="0">
                <a:solidFill>
                  <a:schemeClr val="tx1"/>
                </a:solidFill>
              </a:rPr>
              <a:t> = (1 − ρ) A</a:t>
            </a:r>
            <a:r>
              <a:rPr lang="en-US" sz="1400" baseline="-40000" dirty="0">
                <a:solidFill>
                  <a:schemeClr val="tx1"/>
                </a:solidFill>
              </a:rPr>
              <a:t>j</a:t>
            </a:r>
            <a:r>
              <a:rPr lang="en-US" sz="1400" dirty="0">
                <a:solidFill>
                  <a:schemeClr val="tx1"/>
                </a:solidFill>
              </a:rPr>
              <a:t> + ρ O</a:t>
            </a:r>
            <a:r>
              <a:rPr lang="en-US" sz="1400" baseline="-40000" dirty="0">
                <a:solidFill>
                  <a:schemeClr val="tx1"/>
                </a:solidFill>
              </a:rPr>
              <a:t>j</a:t>
            </a:r>
            <a:endParaRPr lang="en-US" sz="1400" dirty="0"/>
          </a:p>
          <a:p>
            <a:pPr indent="0" marL="0">
              <a:spcBef>
                <a:spcPts val="600"/>
              </a:spcBef>
              <a:spcAft>
                <a:spcPts val="200"/>
              </a:spcAft>
              <a:buNone/>
            </a:pPr>
            <a:r>
              <a:rPr lang="en-US" sz="1400" b="1" dirty="0">
                <a:solidFill>
                  <a:schemeClr val="tx2"/>
                </a:solidFill>
              </a:rPr>
              <a:t>Refinement score (29 Sep)</a:t>
            </a:r>
            <a:endParaRPr lang="en-US" sz="1400" dirty="0"/>
          </a:p>
          <a:p>
            <a:pPr indent="0" marL="0">
              <a:spcAft>
                <a:spcPts val="200"/>
              </a:spcAft>
              <a:buNone/>
            </a:pPr>
            <a:r>
              <a:rPr lang="en-US" sz="1400" dirty="0">
                <a:solidFill>
                  <a:schemeClr val="tx1"/>
                </a:solidFill>
              </a:rPr>
              <a:t>S</a:t>
            </a:r>
            <a:r>
              <a:rPr lang="en-US" sz="1400" baseline="-40000" dirty="0">
                <a:solidFill>
                  <a:schemeClr val="tx1"/>
                </a:solidFill>
              </a:rPr>
              <a:t>j</a:t>
            </a:r>
            <a:r>
              <a:rPr lang="en-US" sz="1400" dirty="0">
                <a:solidFill>
                  <a:schemeClr val="tx1"/>
                </a:solidFill>
              </a:rPr>
              <a:t> = Z</a:t>
            </a:r>
            <a:r>
              <a:rPr lang="en-US" sz="1400" baseline="-40000" dirty="0">
                <a:solidFill>
                  <a:schemeClr val="tx1"/>
                </a:solidFill>
              </a:rPr>
              <a:t>j</a:t>
            </a:r>
            <a:r>
              <a:rPr lang="en-US" sz="1400" dirty="0">
                <a:solidFill>
                  <a:schemeClr val="tx1"/>
                </a:solidFill>
              </a:rPr>
              <a:t> [(1 − μ) H</a:t>
            </a:r>
            <a:r>
              <a:rPr lang="en-US" sz="1400" baseline="-40000" dirty="0">
                <a:solidFill>
                  <a:schemeClr val="tx1"/>
                </a:solidFill>
              </a:rPr>
              <a:t>j</a:t>
            </a:r>
            <a:r>
              <a:rPr lang="en-US" sz="1400" baseline="30000" dirty="0">
                <a:solidFill>
                  <a:schemeClr val="tx1"/>
                </a:solidFill>
              </a:rPr>
              <a:t>α</a:t>
            </a:r>
            <a:r>
              <a:rPr lang="en-US" sz="1400" dirty="0">
                <a:solidFill>
                  <a:schemeClr val="tx1"/>
                </a:solidFill>
              </a:rPr>
              <a:t> + μ B</a:t>
            </a:r>
            <a:r>
              <a:rPr lang="en-US" sz="1400" baseline="-40000" dirty="0">
                <a:solidFill>
                  <a:schemeClr val="tx1"/>
                </a:solidFill>
              </a:rPr>
              <a:t>j</a:t>
            </a:r>
            <a:r>
              <a:rPr lang="en-US" sz="1400" baseline="30000" dirty="0">
                <a:solidFill>
                  <a:schemeClr val="tx1"/>
                </a:solidFill>
              </a:rPr>
              <a:t>β</a:t>
            </a:r>
            <a:r>
              <a:rPr lang="en-US" sz="1400" dirty="0">
                <a:solidFill>
                  <a:schemeClr val="tx1"/>
                </a:solidFill>
              </a:rPr>
              <a:t>]</a:t>
            </a:r>
            <a:endParaRPr lang="en-US" sz="1400" dirty="0"/>
          </a:p>
          <a:p>
            <a:pPr indent="0" marL="0">
              <a:spcAft>
                <a:spcPts val="200"/>
              </a:spcAft>
              <a:buNone/>
            </a:pPr>
            <a:r>
              <a:rPr lang="en-US" sz="1400" dirty="0">
                <a:solidFill>
                  <a:schemeClr val="tx1"/>
                </a:solidFill>
              </a:rPr>
              <a:t>Z</a:t>
            </a:r>
            <a:r>
              <a:rPr lang="en-US" sz="1400" baseline="-40000" dirty="0">
                <a:solidFill>
                  <a:schemeClr val="tx1"/>
                </a:solidFill>
              </a:rPr>
              <a:t>j</a:t>
            </a:r>
            <a:r>
              <a:rPr lang="en-US" sz="1400" dirty="0">
                <a:solidFill>
                  <a:schemeClr val="tx1"/>
                </a:solidFill>
              </a:rPr>
              <a:t> = log(1 + n</a:t>
            </a:r>
            <a:r>
              <a:rPr lang="en-US" sz="1400" baseline="-40000" dirty="0">
                <a:solidFill>
                  <a:schemeClr val="tx1"/>
                </a:solidFill>
              </a:rPr>
              <a:t>j</a:t>
            </a:r>
            <a:r>
              <a:rPr lang="en-US" sz="1400" dirty="0">
                <a:solidFill>
                  <a:schemeClr val="tx1"/>
                </a:solidFill>
              </a:rPr>
              <a:t>) / log(1 + n</a:t>
            </a:r>
            <a:r>
              <a:rPr lang="en-US" sz="1400" baseline="-40000" dirty="0">
                <a:solidFill>
                  <a:schemeClr val="tx1"/>
                </a:solidFill>
              </a:rPr>
              <a:t>max</a:t>
            </a:r>
            <a:r>
              <a:rPr lang="en-US" sz="1400" dirty="0">
                <a:solidFill>
                  <a:schemeClr val="tx1"/>
                </a:solidFill>
              </a:rPr>
              <a:t>)</a:t>
            </a:r>
            <a:endParaRPr lang="en-US" sz="1400" dirty="0"/>
          </a:p>
          <a:p>
            <a:pPr indent="0" marL="0">
              <a:spcBef>
                <a:spcPts val="600"/>
              </a:spcBef>
              <a:spcAft>
                <a:spcPts val="200"/>
              </a:spcAft>
              <a:buNone/>
            </a:pPr>
            <a:r>
              <a:rPr lang="en-US" sz="1400" b="1" dirty="0">
                <a:solidFill>
                  <a:schemeClr val="tx2"/>
                </a:solidFill>
              </a:rPr>
              <a:t>Split acceptance</a:t>
            </a:r>
            <a:endParaRPr lang="en-US" sz="1400" dirty="0"/>
          </a:p>
          <a:p>
            <a:pPr indent="0" marL="0">
              <a:spcAft>
                <a:spcPts val="200"/>
              </a:spcAft>
              <a:buNone/>
            </a:pPr>
            <a:r>
              <a:rPr lang="en-US" sz="1400" dirty="0">
                <a:solidFill>
                  <a:schemeClr val="tx1"/>
                </a:solidFill>
              </a:rPr>
              <a:t>gain = S</a:t>
            </a:r>
            <a:r>
              <a:rPr lang="en-US" sz="1400" baseline="-40000" dirty="0">
                <a:solidFill>
                  <a:schemeClr val="tx1"/>
                </a:solidFill>
              </a:rPr>
              <a:t>parent</a:t>
            </a:r>
            <a:r>
              <a:rPr lang="en-US" sz="1400" dirty="0">
                <a:solidFill>
                  <a:schemeClr val="tx1"/>
                </a:solidFill>
              </a:rPr>
              <a:t> − Σ (n</a:t>
            </a:r>
            <a:r>
              <a:rPr lang="en-US" sz="1400" baseline="-40000" dirty="0">
                <a:solidFill>
                  <a:schemeClr val="tx1"/>
                </a:solidFill>
              </a:rPr>
              <a:t>c</a:t>
            </a:r>
            <a:r>
              <a:rPr lang="en-US" sz="1400" dirty="0">
                <a:solidFill>
                  <a:schemeClr val="tx1"/>
                </a:solidFill>
              </a:rPr>
              <a:t> / n</a:t>
            </a:r>
            <a:r>
              <a:rPr lang="en-US" sz="1400" baseline="-40000" dirty="0">
                <a:solidFill>
                  <a:schemeClr val="tx1"/>
                </a:solidFill>
              </a:rPr>
              <a:t>p</a:t>
            </a:r>
            <a:r>
              <a:rPr lang="en-US" sz="1400" dirty="0">
                <a:solidFill>
                  <a:schemeClr val="tx1"/>
                </a:solidFill>
              </a:rPr>
              <a:t>) S</a:t>
            </a:r>
            <a:r>
              <a:rPr lang="en-US" sz="1400" baseline="-40000" dirty="0">
                <a:solidFill>
                  <a:schemeClr val="tx1"/>
                </a:solidFill>
              </a:rPr>
              <a:t>c</a:t>
            </a:r>
            <a:r>
              <a:rPr lang="en-US" sz="1400" dirty="0">
                <a:solidFill>
                  <a:schemeClr val="tx1"/>
                </a:solidFill>
              </a:rPr>
              <a:t> − λ</a:t>
            </a:r>
            <a:endParaRPr lang="en-US" sz="1400" dirty="0"/>
          </a:p>
        </p:txBody>
      </p:sp>
      <p:sp>
        <p:nvSpPr>
          <p:cNvPr id="22"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23"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24" name="Text 21"/>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M1 spends extra balls only where the current planes cannot tell the classes apart.</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M0–M3 CLASSIFIER-GUIDED BALLS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M1 in code: score each ball, keep a split only if it pays</a:t>
            </a:r>
            <a:endParaRPr lang="en-US" sz="2800" dirty="0"/>
          </a:p>
        </p:txBody>
      </p:sp>
      <p:sp>
        <p:nvSpPr>
          <p:cNvPr id="4" name="code-frame"/>
          <p:cNvSpPr/>
          <p:nvPr/>
        </p:nvSpPr>
        <p:spPr>
          <a:xfrm>
            <a:off x="548640" y="1463040"/>
            <a:ext cx="5486400" cy="1520063"/>
          </a:xfrm>
          <a:prstGeom prst="roundRect">
            <a:avLst>
              <a:gd name="adj" fmla="val 4812"/>
            </a:avLst>
          </a:prstGeom>
          <a:solidFill>
            <a:schemeClr val="tx2"/>
          </a:solidFill>
          <a:ln w="9525">
            <a:solidFill>
              <a:schemeClr val="tx2"/>
            </a:solidFill>
            <a:prstDash val="solid"/>
          </a:ln>
        </p:spPr>
      </p:sp>
      <p:sp>
        <p:nvSpPr>
          <p:cNvPr id="5" name="code-dot"/>
          <p:cNvSpPr/>
          <p:nvPr/>
        </p:nvSpPr>
        <p:spPr>
          <a:xfrm>
            <a:off x="694944" y="1581912"/>
            <a:ext cx="109728" cy="109728"/>
          </a:xfrm>
          <a:prstGeom prst="ellipse">
            <a:avLst/>
          </a:prstGeom>
          <a:solidFill>
            <a:schemeClr val="bg2">
              <a:alpha val="55000"/>
            </a:schemeClr>
          </a:solidFill>
          <a:ln w="12700">
            <a:solidFill>
              <a:schemeClr val="bg2">
                <a:alpha val="55000"/>
              </a:schemeClr>
            </a:solidFill>
            <a:prstDash val="solid"/>
          </a:ln>
        </p:spPr>
      </p:sp>
      <p:sp>
        <p:nvSpPr>
          <p:cNvPr id="6" name="code-dot"/>
          <p:cNvSpPr/>
          <p:nvPr/>
        </p:nvSpPr>
        <p:spPr>
          <a:xfrm>
            <a:off x="877824" y="1581912"/>
            <a:ext cx="109728" cy="109728"/>
          </a:xfrm>
          <a:prstGeom prst="ellipse">
            <a:avLst/>
          </a:prstGeom>
          <a:solidFill>
            <a:schemeClr val="bg2">
              <a:alpha val="55000"/>
            </a:schemeClr>
          </a:solidFill>
          <a:ln w="12700">
            <a:solidFill>
              <a:schemeClr val="bg2">
                <a:alpha val="55000"/>
              </a:schemeClr>
            </a:solidFill>
            <a:prstDash val="solid"/>
          </a:ln>
        </p:spPr>
      </p:sp>
      <p:sp>
        <p:nvSpPr>
          <p:cNvPr id="7" name="code-dot"/>
          <p:cNvSpPr/>
          <p:nvPr/>
        </p:nvSpPr>
        <p:spPr>
          <a:xfrm>
            <a:off x="1060704" y="1581912"/>
            <a:ext cx="109728" cy="109728"/>
          </a:xfrm>
          <a:prstGeom prst="ellipse">
            <a:avLst/>
          </a:prstGeom>
          <a:solidFill>
            <a:schemeClr val="bg2">
              <a:alpha val="55000"/>
            </a:schemeClr>
          </a:solidFill>
          <a:ln w="12700">
            <a:solidFill>
              <a:schemeClr val="bg2">
                <a:alpha val="55000"/>
              </a:schemeClr>
            </a:solidFill>
            <a:prstDash val="solid"/>
          </a:ln>
        </p:spPr>
      </p:sp>
      <p:sp>
        <p:nvSpPr>
          <p:cNvPr id="8" name="Text 6"/>
          <p:cNvSpPr txBox="1"/>
          <p:nvPr/>
        </p:nvSpPr>
        <p:spPr>
          <a:xfrm>
            <a:off x="1298448" y="1499616"/>
            <a:ext cx="4572000" cy="27432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gen_ball_new.py · _hyperplane_ambiguity</a:t>
            </a:r>
            <a:endParaRPr lang="en-US" sz="1100" dirty="0"/>
          </a:p>
        </p:txBody>
      </p:sp>
      <p:sp>
        <p:nvSpPr>
          <p:cNvPr id="9" name="code-body"/>
          <p:cNvSpPr/>
          <p:nvPr/>
        </p:nvSpPr>
        <p:spPr>
          <a:xfrm>
            <a:off x="585216" y="1810512"/>
            <a:ext cx="5413248" cy="1136015"/>
          </a:xfrm>
          <a:prstGeom prst="rect">
            <a:avLst/>
          </a:prstGeom>
          <a:solidFill>
            <a:schemeClr val="bg1"/>
          </a:solidFill>
          <a:ln w="12700">
            <a:solidFill>
              <a:schemeClr val="bg1"/>
            </a:solidFill>
            <a:prstDash val="solid"/>
          </a:ln>
        </p:spPr>
      </p:sp>
      <p:sp>
        <p:nvSpPr>
          <p:cNvPr id="10" name="code"/>
          <p:cNvSpPr txBox="1"/>
          <p:nvPr/>
        </p:nvSpPr>
        <p:spPr>
          <a:xfrm>
            <a:off x="676656" y="1901952"/>
            <a:ext cx="5230368" cy="989711"/>
          </a:xfrm>
          <a:prstGeom prst="rect">
            <a:avLst/>
          </a:prstGeom>
          <a:noFill/>
          <a:ln/>
        </p:spPr>
        <p:txBody>
          <a:bodyPr wrap="square" lIns="0" tIns="0" rIns="0" bIns="0" rtlCol="0" anchor="t"/>
          <a:lstStyle/>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d1 = abs(np.dot(c, w1) + b1) / (np.linalg.norm(w1) + _EPS)</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d2 = abs(np.dot(c, w2) + b2) / (np.linalg.norm(w2) + _EPS)</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gap = abs(d1 - d2)</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ambiguity = </a:t>
            </a:r>
            <a:r>
              <a:rPr lang="en-US" sz="1150" dirty="0">
                <a:solidFill>
                  <a:schemeClr val="accent4"/>
                </a:solidFill>
                <a:latin typeface="Courier New" pitchFamily="34" charset="0"/>
                <a:ea typeface="Courier New" pitchFamily="34" charset="-122"/>
                <a:cs typeface="Courier New" pitchFamily="34" charset="-120"/>
              </a:rPr>
              <a:t>1.0</a:t>
            </a:r>
            <a:r>
              <a:rPr lang="en-US" sz="1150" dirty="0">
                <a:solidFill>
                  <a:schemeClr val="tx1"/>
                </a:solidFill>
                <a:latin typeface="Courier New" pitchFamily="34" charset="0"/>
                <a:ea typeface="Courier New" pitchFamily="34" charset="-122"/>
                <a:cs typeface="Courier New" pitchFamily="34" charset="-120"/>
              </a:rPr>
              <a:t> - gap / (d1 + d2 + _EPS)</a:t>
            </a:r>
            <a:endParaRPr lang="en-US" sz="1150" dirty="0"/>
          </a:p>
          <a:p>
            <a:pPr indent="0" marL="0">
              <a:lnSpc>
                <a:spcPct val="100000"/>
              </a:lnSpc>
              <a:buNone/>
            </a:pPr>
            <a:r>
              <a:rPr lang="en-US" sz="1150" b="1" dirty="0">
                <a:solidFill>
                  <a:schemeClr val="accent3"/>
                </a:solidFill>
                <a:latin typeface="Courier New" pitchFamily="34" charset="0"/>
                <a:ea typeface="Courier New" pitchFamily="34" charset="-122"/>
                <a:cs typeface="Courier New" pitchFamily="34" charset="-120"/>
              </a:rPr>
              <a:t>return</a:t>
            </a:r>
            <a:r>
              <a:rPr lang="en-US" sz="1150" dirty="0">
                <a:solidFill>
                  <a:schemeClr val="tx1"/>
                </a:solidFill>
                <a:latin typeface="Courier New" pitchFamily="34" charset="0"/>
                <a:ea typeface="Courier New" pitchFamily="34" charset="-122"/>
                <a:cs typeface="Courier New" pitchFamily="34" charset="-120"/>
              </a:rPr>
              <a:t> float(np.clip(ambiguity, </a:t>
            </a:r>
            <a:r>
              <a:rPr lang="en-US" sz="1150" dirty="0">
                <a:solidFill>
                  <a:schemeClr val="accent4"/>
                </a:solidFill>
                <a:latin typeface="Courier New" pitchFamily="34" charset="0"/>
                <a:ea typeface="Courier New" pitchFamily="34" charset="-122"/>
                <a:cs typeface="Courier New" pitchFamily="34" charset="-120"/>
              </a:rPr>
              <a:t>0.0</a:t>
            </a:r>
            <a:r>
              <a:rPr lang="en-US" sz="1150" dirty="0">
                <a:solidFill>
                  <a:schemeClr val="tx1"/>
                </a:solidFill>
                <a:latin typeface="Courier New" pitchFamily="34" charset="0"/>
                <a:ea typeface="Courier New" pitchFamily="34" charset="-122"/>
                <a:cs typeface="Courier New" pitchFamily="34" charset="-120"/>
              </a:rPr>
              <a:t>, </a:t>
            </a:r>
            <a:r>
              <a:rPr lang="en-US" sz="1150" dirty="0">
                <a:solidFill>
                  <a:schemeClr val="accent4"/>
                </a:solidFill>
                <a:latin typeface="Courier New" pitchFamily="34" charset="0"/>
                <a:ea typeface="Courier New" pitchFamily="34" charset="-122"/>
                <a:cs typeface="Courier New" pitchFamily="34" charset="-120"/>
              </a:rPr>
              <a:t>1.0</a:t>
            </a:r>
            <a:r>
              <a:rPr lang="en-US" sz="1150" dirty="0">
                <a:solidFill>
                  <a:schemeClr val="tx1"/>
                </a:solidFill>
                <a:latin typeface="Courier New" pitchFamily="34" charset="0"/>
                <a:ea typeface="Courier New" pitchFamily="34" charset="-122"/>
                <a:cs typeface="Courier New" pitchFamily="34" charset="-120"/>
              </a:rPr>
              <a:t>))</a:t>
            </a:r>
            <a:endParaRPr lang="en-US" sz="1150" dirty="0"/>
          </a:p>
        </p:txBody>
      </p:sp>
      <p:sp>
        <p:nvSpPr>
          <p:cNvPr id="11" name="code-frame"/>
          <p:cNvSpPr/>
          <p:nvPr/>
        </p:nvSpPr>
        <p:spPr>
          <a:xfrm>
            <a:off x="548640" y="4023360"/>
            <a:ext cx="5486400" cy="1482598"/>
          </a:xfrm>
          <a:prstGeom prst="roundRect">
            <a:avLst>
              <a:gd name="adj" fmla="val 4934"/>
            </a:avLst>
          </a:prstGeom>
          <a:solidFill>
            <a:schemeClr val="tx2"/>
          </a:solidFill>
          <a:ln w="9525">
            <a:solidFill>
              <a:schemeClr val="tx2"/>
            </a:solidFill>
            <a:prstDash val="solid"/>
          </a:ln>
        </p:spPr>
      </p:sp>
      <p:sp>
        <p:nvSpPr>
          <p:cNvPr id="12" name="code-dot"/>
          <p:cNvSpPr/>
          <p:nvPr/>
        </p:nvSpPr>
        <p:spPr>
          <a:xfrm>
            <a:off x="694944" y="4142232"/>
            <a:ext cx="109728" cy="109728"/>
          </a:xfrm>
          <a:prstGeom prst="ellipse">
            <a:avLst/>
          </a:prstGeom>
          <a:solidFill>
            <a:schemeClr val="bg2">
              <a:alpha val="55000"/>
            </a:schemeClr>
          </a:solidFill>
          <a:ln w="12700">
            <a:solidFill>
              <a:schemeClr val="bg2">
                <a:alpha val="55000"/>
              </a:schemeClr>
            </a:solidFill>
            <a:prstDash val="solid"/>
          </a:ln>
        </p:spPr>
      </p:sp>
      <p:sp>
        <p:nvSpPr>
          <p:cNvPr id="13" name="code-dot"/>
          <p:cNvSpPr/>
          <p:nvPr/>
        </p:nvSpPr>
        <p:spPr>
          <a:xfrm>
            <a:off x="877824" y="4142232"/>
            <a:ext cx="109728" cy="109728"/>
          </a:xfrm>
          <a:prstGeom prst="ellipse">
            <a:avLst/>
          </a:prstGeom>
          <a:solidFill>
            <a:schemeClr val="bg2">
              <a:alpha val="55000"/>
            </a:schemeClr>
          </a:solidFill>
          <a:ln w="12700">
            <a:solidFill>
              <a:schemeClr val="bg2">
                <a:alpha val="55000"/>
              </a:schemeClr>
            </a:solidFill>
            <a:prstDash val="solid"/>
          </a:ln>
        </p:spPr>
      </p:sp>
      <p:sp>
        <p:nvSpPr>
          <p:cNvPr id="14" name="code-dot"/>
          <p:cNvSpPr/>
          <p:nvPr/>
        </p:nvSpPr>
        <p:spPr>
          <a:xfrm>
            <a:off x="1060704" y="4142232"/>
            <a:ext cx="109728" cy="109728"/>
          </a:xfrm>
          <a:prstGeom prst="ellipse">
            <a:avLst/>
          </a:prstGeom>
          <a:solidFill>
            <a:schemeClr val="bg2">
              <a:alpha val="55000"/>
            </a:schemeClr>
          </a:solidFill>
          <a:ln w="12700">
            <a:solidFill>
              <a:schemeClr val="bg2">
                <a:alpha val="55000"/>
              </a:schemeClr>
            </a:solidFill>
            <a:prstDash val="solid"/>
          </a:ln>
        </p:spPr>
      </p:sp>
      <p:sp>
        <p:nvSpPr>
          <p:cNvPr id="15" name="Text 13"/>
          <p:cNvSpPr txBox="1"/>
          <p:nvPr/>
        </p:nvSpPr>
        <p:spPr>
          <a:xfrm>
            <a:off x="1298448" y="4059936"/>
            <a:ext cx="4572000" cy="27432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gen_ball_new.py · refine_balls_margin_guided</a:t>
            </a:r>
            <a:endParaRPr lang="en-US" sz="1100" dirty="0"/>
          </a:p>
        </p:txBody>
      </p:sp>
      <p:sp>
        <p:nvSpPr>
          <p:cNvPr id="16" name="code-body"/>
          <p:cNvSpPr/>
          <p:nvPr/>
        </p:nvSpPr>
        <p:spPr>
          <a:xfrm>
            <a:off x="585216" y="4370832"/>
            <a:ext cx="5413248" cy="1098550"/>
          </a:xfrm>
          <a:prstGeom prst="rect">
            <a:avLst/>
          </a:prstGeom>
          <a:solidFill>
            <a:schemeClr val="bg1"/>
          </a:solidFill>
          <a:ln w="12700">
            <a:solidFill>
              <a:schemeClr val="bg1"/>
            </a:solidFill>
            <a:prstDash val="solid"/>
          </a:ln>
        </p:spPr>
      </p:sp>
      <p:sp>
        <p:nvSpPr>
          <p:cNvPr id="17" name="code"/>
          <p:cNvSpPr txBox="1"/>
          <p:nvPr/>
        </p:nvSpPr>
        <p:spPr>
          <a:xfrm>
            <a:off x="676656" y="4462272"/>
            <a:ext cx="5230368" cy="952246"/>
          </a:xfrm>
          <a:prstGeom prst="rect">
            <a:avLst/>
          </a:prstGeom>
          <a:noFill/>
          <a:ln/>
        </p:spPr>
        <p:txBody>
          <a:bodyPr wrap="square" lIns="0" tIns="0" rIns="0" bIns="0" rtlCol="0" anchor="t"/>
          <a:lstStyle/>
          <a:p>
            <a:pPr indent="0" marL="0">
              <a:lnSpc>
                <a:spcPct val="100000"/>
              </a:lnSpc>
              <a:buNone/>
            </a:pPr>
            <a:r>
              <a:rPr lang="en-US" sz="1100" dirty="0">
                <a:solidFill>
                  <a:schemeClr val="tx1"/>
                </a:solidFill>
                <a:latin typeface="Courier New" pitchFamily="34" charset="0"/>
                <a:ea typeface="Courier New" pitchFamily="34" charset="-122"/>
                <a:cs typeface="Courier New" pitchFamily="34" charset="-120"/>
              </a:rPr>
              <a:t>gain = (parent.refinement_score</a:t>
            </a:r>
            <a:endParaRPr lang="en-US" sz="1100" dirty="0"/>
          </a:p>
          <a:p>
            <a:pPr indent="0" marL="0">
              <a:lnSpc>
                <a:spcPct val="100000"/>
              </a:lnSpc>
              <a:buNone/>
            </a:pPr>
            <a:r>
              <a:rPr lang="en-US" sz="1100" dirty="0">
                <a:solidFill>
                  <a:schemeClr val="tx1"/>
                </a:solidFill>
                <a:latin typeface="Courier New" pitchFamily="34" charset="0"/>
                <a:ea typeface="Courier New" pitchFamily="34" charset="-122"/>
                <a:cs typeface="Courier New" pitchFamily="34" charset="-120"/>
              </a:rPr>
              <a:t>        - weighted_child_score - complexity_penalty)</a:t>
            </a:r>
            <a:endParaRPr lang="en-US" sz="1100" dirty="0"/>
          </a:p>
          <a:p>
            <a:pPr indent="0" marL="0">
              <a:lnSpc>
                <a:spcPct val="100000"/>
              </a:lnSpc>
              <a:buNone/>
            </a:pPr>
            <a:r>
              <a:rPr lang="en-US" sz="1100" b="1" dirty="0">
                <a:solidFill>
                  <a:schemeClr val="accent3"/>
                </a:solidFill>
                <a:latin typeface="Courier New" pitchFamily="34" charset="0"/>
                <a:ea typeface="Courier New" pitchFamily="34" charset="-122"/>
                <a:cs typeface="Courier New" pitchFamily="34" charset="-120"/>
              </a:rPr>
              <a:t>if</a:t>
            </a:r>
            <a:r>
              <a:rPr lang="en-US" sz="1100" dirty="0">
                <a:solidFill>
                  <a:schemeClr val="tx1"/>
                </a:solidFill>
                <a:latin typeface="Courier New" pitchFamily="34" charset="0"/>
                <a:ea typeface="Courier New" pitchFamily="34" charset="-122"/>
                <a:cs typeface="Courier New" pitchFamily="34" charset="-120"/>
              </a:rPr>
              <a:t> gain &gt; min_gain:</a:t>
            </a:r>
            <a:endParaRPr lang="en-US" sz="1100" dirty="0"/>
          </a:p>
          <a:p>
            <a:pPr indent="0" marL="0">
              <a:lnSpc>
                <a:spcPct val="100000"/>
              </a:lnSpc>
              <a:buNone/>
            </a:pPr>
            <a:r>
              <a:rPr lang="en-US" sz="1100" dirty="0">
                <a:solidFill>
                  <a:schemeClr val="tx1"/>
                </a:solidFill>
                <a:latin typeface="Courier New" pitchFamily="34" charset="0"/>
                <a:ea typeface="Courier New" pitchFamily="34" charset="-122"/>
                <a:cs typeface="Courier New" pitchFamily="34" charset="-120"/>
              </a:rPr>
              <a:t>    gb.granular_balls[parent_index] = children[</a:t>
            </a:r>
            <a:r>
              <a:rPr lang="en-US" sz="1100" dirty="0">
                <a:solidFill>
                  <a:schemeClr val="accent4"/>
                </a:solidFill>
                <a:latin typeface="Courier New" pitchFamily="34" charset="0"/>
                <a:ea typeface="Courier New" pitchFamily="34" charset="-122"/>
                <a:cs typeface="Courier New" pitchFamily="34" charset="-120"/>
              </a:rPr>
              <a:t>0</a:t>
            </a:r>
            <a:r>
              <a:rPr lang="en-US" sz="1100" dirty="0">
                <a:solidFill>
                  <a:schemeClr val="tx1"/>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chemeClr val="tx1"/>
                </a:solidFill>
                <a:latin typeface="Courier New" pitchFamily="34" charset="0"/>
                <a:ea typeface="Courier New" pitchFamily="34" charset="-122"/>
                <a:cs typeface="Courier New" pitchFamily="34" charset="-120"/>
              </a:rPr>
              <a:t>    gb.granular_balls.append(children[</a:t>
            </a:r>
            <a:r>
              <a:rPr lang="en-US" sz="1100" dirty="0">
                <a:solidFill>
                  <a:schemeClr val="accent4"/>
                </a:solidFill>
                <a:latin typeface="Courier New" pitchFamily="34" charset="0"/>
                <a:ea typeface="Courier New" pitchFamily="34" charset="-122"/>
                <a:cs typeface="Courier New" pitchFamily="34" charset="-120"/>
              </a:rPr>
              <a:t>1</a:t>
            </a:r>
            <a:r>
              <a:rPr lang="en-US" sz="1100" dirty="0">
                <a:solidFill>
                  <a:schemeClr val="tx1"/>
                </a:solidFill>
                <a:latin typeface="Courier New" pitchFamily="34" charset="0"/>
                <a:ea typeface="Courier New" pitchFamily="34" charset="-122"/>
                <a:cs typeface="Courier New" pitchFamily="34" charset="-120"/>
              </a:rPr>
              <a:t>])</a:t>
            </a:r>
            <a:endParaRPr lang="en-US" sz="1100" dirty="0"/>
          </a:p>
        </p:txBody>
      </p:sp>
      <p:sp>
        <p:nvSpPr>
          <p:cNvPr id="18" name="code-frame"/>
          <p:cNvSpPr/>
          <p:nvPr/>
        </p:nvSpPr>
        <p:spPr>
          <a:xfrm>
            <a:off x="6263640" y="1463040"/>
            <a:ext cx="5349240" cy="1737360"/>
          </a:xfrm>
          <a:prstGeom prst="roundRect">
            <a:avLst>
              <a:gd name="adj" fmla="val 4211"/>
            </a:avLst>
          </a:prstGeom>
          <a:solidFill>
            <a:schemeClr val="tx2"/>
          </a:solidFill>
          <a:ln w="9525">
            <a:solidFill>
              <a:schemeClr val="tx2"/>
            </a:solidFill>
            <a:prstDash val="solid"/>
          </a:ln>
        </p:spPr>
      </p:sp>
      <p:sp>
        <p:nvSpPr>
          <p:cNvPr id="19" name="code-dot"/>
          <p:cNvSpPr/>
          <p:nvPr/>
        </p:nvSpPr>
        <p:spPr>
          <a:xfrm>
            <a:off x="6409944" y="1581912"/>
            <a:ext cx="109728" cy="109728"/>
          </a:xfrm>
          <a:prstGeom prst="ellipse">
            <a:avLst/>
          </a:prstGeom>
          <a:solidFill>
            <a:schemeClr val="bg2">
              <a:alpha val="55000"/>
            </a:schemeClr>
          </a:solidFill>
          <a:ln w="12700">
            <a:solidFill>
              <a:schemeClr val="bg2">
                <a:alpha val="55000"/>
              </a:schemeClr>
            </a:solidFill>
            <a:prstDash val="solid"/>
          </a:ln>
        </p:spPr>
      </p:sp>
      <p:sp>
        <p:nvSpPr>
          <p:cNvPr id="20" name="code-dot"/>
          <p:cNvSpPr/>
          <p:nvPr/>
        </p:nvSpPr>
        <p:spPr>
          <a:xfrm>
            <a:off x="6592824" y="1581912"/>
            <a:ext cx="109728" cy="109728"/>
          </a:xfrm>
          <a:prstGeom prst="ellipse">
            <a:avLst/>
          </a:prstGeom>
          <a:solidFill>
            <a:schemeClr val="bg2">
              <a:alpha val="55000"/>
            </a:schemeClr>
          </a:solidFill>
          <a:ln w="12700">
            <a:solidFill>
              <a:schemeClr val="bg2">
                <a:alpha val="55000"/>
              </a:schemeClr>
            </a:solidFill>
            <a:prstDash val="solid"/>
          </a:ln>
        </p:spPr>
      </p:sp>
      <p:sp>
        <p:nvSpPr>
          <p:cNvPr id="21" name="code-dot"/>
          <p:cNvSpPr/>
          <p:nvPr/>
        </p:nvSpPr>
        <p:spPr>
          <a:xfrm>
            <a:off x="6775704" y="1581912"/>
            <a:ext cx="109728" cy="109728"/>
          </a:xfrm>
          <a:prstGeom prst="ellipse">
            <a:avLst/>
          </a:prstGeom>
          <a:solidFill>
            <a:schemeClr val="bg2">
              <a:alpha val="55000"/>
            </a:schemeClr>
          </a:solidFill>
          <a:ln w="12700">
            <a:solidFill>
              <a:schemeClr val="bg2">
                <a:alpha val="55000"/>
              </a:schemeClr>
            </a:solidFill>
            <a:prstDash val="solid"/>
          </a:ln>
        </p:spPr>
      </p:sp>
      <p:sp>
        <p:nvSpPr>
          <p:cNvPr id="22" name="Text 20"/>
          <p:cNvSpPr txBox="1"/>
          <p:nvPr/>
        </p:nvSpPr>
        <p:spPr>
          <a:xfrm>
            <a:off x="7013448" y="1499616"/>
            <a:ext cx="4434840" cy="27432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gen_ball_new.py · _update_dynamic_metrics</a:t>
            </a:r>
            <a:endParaRPr lang="en-US" sz="1100" dirty="0"/>
          </a:p>
        </p:txBody>
      </p:sp>
      <p:sp>
        <p:nvSpPr>
          <p:cNvPr id="23" name="code-body"/>
          <p:cNvSpPr/>
          <p:nvPr/>
        </p:nvSpPr>
        <p:spPr>
          <a:xfrm>
            <a:off x="6300216" y="1810512"/>
            <a:ext cx="5276088" cy="1353312"/>
          </a:xfrm>
          <a:prstGeom prst="rect">
            <a:avLst/>
          </a:prstGeom>
          <a:solidFill>
            <a:schemeClr val="bg1"/>
          </a:solidFill>
          <a:ln w="12700">
            <a:solidFill>
              <a:schemeClr val="bg1"/>
            </a:solidFill>
            <a:prstDash val="solid"/>
          </a:ln>
        </p:spPr>
      </p:sp>
      <p:sp>
        <p:nvSpPr>
          <p:cNvPr id="24" name="code"/>
          <p:cNvSpPr txBox="1"/>
          <p:nvPr/>
        </p:nvSpPr>
        <p:spPr>
          <a:xfrm>
            <a:off x="6391656" y="1901952"/>
            <a:ext cx="5093208" cy="1207008"/>
          </a:xfrm>
          <a:prstGeom prst="rect">
            <a:avLst/>
          </a:prstGeom>
          <a:noFill/>
          <a:ln/>
        </p:spPr>
        <p:txBody>
          <a:bodyPr wrap="square" lIns="0" tIns="0" rIns="0" bIns="0" rtlCol="0" anchor="t"/>
          <a:lstStyle/>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boundary_signal = ((</a:t>
            </a:r>
            <a:r>
              <a:rPr lang="en-US" sz="1200" dirty="0">
                <a:solidFill>
                  <a:schemeClr val="accent4"/>
                </a:solidFill>
                <a:latin typeface="Courier New" pitchFamily="34" charset="0"/>
                <a:ea typeface="Courier New" pitchFamily="34" charset="-122"/>
                <a:cs typeface="Courier New" pitchFamily="34" charset="-120"/>
              </a:rPr>
              <a:t>1.0</a:t>
            </a:r>
            <a:r>
              <a:rPr lang="en-US" sz="1200" dirty="0">
                <a:solidFill>
                  <a:schemeClr val="tx1"/>
                </a:solidFill>
                <a:latin typeface="Courier New" pitchFamily="34" charset="0"/>
                <a:ea typeface="Courier New" pitchFamily="34" charset="-122"/>
                <a:cs typeface="Courier New" pitchFamily="34" charset="-120"/>
              </a:rPr>
              <a:t> - overlap_mix) * ball.ambiguity</a:t>
            </a:r>
            <a:endParaRPr lang="en-US" sz="1200" dirty="0"/>
          </a:p>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                   + overlap_mix * ball.overlap)</a:t>
            </a:r>
            <a:endParaRPr lang="en-US" sz="1200" dirty="0"/>
          </a:p>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ball.refinement_score = float(</a:t>
            </a:r>
            <a:endParaRPr lang="en-US" sz="1200" dirty="0"/>
          </a:p>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    (ball.entropy ** entropy_power)</a:t>
            </a:r>
            <a:endParaRPr lang="en-US" sz="1200" dirty="0"/>
          </a:p>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    * (boundary_signal ** boundary_power)</a:t>
            </a:r>
            <a:endParaRPr lang="en-US" sz="1200" dirty="0"/>
          </a:p>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    * ball.size_factor)</a:t>
            </a:r>
            <a:endParaRPr lang="en-US" sz="1200" dirty="0"/>
          </a:p>
        </p:txBody>
      </p:sp>
      <p:sp>
        <p:nvSpPr>
          <p:cNvPr id="25" name="card"/>
          <p:cNvSpPr/>
          <p:nvPr/>
        </p:nvSpPr>
        <p:spPr>
          <a:xfrm>
            <a:off x="6263640" y="4023360"/>
            <a:ext cx="5349240" cy="1463040"/>
          </a:xfrm>
          <a:prstGeom prst="roundRect">
            <a:avLst>
              <a:gd name="adj" fmla="val 6250"/>
            </a:avLst>
          </a:prstGeom>
          <a:solidFill>
            <a:schemeClr val="bg2"/>
          </a:solidFill>
          <a:ln w="9525">
            <a:solidFill>
              <a:schemeClr val="bg2"/>
            </a:solidFill>
            <a:prstDash val="solid"/>
          </a:ln>
        </p:spPr>
      </p:sp>
      <p:sp>
        <p:nvSpPr>
          <p:cNvPr id="26" name="Text 24"/>
          <p:cNvSpPr txBox="1"/>
          <p:nvPr/>
        </p:nvSpPr>
        <p:spPr>
          <a:xfrm>
            <a:off x="6446520" y="4114800"/>
            <a:ext cx="4983480" cy="1280160"/>
          </a:xfrm>
          <a:prstGeom prst="rect">
            <a:avLst/>
          </a:prstGeom>
          <a:noFill/>
          <a:ln/>
        </p:spPr>
        <p:txBody>
          <a:bodyPr wrap="square" lIns="0" tIns="0" rIns="0" bIns="0" rtlCol="0" anchor="ctr"/>
          <a:lstStyle/>
          <a:p>
            <a:pPr indent="0" marL="0">
              <a:buNone/>
            </a:pPr>
            <a:r>
              <a:rPr lang="en-US" sz="1300" b="1" dirty="0">
                <a:solidFill>
                  <a:schemeClr val="accent2"/>
                </a:solidFill>
              </a:rPr>
              <a:t>Note on the score: </a:t>
            </a:r>
            <a:r>
              <a:rPr lang="en-US" sz="1300" dirty="0">
                <a:solidFill>
                  <a:schemeClr val="tx1"/>
                </a:solidFill>
              </a:rPr>
              <a:t>the code in the zip still multiplies entropy by the boundary signal, so a pure boundary ball scores 0. The 29 Sep report switched to the additive form </a:t>
            </a:r>
            <a:r>
              <a:rPr lang="en-US" sz="1300" dirty="0">
                <a:solidFill>
                  <a:schemeClr val="tx1"/>
                </a:solidFill>
              </a:rPr>
              <a:t>S = Z[(1 − μ)H</a:t>
            </a:r>
            <a:r>
              <a:rPr lang="en-US" sz="1300" baseline="30000" dirty="0">
                <a:solidFill>
                  <a:schemeClr val="tx1"/>
                </a:solidFill>
              </a:rPr>
              <a:t>α</a:t>
            </a:r>
            <a:r>
              <a:rPr lang="en-US" sz="1300" dirty="0">
                <a:solidFill>
                  <a:schemeClr val="tx1"/>
                </a:solidFill>
              </a:rPr>
              <a:t> + μB</a:t>
            </a:r>
            <a:r>
              <a:rPr lang="en-US" sz="1300" baseline="30000" dirty="0">
                <a:solidFill>
                  <a:schemeClr val="tx1"/>
                </a:solidFill>
              </a:rPr>
              <a:t>β</a:t>
            </a:r>
            <a:r>
              <a:rPr lang="en-US" sz="1300" dirty="0">
                <a:solidFill>
                  <a:schemeClr val="tx1"/>
                </a:solidFill>
              </a:rPr>
              <a:t>]</a:t>
            </a:r>
            <a:r>
              <a:rPr lang="en-US" sz="1300" dirty="0">
                <a:solidFill>
                  <a:schemeClr val="tx1"/>
                </a:solidFill>
              </a:rPr>
              <a:t> and added a pure-margin path; that version is not in the zip.</a:t>
            </a:r>
            <a:endParaRPr lang="en-US" sz="1300" dirty="0"/>
          </a:p>
        </p:txBody>
      </p:sp>
      <p:sp>
        <p:nvSpPr>
          <p:cNvPr id="27"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28"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29" name="Text 27"/>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The split rule is greedy and cheap: one 2-means call and one score per candidate ball.</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M0–M3 CLASSIFIER-GUIDED BALLS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M2: weight each ball by how sure we are of its label</a:t>
            </a:r>
            <a:endParaRPr lang="en-US" sz="2800" dirty="0"/>
          </a:p>
        </p:txBody>
      </p:sp>
      <p:pic>
        <p:nvPicPr>
          <p:cNvPr id="4" name="Image 0" descr="M0 balls shaded by their M2 weight, with the provisional planes">    </p:cNvPr>
          <p:cNvPicPr>
            <a:picLocks noChangeAspect="1"/>
          </p:cNvPicPr>
          <p:nvPr/>
        </p:nvPicPr>
        <p:blipFill>
          <a:blip r:embed="rId1"/>
          <a:stretch>
            <a:fillRect/>
          </a:stretch>
        </p:blipFill>
        <p:spPr>
          <a:xfrm>
            <a:off x="548640" y="1417320"/>
            <a:ext cx="5257800" cy="3868864"/>
          </a:xfrm>
          <a:prstGeom prst="rect">
            <a:avLst/>
          </a:prstGeom>
        </p:spPr>
      </p:pic>
      <p:sp>
        <p:nvSpPr>
          <p:cNvPr id="5" name="formula"/>
          <p:cNvSpPr/>
          <p:nvPr/>
        </p:nvSpPr>
        <p:spPr>
          <a:xfrm>
            <a:off x="6035040" y="1463040"/>
            <a:ext cx="5577840" cy="2148840"/>
          </a:xfrm>
          <a:prstGeom prst="roundRect">
            <a:avLst>
              <a:gd name="adj" fmla="val 4255"/>
            </a:avLst>
          </a:prstGeom>
          <a:solidFill>
            <a:schemeClr val="bg2"/>
          </a:solidFill>
          <a:ln w="9525">
            <a:solidFill>
              <a:schemeClr val="bg2"/>
            </a:solidFill>
            <a:prstDash val="solid"/>
          </a:ln>
        </p:spPr>
      </p:sp>
      <p:sp>
        <p:nvSpPr>
          <p:cNvPr id="6" name="Text 3"/>
          <p:cNvSpPr txBox="1"/>
          <p:nvPr/>
        </p:nvSpPr>
        <p:spPr>
          <a:xfrm>
            <a:off x="6217920" y="1609344"/>
            <a:ext cx="5212080" cy="1911096"/>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θ</a:t>
            </a:r>
            <a:r>
              <a:rPr lang="en-US" sz="1400" baseline="-40000" dirty="0">
                <a:solidFill>
                  <a:schemeClr val="tx1"/>
                </a:solidFill>
              </a:rPr>
              <a:t>j</a:t>
            </a:r>
            <a:r>
              <a:rPr lang="en-US" sz="1400" dirty="0">
                <a:solidFill>
                  <a:schemeClr val="tx1"/>
                </a:solidFill>
              </a:rPr>
              <a:t> | data ~ Beta(k</a:t>
            </a:r>
            <a:r>
              <a:rPr lang="en-US" sz="1400" baseline="-40000" dirty="0">
                <a:solidFill>
                  <a:schemeClr val="tx1"/>
                </a:solidFill>
              </a:rPr>
              <a:t>j</a:t>
            </a:r>
            <a:r>
              <a:rPr lang="en-US" sz="1400" dirty="0">
                <a:solidFill>
                  <a:schemeClr val="tx1"/>
                </a:solidFill>
              </a:rPr>
              <a:t> + 1, n</a:t>
            </a:r>
            <a:r>
              <a:rPr lang="en-US" sz="1400" baseline="-40000" dirty="0">
                <a:solidFill>
                  <a:schemeClr val="tx1"/>
                </a:solidFill>
              </a:rPr>
              <a:t>j</a:t>
            </a:r>
            <a:r>
              <a:rPr lang="en-US" sz="1400" dirty="0">
                <a:solidFill>
                  <a:schemeClr val="tx1"/>
                </a:solidFill>
              </a:rPr>
              <a:t> − k</a:t>
            </a:r>
            <a:r>
              <a:rPr lang="en-US" sz="1400" baseline="-40000" dirty="0">
                <a:solidFill>
                  <a:schemeClr val="tx1"/>
                </a:solidFill>
              </a:rPr>
              <a:t>j</a:t>
            </a:r>
            <a:r>
              <a:rPr lang="en-US" sz="1400" dirty="0">
                <a:solidFill>
                  <a:schemeClr val="tx1"/>
                </a:solidFill>
              </a:rPr>
              <a:t> + 1),  reliability</a:t>
            </a:r>
            <a:r>
              <a:rPr lang="en-US" sz="1400" baseline="-40000" dirty="0">
                <a:solidFill>
                  <a:schemeClr val="tx1"/>
                </a:solidFill>
              </a:rPr>
              <a:t>j</a:t>
            </a:r>
            <a:r>
              <a:rPr lang="en-US" sz="1400" dirty="0">
                <a:solidFill>
                  <a:schemeClr val="tx1"/>
                </a:solidFill>
              </a:rPr>
              <a:t> = 2.5% quantile</a:t>
            </a:r>
            <a:endParaRPr lang="en-US" sz="1400" dirty="0"/>
          </a:p>
          <a:p>
            <a:pPr indent="0" marL="0">
              <a:spcAft>
                <a:spcPts val="400"/>
              </a:spcAft>
              <a:buNone/>
            </a:pPr>
            <a:r>
              <a:rPr lang="en-US" sz="1400" dirty="0">
                <a:solidFill>
                  <a:schemeClr val="tx1"/>
                </a:solidFill>
              </a:rPr>
              <a:t>w</a:t>
            </a:r>
            <a:r>
              <a:rPr lang="en-US" sz="1400" baseline="-40000" dirty="0">
                <a:solidFill>
                  <a:schemeClr val="tx1"/>
                </a:solidFill>
              </a:rPr>
              <a:t>j</a:t>
            </a:r>
            <a:r>
              <a:rPr lang="en-US" sz="1400" dirty="0">
                <a:solidFill>
                  <a:schemeClr val="tx1"/>
                </a:solidFill>
              </a:rPr>
              <a:t> = reliability</a:t>
            </a:r>
            <a:r>
              <a:rPr lang="en-US" sz="1400" baseline="-40000" dirty="0">
                <a:solidFill>
                  <a:schemeClr val="tx1"/>
                </a:solidFill>
              </a:rPr>
              <a:t>j</a:t>
            </a:r>
            <a:r>
              <a:rPr lang="en-US" sz="1400" dirty="0">
                <a:solidFill>
                  <a:schemeClr val="tx1"/>
                </a:solidFill>
              </a:rPr>
              <a:t> (1 + η B</a:t>
            </a:r>
            <a:r>
              <a:rPr lang="en-US" sz="1400" baseline="-40000" dirty="0">
                <a:solidFill>
                  <a:schemeClr val="tx1"/>
                </a:solidFill>
              </a:rPr>
              <a:t>j</a:t>
            </a:r>
            <a:r>
              <a:rPr lang="en-US" sz="1400" dirty="0">
                <a:solidFill>
                  <a:schemeClr val="tx1"/>
                </a:solidFill>
              </a:rPr>
              <a:t>)</a:t>
            </a:r>
            <a:endParaRPr lang="en-US" sz="1400" dirty="0"/>
          </a:p>
          <a:p>
            <a:pPr indent="0" marL="0">
              <a:spcAft>
                <a:spcPts val="400"/>
              </a:spcAft>
              <a:buNone/>
            </a:pPr>
            <a:r>
              <a:rPr lang="en-US" sz="1400" dirty="0">
                <a:solidFill>
                  <a:schemeClr val="tx1"/>
                </a:solidFill>
              </a:rPr>
              <a:t>w̃</a:t>
            </a:r>
            <a:r>
              <a:rPr lang="en-US" sz="1400" baseline="-40000" dirty="0">
                <a:solidFill>
                  <a:schemeClr val="tx1"/>
                </a:solidFill>
              </a:rPr>
              <a:t>j</a:t>
            </a:r>
            <a:r>
              <a:rPr lang="en-US" sz="1400" dirty="0">
                <a:solidFill>
                  <a:schemeClr val="tx1"/>
                </a:solidFill>
              </a:rPr>
              <a:t> = w</a:t>
            </a:r>
            <a:r>
              <a:rPr lang="en-US" sz="1400" baseline="-40000" dirty="0">
                <a:solidFill>
                  <a:schemeClr val="tx1"/>
                </a:solidFill>
              </a:rPr>
              <a:t>j</a:t>
            </a:r>
            <a:r>
              <a:rPr lang="en-US" sz="1400" baseline="30000" dirty="0">
                <a:solidFill>
                  <a:schemeClr val="tx1"/>
                </a:solidFill>
              </a:rPr>
              <a:t>p</a:t>
            </a:r>
            <a:r>
              <a:rPr lang="en-US" sz="1400" dirty="0">
                <a:solidFill>
                  <a:schemeClr val="tx1"/>
                </a:solidFill>
              </a:rPr>
              <a:t> / mean</a:t>
            </a:r>
            <a:r>
              <a:rPr lang="en-US" sz="1400" baseline="-40000" dirty="0">
                <a:solidFill>
                  <a:schemeClr val="tx1"/>
                </a:solidFill>
              </a:rPr>
              <a:t>class</a:t>
            </a:r>
            <a:r>
              <a:rPr lang="en-US" sz="1400" dirty="0">
                <a:solidFill>
                  <a:schemeClr val="tx1"/>
                </a:solidFill>
              </a:rPr>
              <a:t>(w</a:t>
            </a:r>
            <a:r>
              <a:rPr lang="en-US" sz="1400" baseline="30000" dirty="0">
                <a:solidFill>
                  <a:schemeClr val="tx1"/>
                </a:solidFill>
              </a:rPr>
              <a:t>p</a:t>
            </a:r>
            <a:r>
              <a:rPr lang="en-US" sz="1400" dirty="0">
                <a:solidFill>
                  <a:schemeClr val="tx1"/>
                </a:solidFill>
              </a:rPr>
              <a:t>)</a:t>
            </a:r>
            <a:endParaRPr lang="en-US" sz="1400" dirty="0"/>
          </a:p>
          <a:p>
            <a:pPr indent="0" marL="0">
              <a:spcBef>
                <a:spcPts val="600"/>
              </a:spcBef>
              <a:spcAft>
                <a:spcPts val="400"/>
              </a:spcAft>
              <a:buNone/>
            </a:pPr>
            <a:r>
              <a:rPr lang="en-US" sz="1200" dirty="0">
                <a:solidFill>
                  <a:schemeClr val="accent6"/>
                </a:solidFill>
              </a:rPr>
              <a:t>k = points agreeing with the label, n = ball size, B = boundary signal, η = boost. Weights go into the same weighted solve as CW.</a:t>
            </a:r>
            <a:endParaRPr lang="en-US" sz="1400" dirty="0"/>
          </a:p>
        </p:txBody>
      </p:sp>
      <p:sp>
        <p:nvSpPr>
          <p:cNvPr id="7" name="code-frame"/>
          <p:cNvSpPr/>
          <p:nvPr/>
        </p:nvSpPr>
        <p:spPr>
          <a:xfrm>
            <a:off x="6035040" y="3749040"/>
            <a:ext cx="5577840" cy="1782318"/>
          </a:xfrm>
          <a:prstGeom prst="roundRect">
            <a:avLst>
              <a:gd name="adj" fmla="val 4104"/>
            </a:avLst>
          </a:prstGeom>
          <a:solidFill>
            <a:schemeClr val="tx2"/>
          </a:solidFill>
          <a:ln w="9525">
            <a:solidFill>
              <a:schemeClr val="tx2"/>
            </a:solidFill>
            <a:prstDash val="solid"/>
          </a:ln>
        </p:spPr>
      </p:sp>
      <p:sp>
        <p:nvSpPr>
          <p:cNvPr id="8" name="code-dot"/>
          <p:cNvSpPr/>
          <p:nvPr/>
        </p:nvSpPr>
        <p:spPr>
          <a:xfrm>
            <a:off x="6181344" y="3867912"/>
            <a:ext cx="109728" cy="109728"/>
          </a:xfrm>
          <a:prstGeom prst="ellipse">
            <a:avLst/>
          </a:prstGeom>
          <a:solidFill>
            <a:schemeClr val="bg2">
              <a:alpha val="55000"/>
            </a:schemeClr>
          </a:solidFill>
          <a:ln w="12700">
            <a:solidFill>
              <a:schemeClr val="bg2">
                <a:alpha val="55000"/>
              </a:schemeClr>
            </a:solidFill>
            <a:prstDash val="solid"/>
          </a:ln>
        </p:spPr>
      </p:sp>
      <p:sp>
        <p:nvSpPr>
          <p:cNvPr id="9" name="code-dot"/>
          <p:cNvSpPr/>
          <p:nvPr/>
        </p:nvSpPr>
        <p:spPr>
          <a:xfrm>
            <a:off x="6364224" y="3867912"/>
            <a:ext cx="109728" cy="109728"/>
          </a:xfrm>
          <a:prstGeom prst="ellipse">
            <a:avLst/>
          </a:prstGeom>
          <a:solidFill>
            <a:schemeClr val="bg2">
              <a:alpha val="55000"/>
            </a:schemeClr>
          </a:solidFill>
          <a:ln w="12700">
            <a:solidFill>
              <a:schemeClr val="bg2">
                <a:alpha val="55000"/>
              </a:schemeClr>
            </a:solidFill>
            <a:prstDash val="solid"/>
          </a:ln>
        </p:spPr>
      </p:sp>
      <p:sp>
        <p:nvSpPr>
          <p:cNvPr id="10" name="code-dot"/>
          <p:cNvSpPr/>
          <p:nvPr/>
        </p:nvSpPr>
        <p:spPr>
          <a:xfrm>
            <a:off x="6547104" y="3867912"/>
            <a:ext cx="109728" cy="109728"/>
          </a:xfrm>
          <a:prstGeom prst="ellipse">
            <a:avLst/>
          </a:prstGeom>
          <a:solidFill>
            <a:schemeClr val="bg2">
              <a:alpha val="55000"/>
            </a:schemeClr>
          </a:solidFill>
          <a:ln w="12700">
            <a:solidFill>
              <a:schemeClr val="bg2">
                <a:alpha val="55000"/>
              </a:schemeClr>
            </a:solidFill>
            <a:prstDash val="solid"/>
          </a:ln>
        </p:spPr>
      </p:sp>
      <p:sp>
        <p:nvSpPr>
          <p:cNvPr id="11" name="Text 8"/>
          <p:cNvSpPr txBox="1"/>
          <p:nvPr/>
        </p:nvSpPr>
        <p:spPr>
          <a:xfrm>
            <a:off x="6784848" y="3785616"/>
            <a:ext cx="4663440" cy="27432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experiments/run_m0_m3.py · fit_model</a:t>
            </a:r>
            <a:endParaRPr lang="en-US" sz="1100" dirty="0"/>
          </a:p>
        </p:txBody>
      </p:sp>
      <p:sp>
        <p:nvSpPr>
          <p:cNvPr id="12" name="code-body"/>
          <p:cNvSpPr/>
          <p:nvPr/>
        </p:nvSpPr>
        <p:spPr>
          <a:xfrm>
            <a:off x="6071616" y="4096512"/>
            <a:ext cx="5504688" cy="1398270"/>
          </a:xfrm>
          <a:prstGeom prst="rect">
            <a:avLst/>
          </a:prstGeom>
          <a:solidFill>
            <a:schemeClr val="bg1"/>
          </a:solidFill>
          <a:ln w="12700">
            <a:solidFill>
              <a:schemeClr val="bg1"/>
            </a:solidFill>
            <a:prstDash val="solid"/>
          </a:ln>
        </p:spPr>
      </p:sp>
      <p:sp>
        <p:nvSpPr>
          <p:cNvPr id="13" name="code"/>
          <p:cNvSpPr txBox="1"/>
          <p:nvPr/>
        </p:nvSpPr>
        <p:spPr>
          <a:xfrm>
            <a:off x="6163056" y="4187952"/>
            <a:ext cx="5321808" cy="1251966"/>
          </a:xfrm>
          <a:prstGeom prst="rect">
            <a:avLst/>
          </a:prstGeom>
          <a:noFill/>
          <a:ln/>
        </p:spPr>
        <p:txBody>
          <a:bodyPr wrap="square" lIns="0" tIns="0" rIns="0" bIns="0" rtlCol="0" anchor="t"/>
          <a:lstStyle/>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weights_pos = class_mean_normalize(weights_pos)</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weights_neg = class_mean_normalize(weights_neg)</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w1, b1, w2, b2 = solve_cw_gblstsvm_systems(</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    A, R_pos, B, R_neg, args.c1, args.c2,</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    weights_pos, weights_neg,</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    weight_placement=args.weight_placement)</a:t>
            </a:r>
            <a:endParaRPr lang="en-US" sz="1250" dirty="0"/>
          </a:p>
        </p:txBody>
      </p:sp>
      <p:sp>
        <p:nvSpPr>
          <p:cNvPr id="14"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5"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6" name="Text 13"/>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M2 keeps the M0 balls and changes only how much each one counts in the solve.</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M0–M3 CLASSIFIER-GUIDED BALLS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A 2 × 2 design separates the two ideas</a:t>
            </a:r>
            <a:endParaRPr lang="en-US" sz="2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400800" cy="914400"/>
        </p:xfrm>
        <a:graphic>
          <a:graphicData uri="http://schemas.openxmlformats.org/drawingml/2006/table">
            <a:tbl>
              <a:tblPr/>
              <a:tblGrid>
                <a:gridCol w="822960"/>
                <a:gridCol w="2103120"/>
                <a:gridCol w="1645920"/>
                <a:gridCol w="1828800"/>
              </a:tblGrid>
              <a:tr h="475488">
                <a:tc>
                  <a:txBody>
                    <a:bodyPr/>
                    <a:lstStyle/>
                    <a:p>
                      <a:pPr indent="0" marL="0">
                        <a:buNone/>
                      </a:pPr>
                      <a:r>
                        <a:rPr lang="en-US" sz="1400" b="1" dirty="0">
                          <a:solidFill>
                            <a:schemeClr val="bg1"/>
                          </a:solidFill>
                        </a:rPr>
                        <a:t>Model</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Ball generation</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Weighting</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Tests</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475488">
                <a:tc>
                  <a:txBody>
                    <a:bodyPr/>
                    <a:lstStyle/>
                    <a:p>
                      <a:pPr indent="0" marL="0">
                        <a:buNone/>
                      </a:pPr>
                      <a:r>
                        <a:rPr lang="en-US" sz="1400" b="1" dirty="0">
                          <a:solidFill>
                            <a:schemeClr val="accent2"/>
                          </a:solidFill>
                        </a:rPr>
                        <a:t>M0</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purity splitting</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none</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baseline</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75488">
                <a:tc>
                  <a:txBody>
                    <a:bodyPr/>
                    <a:lstStyle/>
                    <a:p>
                      <a:pPr indent="0" marL="0">
                        <a:buNone/>
                      </a:pPr>
                      <a:r>
                        <a:rPr lang="en-US" sz="1400" b="1" dirty="0">
                          <a:solidFill>
                            <a:schemeClr val="tx1"/>
                          </a:solidFill>
                        </a:rPr>
                        <a:t>M1</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margin-guided refinement</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none</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does better splitting help?</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75488">
                <a:tc>
                  <a:txBody>
                    <a:bodyPr/>
                    <a:lstStyle/>
                    <a:p>
                      <a:pPr indent="0" marL="0">
                        <a:buNone/>
                      </a:pPr>
                      <a:r>
                        <a:rPr lang="en-US" sz="1400" b="1" dirty="0">
                          <a:solidFill>
                            <a:schemeClr val="tx1"/>
                          </a:solidFill>
                        </a:rPr>
                        <a:t>M2</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purity splitting</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reliability weights</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do weights help?</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75488">
                <a:tc>
                  <a:txBody>
                    <a:bodyPr/>
                    <a:lstStyle/>
                    <a:p>
                      <a:pPr indent="0" marL="0">
                        <a:buNone/>
                      </a:pPr>
                      <a:r>
                        <a:rPr lang="en-US" sz="1400" b="1" dirty="0">
                          <a:solidFill>
                            <a:schemeClr val="accent1"/>
                          </a:solidFill>
                        </a:rPr>
                        <a:t>M3</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margin-guided refinement</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reliability weights</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both together</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sp>
        <p:nvSpPr>
          <p:cNvPr id="5" name="card"/>
          <p:cNvSpPr/>
          <p:nvPr/>
        </p:nvSpPr>
        <p:spPr>
          <a:xfrm>
            <a:off x="548640" y="4023360"/>
            <a:ext cx="6400800" cy="1463040"/>
          </a:xfrm>
          <a:prstGeom prst="roundRect">
            <a:avLst>
              <a:gd name="adj" fmla="val 6250"/>
            </a:avLst>
          </a:prstGeom>
          <a:solidFill>
            <a:schemeClr val="bg2"/>
          </a:solidFill>
          <a:ln w="9525">
            <a:solidFill>
              <a:schemeClr val="bg2"/>
            </a:solidFill>
            <a:prstDash val="solid"/>
          </a:ln>
        </p:spPr>
      </p:sp>
      <p:sp>
        <p:nvSpPr>
          <p:cNvPr id="6" name="Text 3"/>
          <p:cNvSpPr txBox="1"/>
          <p:nvPr/>
        </p:nvSpPr>
        <p:spPr>
          <a:xfrm>
            <a:off x="731520" y="4114800"/>
            <a:ext cx="6035040" cy="1325880"/>
          </a:xfrm>
          <a:prstGeom prst="rect">
            <a:avLst/>
          </a:prstGeom>
          <a:noFill/>
          <a:ln/>
        </p:spPr>
        <p:txBody>
          <a:bodyPr wrap="square" lIns="0" tIns="0" rIns="0" bIns="0" rtlCol="0" anchor="t"/>
          <a:lstStyle/>
          <a:p>
            <a:pPr indent="0" marL="0">
              <a:buNone/>
            </a:pPr>
            <a:r>
              <a:rPr lang="en-US" sz="1300" b="1" dirty="0">
                <a:solidFill>
                  <a:schemeClr val="tx2"/>
                </a:solidFill>
              </a:rPr>
              <a:t>Leakage-safe tuning</a:t>
            </a:r>
            <a:endParaRPr lang="en-US" sz="1300" dirty="0"/>
          </a:p>
          <a:p>
            <a:pPr indent="0" marL="0">
              <a:buNone/>
            </a:pPr>
            <a:r>
              <a:rPr lang="en-US" sz="1300" dirty="0">
                <a:solidFill>
                  <a:schemeClr val="tx1"/>
                </a:solidFill>
              </a:rPr>
              <a:t>Test split held out once. Three CV stages on the training part: base (purity, c1, c2, deletion), margin (thresholds, mixes, powers, penalty, rounds) and weight (boost, power, placement). Scaling fitted on each training fold only.</a:t>
            </a:r>
            <a:endParaRPr lang="en-US" sz="1300" dirty="0"/>
          </a:p>
        </p:txBody>
      </p:sp>
      <p:sp>
        <p:nvSpPr>
          <p:cNvPr id="7" name="card"/>
          <p:cNvSpPr/>
          <p:nvPr/>
        </p:nvSpPr>
        <p:spPr>
          <a:xfrm>
            <a:off x="7178040" y="1463040"/>
            <a:ext cx="4434840" cy="4023360"/>
          </a:xfrm>
          <a:prstGeom prst="roundRect">
            <a:avLst>
              <a:gd name="adj" fmla="val 2273"/>
            </a:avLst>
          </a:prstGeom>
          <a:solidFill>
            <a:schemeClr val="bg2"/>
          </a:solidFill>
          <a:ln w="9525">
            <a:solidFill>
              <a:schemeClr val="bg2"/>
            </a:solidFill>
            <a:prstDash val="solid"/>
          </a:ln>
        </p:spPr>
      </p:sp>
      <p:sp>
        <p:nvSpPr>
          <p:cNvPr id="8" name="Text 5"/>
          <p:cNvSpPr txBox="1"/>
          <p:nvPr/>
        </p:nvSpPr>
        <p:spPr>
          <a:xfrm>
            <a:off x="7360920" y="1600200"/>
            <a:ext cx="4114800" cy="320040"/>
          </a:xfrm>
          <a:prstGeom prst="rect">
            <a:avLst/>
          </a:prstGeom>
          <a:noFill/>
          <a:ln/>
        </p:spPr>
        <p:txBody>
          <a:bodyPr wrap="square" lIns="0" tIns="0" rIns="0" bIns="0" rtlCol="0" anchor="t"/>
          <a:lstStyle/>
          <a:p>
            <a:pPr indent="0" marL="0">
              <a:buNone/>
            </a:pPr>
            <a:r>
              <a:rPr lang="en-US" sz="1600" b="1" dirty="0">
                <a:solidFill>
                  <a:schemeClr val="tx2"/>
                </a:solidFill>
              </a:rPr>
              <a:t>Diagnostics recorded per run</a:t>
            </a:r>
            <a:endParaRPr lang="en-US" sz="1600" dirty="0"/>
          </a:p>
        </p:txBody>
      </p:sp>
      <p:sp>
        <p:nvSpPr>
          <p:cNvPr id="9" name="Text 6"/>
          <p:cNvSpPr txBox="1"/>
          <p:nvPr/>
        </p:nvSpPr>
        <p:spPr>
          <a:xfrm>
            <a:off x="7360920" y="2057400"/>
            <a:ext cx="4114800" cy="329184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tx1"/>
                </a:solidFill>
              </a:rPr>
              <a:t>number of balls</a:t>
            </a:r>
            <a:endParaRPr lang="en-US" sz="1400" dirty="0"/>
          </a:p>
          <a:p>
            <a:pPr marL="203200" indent="-203200">
              <a:spcAft>
                <a:spcPts val="700"/>
              </a:spcAft>
              <a:buSzPct val="100000"/>
              <a:buChar char="•"/>
            </a:pPr>
            <a:r>
              <a:rPr lang="en-US" sz="1400" dirty="0">
                <a:solidFill>
                  <a:schemeClr val="tx1"/>
                </a:solidFill>
              </a:rPr>
              <a:t>attempted and accepted splits</a:t>
            </a:r>
            <a:endParaRPr lang="en-US" sz="1400" dirty="0"/>
          </a:p>
          <a:p>
            <a:pPr marL="203200" indent="-203200">
              <a:spcAft>
                <a:spcPts val="700"/>
              </a:spcAft>
              <a:buSzPct val="100000"/>
              <a:buChar char="•"/>
            </a:pPr>
            <a:r>
              <a:rPr lang="en-US" sz="1400" dirty="0">
                <a:solidFill>
                  <a:schemeClr val="tx1"/>
                </a:solidFill>
              </a:rPr>
              <a:t>mean and max plane ambiguity</a:t>
            </a:r>
            <a:endParaRPr lang="en-US" sz="1400" dirty="0"/>
          </a:p>
          <a:p>
            <a:pPr marL="203200" indent="-203200">
              <a:spcAft>
                <a:spcPts val="700"/>
              </a:spcAft>
              <a:buSzPct val="100000"/>
              <a:buChar char="•"/>
            </a:pPr>
            <a:r>
              <a:rPr lang="en-US" sz="1400" dirty="0">
                <a:solidFill>
                  <a:schemeClr val="tx1"/>
                </a:solidFill>
              </a:rPr>
              <a:t>spread of refinement scores</a:t>
            </a:r>
            <a:endParaRPr lang="en-US" sz="1400" dirty="0"/>
          </a:p>
          <a:p>
            <a:pPr marL="203200" indent="-203200">
              <a:spcAft>
                <a:spcPts val="700"/>
              </a:spcAft>
              <a:buSzPct val="100000"/>
              <a:buChar char="•"/>
            </a:pPr>
            <a:r>
              <a:rPr lang="en-US" sz="1400" dirty="0">
                <a:solidFill>
                  <a:schemeClr val="tx1"/>
                </a:solidFill>
              </a:rPr>
              <a:t>weight spread, within each class</a:t>
            </a:r>
            <a:endParaRPr lang="en-US" sz="1400" dirty="0"/>
          </a:p>
          <a:p>
            <a:pPr marL="203200" indent="-203200">
              <a:spcAft>
                <a:spcPts val="700"/>
              </a:spcAft>
              <a:buSzPct val="100000"/>
              <a:buChar char="•"/>
            </a:pPr>
            <a:r>
              <a:rPr lang="en-US" sz="1400" dirty="0">
                <a:solidFill>
                  <a:schemeClr val="tx1"/>
                </a:solidFill>
              </a:rPr>
              <a:t>share of test predictions that change between two models</a:t>
            </a:r>
            <a:endParaRPr lang="en-US" sz="1400" dirty="0"/>
          </a:p>
        </p:txBody>
      </p:sp>
      <p:sp>
        <p:nvSpPr>
          <p:cNvPr id="10"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1"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2" name="Text 9"/>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The diagnostics show whether a mechanism actually changed the balls, the weights or the predictions.</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M0–M3 CLASSIFIER-GUIDED BALLS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Breast cancer: M1 lifted accuracy, weights added nothing</a:t>
            </a:r>
            <a:endParaRPr lang="en-US" sz="2800" dirty="0"/>
          </a:p>
        </p:txBody>
      </p:sp>
      <p:graphicFrame>
        <p:nvGraphicFramePr>
          <p:cNvPr id="4" name="Chart 0" descr=""/>
          <p:cNvGraphicFramePr/>
          <p:nvPr/>
        </p:nvGraphicFramePr>
        <p:xfrm>
          <a:off x="548640" y="1417320"/>
          <a:ext cx="6035040" cy="4114800"/>
        </p:xfrm>
        <a:graphic xmlns:a="http://schemas.openxmlformats.org/drawingml/2006/main">
          <a:graphicData uri="http://schemas.openxmlformats.org/drawingml/2006/chart">
            <c:chart xmlns:c="http://schemas.openxmlformats.org/drawingml/2006/chart" r:id="rId1"/>
          </a:graphicData>
        </a:graphic>
      </p:graphicFrame>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812280" y="1463040"/>
          <a:ext cx="4800600" cy="914400"/>
        </p:xfrm>
        <a:graphic>
          <a:graphicData uri="http://schemas.openxmlformats.org/drawingml/2006/table">
            <a:tbl>
              <a:tblPr/>
              <a:tblGrid>
                <a:gridCol w="2377440"/>
                <a:gridCol w="2423160"/>
              </a:tblGrid>
              <a:tr h="329184">
                <a:tc>
                  <a:txBody>
                    <a:bodyPr/>
                    <a:lstStyle/>
                    <a:p>
                      <a:pPr indent="0" marL="0">
                        <a:buNone/>
                      </a:pPr>
                      <a:r>
                        <a:rPr lang="en-US" sz="1300" b="1" dirty="0">
                          <a:solidFill>
                            <a:schemeClr val="bg1"/>
                          </a:solidFill>
                        </a:rPr>
                        <a:t>Pair</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Predictions changed</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329184">
                <a:tc>
                  <a:txBody>
                    <a:bodyPr/>
                    <a:lstStyle/>
                    <a:p>
                      <a:pPr indent="0" marL="0">
                        <a:buNone/>
                      </a:pPr>
                      <a:r>
                        <a:rPr lang="en-US" sz="1300" dirty="0">
                          <a:solidFill>
                            <a:schemeClr val="tx1"/>
                          </a:solidFill>
                        </a:rPr>
                        <a:t>M0 vs M1</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14.04%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29184">
                <a:tc>
                  <a:txBody>
                    <a:bodyPr/>
                    <a:lstStyle/>
                    <a:p>
                      <a:pPr indent="0" marL="0">
                        <a:buNone/>
                      </a:pPr>
                      <a:r>
                        <a:rPr lang="en-US" sz="1300" dirty="0">
                          <a:solidFill>
                            <a:schemeClr val="tx1"/>
                          </a:solidFill>
                        </a:rPr>
                        <a:t>M0 vs M2</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0.88%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29184">
                <a:tc>
                  <a:txBody>
                    <a:bodyPr/>
                    <a:lstStyle/>
                    <a:p>
                      <a:pPr indent="0" marL="0">
                        <a:buNone/>
                      </a:pPr>
                      <a:r>
                        <a:rPr lang="en-US" sz="1300" dirty="0">
                          <a:solidFill>
                            <a:schemeClr val="tx1"/>
                          </a:solidFill>
                        </a:rPr>
                        <a:t>M1 vs M3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0.00%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29184">
                <a:tc>
                  <a:txBody>
                    <a:bodyPr/>
                    <a:lstStyle/>
                    <a:p>
                      <a:pPr indent="0" marL="0">
                        <a:buNone/>
                      </a:pPr>
                      <a:r>
                        <a:rPr lang="en-US" sz="1300" dirty="0">
                          <a:solidFill>
                            <a:schemeClr val="tx1"/>
                          </a:solidFill>
                        </a:rPr>
                        <a:t>M2 vs M3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13.16%</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sp>
        <p:nvSpPr>
          <p:cNvPr id="6" name="Text 2"/>
          <p:cNvSpPr txBox="1"/>
          <p:nvPr/>
        </p:nvSpPr>
        <p:spPr>
          <a:xfrm>
            <a:off x="6812280" y="3200400"/>
            <a:ext cx="4800600" cy="274320"/>
          </a:xfrm>
          <a:prstGeom prst="rect">
            <a:avLst/>
          </a:prstGeom>
          <a:noFill/>
          <a:ln/>
        </p:spPr>
        <p:txBody>
          <a:bodyPr wrap="square" lIns="0" tIns="0" rIns="0" bIns="0" rtlCol="0" anchor="t"/>
          <a:lstStyle/>
          <a:p>
            <a:pPr indent="0" marL="0">
              <a:buNone/>
            </a:pPr>
            <a:r>
              <a:rPr lang="en-US" sz="1200" i="1" dirty="0">
                <a:solidFill>
                  <a:schemeClr val="accent6"/>
                </a:solidFill>
              </a:rPr>
              <a:t>Balls: M0 and M2 12, M1 and M3 3 (one accepted split).</a:t>
            </a:r>
            <a:endParaRPr lang="en-US" sz="1200" dirty="0"/>
          </a:p>
        </p:txBody>
      </p:sp>
      <p:sp>
        <p:nvSpPr>
          <p:cNvPr id="7" name="card"/>
          <p:cNvSpPr/>
          <p:nvPr/>
        </p:nvSpPr>
        <p:spPr>
          <a:xfrm>
            <a:off x="6812280" y="3611880"/>
            <a:ext cx="4800600" cy="1874520"/>
          </a:xfrm>
          <a:prstGeom prst="roundRect">
            <a:avLst>
              <a:gd name="adj" fmla="val 4878"/>
            </a:avLst>
          </a:prstGeom>
          <a:solidFill>
            <a:schemeClr val="bg2"/>
          </a:solidFill>
          <a:ln w="9525">
            <a:solidFill>
              <a:schemeClr val="bg2"/>
            </a:solidFill>
            <a:prstDash val="solid"/>
          </a:ln>
        </p:spPr>
      </p:sp>
      <p:sp>
        <p:nvSpPr>
          <p:cNvPr id="8" name="Text 4"/>
          <p:cNvSpPr txBox="1"/>
          <p:nvPr/>
        </p:nvSpPr>
        <p:spPr>
          <a:xfrm>
            <a:off x="6995160" y="3703320"/>
            <a:ext cx="4434840" cy="1691640"/>
          </a:xfrm>
          <a:prstGeom prst="rect">
            <a:avLst/>
          </a:prstGeom>
          <a:noFill/>
          <a:ln/>
        </p:spPr>
        <p:txBody>
          <a:bodyPr wrap="square" lIns="0" tIns="0" rIns="0" bIns="0" rtlCol="0" anchor="t"/>
          <a:lstStyle/>
          <a:p>
            <a:pPr indent="0" marL="0">
              <a:buNone/>
            </a:pPr>
            <a:r>
              <a:rPr lang="en-US" sz="1300" b="1" dirty="0">
                <a:solidFill>
                  <a:schemeClr val="accent2"/>
                </a:solidFill>
              </a:rPr>
              <a:t>Caveats</a:t>
            </a:r>
            <a:endParaRPr lang="en-US" sz="1300" dirty="0"/>
          </a:p>
          <a:p>
            <a:pPr indent="0" marL="0">
              <a:buNone/>
            </a:pPr>
            <a:r>
              <a:rPr lang="en-US" sz="1300" dirty="0">
                <a:solidFill>
                  <a:schemeClr val="tx1"/>
                </a:solidFill>
              </a:rPr>
              <a:t>One dataset and one split, so not a general claim. In the untuned runs saved in the zip (scikit-learn breast cancer, purity 0.95), M1 accepted no splits and M2 lowered test macro F1 from 0.697 to 0.638.</a:t>
            </a:r>
            <a:endParaRPr lang="en-US" sz="1300" dirty="0"/>
          </a:p>
        </p:txBody>
      </p:sp>
      <p:sp>
        <p:nvSpPr>
          <p:cNvPr id="9"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0"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1" name="Text 7"/>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M1 raised accuracy from 87.7% to 94.7% on one split; M2 moved under 1% of predictions.</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WRAP-UP</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Related work that limits what we can claim</a:t>
            </a:r>
            <a:endParaRPr lang="en-US" sz="2800" dirty="0"/>
          </a:p>
        </p:txBody>
      </p:sp>
      <p:sp>
        <p:nvSpPr>
          <p:cNvPr id="4" name="paper"/>
          <p:cNvSpPr/>
          <p:nvPr/>
        </p:nvSpPr>
        <p:spPr>
          <a:xfrm>
            <a:off x="548640" y="1463040"/>
            <a:ext cx="5440680" cy="731520"/>
          </a:xfrm>
          <a:prstGeom prst="roundRect">
            <a:avLst>
              <a:gd name="adj" fmla="val 12500"/>
            </a:avLst>
          </a:prstGeom>
          <a:solidFill>
            <a:schemeClr val="bg2"/>
          </a:solidFill>
          <a:ln w="9525">
            <a:solidFill>
              <a:schemeClr val="bg2"/>
            </a:solidFill>
            <a:prstDash val="solid"/>
          </a:ln>
        </p:spPr>
      </p:sp>
      <p:sp>
        <p:nvSpPr>
          <p:cNvPr id="5" name="Text 3"/>
          <p:cNvSpPr txBox="1"/>
          <p:nvPr/>
        </p:nvSpPr>
        <p:spPr>
          <a:xfrm>
            <a:off x="731520" y="1517904"/>
            <a:ext cx="5120640" cy="640080"/>
          </a:xfrm>
          <a:prstGeom prst="rect">
            <a:avLst/>
          </a:prstGeom>
          <a:noFill/>
          <a:ln/>
        </p:spPr>
        <p:txBody>
          <a:bodyPr wrap="square" lIns="0" tIns="0" rIns="0" bIns="0" rtlCol="0" anchor="ctr"/>
          <a:lstStyle/>
          <a:p>
            <a:pPr indent="0" marL="0">
              <a:buNone/>
            </a:pPr>
            <a:r>
              <a:rPr lang="en-US" sz="1300" b="1" dirty="0">
                <a:solidFill>
                  <a:schemeClr val="tx2"/>
                </a:solidFill>
              </a:rPr>
              <a:t>GBLSTSVM [4]</a:t>
            </a:r>
            <a:endParaRPr lang="en-US" sz="1300" dirty="0"/>
          </a:p>
          <a:p>
            <a:pPr indent="0" marL="0">
              <a:buNone/>
            </a:pPr>
            <a:r>
              <a:rPr lang="en-US" sz="1300" dirty="0">
                <a:solidFill>
                  <a:schemeClr val="tx1"/>
                </a:solidFill>
              </a:rPr>
              <a:t>the baseline: LSTSVM trained on ball centres and radii</a:t>
            </a:r>
            <a:endParaRPr lang="en-US" sz="1300" dirty="0"/>
          </a:p>
        </p:txBody>
      </p:sp>
      <p:sp>
        <p:nvSpPr>
          <p:cNvPr id="6" name="paper"/>
          <p:cNvSpPr/>
          <p:nvPr/>
        </p:nvSpPr>
        <p:spPr>
          <a:xfrm>
            <a:off x="548640" y="2286000"/>
            <a:ext cx="5440680" cy="731520"/>
          </a:xfrm>
          <a:prstGeom prst="roundRect">
            <a:avLst>
              <a:gd name="adj" fmla="val 12500"/>
            </a:avLst>
          </a:prstGeom>
          <a:solidFill>
            <a:schemeClr val="bg2"/>
          </a:solidFill>
          <a:ln w="9525">
            <a:solidFill>
              <a:schemeClr val="bg2"/>
            </a:solidFill>
            <a:prstDash val="solid"/>
          </a:ln>
        </p:spPr>
      </p:sp>
      <p:sp>
        <p:nvSpPr>
          <p:cNvPr id="7" name="Text 5"/>
          <p:cNvSpPr txBox="1"/>
          <p:nvPr/>
        </p:nvSpPr>
        <p:spPr>
          <a:xfrm>
            <a:off x="731520" y="2340864"/>
            <a:ext cx="5120640" cy="640080"/>
          </a:xfrm>
          <a:prstGeom prst="rect">
            <a:avLst/>
          </a:prstGeom>
          <a:noFill/>
          <a:ln/>
        </p:spPr>
        <p:txBody>
          <a:bodyPr wrap="square" lIns="0" tIns="0" rIns="0" bIns="0" rtlCol="0" anchor="ctr"/>
          <a:lstStyle/>
          <a:p>
            <a:pPr indent="0" marL="0">
              <a:buNone/>
            </a:pPr>
            <a:r>
              <a:rPr lang="en-US" sz="1300" b="1" dirty="0">
                <a:solidFill>
                  <a:schemeClr val="tx2"/>
                </a:solidFill>
              </a:rPr>
              <a:t>ADPGBG [5]</a:t>
            </a:r>
            <a:endParaRPr lang="en-US" sz="1300" dirty="0"/>
          </a:p>
          <a:p>
            <a:pPr indent="0" marL="0">
              <a:buNone/>
            </a:pPr>
            <a:r>
              <a:rPr lang="en-US" sz="1300" dirty="0">
                <a:solidFill>
                  <a:schemeClr val="tx1"/>
                </a:solidFill>
              </a:rPr>
              <a:t>better ball generation is an established direction</a:t>
            </a:r>
            <a:endParaRPr lang="en-US" sz="1300" dirty="0"/>
          </a:p>
        </p:txBody>
      </p:sp>
      <p:sp>
        <p:nvSpPr>
          <p:cNvPr id="8" name="paper"/>
          <p:cNvSpPr/>
          <p:nvPr/>
        </p:nvSpPr>
        <p:spPr>
          <a:xfrm>
            <a:off x="548640" y="3108960"/>
            <a:ext cx="5440680" cy="731520"/>
          </a:xfrm>
          <a:prstGeom prst="roundRect">
            <a:avLst>
              <a:gd name="adj" fmla="val 12500"/>
            </a:avLst>
          </a:prstGeom>
          <a:solidFill>
            <a:schemeClr val="bg2"/>
          </a:solidFill>
          <a:ln w="9525">
            <a:solidFill>
              <a:schemeClr val="bg2"/>
            </a:solidFill>
            <a:prstDash val="solid"/>
          </a:ln>
        </p:spPr>
      </p:sp>
      <p:sp>
        <p:nvSpPr>
          <p:cNvPr id="9" name="Text 7"/>
          <p:cNvSpPr txBox="1"/>
          <p:nvPr/>
        </p:nvSpPr>
        <p:spPr>
          <a:xfrm>
            <a:off x="731520" y="3163824"/>
            <a:ext cx="5120640" cy="640080"/>
          </a:xfrm>
          <a:prstGeom prst="rect">
            <a:avLst/>
          </a:prstGeom>
          <a:noFill/>
          <a:ln/>
        </p:spPr>
        <p:txBody>
          <a:bodyPr wrap="square" lIns="0" tIns="0" rIns="0" bIns="0" rtlCol="0" anchor="ctr"/>
          <a:lstStyle/>
          <a:p>
            <a:pPr indent="0" marL="0">
              <a:buNone/>
            </a:pPr>
            <a:r>
              <a:rPr lang="en-US" sz="1300" b="1" dirty="0">
                <a:solidFill>
                  <a:schemeClr val="tx2"/>
                </a:solidFill>
              </a:rPr>
              <a:t>GBG++ [6]</a:t>
            </a:r>
            <a:endParaRPr lang="en-US" sz="1300" dirty="0"/>
          </a:p>
          <a:p>
            <a:pPr indent="0" marL="0">
              <a:buNone/>
            </a:pPr>
            <a:r>
              <a:rPr lang="en-US" sz="1300" dirty="0">
                <a:solidFill>
                  <a:schemeClr val="tx1"/>
                </a:solidFill>
              </a:rPr>
              <a:t>fast, stable generation without k-means</a:t>
            </a:r>
            <a:endParaRPr lang="en-US" sz="1300" dirty="0"/>
          </a:p>
        </p:txBody>
      </p:sp>
      <p:sp>
        <p:nvSpPr>
          <p:cNvPr id="10" name="paper"/>
          <p:cNvSpPr/>
          <p:nvPr/>
        </p:nvSpPr>
        <p:spPr>
          <a:xfrm>
            <a:off x="548640" y="3931920"/>
            <a:ext cx="5440680" cy="731520"/>
          </a:xfrm>
          <a:prstGeom prst="roundRect">
            <a:avLst>
              <a:gd name="adj" fmla="val 12500"/>
            </a:avLst>
          </a:prstGeom>
          <a:solidFill>
            <a:schemeClr val="bg2"/>
          </a:solidFill>
          <a:ln w="9525">
            <a:solidFill>
              <a:schemeClr val="bg2"/>
            </a:solidFill>
            <a:prstDash val="solid"/>
          </a:ln>
        </p:spPr>
      </p:sp>
      <p:sp>
        <p:nvSpPr>
          <p:cNvPr id="11" name="Text 9"/>
          <p:cNvSpPr txBox="1"/>
          <p:nvPr/>
        </p:nvSpPr>
        <p:spPr>
          <a:xfrm>
            <a:off x="731520" y="3986784"/>
            <a:ext cx="5120640" cy="640080"/>
          </a:xfrm>
          <a:prstGeom prst="rect">
            <a:avLst/>
          </a:prstGeom>
          <a:noFill/>
          <a:ln/>
        </p:spPr>
        <p:txBody>
          <a:bodyPr wrap="square" lIns="0" tIns="0" rIns="0" bIns="0" rtlCol="0" anchor="ctr"/>
          <a:lstStyle/>
          <a:p>
            <a:pPr indent="0" marL="0">
              <a:buNone/>
            </a:pPr>
            <a:r>
              <a:rPr lang="en-US" sz="1300" b="1" dirty="0">
                <a:solidFill>
                  <a:schemeClr val="tx2"/>
                </a:solidFill>
              </a:rPr>
              <a:t>Shadowed balls [7]</a:t>
            </a:r>
            <a:endParaRPr lang="en-US" sz="1300" dirty="0"/>
          </a:p>
          <a:p>
            <a:pPr indent="0" marL="0">
              <a:buNone/>
            </a:pPr>
            <a:r>
              <a:rPr lang="en-US" sz="1300" dirty="0">
                <a:solidFill>
                  <a:schemeClr val="tx1"/>
                </a:solidFill>
              </a:rPr>
              <a:t>entropy and three-way decisions on balls: entropy alone is not new</a:t>
            </a:r>
            <a:endParaRPr lang="en-US" sz="1300" dirty="0"/>
          </a:p>
        </p:txBody>
      </p:sp>
      <p:sp>
        <p:nvSpPr>
          <p:cNvPr id="12" name="paper"/>
          <p:cNvSpPr/>
          <p:nvPr/>
        </p:nvSpPr>
        <p:spPr>
          <a:xfrm>
            <a:off x="548640" y="4754880"/>
            <a:ext cx="5440680" cy="731520"/>
          </a:xfrm>
          <a:prstGeom prst="roundRect">
            <a:avLst>
              <a:gd name="adj" fmla="val 12500"/>
            </a:avLst>
          </a:prstGeom>
          <a:solidFill>
            <a:schemeClr val="bg2"/>
          </a:solidFill>
          <a:ln w="9525">
            <a:solidFill>
              <a:schemeClr val="bg2"/>
            </a:solidFill>
            <a:prstDash val="solid"/>
          </a:ln>
        </p:spPr>
      </p:sp>
      <p:sp>
        <p:nvSpPr>
          <p:cNvPr id="13" name="Text 11"/>
          <p:cNvSpPr txBox="1"/>
          <p:nvPr/>
        </p:nvSpPr>
        <p:spPr>
          <a:xfrm>
            <a:off x="731520" y="4809744"/>
            <a:ext cx="5120640" cy="640080"/>
          </a:xfrm>
          <a:prstGeom prst="rect">
            <a:avLst/>
          </a:prstGeom>
          <a:noFill/>
          <a:ln/>
        </p:spPr>
        <p:txBody>
          <a:bodyPr wrap="square" lIns="0" tIns="0" rIns="0" bIns="0" rtlCol="0" anchor="ctr"/>
          <a:lstStyle/>
          <a:p>
            <a:pPr indent="0" marL="0">
              <a:buNone/>
            </a:pPr>
            <a:r>
              <a:rPr lang="en-US" sz="1300" b="1" dirty="0">
                <a:solidFill>
                  <a:schemeClr val="tx2"/>
                </a:solidFill>
              </a:rPr>
              <a:t>Local-density balls [8]</a:t>
            </a:r>
            <a:endParaRPr lang="en-US" sz="1300" dirty="0"/>
          </a:p>
          <a:p>
            <a:pPr indent="0" marL="0">
              <a:buNone/>
            </a:pPr>
            <a:r>
              <a:rPr lang="en-US" sz="1300" dirty="0">
                <a:solidFill>
                  <a:schemeClr val="tx1"/>
                </a:solidFill>
              </a:rPr>
              <a:t>density-chosen centres</a:t>
            </a:r>
            <a:endParaRPr lang="en-US" sz="1300" dirty="0"/>
          </a:p>
        </p:txBody>
      </p:sp>
      <p:sp>
        <p:nvSpPr>
          <p:cNvPr id="14" name="paper"/>
          <p:cNvSpPr/>
          <p:nvPr/>
        </p:nvSpPr>
        <p:spPr>
          <a:xfrm>
            <a:off x="6172200" y="1463040"/>
            <a:ext cx="5440680" cy="731520"/>
          </a:xfrm>
          <a:prstGeom prst="roundRect">
            <a:avLst>
              <a:gd name="adj" fmla="val 12500"/>
            </a:avLst>
          </a:prstGeom>
          <a:solidFill>
            <a:schemeClr val="bg2"/>
          </a:solidFill>
          <a:ln w="9525">
            <a:solidFill>
              <a:schemeClr val="bg2"/>
            </a:solidFill>
            <a:prstDash val="solid"/>
          </a:ln>
        </p:spPr>
      </p:sp>
      <p:sp>
        <p:nvSpPr>
          <p:cNvPr id="15" name="Text 13"/>
          <p:cNvSpPr txBox="1"/>
          <p:nvPr/>
        </p:nvSpPr>
        <p:spPr>
          <a:xfrm>
            <a:off x="6355080" y="1517904"/>
            <a:ext cx="5120640" cy="640080"/>
          </a:xfrm>
          <a:prstGeom prst="rect">
            <a:avLst/>
          </a:prstGeom>
          <a:noFill/>
          <a:ln/>
        </p:spPr>
        <p:txBody>
          <a:bodyPr wrap="square" lIns="0" tIns="0" rIns="0" bIns="0" rtlCol="0" anchor="ctr"/>
          <a:lstStyle/>
          <a:p>
            <a:pPr indent="0" marL="0">
              <a:buNone/>
            </a:pPr>
            <a:r>
              <a:rPr lang="en-US" sz="1300" b="1" dirty="0">
                <a:solidFill>
                  <a:schemeClr val="tx2"/>
                </a:solidFill>
              </a:rPr>
              <a:t>Granularity tuning [9]</a:t>
            </a:r>
            <a:endParaRPr lang="en-US" sz="1300" dirty="0"/>
          </a:p>
          <a:p>
            <a:pPr indent="0" marL="0">
              <a:buNone/>
            </a:pPr>
            <a:r>
              <a:rPr lang="en-US" sz="1300" dirty="0">
                <a:solidFill>
                  <a:schemeClr val="tx1"/>
                </a:solidFill>
              </a:rPr>
              <a:t>adaptive radius and heterogeneous overlap</a:t>
            </a:r>
            <a:endParaRPr lang="en-US" sz="1300" dirty="0"/>
          </a:p>
        </p:txBody>
      </p:sp>
      <p:sp>
        <p:nvSpPr>
          <p:cNvPr id="16" name="paper"/>
          <p:cNvSpPr/>
          <p:nvPr/>
        </p:nvSpPr>
        <p:spPr>
          <a:xfrm>
            <a:off x="6172200" y="2286000"/>
            <a:ext cx="5440680" cy="731520"/>
          </a:xfrm>
          <a:prstGeom prst="roundRect">
            <a:avLst>
              <a:gd name="adj" fmla="val 12500"/>
            </a:avLst>
          </a:prstGeom>
          <a:solidFill>
            <a:schemeClr val="bg2"/>
          </a:solidFill>
          <a:ln w="9525">
            <a:solidFill>
              <a:schemeClr val="bg2"/>
            </a:solidFill>
            <a:prstDash val="solid"/>
          </a:ln>
        </p:spPr>
      </p:sp>
      <p:sp>
        <p:nvSpPr>
          <p:cNvPr id="17" name="Text 15"/>
          <p:cNvSpPr txBox="1"/>
          <p:nvPr/>
        </p:nvSpPr>
        <p:spPr>
          <a:xfrm>
            <a:off x="6355080" y="2340864"/>
            <a:ext cx="5120640" cy="640080"/>
          </a:xfrm>
          <a:prstGeom prst="rect">
            <a:avLst/>
          </a:prstGeom>
          <a:noFill/>
          <a:ln/>
        </p:spPr>
        <p:txBody>
          <a:bodyPr wrap="square" lIns="0" tIns="0" rIns="0" bIns="0" rtlCol="0" anchor="ctr"/>
          <a:lstStyle/>
          <a:p>
            <a:pPr indent="0" marL="0">
              <a:buNone/>
            </a:pPr>
            <a:r>
              <a:rPr lang="en-US" sz="1300" b="1" dirty="0">
                <a:solidFill>
                  <a:schemeClr val="tx2"/>
                </a:solidFill>
              </a:rPr>
              <a:t>GB fuzzy TSVM [10]</a:t>
            </a:r>
            <a:endParaRPr lang="en-US" sz="1300" dirty="0"/>
          </a:p>
          <a:p>
            <a:pPr indent="0" marL="0">
              <a:buNone/>
            </a:pPr>
            <a:r>
              <a:rPr lang="en-US" sz="1300" dirty="0">
                <a:solidFill>
                  <a:schemeClr val="tx1"/>
                </a:solidFill>
              </a:rPr>
              <a:t>fuzzy weights on balls in a twin SVM: closest to a fuzzy extension</a:t>
            </a:r>
            <a:endParaRPr lang="en-US" sz="1300" dirty="0"/>
          </a:p>
        </p:txBody>
      </p:sp>
      <p:sp>
        <p:nvSpPr>
          <p:cNvPr id="18" name="paper"/>
          <p:cNvSpPr/>
          <p:nvPr/>
        </p:nvSpPr>
        <p:spPr>
          <a:xfrm>
            <a:off x="6172200" y="3108960"/>
            <a:ext cx="5440680" cy="731520"/>
          </a:xfrm>
          <a:prstGeom prst="roundRect">
            <a:avLst>
              <a:gd name="adj" fmla="val 12500"/>
            </a:avLst>
          </a:prstGeom>
          <a:solidFill>
            <a:schemeClr val="bg2"/>
          </a:solidFill>
          <a:ln w="9525">
            <a:solidFill>
              <a:schemeClr val="bg2"/>
            </a:solidFill>
            <a:prstDash val="solid"/>
          </a:ln>
        </p:spPr>
      </p:sp>
      <p:sp>
        <p:nvSpPr>
          <p:cNvPr id="19" name="Text 17"/>
          <p:cNvSpPr txBox="1"/>
          <p:nvPr/>
        </p:nvSpPr>
        <p:spPr>
          <a:xfrm>
            <a:off x="6355080" y="3163824"/>
            <a:ext cx="5120640" cy="640080"/>
          </a:xfrm>
          <a:prstGeom prst="rect">
            <a:avLst/>
          </a:prstGeom>
          <a:noFill/>
          <a:ln/>
        </p:spPr>
        <p:txBody>
          <a:bodyPr wrap="square" lIns="0" tIns="0" rIns="0" bIns="0" rtlCol="0" anchor="ctr"/>
          <a:lstStyle/>
          <a:p>
            <a:pPr indent="0" marL="0">
              <a:buNone/>
            </a:pPr>
            <a:r>
              <a:rPr lang="en-US" sz="1300" b="1" dirty="0">
                <a:solidFill>
                  <a:schemeClr val="tx2"/>
                </a:solidFill>
              </a:rPr>
              <a:t>GB intuitionistic fuzzy TSVM [11]</a:t>
            </a:r>
            <a:endParaRPr lang="en-US" sz="1300" dirty="0"/>
          </a:p>
          <a:p>
            <a:pPr indent="0" marL="0">
              <a:buNone/>
            </a:pPr>
            <a:r>
              <a:rPr lang="en-US" sz="1300" dirty="0">
                <a:solidFill>
                  <a:schemeClr val="tx1"/>
                </a:solidFill>
              </a:rPr>
              <a:t>intuitionistic fuzzy ball weights for imbalance and noise</a:t>
            </a:r>
            <a:endParaRPr lang="en-US" sz="1300" dirty="0"/>
          </a:p>
        </p:txBody>
      </p:sp>
      <p:sp>
        <p:nvSpPr>
          <p:cNvPr id="20" name="paper"/>
          <p:cNvSpPr/>
          <p:nvPr/>
        </p:nvSpPr>
        <p:spPr>
          <a:xfrm>
            <a:off x="6172200" y="3931920"/>
            <a:ext cx="5440680" cy="731520"/>
          </a:xfrm>
          <a:prstGeom prst="roundRect">
            <a:avLst>
              <a:gd name="adj" fmla="val 12500"/>
            </a:avLst>
          </a:prstGeom>
          <a:solidFill>
            <a:schemeClr val="bg2"/>
          </a:solidFill>
          <a:ln w="9525">
            <a:solidFill>
              <a:schemeClr val="bg2"/>
            </a:solidFill>
            <a:prstDash val="solid"/>
          </a:ln>
        </p:spPr>
      </p:sp>
      <p:sp>
        <p:nvSpPr>
          <p:cNvPr id="21" name="Text 19"/>
          <p:cNvSpPr txBox="1"/>
          <p:nvPr/>
        </p:nvSpPr>
        <p:spPr>
          <a:xfrm>
            <a:off x="6355080" y="3986784"/>
            <a:ext cx="5120640" cy="640080"/>
          </a:xfrm>
          <a:prstGeom prst="rect">
            <a:avLst/>
          </a:prstGeom>
          <a:noFill/>
          <a:ln/>
        </p:spPr>
        <p:txBody>
          <a:bodyPr wrap="square" lIns="0" tIns="0" rIns="0" bIns="0" rtlCol="0" anchor="ctr"/>
          <a:lstStyle/>
          <a:p>
            <a:pPr indent="0" marL="0">
              <a:buNone/>
            </a:pPr>
            <a:r>
              <a:rPr lang="en-US" sz="1300" b="1" dirty="0">
                <a:solidFill>
                  <a:schemeClr val="tx2"/>
                </a:solidFill>
              </a:rPr>
              <a:t>Boundary-driven balls [12]</a:t>
            </a:r>
            <a:endParaRPr lang="en-US" sz="1300" dirty="0"/>
          </a:p>
          <a:p>
            <a:pPr indent="0" marL="0">
              <a:buNone/>
            </a:pPr>
            <a:r>
              <a:rPr lang="en-US" sz="1300" dirty="0">
                <a:solidFill>
                  <a:schemeClr val="tx1"/>
                </a:solidFill>
              </a:rPr>
              <a:t>balls generated from the class boundary</a:t>
            </a:r>
            <a:endParaRPr lang="en-US" sz="1300" dirty="0"/>
          </a:p>
        </p:txBody>
      </p:sp>
      <p:sp>
        <p:nvSpPr>
          <p:cNvPr id="22" name="takeaway"/>
          <p:cNvSpPr/>
          <p:nvPr/>
        </p:nvSpPr>
        <p:spPr>
          <a:xfrm>
            <a:off x="548640" y="5715000"/>
            <a:ext cx="11064240" cy="566928"/>
          </a:xfrm>
          <a:prstGeom prst="roundRect">
            <a:avLst>
              <a:gd name="adj" fmla="val 16129"/>
            </a:avLst>
          </a:prstGeom>
          <a:solidFill>
            <a:schemeClr val="bg2"/>
          </a:solidFill>
          <a:ln w="9525">
            <a:solidFill>
              <a:schemeClr val="bg2"/>
            </a:solidFill>
            <a:prstDash val="solid"/>
          </a:ln>
        </p:spPr>
      </p:sp>
      <p:sp>
        <p:nvSpPr>
          <p:cNvPr id="23" name="takeaway-ball"/>
          <p:cNvSpPr/>
          <p:nvPr/>
        </p:nvSpPr>
        <p:spPr>
          <a:xfrm>
            <a:off x="749808" y="5888736"/>
            <a:ext cx="219456" cy="219456"/>
          </a:xfrm>
          <a:prstGeom prst="ellipse">
            <a:avLst/>
          </a:prstGeom>
          <a:solidFill>
            <a:schemeClr val="accent1"/>
          </a:solidFill>
          <a:ln w="12700">
            <a:solidFill>
              <a:schemeClr val="accent1"/>
            </a:solidFill>
            <a:prstDash val="solid"/>
          </a:ln>
        </p:spPr>
      </p:sp>
      <p:sp>
        <p:nvSpPr>
          <p:cNvPr id="24" name="Text 22"/>
          <p:cNvSpPr txBox="1"/>
          <p:nvPr/>
        </p:nvSpPr>
        <p:spPr>
          <a:xfrm>
            <a:off x="1143000" y="571500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Entropy, overlap, radius tuning and fuzzy ball weights are all published, so a new claim must be narrower.</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WRAP-UP</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What this phase taught us, and where the fuzzy study picked up</a:t>
            </a:r>
            <a:endParaRPr lang="en-US" sz="2800" dirty="0"/>
          </a:p>
        </p:txBody>
      </p:sp>
      <p:sp>
        <p:nvSpPr>
          <p:cNvPr id="4" name="card"/>
          <p:cNvSpPr/>
          <p:nvPr/>
        </p:nvSpPr>
        <p:spPr>
          <a:xfrm>
            <a:off x="548640" y="1463040"/>
            <a:ext cx="2688336" cy="4023360"/>
          </a:xfrm>
          <a:prstGeom prst="roundRect">
            <a:avLst>
              <a:gd name="adj" fmla="val 3401"/>
            </a:avLst>
          </a:prstGeom>
          <a:solidFill>
            <a:schemeClr val="bg2"/>
          </a:solidFill>
          <a:ln w="9525">
            <a:solidFill>
              <a:schemeClr val="bg2"/>
            </a:solidFill>
            <a:prstDash val="solid"/>
          </a:ln>
        </p:spPr>
      </p:sp>
      <p:sp>
        <p:nvSpPr>
          <p:cNvPr id="5" name="badge"/>
          <p:cNvSpPr/>
          <p:nvPr/>
        </p:nvSpPr>
        <p:spPr>
          <a:xfrm>
            <a:off x="731520" y="1645920"/>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731520"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731520" y="2240280"/>
            <a:ext cx="2322576" cy="685800"/>
          </a:xfrm>
          <a:prstGeom prst="rect">
            <a:avLst/>
          </a:prstGeom>
          <a:noFill/>
          <a:ln/>
        </p:spPr>
        <p:txBody>
          <a:bodyPr wrap="square" lIns="0" tIns="0" rIns="0" bIns="0" rtlCol="0" anchor="t"/>
          <a:lstStyle/>
          <a:p>
            <a:pPr indent="0" marL="0">
              <a:buNone/>
            </a:pPr>
            <a:r>
              <a:rPr lang="en-US" sz="1700" b="1" dirty="0">
                <a:solidFill>
                  <a:schemeClr val="tx2"/>
                </a:solidFill>
              </a:rPr>
              <a:t>Beat a fair baseline</a:t>
            </a:r>
            <a:endParaRPr lang="en-US" sz="1700" dirty="0"/>
          </a:p>
        </p:txBody>
      </p:sp>
      <p:sp>
        <p:nvSpPr>
          <p:cNvPr id="8" name="Text 6"/>
          <p:cNvSpPr txBox="1"/>
          <p:nvPr/>
        </p:nvSpPr>
        <p:spPr>
          <a:xfrm>
            <a:off x="731520" y="2971800"/>
            <a:ext cx="2322576" cy="914400"/>
          </a:xfrm>
          <a:prstGeom prst="rect">
            <a:avLst/>
          </a:prstGeom>
          <a:noFill/>
          <a:ln/>
        </p:spPr>
        <p:txBody>
          <a:bodyPr wrap="square" lIns="0" tIns="0" rIns="0" bIns="0" rtlCol="0" anchor="t"/>
          <a:lstStyle/>
          <a:p>
            <a:pPr indent="0" marL="0">
              <a:buNone/>
            </a:pPr>
            <a:r>
              <a:rPr lang="en-US" sz="1350" dirty="0">
                <a:solidFill>
                  <a:schemeClr val="tx1"/>
                </a:solidFill>
              </a:rPr>
              <a:t>Class weighting alone explained most gains.</a:t>
            </a:r>
            <a:endParaRPr lang="en-US" sz="1350" dirty="0"/>
          </a:p>
        </p:txBody>
      </p:sp>
      <p:sp>
        <p:nvSpPr>
          <p:cNvPr id="9" name="divider"/>
          <p:cNvSpPr/>
          <p:nvPr/>
        </p:nvSpPr>
        <p:spPr>
          <a:xfrm>
            <a:off x="731520" y="3931920"/>
            <a:ext cx="2322576" cy="0"/>
          </a:xfrm>
          <a:prstGeom prst="line">
            <a:avLst/>
          </a:prstGeom>
          <a:noFill/>
          <a:ln w="12700">
            <a:solidFill>
              <a:srgbClr val="DCE5E4"/>
            </a:solidFill>
            <a:prstDash val="solid"/>
          </a:ln>
        </p:spPr>
      </p:sp>
      <p:sp>
        <p:nvSpPr>
          <p:cNvPr id="10" name="Text 8"/>
          <p:cNvSpPr txBox="1"/>
          <p:nvPr/>
        </p:nvSpPr>
        <p:spPr>
          <a:xfrm>
            <a:off x="731520" y="4023360"/>
            <a:ext cx="2322576" cy="1371600"/>
          </a:xfrm>
          <a:prstGeom prst="rect">
            <a:avLst/>
          </a:prstGeom>
          <a:noFill/>
          <a:ln/>
        </p:spPr>
        <p:txBody>
          <a:bodyPr wrap="square" lIns="0" tIns="0" rIns="0" bIns="0" rtlCol="0" anchor="t"/>
          <a:lstStyle/>
          <a:p>
            <a:pPr indent="0" marL="0">
              <a:buNone/>
            </a:pPr>
            <a:r>
              <a:rPr lang="en-US" sz="1300" b="1" dirty="0">
                <a:solidFill>
                  <a:schemeClr val="accent1"/>
                </a:solidFill>
              </a:rPr>
              <a:t>In the fuzzy study: </a:t>
            </a:r>
            <a:r>
              <a:rPr lang="en-US" sz="1300" dirty="0">
                <a:solidFill>
                  <a:schemeClr val="tx1"/>
                </a:solidFill>
              </a:rPr>
              <a:t>every membership is compared with GBLSTSVM and plain LSTSVM under the same tuning.</a:t>
            </a:r>
            <a:endParaRPr lang="en-US" sz="1300" dirty="0"/>
          </a:p>
        </p:txBody>
      </p:sp>
      <p:sp>
        <p:nvSpPr>
          <p:cNvPr id="11" name="card"/>
          <p:cNvSpPr/>
          <p:nvPr/>
        </p:nvSpPr>
        <p:spPr>
          <a:xfrm>
            <a:off x="3346704" y="1463040"/>
            <a:ext cx="2688336" cy="4023360"/>
          </a:xfrm>
          <a:prstGeom prst="roundRect">
            <a:avLst>
              <a:gd name="adj" fmla="val 3401"/>
            </a:avLst>
          </a:prstGeom>
          <a:solidFill>
            <a:schemeClr val="bg2"/>
          </a:solidFill>
          <a:ln w="9525">
            <a:solidFill>
              <a:schemeClr val="bg2"/>
            </a:solidFill>
            <a:prstDash val="solid"/>
          </a:ln>
        </p:spPr>
      </p:sp>
      <p:sp>
        <p:nvSpPr>
          <p:cNvPr id="12" name="badge"/>
          <p:cNvSpPr/>
          <p:nvPr/>
        </p:nvSpPr>
        <p:spPr>
          <a:xfrm>
            <a:off x="3529584" y="164592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3529584"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2"/>
          <p:cNvSpPr txBox="1"/>
          <p:nvPr/>
        </p:nvSpPr>
        <p:spPr>
          <a:xfrm>
            <a:off x="3529584" y="2240280"/>
            <a:ext cx="2322576" cy="685800"/>
          </a:xfrm>
          <a:prstGeom prst="rect">
            <a:avLst/>
          </a:prstGeom>
          <a:noFill/>
          <a:ln/>
        </p:spPr>
        <p:txBody>
          <a:bodyPr wrap="square" lIns="0" tIns="0" rIns="0" bIns="0" rtlCol="0" anchor="t"/>
          <a:lstStyle/>
          <a:p>
            <a:pPr indent="0" marL="0">
              <a:buNone/>
            </a:pPr>
            <a:r>
              <a:rPr lang="en-US" sz="1700" b="1" dirty="0">
                <a:solidFill>
                  <a:schemeClr val="tx2"/>
                </a:solidFill>
              </a:rPr>
              <a:t>Pure balls make weights flat</a:t>
            </a:r>
            <a:endParaRPr lang="en-US" sz="1700" dirty="0"/>
          </a:p>
        </p:txBody>
      </p:sp>
      <p:sp>
        <p:nvSpPr>
          <p:cNvPr id="15" name="Text 13"/>
          <p:cNvSpPr txBox="1"/>
          <p:nvPr/>
        </p:nvSpPr>
        <p:spPr>
          <a:xfrm>
            <a:off x="3529584" y="2971800"/>
            <a:ext cx="2322576" cy="914400"/>
          </a:xfrm>
          <a:prstGeom prst="rect">
            <a:avLst/>
          </a:prstGeom>
          <a:noFill/>
          <a:ln/>
        </p:spPr>
        <p:txBody>
          <a:bodyPr wrap="square" lIns="0" tIns="0" rIns="0" bIns="0" rtlCol="0" anchor="t"/>
          <a:lstStyle/>
          <a:p>
            <a:pPr indent="0" marL="0">
              <a:buNone/>
            </a:pPr>
            <a:r>
              <a:rPr lang="en-US" sz="1350" dirty="0">
                <a:solidFill>
                  <a:schemeClr val="tx1"/>
                </a:solidFill>
              </a:rPr>
              <a:t>Reliability ≈ 1 and overlap = 0 for most balls.</a:t>
            </a:r>
            <a:endParaRPr lang="en-US" sz="1350" dirty="0"/>
          </a:p>
        </p:txBody>
      </p:sp>
      <p:sp>
        <p:nvSpPr>
          <p:cNvPr id="16" name="divider"/>
          <p:cNvSpPr/>
          <p:nvPr/>
        </p:nvSpPr>
        <p:spPr>
          <a:xfrm>
            <a:off x="3529584" y="3931920"/>
            <a:ext cx="2322576" cy="0"/>
          </a:xfrm>
          <a:prstGeom prst="line">
            <a:avLst/>
          </a:prstGeom>
          <a:noFill/>
          <a:ln w="12700">
            <a:solidFill>
              <a:srgbClr val="DCE5E4"/>
            </a:solidFill>
            <a:prstDash val="solid"/>
          </a:ln>
        </p:spPr>
      </p:sp>
      <p:sp>
        <p:nvSpPr>
          <p:cNvPr id="17" name="Text 15"/>
          <p:cNvSpPr txBox="1"/>
          <p:nvPr/>
        </p:nvSpPr>
        <p:spPr>
          <a:xfrm>
            <a:off x="3529584" y="4023360"/>
            <a:ext cx="2322576" cy="1371600"/>
          </a:xfrm>
          <a:prstGeom prst="rect">
            <a:avLst/>
          </a:prstGeom>
          <a:noFill/>
          <a:ln/>
        </p:spPr>
        <p:txBody>
          <a:bodyPr wrap="square" lIns="0" tIns="0" rIns="0" bIns="0" rtlCol="0" anchor="t"/>
          <a:lstStyle/>
          <a:p>
            <a:pPr indent="0" marL="0">
              <a:buNone/>
            </a:pPr>
            <a:r>
              <a:rPr lang="en-US" sz="1300" b="1" dirty="0">
                <a:solidFill>
                  <a:schemeClr val="accent1"/>
                </a:solidFill>
              </a:rPr>
              <a:t>In the fuzzy study: </a:t>
            </a:r>
            <a:r>
              <a:rPr lang="en-US" sz="1300" dirty="0">
                <a:solidFill>
                  <a:schemeClr val="tx1"/>
                </a:solidFill>
              </a:rPr>
              <a:t>over 99% of k-means balls turned out to be pure, so ball-level scores collapse.</a:t>
            </a:r>
            <a:endParaRPr lang="en-US" sz="1300" dirty="0"/>
          </a:p>
        </p:txBody>
      </p:sp>
      <p:sp>
        <p:nvSpPr>
          <p:cNvPr id="18" name="card"/>
          <p:cNvSpPr/>
          <p:nvPr/>
        </p:nvSpPr>
        <p:spPr>
          <a:xfrm>
            <a:off x="6144768" y="1463040"/>
            <a:ext cx="2688336" cy="4023360"/>
          </a:xfrm>
          <a:prstGeom prst="roundRect">
            <a:avLst>
              <a:gd name="adj" fmla="val 3401"/>
            </a:avLst>
          </a:prstGeom>
          <a:solidFill>
            <a:schemeClr val="bg2"/>
          </a:solidFill>
          <a:ln w="9525">
            <a:solidFill>
              <a:schemeClr val="bg2"/>
            </a:solidFill>
            <a:prstDash val="solid"/>
          </a:ln>
        </p:spPr>
      </p:sp>
      <p:sp>
        <p:nvSpPr>
          <p:cNvPr id="19" name="badge"/>
          <p:cNvSpPr/>
          <p:nvPr/>
        </p:nvSpPr>
        <p:spPr>
          <a:xfrm>
            <a:off x="6327648" y="164592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6327648"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1" name="Text 19"/>
          <p:cNvSpPr txBox="1"/>
          <p:nvPr/>
        </p:nvSpPr>
        <p:spPr>
          <a:xfrm>
            <a:off x="6327648" y="2240280"/>
            <a:ext cx="2322576" cy="685800"/>
          </a:xfrm>
          <a:prstGeom prst="rect">
            <a:avLst/>
          </a:prstGeom>
          <a:noFill/>
          <a:ln/>
        </p:spPr>
        <p:txBody>
          <a:bodyPr wrap="square" lIns="0" tIns="0" rIns="0" bIns="0" rtlCol="0" anchor="t"/>
          <a:lstStyle/>
          <a:p>
            <a:pPr indent="0" marL="0">
              <a:buNone/>
            </a:pPr>
            <a:r>
              <a:rPr lang="en-US" sz="1700" b="1" dirty="0">
                <a:solidFill>
                  <a:schemeClr val="tx2"/>
                </a:solidFill>
              </a:rPr>
              <a:t>Deletion costs the minority</a:t>
            </a:r>
            <a:endParaRPr lang="en-US" sz="1700" dirty="0"/>
          </a:p>
        </p:txBody>
      </p:sp>
      <p:sp>
        <p:nvSpPr>
          <p:cNvPr id="22" name="Text 20"/>
          <p:cNvSpPr txBox="1"/>
          <p:nvPr/>
        </p:nvSpPr>
        <p:spPr>
          <a:xfrm>
            <a:off x="6327648" y="2971800"/>
            <a:ext cx="2322576" cy="914400"/>
          </a:xfrm>
          <a:prstGeom prst="rect">
            <a:avLst/>
          </a:prstGeom>
          <a:noFill/>
          <a:ln/>
        </p:spPr>
        <p:txBody>
          <a:bodyPr wrap="square" lIns="0" tIns="0" rIns="0" bIns="0" rtlCol="0" anchor="t"/>
          <a:lstStyle/>
          <a:p>
            <a:pPr indent="0" marL="0">
              <a:buNone/>
            </a:pPr>
            <a:r>
              <a:rPr lang="en-US" sz="1350" dirty="0">
                <a:solidFill>
                  <a:schemeClr val="tx1"/>
                </a:solidFill>
              </a:rPr>
              <a:t>Only 58% of minority points survive small-ball deletion.</a:t>
            </a:r>
            <a:endParaRPr lang="en-US" sz="1350" dirty="0"/>
          </a:p>
        </p:txBody>
      </p:sp>
      <p:sp>
        <p:nvSpPr>
          <p:cNvPr id="23" name="divider"/>
          <p:cNvSpPr/>
          <p:nvPr/>
        </p:nvSpPr>
        <p:spPr>
          <a:xfrm>
            <a:off x="6327648" y="3931920"/>
            <a:ext cx="2322576" cy="0"/>
          </a:xfrm>
          <a:prstGeom prst="line">
            <a:avLst/>
          </a:prstGeom>
          <a:noFill/>
          <a:ln w="12700">
            <a:solidFill>
              <a:srgbClr val="DCE5E4"/>
            </a:solidFill>
            <a:prstDash val="solid"/>
          </a:ln>
        </p:spPr>
      </p:sp>
      <p:sp>
        <p:nvSpPr>
          <p:cNvPr id="24" name="Text 22"/>
          <p:cNvSpPr txBox="1"/>
          <p:nvPr/>
        </p:nvSpPr>
        <p:spPr>
          <a:xfrm>
            <a:off x="6327648" y="4023360"/>
            <a:ext cx="2322576" cy="1371600"/>
          </a:xfrm>
          <a:prstGeom prst="rect">
            <a:avLst/>
          </a:prstGeom>
          <a:noFill/>
          <a:ln/>
        </p:spPr>
        <p:txBody>
          <a:bodyPr wrap="square" lIns="0" tIns="0" rIns="0" bIns="0" rtlCol="0" anchor="t"/>
          <a:lstStyle/>
          <a:p>
            <a:pPr indent="0" marL="0">
              <a:buNone/>
            </a:pPr>
            <a:r>
              <a:rPr lang="en-US" sz="1300" b="1" dirty="0">
                <a:solidFill>
                  <a:schemeClr val="accent1"/>
                </a:solidFill>
              </a:rPr>
              <a:t>In the fuzzy study: </a:t>
            </a:r>
            <a:r>
              <a:rPr lang="en-US" sz="1300" dirty="0">
                <a:solidFill>
                  <a:schemeClr val="tx1"/>
                </a:solidFill>
              </a:rPr>
              <a:t>keeping single-point balls lifts GBLSTSVM by 3.2 points (Holm p = 0.002).</a:t>
            </a:r>
            <a:endParaRPr lang="en-US" sz="1300" dirty="0"/>
          </a:p>
        </p:txBody>
      </p:sp>
      <p:sp>
        <p:nvSpPr>
          <p:cNvPr id="25" name="card"/>
          <p:cNvSpPr/>
          <p:nvPr/>
        </p:nvSpPr>
        <p:spPr>
          <a:xfrm>
            <a:off x="8942832" y="1463040"/>
            <a:ext cx="2688336" cy="4023360"/>
          </a:xfrm>
          <a:prstGeom prst="roundRect">
            <a:avLst>
              <a:gd name="adj" fmla="val 3401"/>
            </a:avLst>
          </a:prstGeom>
          <a:solidFill>
            <a:schemeClr val="bg2"/>
          </a:solidFill>
          <a:ln w="9525">
            <a:solidFill>
              <a:schemeClr val="bg2"/>
            </a:solidFill>
            <a:prstDash val="solid"/>
          </a:ln>
        </p:spPr>
      </p:sp>
      <p:sp>
        <p:nvSpPr>
          <p:cNvPr id="26" name="badge"/>
          <p:cNvSpPr/>
          <p:nvPr/>
        </p:nvSpPr>
        <p:spPr>
          <a:xfrm>
            <a:off x="9125712" y="1645920"/>
            <a:ext cx="457200" cy="457200"/>
          </a:xfrm>
          <a:prstGeom prst="ellipse">
            <a:avLst/>
          </a:prstGeom>
          <a:solidFill>
            <a:schemeClr val="accent1"/>
          </a:solidFill>
          <a:ln w="12700">
            <a:solidFill>
              <a:schemeClr val="accent1"/>
            </a:solidFill>
            <a:prstDash val="solid"/>
          </a:ln>
        </p:spPr>
      </p:sp>
      <p:sp>
        <p:nvSpPr>
          <p:cNvPr id="27" name="Text 25"/>
          <p:cNvSpPr txBox="1"/>
          <p:nvPr/>
        </p:nvSpPr>
        <p:spPr>
          <a:xfrm>
            <a:off x="9125712"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8" name="Text 26"/>
          <p:cNvSpPr txBox="1"/>
          <p:nvPr/>
        </p:nvSpPr>
        <p:spPr>
          <a:xfrm>
            <a:off x="9125712" y="2240280"/>
            <a:ext cx="2322576" cy="685800"/>
          </a:xfrm>
          <a:prstGeom prst="rect">
            <a:avLst/>
          </a:prstGeom>
          <a:noFill/>
          <a:ln/>
        </p:spPr>
        <p:txBody>
          <a:bodyPr wrap="square" lIns="0" tIns="0" rIns="0" bIns="0" rtlCol="0" anchor="t"/>
          <a:lstStyle/>
          <a:p>
            <a:pPr indent="0" marL="0">
              <a:buNone/>
            </a:pPr>
            <a:r>
              <a:rPr lang="en-US" sz="1700" b="1" dirty="0">
                <a:solidFill>
                  <a:schemeClr val="tx2"/>
                </a:solidFill>
              </a:rPr>
              <a:t>One split misleads</a:t>
            </a:r>
            <a:endParaRPr lang="en-US" sz="1700" dirty="0"/>
          </a:p>
        </p:txBody>
      </p:sp>
      <p:sp>
        <p:nvSpPr>
          <p:cNvPr id="29" name="Text 27"/>
          <p:cNvSpPr txBox="1"/>
          <p:nvPr/>
        </p:nvSpPr>
        <p:spPr>
          <a:xfrm>
            <a:off x="9125712" y="2971800"/>
            <a:ext cx="2322576" cy="914400"/>
          </a:xfrm>
          <a:prstGeom prst="rect">
            <a:avLst/>
          </a:prstGeom>
          <a:noFill/>
          <a:ln/>
        </p:spPr>
        <p:txBody>
          <a:bodyPr wrap="square" lIns="0" tIns="0" rIns="0" bIns="0" rtlCol="0" anchor="t"/>
          <a:lstStyle/>
          <a:p>
            <a:pPr indent="0" marL="0">
              <a:buNone/>
            </a:pPr>
            <a:r>
              <a:rPr lang="en-US" sz="1350" dirty="0">
                <a:solidFill>
                  <a:schemeClr val="tx1"/>
                </a:solidFill>
              </a:rPr>
              <a:t>CA, validation K and M1 looked good on one split.</a:t>
            </a:r>
            <a:endParaRPr lang="en-US" sz="1350" dirty="0"/>
          </a:p>
        </p:txBody>
      </p:sp>
      <p:sp>
        <p:nvSpPr>
          <p:cNvPr id="30" name="divider"/>
          <p:cNvSpPr/>
          <p:nvPr/>
        </p:nvSpPr>
        <p:spPr>
          <a:xfrm>
            <a:off x="9125712" y="3931920"/>
            <a:ext cx="2322576" cy="0"/>
          </a:xfrm>
          <a:prstGeom prst="line">
            <a:avLst/>
          </a:prstGeom>
          <a:noFill/>
          <a:ln w="12700">
            <a:solidFill>
              <a:srgbClr val="DCE5E4"/>
            </a:solidFill>
            <a:prstDash val="solid"/>
          </a:ln>
        </p:spPr>
      </p:sp>
      <p:sp>
        <p:nvSpPr>
          <p:cNvPr id="31" name="Text 29"/>
          <p:cNvSpPr txBox="1"/>
          <p:nvPr/>
        </p:nvSpPr>
        <p:spPr>
          <a:xfrm>
            <a:off x="9125712" y="4023360"/>
            <a:ext cx="2322576" cy="1371600"/>
          </a:xfrm>
          <a:prstGeom prst="rect">
            <a:avLst/>
          </a:prstGeom>
          <a:noFill/>
          <a:ln/>
        </p:spPr>
        <p:txBody>
          <a:bodyPr wrap="square" lIns="0" tIns="0" rIns="0" bIns="0" rtlCol="0" anchor="t"/>
          <a:lstStyle/>
          <a:p>
            <a:pPr indent="0" marL="0">
              <a:buNone/>
            </a:pPr>
            <a:r>
              <a:rPr lang="en-US" sz="1300" b="1" dirty="0">
                <a:solidFill>
                  <a:schemeClr val="accent1"/>
                </a:solidFill>
              </a:rPr>
              <a:t>In the fuzzy study: </a:t>
            </a:r>
            <a:r>
              <a:rPr lang="en-US" sz="1300" dirty="0">
                <a:solidFill>
                  <a:schemeClr val="tx1"/>
                </a:solidFill>
              </a:rPr>
              <a:t>cross-validation, 21 datasets, 10 splits and Holm-corrected tests.</a:t>
            </a:r>
            <a:endParaRPr lang="en-US" sz="1300" dirty="0"/>
          </a:p>
        </p:txBody>
      </p:sp>
      <p:sp>
        <p:nvSpPr>
          <p:cNvPr id="32"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33"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34" name="Text 32"/>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These lessons set up the fuzzy study: fair tuning, many datasets, and a close look at what the balls discard.</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WRAP-UP</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References</a:t>
            </a:r>
            <a:endParaRPr lang="en-US" sz="2800" dirty="0"/>
          </a:p>
        </p:txBody>
      </p:sp>
      <p:sp>
        <p:nvSpPr>
          <p:cNvPr id="4" name="Text 2"/>
          <p:cNvSpPr txBox="1"/>
          <p:nvPr/>
        </p:nvSpPr>
        <p:spPr>
          <a:xfrm>
            <a:off x="548640" y="1417320"/>
            <a:ext cx="5440680" cy="4846320"/>
          </a:xfrm>
          <a:prstGeom prst="rect">
            <a:avLst/>
          </a:prstGeom>
          <a:noFill/>
          <a:ln/>
        </p:spPr>
        <p:txBody>
          <a:bodyPr wrap="square" lIns="0" tIns="0" rIns="0" bIns="0" rtlCol="0" anchor="t"/>
          <a:lstStyle/>
          <a:p>
            <a:pPr indent="0" marL="0">
              <a:spcAft>
                <a:spcPts val="500"/>
              </a:spcAft>
              <a:buNone/>
            </a:pPr>
            <a:r>
              <a:rPr lang="en-US" sz="1050" dirty="0">
                <a:solidFill>
                  <a:schemeClr val="tx1"/>
                </a:solidFill>
              </a:rPr>
              <a:t>[1] Jayadeva, R. Khemchandani, S. Chandra. Twin support vector machines for pattern classification. IEEE Trans. Pattern Analysis and Machine Intelligence 29(5):905–910, 2007.</a:t>
            </a:r>
            <a:endParaRPr lang="en-US" sz="1050" dirty="0"/>
          </a:p>
          <a:p>
            <a:pPr indent="0" marL="0">
              <a:spcAft>
                <a:spcPts val="500"/>
              </a:spcAft>
              <a:buNone/>
            </a:pPr>
            <a:r>
              <a:rPr lang="en-US" sz="1050" dirty="0">
                <a:solidFill>
                  <a:schemeClr val="tx1"/>
                </a:solidFill>
              </a:rPr>
              <a:t>[2] M. A. Kumar, M. Gopal. Least squares twin support vector machines for pattern classification. Expert Systems with Applications 36(4):7535–7543, 2009.</a:t>
            </a:r>
            <a:endParaRPr lang="en-US" sz="1050" dirty="0"/>
          </a:p>
          <a:p>
            <a:pPr indent="0" marL="0">
              <a:spcAft>
                <a:spcPts val="500"/>
              </a:spcAft>
              <a:buNone/>
            </a:pPr>
            <a:r>
              <a:rPr lang="en-US" sz="1050" dirty="0">
                <a:solidFill>
                  <a:schemeClr val="tx1"/>
                </a:solidFill>
              </a:rPr>
              <a:t>[3] S. Xia, Y. Liu, X. Ding, G. Wang, H. Yu, Y. Luo. Granular ball computing classifiers for efficient, scalable and robust learning. Information Sciences 483:136–152, 2019.</a:t>
            </a:r>
            <a:endParaRPr lang="en-US" sz="1050" dirty="0"/>
          </a:p>
          <a:p>
            <a:pPr indent="0" marL="0">
              <a:spcAft>
                <a:spcPts val="500"/>
              </a:spcAft>
              <a:buNone/>
            </a:pPr>
            <a:r>
              <a:rPr lang="en-US" sz="1050" dirty="0">
                <a:solidFill>
                  <a:schemeClr val="tx1"/>
                </a:solidFill>
              </a:rPr>
              <a:t>[4] M. Tanveer, R. K. Sharma, A. Quadir, M. Sajid. Enhancing robustness and efficiency of least square twin SVM via granular computing. Pattern Recognition 170, 112021, 2026. (GBLSTSVM)</a:t>
            </a:r>
            <a:endParaRPr lang="en-US" sz="1050" dirty="0"/>
          </a:p>
          <a:p>
            <a:pPr indent="0" marL="0">
              <a:spcAft>
                <a:spcPts val="500"/>
              </a:spcAft>
              <a:buNone/>
            </a:pPr>
            <a:r>
              <a:rPr lang="en-US" sz="1050" dirty="0">
                <a:solidFill>
                  <a:schemeClr val="tx1"/>
                </a:solidFill>
              </a:rPr>
              <a:t>[5] W. Liao, Q. Zhang, Q. Xie, M. Gao, P. Jin. A new adaptive and effective granular ball generation method for classification. Int. J. Machine Learning and Cybernetics 16:3501–3520, 2025. (ADPGBG)</a:t>
            </a:r>
            <a:endParaRPr lang="en-US" sz="1050" dirty="0"/>
          </a:p>
          <a:p>
            <a:pPr indent="0" marL="0">
              <a:spcAft>
                <a:spcPts val="500"/>
              </a:spcAft>
              <a:buNone/>
            </a:pPr>
            <a:r>
              <a:rPr lang="en-US" sz="1050" dirty="0">
                <a:solidFill>
                  <a:schemeClr val="tx1"/>
                </a:solidFill>
              </a:rPr>
              <a:t>[6] Q. Xie et al. GBG++: a fast and stable granular ball generation method for classification. IEEE Trans. Emerging Topics in Computational Intelligence, 2024.</a:t>
            </a:r>
            <a:endParaRPr lang="en-US" sz="1050" dirty="0"/>
          </a:p>
          <a:p>
            <a:pPr indent="0" marL="0">
              <a:spcAft>
                <a:spcPts val="500"/>
              </a:spcAft>
              <a:buNone/>
            </a:pPr>
            <a:r>
              <a:rPr lang="en-US" sz="1050" dirty="0">
                <a:solidFill>
                  <a:schemeClr val="tx1"/>
                </a:solidFill>
              </a:rPr>
              <a:t>[7] J. Yang et al. A robust three-way classifier with shadowed granular balls based on justifiable granularity. IEEE Trans. Neural Networks and Learning Systems 36(9):16534–16548, 2025.</a:t>
            </a:r>
            <a:endParaRPr lang="en-US" sz="1050" dirty="0"/>
          </a:p>
          <a:p>
            <a:pPr indent="0" marL="0">
              <a:spcAft>
                <a:spcPts val="500"/>
              </a:spcAft>
              <a:buNone/>
            </a:pPr>
            <a:r>
              <a:rPr lang="en-US" sz="1050" dirty="0">
                <a:solidFill>
                  <a:schemeClr val="tx1"/>
                </a:solidFill>
              </a:rPr>
              <a:t>[8] F. Liu et al. A granular-ball generation method based on local density for classification. Information Sciences 717, 122295, 2025.</a:t>
            </a:r>
            <a:endParaRPr lang="en-US" sz="1050" dirty="0"/>
          </a:p>
        </p:txBody>
      </p:sp>
      <p:sp>
        <p:nvSpPr>
          <p:cNvPr id="5" name="Text 3"/>
          <p:cNvSpPr txBox="1"/>
          <p:nvPr/>
        </p:nvSpPr>
        <p:spPr>
          <a:xfrm>
            <a:off x="6172200" y="1417320"/>
            <a:ext cx="5440680" cy="4846320"/>
          </a:xfrm>
          <a:prstGeom prst="rect">
            <a:avLst/>
          </a:prstGeom>
          <a:noFill/>
          <a:ln/>
        </p:spPr>
        <p:txBody>
          <a:bodyPr wrap="square" lIns="0" tIns="0" rIns="0" bIns="0" rtlCol="0" anchor="t"/>
          <a:lstStyle/>
          <a:p>
            <a:pPr indent="0" marL="0">
              <a:spcAft>
                <a:spcPts val="500"/>
              </a:spcAft>
              <a:buNone/>
            </a:pPr>
            <a:r>
              <a:rPr lang="en-US" sz="1050" dirty="0">
                <a:solidFill>
                  <a:schemeClr val="tx1"/>
                </a:solidFill>
              </a:rPr>
              <a:t>[9] J. Pan et al. A framework of granular-ball generation for classification via granularity tuning. Applied Intelligence 55, article 63, 2025.</a:t>
            </a:r>
            <a:endParaRPr lang="en-US" sz="1050" dirty="0"/>
          </a:p>
          <a:p>
            <a:pPr indent="0" marL="0">
              <a:spcAft>
                <a:spcPts val="500"/>
              </a:spcAft>
              <a:buNone/>
            </a:pPr>
            <a:r>
              <a:rPr lang="en-US" sz="1050" dirty="0">
                <a:solidFill>
                  <a:schemeClr val="tx1"/>
                </a:solidFill>
              </a:rPr>
              <a:t>[10] G. Lang, L. Zhao, D. Miao, W. Ding. Granular-ball computing-based fuzzy twin support vector machine for pattern classification. IEEE Trans. Fuzzy Systems 33(7):2148–2160, 2025.</a:t>
            </a:r>
            <a:endParaRPr lang="en-US" sz="1050" dirty="0"/>
          </a:p>
          <a:p>
            <a:pPr indent="0" marL="0">
              <a:spcAft>
                <a:spcPts val="500"/>
              </a:spcAft>
              <a:buNone/>
            </a:pPr>
            <a:r>
              <a:rPr lang="en-US" sz="1050" dirty="0">
                <a:solidFill>
                  <a:schemeClr val="tx1"/>
                </a:solidFill>
              </a:rPr>
              <a:t>[11] X. Liu, G. Xie, J. Xie. A granular-ball intuitionistic fuzzy twin support vector machine with RVFL-based feature enhancement for imbalance learning. Int. J. Data Science and Analytics 22(1), 2026.</a:t>
            </a:r>
            <a:endParaRPr lang="en-US" sz="1050" dirty="0"/>
          </a:p>
          <a:p>
            <a:pPr indent="0" marL="0">
              <a:spcAft>
                <a:spcPts val="500"/>
              </a:spcAft>
              <a:buNone/>
            </a:pPr>
            <a:r>
              <a:rPr lang="en-US" sz="1050" dirty="0">
                <a:solidFill>
                  <a:schemeClr val="tx1"/>
                </a:solidFill>
              </a:rPr>
              <a:t>[12] S. Wang, J. Zhan, S. Xia, W. Ding. Boundary-driven granular ball generation and classification via three-way decision. Information Sciences 755, 123780.</a:t>
            </a:r>
            <a:endParaRPr lang="en-US" sz="1050" dirty="0"/>
          </a:p>
          <a:p>
            <a:pPr indent="0" marL="0">
              <a:spcAft>
                <a:spcPts val="500"/>
              </a:spcAft>
              <a:buNone/>
            </a:pPr>
            <a:r>
              <a:rPr lang="en-US" sz="1050" dirty="0">
                <a:solidFill>
                  <a:schemeClr val="tx1"/>
                </a:solidFill>
              </a:rPr>
              <a:t>[13] C.-F. Lin, S.-D. Wang. Fuzzy support vector machines. IEEE Trans. Neural Networks 13(2):464–471, 2002.</a:t>
            </a:r>
            <a:endParaRPr lang="en-US" sz="1050" dirty="0"/>
          </a:p>
          <a:p>
            <a:pPr indent="0" marL="0">
              <a:spcAft>
                <a:spcPts val="500"/>
              </a:spcAft>
              <a:buNone/>
            </a:pPr>
            <a:r>
              <a:rPr lang="en-US" sz="1050" dirty="0">
                <a:solidFill>
                  <a:schemeClr val="tx1"/>
                </a:solidFill>
              </a:rPr>
              <a:t>[14] J. Alcalá-Fdez et al. KEEL data-mining software tool: data set repository, integration of algorithms and experimental analysis framework. J. Multiple-Valued Logic and Soft Computing 17(2–3):255–287, 2011.</a:t>
            </a:r>
            <a:endParaRPr lang="en-US" sz="1050" dirty="0"/>
          </a:p>
          <a:p>
            <a:pPr indent="0" marL="0">
              <a:spcAft>
                <a:spcPts val="500"/>
              </a:spcAft>
              <a:buNone/>
            </a:pPr>
            <a:r>
              <a:rPr lang="en-US" sz="1050" dirty="0">
                <a:solidFill>
                  <a:schemeClr val="tx1"/>
                </a:solidFill>
              </a:rPr>
              <a:t>[15] J. Demšar. Statistical comparisons of classifiers over multiple data sets. J. Machine Learning Research 7:1–30, 2006.</a:t>
            </a:r>
            <a:endParaRPr lang="en-US" sz="1050" dirty="0"/>
          </a:p>
          <a:p>
            <a:pPr indent="0" marL="0">
              <a:spcAft>
                <a:spcPts val="500"/>
              </a:spcAft>
              <a:buNone/>
            </a:pPr>
            <a:r>
              <a:rPr lang="en-US" sz="1050" dirty="0">
                <a:solidFill>
                  <a:schemeClr val="tx1"/>
                </a:solidFill>
              </a:rPr>
              <a:t>[16] GBLSTSVM-Ex research suite (Python, Sessions 1–7, Aug–Sep 2026) and GBLSTSVM MATLAB suite: CW, R, CR, BMRU, OBRU, CBCM, IPA and Topo weights; M0–M3 code (gen_ball_new.py, run_m0_m3.py). Unpublished SOP research code.</a:t>
            </a:r>
            <a:endParaRPr lang="en-US" sz="105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Granular Petrol">
  <a:themeElements>
    <a:clrScheme name="Granular Petrol">
      <a:dk1>
        <a:srgbClr val="17242A"/>
      </a:dk1>
      <a:lt1>
        <a:srgbClr val="FFFFFF"/>
      </a:lt1>
      <a:dk2>
        <a:srgbClr val="12333D"/>
      </a:dk2>
      <a:lt2>
        <a:srgbClr val="EEF3F2"/>
      </a:lt2>
      <a:accent1>
        <a:srgbClr val="00897B"/>
      </a:accent1>
      <a:accent2>
        <a:srgbClr val="C0492F"/>
      </a:accent2>
      <a:accent3>
        <a:srgbClr val="2B63C6"/>
      </a:accent3>
      <a:accent4>
        <a:srgbClr val="7B4FB0"/>
      </a:accent4>
      <a:accent5>
        <a:srgbClr val="B88200"/>
      </a:accent5>
      <a:accent6>
        <a:srgbClr val="5A7A82"/>
      </a:accent6>
      <a:hlink>
        <a:srgbClr val="00897B"/>
      </a:hlink>
      <a:folHlink>
        <a:srgbClr val="5A7A82"/>
      </a:folHlink>
    </a:clrScheme>
    <a:fontScheme name="Granular Petro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GBLSTSVM: work done before the fuzzy-membership study</dc:title>
  <dc:subject>PptxGenJS Presentation</dc:subject>
  <dc:creator>Jayagna</dc:creator>
  <cp:lastModifiedBy>Jayagna</cp:lastModifiedBy>
  <cp:revision>1</cp:revision>
  <dcterms:created xsi:type="dcterms:W3CDTF">2026-10-23T19:46:10Z</dcterms:created>
  <dcterms:modified xsi:type="dcterms:W3CDTF">2026-10-23T19:46:10Z</dcterms:modified>
</cp:coreProperties>
</file>
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5.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6.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charts/chart7.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8.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9.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1b477e9-a824-a4ef-98da-9ca3e511fc4c}">
          <p14:sldIdLst>
            <p14:sldId id="256"/>
            <p14:sldId id="257"/>
            <p14:sldId id="258"/>
          </p14:sldIdLst>
        </p14:section>
        <p14:section name="Background" id="{90210ae5-ff8e-8056-caf0-2f592742f79f}">
          <p14:sldIdLst>
            <p14:sldId id="259"/>
            <p14:sldId id="260"/>
            <p14:sldId id="261"/>
          </p14:sldIdLst>
        </p14:section>
        <p14:section name="Research question" id="{9a58083b-1cf6-f573-c064-29026b36e0e1}">
          <p14:sldIdLst>
            <p14:sldId id="262"/>
          </p14:sldIdLst>
        </p14:section>
        <p14:section name="Method" id="{ea07f7b5-d676-1897-5c8e-41bc80612165}">
          <p14:sldIdLst>
            <p14:sldId id="263"/>
            <p14:sldId id="264"/>
            <p14:sldId id="265"/>
            <p14:sldId id="266"/>
            <p14:sldId id="267"/>
          </p14:sldIdLst>
        </p14:section>
        <p14:section name="Experiments" id="{d431502b-5093-ba09-ba76-8296bc15d88a}">
          <p14:sldIdLst>
            <p14:sldId id="268"/>
            <p14:sldId id="269"/>
            <p14:sldId id="270"/>
            <p14:sldId id="271"/>
            <p14:sldId id="272"/>
            <p14:sldId id="273"/>
          </p14:sldIdLst>
        </p14:section>
        <p14:section name="Results" id="{37eb136b-541e-4a42-7d92-f25cbb407748}">
          <p14:sldIdLst>
            <p14:sldId id="274"/>
            <p14:sldId id="275"/>
            <p14:sldId id="276"/>
            <p14:sldId id="277"/>
          </p14:sldIdLst>
        </p14:section>
        <p14:section name="Published baseline" id="{2b0639f4-ddab-adaf-e40a-42501d266b58}">
          <p14:sldIdLst>
            <p14:sldId id="278"/>
            <p14:sldId id="279"/>
            <p14:sldId id="280"/>
          </p14:sldIdLst>
        </p14:section>
        <p14:section name="Conclusion" id="{de9d79a6-867d-2d2e-d9b2-e98988dcb109}">
          <p14:sldIdLst>
            <p14:sldId id="281"/>
            <p14:sldId id="282"/>
            <p14:sldId id="283"/>
          </p14:sldIdLst>
        </p14:section>
        <p14:section name="References" id="{fdb7beab-ca6b-aee1-db5e-e72583c19ffd}">
          <p14:sldIdLst>
            <p14:sldId id="284"/>
            <p14:sldId id="285"/>
            <p14:sldId id="286"/>
          </p14:sldIdLst>
        </p14:section>
        <p14:section name="Appendix" id="{0f05c865-5ddf-023f-65b4-1fd3866da7be}">
          <p14:sldIdLst>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0% noise</c:v>
                </c:pt>
              </c:strCache>
            </c:strRef>
          </c:tx>
          <c:spPr>
            <a:solidFill>
              <a:srgbClr val="8FB3BA"/>
            </a:solidFill>
            <a:effectLst/>
          </c:spPr>
          <c:invertIfNegative val="0"/>
          <c:dLbls>
            <c:numFmt formatCode="+0.0;−0.0;0.0" sourceLinked="0"/>
            <c:txPr>
              <a:bodyPr/>
              <a:lstStyle/>
              <a:p>
                <a:pPr>
                  <a:defRPr b="0" i="0" strike="noStrike" sz="1000" u="none">
                    <a:solidFill>
                      <a:srgbClr val="17242A"/>
                    </a:solidFill>
                    <a:latin typeface="+mn-lt"/>
                  </a:defRPr>
                </a:pPr>
              </a:p>
            </c:txPr>
            <c:showLegendKey val="0"/>
            <c:showVal val="1"/>
            <c:showCatName val="0"/>
            <c:showSerName val="0"/>
            <c:showPercent val="0"/>
            <c:showBubbleSize val="0"/>
            <c:showLeaderLines val="0"/>
          </c:dLbls>
          <c:cat>
            <c:multiLvlStrRef>
              <c:f>Sheet1!$A$2:$A$6</c:f>
              <c:multiLvlStrCache>
                <c:ptCount val="5"/>
                <c:lvl>
                  <c:pt idx="0">
                    <c:v>T1 centre</c:v>
                  </c:pt>
                  <c:pt idx="1">
                    <c:v>T2 entropy</c:v>
                  </c:pt>
                  <c:pt idx="2">
                    <c:v>T4 overlap</c:v>
                  </c:pt>
                  <c:pt idx="3">
                    <c:v>T5 density</c:v>
                  </c:pt>
                  <c:pt idx="4">
                    <c:v>LSTSVM (all points)</c:v>
                  </c:pt>
                </c:lvl>
              </c:multiLvlStrCache>
            </c:multiLvlStrRef>
          </c:cat>
          <c:val>
            <c:numRef>
              <c:f>Sheet1!$B$2:$B$6</c:f>
              <c:numCache>
                <c:formatCode>General</c:formatCode>
                <c:ptCount val="5"/>
                <c:pt idx="0">
                  <c:v>0.34</c:v>
                </c:pt>
                <c:pt idx="1">
                  <c:v>0.81</c:v>
                </c:pt>
                <c:pt idx="2">
                  <c:v>0.14</c:v>
                </c:pt>
                <c:pt idx="3">
                  <c:v>0.27</c:v>
                </c:pt>
                <c:pt idx="4">
                  <c:v>7.32</c:v>
                </c:pt>
              </c:numCache>
            </c:numRef>
          </c:val>
        </c:ser>
        <c:ser>
          <c:idx val="1"/>
          <c:order val="1"/>
          <c:tx>
            <c:strRef>
              <c:f>Sheet1!$C$1</c:f>
              <c:strCache>
                <c:ptCount val="1"/>
                <c:pt idx="0">
                  <c:v>10% noise</c:v>
                </c:pt>
              </c:strCache>
            </c:strRef>
          </c:tx>
          <c:spPr>
            <a:solidFill>
              <a:srgbClr val="5A8D97"/>
            </a:solidFill>
            <a:effectLst/>
          </c:spPr>
          <c:invertIfNegative val="0"/>
          <c:dLbls>
            <c:numFmt formatCode="+0.0;−0.0;0.0" sourceLinked="0"/>
            <c:txPr>
              <a:bodyPr/>
              <a:lstStyle/>
              <a:p>
                <a:pPr>
                  <a:defRPr b="0" i="0" strike="noStrike" sz="1000" u="none">
                    <a:solidFill>
                      <a:srgbClr val="17242A"/>
                    </a:solidFill>
                    <a:latin typeface="+mn-lt"/>
                  </a:defRPr>
                </a:pPr>
              </a:p>
            </c:txPr>
            <c:showLegendKey val="0"/>
            <c:showVal val="1"/>
            <c:showCatName val="0"/>
            <c:showSerName val="0"/>
            <c:showPercent val="0"/>
            <c:showBubbleSize val="0"/>
            <c:showLeaderLines val="0"/>
          </c:dLbls>
          <c:cat>
            <c:multiLvlStrRef>
              <c:f>Sheet1!$A$2:$A$6</c:f>
              <c:multiLvlStrCache>
                <c:ptCount val="5"/>
                <c:lvl>
                  <c:pt idx="0">
                    <c:v>T1 centre</c:v>
                  </c:pt>
                  <c:pt idx="1">
                    <c:v>T2 entropy</c:v>
                  </c:pt>
                  <c:pt idx="2">
                    <c:v>T4 overlap</c:v>
                  </c:pt>
                  <c:pt idx="3">
                    <c:v>T5 density</c:v>
                  </c:pt>
                  <c:pt idx="4">
                    <c:v>LSTSVM (all points)</c:v>
                  </c:pt>
                </c:lvl>
              </c:multiLvlStrCache>
            </c:multiLvlStrRef>
          </c:cat>
          <c:val>
            <c:numRef>
              <c:f>Sheet1!$C$2:$C$6</c:f>
              <c:numCache>
                <c:formatCode>General</c:formatCode>
                <c:ptCount val="5"/>
                <c:pt idx="0">
                  <c:v>0.4</c:v>
                </c:pt>
                <c:pt idx="1">
                  <c:v>-0.06</c:v>
                </c:pt>
                <c:pt idx="2">
                  <c:v>0.48</c:v>
                </c:pt>
                <c:pt idx="3">
                  <c:v>-1.4</c:v>
                </c:pt>
                <c:pt idx="4">
                  <c:v>4.6</c:v>
                </c:pt>
              </c:numCache>
            </c:numRef>
          </c:val>
        </c:ser>
        <c:ser>
          <c:idx val="2"/>
          <c:order val="2"/>
          <c:tx>
            <c:strRef>
              <c:f>Sheet1!$D$1</c:f>
              <c:strCache>
                <c:ptCount val="1"/>
                <c:pt idx="0">
                  <c:v>20% noise</c:v>
                </c:pt>
              </c:strCache>
            </c:strRef>
          </c:tx>
          <c:spPr>
            <a:solidFill>
              <a:srgbClr val="2E6470"/>
            </a:solidFill>
            <a:effectLst/>
          </c:spPr>
          <c:invertIfNegative val="0"/>
          <c:dLbls>
            <c:numFmt formatCode="+0.0;−0.0;0.0" sourceLinked="0"/>
            <c:txPr>
              <a:bodyPr/>
              <a:lstStyle/>
              <a:p>
                <a:pPr>
                  <a:defRPr b="0" i="0" strike="noStrike" sz="1000" u="none">
                    <a:solidFill>
                      <a:srgbClr val="17242A"/>
                    </a:solidFill>
                    <a:latin typeface="+mn-lt"/>
                  </a:defRPr>
                </a:pPr>
              </a:p>
            </c:txPr>
            <c:showLegendKey val="0"/>
            <c:showVal val="1"/>
            <c:showCatName val="0"/>
            <c:showSerName val="0"/>
            <c:showPercent val="0"/>
            <c:showBubbleSize val="0"/>
            <c:showLeaderLines val="0"/>
          </c:dLbls>
          <c:cat>
            <c:multiLvlStrRef>
              <c:f>Sheet1!$A$2:$A$6</c:f>
              <c:multiLvlStrCache>
                <c:ptCount val="5"/>
                <c:lvl>
                  <c:pt idx="0">
                    <c:v>T1 centre</c:v>
                  </c:pt>
                  <c:pt idx="1">
                    <c:v>T2 entropy</c:v>
                  </c:pt>
                  <c:pt idx="2">
                    <c:v>T4 overlap</c:v>
                  </c:pt>
                  <c:pt idx="3">
                    <c:v>T5 density</c:v>
                  </c:pt>
                  <c:pt idx="4">
                    <c:v>LSTSVM (all points)</c:v>
                  </c:pt>
                </c:lvl>
              </c:multiLvlStrCache>
            </c:multiLvlStrRef>
          </c:cat>
          <c:val>
            <c:numRef>
              <c:f>Sheet1!$D$2:$D$6</c:f>
              <c:numCache>
                <c:formatCode>General</c:formatCode>
                <c:ptCount val="5"/>
                <c:pt idx="0">
                  <c:v>-2.36</c:v>
                </c:pt>
                <c:pt idx="1">
                  <c:v>-0.77</c:v>
                </c:pt>
                <c:pt idx="2">
                  <c:v>-1.62</c:v>
                </c:pt>
                <c:pt idx="3">
                  <c:v>-1.4</c:v>
                </c:pt>
                <c:pt idx="4">
                  <c:v>4.18</c:v>
                </c:pt>
              </c:numCache>
            </c:numRef>
          </c:val>
        </c:ser>
        <c:dLbls>
          <c:numFmt formatCode="+0.0;−0.0;0.0" sourceLinked="0"/>
          <c:txPr>
            <a:bodyPr/>
            <a:lstStyle/>
            <a:p>
              <a:pPr>
                <a:defRPr b="0" i="0" strike="noStrike" sz="1000" u="none">
                  <a:solidFill>
                    <a:srgbClr val="17242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FB0B3"/>
            </a:solidFill>
            <a:prstDash val="solid"/>
            <a:round/>
          </a:ln>
        </c:spPr>
        <c:txPr>
          <a:bodyPr/>
          <a:lstStyle/>
          <a:p>
            <a:pPr>
              <a:defRPr sz="1200" b="0" i="0" u="none" strike="noStrike">
                <a:solidFill>
                  <a:srgbClr val="17242A"/>
                </a:solidFill>
                <a:latin typeface="+mn-lt"/>
              </a:defRPr>
            </a:pPr>
            <a:endParaRPr lang="en-US"/>
          </a:p>
        </c:txPr>
        <c:crossAx val="2094734552"/>
        <c:crosses val="autoZero"/>
        <c:auto val="1"/>
        <c:lblAlgn val="ctr"/>
        <c:noMultiLvlLbl val="1"/>
      </c:catAx>
      <c:valAx>
        <c:axId val="2094734552"/>
        <c:scaling>
          <c:orientation val="minMax"/>
          <c:max val="8"/>
          <c:min val="-4"/>
        </c:scaling>
        <c:delete val="0"/>
        <c:axPos val="l"/>
        <c:majorGridlines>
          <c:spPr>
            <a:ln w="6350" cap="flat">
              <a:solidFill>
                <a:srgbClr val="DCE5E4"/>
              </a:solidFill>
              <a:prstDash val="solid"/>
              <a:round/>
            </a:ln>
          </c:spPr>
        </c:majorGridlines>
        <c:numFmt formatCode="+0;−0;0" sourceLinked="0"/>
        <c:majorTickMark val="out"/>
        <c:minorTickMark val="none"/>
        <c:tickLblPos val="nextTo"/>
        <c:spPr>
          <a:ln w="12700" cap="flat">
            <a:noFill/>
            <a:prstDash val="solid"/>
            <a:round/>
          </a:ln>
        </c:spPr>
        <c:txPr>
          <a:bodyPr/>
          <a:lstStyle/>
          <a:p>
            <a:pPr>
              <a:defRPr sz="1200" b="0" i="0" u="none" strike="noStrike">
                <a:solidFill>
                  <a:srgbClr val="5A7A82"/>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200">
              <a:solidFill>
                <a:srgbClr val="1724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Mislabelled points deleted</c:v>
                </c:pt>
              </c:strCache>
            </c:strRef>
          </c:tx>
          <c:spPr>
            <a:solidFill>
              <a:srgbClr val="1F78A8"/>
            </a:solidFill>
            <a:effectLst/>
          </c:spPr>
          <c:invertIfNegative val="0"/>
          <c:dLbls>
            <c:numFmt formatCode="0" sourceLinked="0"/>
            <c:txPr>
              <a:bodyPr/>
              <a:lstStyle/>
              <a:p>
                <a:pPr>
                  <a:defRPr b="0" i="0" strike="noStrike" sz="1100" u="none">
                    <a:solidFill>
                      <a:srgbClr val="17242A"/>
                    </a:solidFill>
                    <a:latin typeface="+mn-lt"/>
                  </a:defRPr>
                </a:pPr>
              </a:p>
            </c:txPr>
            <c:showLegendKey val="0"/>
            <c:showVal val="1"/>
            <c:showCatName val="0"/>
            <c:showSerName val="0"/>
            <c:showPercent val="0"/>
            <c:showBubbleSize val="0"/>
            <c:showLeaderLines val="0"/>
          </c:dLbls>
          <c:cat>
            <c:multiLvlStrRef>
              <c:f>Sheet1!$A$2:$A$4</c:f>
              <c:multiLvlStrCache>
                <c:ptCount val="3"/>
                <c:lvl>
                  <c:pt idx="0">
                    <c:v>10% noise</c:v>
                  </c:pt>
                  <c:pt idx="1">
                    <c:v>20% noise</c:v>
                  </c:pt>
                  <c:pt idx="2">
                    <c:v>30% noise</c:v>
                  </c:pt>
                </c:lvl>
              </c:multiLvlStrCache>
            </c:multiLvlStrRef>
          </c:cat>
          <c:val>
            <c:numRef>
              <c:f>Sheet1!$B$2:$B$4</c:f>
              <c:numCache>
                <c:formatCode>General</c:formatCode>
                <c:ptCount val="3"/>
                <c:pt idx="0">
                  <c:v>87.8</c:v>
                </c:pt>
                <c:pt idx="1">
                  <c:v>85.4</c:v>
                </c:pt>
                <c:pt idx="2">
                  <c:v>82</c:v>
                </c:pt>
              </c:numCache>
            </c:numRef>
          </c:val>
        </c:ser>
        <c:ser>
          <c:idx val="1"/>
          <c:order val="1"/>
          <c:tx>
            <c:strRef>
              <c:f>Sheet1!$C$1</c:f>
              <c:strCache>
                <c:ptCount val="1"/>
                <c:pt idx="0">
                  <c:v>Correct points deleted</c:v>
                </c:pt>
              </c:strCache>
            </c:strRef>
          </c:tx>
          <c:spPr>
            <a:solidFill>
              <a:srgbClr val="C0492F"/>
            </a:solidFill>
            <a:effectLst/>
          </c:spPr>
          <c:invertIfNegative val="0"/>
          <c:dLbls>
            <c:numFmt formatCode="0" sourceLinked="0"/>
            <c:txPr>
              <a:bodyPr/>
              <a:lstStyle/>
              <a:p>
                <a:pPr>
                  <a:defRPr b="0" i="0" strike="noStrike" sz="1100" u="none">
                    <a:solidFill>
                      <a:srgbClr val="17242A"/>
                    </a:solidFill>
                    <a:latin typeface="+mn-lt"/>
                  </a:defRPr>
                </a:pPr>
              </a:p>
            </c:txPr>
            <c:showLegendKey val="0"/>
            <c:showVal val="1"/>
            <c:showCatName val="0"/>
            <c:showSerName val="0"/>
            <c:showPercent val="0"/>
            <c:showBubbleSize val="0"/>
            <c:showLeaderLines val="0"/>
          </c:dLbls>
          <c:cat>
            <c:multiLvlStrRef>
              <c:f>Sheet1!$A$2:$A$4</c:f>
              <c:multiLvlStrCache>
                <c:ptCount val="3"/>
                <c:lvl>
                  <c:pt idx="0">
                    <c:v>10% noise</c:v>
                  </c:pt>
                  <c:pt idx="1">
                    <c:v>20% noise</c:v>
                  </c:pt>
                  <c:pt idx="2">
                    <c:v>30% noise</c:v>
                  </c:pt>
                </c:lvl>
              </c:multiLvlStrCache>
            </c:multiLvlStrRef>
          </c:cat>
          <c:val>
            <c:numRef>
              <c:f>Sheet1!$C$2:$C$4</c:f>
              <c:numCache>
                <c:formatCode>General</c:formatCode>
                <c:ptCount val="3"/>
                <c:pt idx="0">
                  <c:v>41.3</c:v>
                </c:pt>
                <c:pt idx="1">
                  <c:v>52</c:v>
                </c:pt>
                <c:pt idx="2">
                  <c:v>60.2</c:v>
                </c:pt>
              </c:numCache>
            </c:numRef>
          </c:val>
        </c:ser>
        <c:dLbls>
          <c:numFmt formatCode="0" sourceLinked="0"/>
          <c:txPr>
            <a:bodyPr/>
            <a:lstStyle/>
            <a:p>
              <a:pPr>
                <a:defRPr b="0" i="0" strike="noStrike" sz="1100" u="none">
                  <a:solidFill>
                    <a:srgbClr val="17242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FB0B3"/>
            </a:solidFill>
            <a:prstDash val="solid"/>
            <a:round/>
          </a:ln>
        </c:spPr>
        <c:txPr>
          <a:bodyPr/>
          <a:lstStyle/>
          <a:p>
            <a:pPr>
              <a:defRPr sz="1200" b="0" i="0" u="none" strike="noStrike">
                <a:solidFill>
                  <a:srgbClr val="17242A"/>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DCE5E4"/>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5A7A82"/>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1724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Other memberships</c:v>
                </c:pt>
              </c:strCache>
            </c:strRef>
          </c:tx>
          <c:spPr>
            <a:solidFill>
              <a:srgbClr val="B4C0C3"/>
            </a:solidFill>
            <a:effectLst/>
          </c:spPr>
          <c:invertIfNegative val="0"/>
          <c:dLbls>
            <c:numFmt formatCode="0.00;;;" sourceLinked="0"/>
            <c:txPr>
              <a:bodyPr/>
              <a:lstStyle/>
              <a:p>
                <a:pPr>
                  <a:defRPr b="0" i="0" strike="noStrike" sz="1100" u="none">
                    <a:solidFill>
                      <a:srgbClr val="17242A"/>
                    </a:solidFill>
                    <a:latin typeface="+mn-lt"/>
                  </a:defRPr>
                </a:pPr>
              </a:p>
            </c:txPr>
            <c:showLegendKey val="0"/>
            <c:showVal val="1"/>
            <c:showCatName val="0"/>
            <c:showSerName val="0"/>
            <c:showPercent val="0"/>
            <c:showBubbleSize val="0"/>
            <c:showLeaderLines val="0"/>
          </c:dLbls>
          <c:cat>
            <c:multiLvlStrRef>
              <c:f>Sheet1!$A$2:$A$8</c:f>
              <c:multiLvlStrCache>
                <c:ptCount val="7"/>
                <c:lvl>
                  <c:pt idx="0">
                    <c:v>T2 entropy</c:v>
                  </c:pt>
                  <c:pt idx="1">
                    <c:v>T5 density</c:v>
                  </c:pt>
                  <c:pt idx="2">
                    <c:v>T4 overlap</c:v>
                  </c:pt>
                  <c:pt idx="3">
                    <c:v>T1 centre</c:v>
                  </c:pt>
                  <c:pt idx="4">
                    <c:v>Single-point ball</c:v>
                  </c:pt>
                  <c:pt idx="5">
                    <c:v>T7 agreement</c:v>
                  </c:pt>
                  <c:pt idx="6">
                    <c:v>kNN on points</c:v>
                  </c:pt>
                </c:lvl>
              </c:multiLvlStrCache>
            </c:multiLvlStrRef>
          </c:cat>
          <c:val>
            <c:numRef>
              <c:f>Sheet1!$B$2:$B$8</c:f>
              <c:numCache>
                <c:formatCode>General</c:formatCode>
                <c:ptCount val="7"/>
                <c:pt idx="0">
                  <c:v>0.26</c:v>
                </c:pt>
                <c:pt idx="1">
                  <c:v>0.33</c:v>
                </c:pt>
                <c:pt idx="2">
                  <c:v>0.49</c:v>
                </c:pt>
                <c:pt idx="3">
                  <c:v>0.65</c:v>
                </c:pt>
                <c:pt idx="4">
                  <c:v>0.67</c:v>
                </c:pt>
                <c:pt idx="5">
                  <c:v>0</c:v>
                </c:pt>
                <c:pt idx="6">
                  <c:v>0</c:v>
                </c:pt>
              </c:numCache>
            </c:numRef>
          </c:val>
        </c:ser>
        <c:ser>
          <c:idx val="1"/>
          <c:order val="1"/>
          <c:tx>
            <c:strRef>
              <c:f>Sheet1!$C$1</c:f>
              <c:strCache>
                <c:ptCount val="1"/>
                <c:pt idx="0">
                  <c:v>T7 (ours)</c:v>
                </c:pt>
              </c:strCache>
            </c:strRef>
          </c:tx>
          <c:spPr>
            <a:solidFill>
              <a:srgbClr val="00897B"/>
            </a:solidFill>
            <a:effectLst/>
          </c:spPr>
          <c:invertIfNegative val="0"/>
          <c:dLbls>
            <c:numFmt formatCode="0.00;;;" sourceLinked="0"/>
            <c:txPr>
              <a:bodyPr/>
              <a:lstStyle/>
              <a:p>
                <a:pPr>
                  <a:defRPr b="0" i="0" strike="noStrike" sz="1100" u="none">
                    <a:solidFill>
                      <a:srgbClr val="17242A"/>
                    </a:solidFill>
                    <a:latin typeface="+mn-lt"/>
                  </a:defRPr>
                </a:pPr>
              </a:p>
            </c:txPr>
            <c:showLegendKey val="0"/>
            <c:showVal val="1"/>
            <c:showCatName val="0"/>
            <c:showSerName val="0"/>
            <c:showPercent val="0"/>
            <c:showBubbleSize val="0"/>
            <c:showLeaderLines val="0"/>
          </c:dLbls>
          <c:cat>
            <c:multiLvlStrRef>
              <c:f>Sheet1!$A$2:$A$8</c:f>
              <c:multiLvlStrCache>
                <c:ptCount val="7"/>
                <c:lvl>
                  <c:pt idx="0">
                    <c:v>T2 entropy</c:v>
                  </c:pt>
                  <c:pt idx="1">
                    <c:v>T5 density</c:v>
                  </c:pt>
                  <c:pt idx="2">
                    <c:v>T4 overlap</c:v>
                  </c:pt>
                  <c:pt idx="3">
                    <c:v>T1 centre</c:v>
                  </c:pt>
                  <c:pt idx="4">
                    <c:v>Single-point ball</c:v>
                  </c:pt>
                  <c:pt idx="5">
                    <c:v>T7 agreement</c:v>
                  </c:pt>
                  <c:pt idx="6">
                    <c:v>kNN on points</c:v>
                  </c:pt>
                </c:lvl>
              </c:multiLvlStrCache>
            </c:multiLvlStrRef>
          </c:cat>
          <c:val>
            <c:numRef>
              <c:f>Sheet1!$C$2:$C$8</c:f>
              <c:numCache>
                <c:formatCode>General</c:formatCode>
                <c:ptCount val="7"/>
                <c:pt idx="0">
                  <c:v>0</c:v>
                </c:pt>
                <c:pt idx="1">
                  <c:v>0</c:v>
                </c:pt>
                <c:pt idx="2">
                  <c:v>0</c:v>
                </c:pt>
                <c:pt idx="3">
                  <c:v>0</c:v>
                </c:pt>
                <c:pt idx="4">
                  <c:v>0</c:v>
                </c:pt>
                <c:pt idx="5">
                  <c:v>0.87</c:v>
                </c:pt>
                <c:pt idx="6">
                  <c:v>0</c:v>
                </c:pt>
              </c:numCache>
            </c:numRef>
          </c:val>
        </c:ser>
        <c:ser>
          <c:idx val="2"/>
          <c:order val="2"/>
          <c:tx>
            <c:strRef>
              <c:f>Sheet1!$D$1</c:f>
              <c:strCache>
                <c:ptCount val="1"/>
                <c:pt idx="0">
                  <c:v>Fuzzy kNN on points</c:v>
                </c:pt>
              </c:strCache>
            </c:strRef>
          </c:tx>
          <c:spPr>
            <a:solidFill>
              <a:srgbClr val="B88200"/>
            </a:solidFill>
            <a:effectLst/>
          </c:spPr>
          <c:invertIfNegative val="0"/>
          <c:dLbls>
            <c:numFmt formatCode="0.00;;;" sourceLinked="0"/>
            <c:txPr>
              <a:bodyPr/>
              <a:lstStyle/>
              <a:p>
                <a:pPr>
                  <a:defRPr b="0" i="0" strike="noStrike" sz="1100" u="none">
                    <a:solidFill>
                      <a:srgbClr val="17242A"/>
                    </a:solidFill>
                    <a:latin typeface="+mn-lt"/>
                  </a:defRPr>
                </a:pPr>
              </a:p>
            </c:txPr>
            <c:showLegendKey val="0"/>
            <c:showVal val="1"/>
            <c:showCatName val="0"/>
            <c:showSerName val="0"/>
            <c:showPercent val="0"/>
            <c:showBubbleSize val="0"/>
            <c:showLeaderLines val="0"/>
          </c:dLbls>
          <c:cat>
            <c:multiLvlStrRef>
              <c:f>Sheet1!$A$2:$A$8</c:f>
              <c:multiLvlStrCache>
                <c:ptCount val="7"/>
                <c:lvl>
                  <c:pt idx="0">
                    <c:v>T2 entropy</c:v>
                  </c:pt>
                  <c:pt idx="1">
                    <c:v>T5 density</c:v>
                  </c:pt>
                  <c:pt idx="2">
                    <c:v>T4 overlap</c:v>
                  </c:pt>
                  <c:pt idx="3">
                    <c:v>T1 centre</c:v>
                  </c:pt>
                  <c:pt idx="4">
                    <c:v>Single-point ball</c:v>
                  </c:pt>
                  <c:pt idx="5">
                    <c:v>T7 agreement</c:v>
                  </c:pt>
                  <c:pt idx="6">
                    <c:v>kNN on points</c:v>
                  </c:pt>
                </c:lvl>
              </c:multiLvlStrCache>
            </c:multiLvlStrRef>
          </c:cat>
          <c:val>
            <c:numRef>
              <c:f>Sheet1!$D$2:$D$8</c:f>
              <c:numCache>
                <c:formatCode>General</c:formatCode>
                <c:ptCount val="7"/>
                <c:pt idx="0">
                  <c:v>0</c:v>
                </c:pt>
                <c:pt idx="1">
                  <c:v>0</c:v>
                </c:pt>
                <c:pt idx="2">
                  <c:v>0</c:v>
                </c:pt>
                <c:pt idx="3">
                  <c:v>0</c:v>
                </c:pt>
                <c:pt idx="4">
                  <c:v>0</c:v>
                </c:pt>
                <c:pt idx="5">
                  <c:v>0</c:v>
                </c:pt>
                <c:pt idx="6">
                  <c:v>0.87</c:v>
                </c:pt>
              </c:numCache>
            </c:numRef>
          </c:val>
        </c:ser>
        <c:dLbls>
          <c:numFmt formatCode="0.00;;;" sourceLinked="0"/>
          <c:txPr>
            <a:bodyPr/>
            <a:lstStyle/>
            <a:p>
              <a:pPr>
                <a:defRPr b="0" i="0" strike="noStrike" sz="1100" u="none">
                  <a:solidFill>
                    <a:srgbClr val="17242A"/>
                  </a:solidFill>
                  <a:latin typeface="+mn-lt"/>
                </a:defRPr>
              </a:pPr>
            </a:p>
          </c:txP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9FB0B3"/>
            </a:solidFill>
            <a:prstDash val="solid"/>
            <a:round/>
          </a:ln>
        </c:spPr>
        <c:txPr>
          <a:bodyPr/>
          <a:lstStyle/>
          <a:p>
            <a:pPr>
              <a:defRPr sz="1200" b="0" i="0" u="none" strike="noStrike">
                <a:solidFill>
                  <a:srgbClr val="17242A"/>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DCE5E4"/>
              </a:solidFill>
              <a:prstDash val="solid"/>
              <a:round/>
            </a:ln>
          </c:spPr>
        </c:majorGridlines>
        <c:numFmt formatCode="0.00" sourceLinked="0"/>
        <c:majorTickMark val="out"/>
        <c:minorTickMark val="none"/>
        <c:tickLblPos val="low"/>
        <c:spPr>
          <a:ln w="12700" cap="flat">
            <a:noFill/>
            <a:prstDash val="solid"/>
            <a:round/>
          </a:ln>
        </c:spPr>
        <c:txPr>
          <a:bodyPr/>
          <a:lstStyle/>
          <a:p>
            <a:pPr>
              <a:defRPr sz="1200" b="0" i="0" u="none" strike="noStrike">
                <a:solidFill>
                  <a:srgbClr val="5A7A82"/>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0% noise</c:v>
                </c:pt>
              </c:strCache>
            </c:strRef>
          </c:tx>
          <c:spPr>
            <a:solidFill>
              <a:srgbClr val="8FB3BA"/>
            </a:solidFill>
            <a:effectLst/>
          </c:spPr>
          <c:invertIfNegative val="0"/>
          <c:dLbls>
            <c:numFmt formatCode="+0.0;−0.0;0.0" sourceLinked="0"/>
            <c:txPr>
              <a:bodyPr/>
              <a:lstStyle/>
              <a:p>
                <a:pPr>
                  <a:defRPr b="0" i="0" strike="noStrike" sz="1000" u="none">
                    <a:solidFill>
                      <a:srgbClr val="17242A"/>
                    </a:solidFill>
                    <a:latin typeface="+mn-lt"/>
                  </a:defRPr>
                </a:pPr>
              </a:p>
            </c:txPr>
            <c:showLegendKey val="0"/>
            <c:showVal val="1"/>
            <c:showCatName val="0"/>
            <c:showSerName val="0"/>
            <c:showPercent val="0"/>
            <c:showBubbleSize val="0"/>
            <c:showLeaderLines val="0"/>
          </c:dLbls>
          <c:cat>
            <c:multiLvlStrRef>
              <c:f>Sheet1!$A$2:$A$6</c:f>
              <c:multiLvlStrCache>
                <c:ptCount val="5"/>
                <c:lvl>
                  <c:pt idx="0">
                    <c:v>Keep single points (T6)</c:v>
                  </c:pt>
                  <c:pt idx="1">
                    <c:v>Keep + T2 entropy</c:v>
                  </c:pt>
                  <c:pt idx="2">
                    <c:v>Keep + T4 overlap</c:v>
                  </c:pt>
                  <c:pt idx="3">
                    <c:v>No radius term</c:v>
                  </c:pt>
                  <c:pt idx="4">
                    <c:v>LSTSVM (all points)</c:v>
                  </c:pt>
                </c:lvl>
              </c:multiLvlStrCache>
            </c:multiLvlStrRef>
          </c:cat>
          <c:val>
            <c:numRef>
              <c:f>Sheet1!$B$2:$B$6</c:f>
              <c:numCache>
                <c:formatCode>General</c:formatCode>
                <c:ptCount val="5"/>
                <c:pt idx="0">
                  <c:v>3.77</c:v>
                </c:pt>
                <c:pt idx="1">
                  <c:v>4.2</c:v>
                </c:pt>
                <c:pt idx="2">
                  <c:v>3.76</c:v>
                </c:pt>
                <c:pt idx="3">
                  <c:v>0.39</c:v>
                </c:pt>
                <c:pt idx="4">
                  <c:v>7.32</c:v>
                </c:pt>
              </c:numCache>
            </c:numRef>
          </c:val>
        </c:ser>
        <c:ser>
          <c:idx val="1"/>
          <c:order val="1"/>
          <c:tx>
            <c:strRef>
              <c:f>Sheet1!$C$1</c:f>
              <c:strCache>
                <c:ptCount val="1"/>
                <c:pt idx="0">
                  <c:v>10% noise</c:v>
                </c:pt>
              </c:strCache>
            </c:strRef>
          </c:tx>
          <c:spPr>
            <a:solidFill>
              <a:srgbClr val="5A8D97"/>
            </a:solidFill>
            <a:effectLst/>
          </c:spPr>
          <c:invertIfNegative val="0"/>
          <c:dLbls>
            <c:numFmt formatCode="+0.0;−0.0;0.0" sourceLinked="0"/>
            <c:txPr>
              <a:bodyPr/>
              <a:lstStyle/>
              <a:p>
                <a:pPr>
                  <a:defRPr b="0" i="0" strike="noStrike" sz="1000" u="none">
                    <a:solidFill>
                      <a:srgbClr val="17242A"/>
                    </a:solidFill>
                    <a:latin typeface="+mn-lt"/>
                  </a:defRPr>
                </a:pPr>
              </a:p>
            </c:txPr>
            <c:showLegendKey val="0"/>
            <c:showVal val="1"/>
            <c:showCatName val="0"/>
            <c:showSerName val="0"/>
            <c:showPercent val="0"/>
            <c:showBubbleSize val="0"/>
            <c:showLeaderLines val="0"/>
          </c:dLbls>
          <c:cat>
            <c:multiLvlStrRef>
              <c:f>Sheet1!$A$2:$A$6</c:f>
              <c:multiLvlStrCache>
                <c:ptCount val="5"/>
                <c:lvl>
                  <c:pt idx="0">
                    <c:v>Keep single points (T6)</c:v>
                  </c:pt>
                  <c:pt idx="1">
                    <c:v>Keep + T2 entropy</c:v>
                  </c:pt>
                  <c:pt idx="2">
                    <c:v>Keep + T4 overlap</c:v>
                  </c:pt>
                  <c:pt idx="3">
                    <c:v>No radius term</c:v>
                  </c:pt>
                  <c:pt idx="4">
                    <c:v>LSTSVM (all points)</c:v>
                  </c:pt>
                </c:lvl>
              </c:multiLvlStrCache>
            </c:multiLvlStrRef>
          </c:cat>
          <c:val>
            <c:numRef>
              <c:f>Sheet1!$C$2:$C$6</c:f>
              <c:numCache>
                <c:formatCode>General</c:formatCode>
                <c:ptCount val="5"/>
                <c:pt idx="0">
                  <c:v>2.48</c:v>
                </c:pt>
                <c:pt idx="1">
                  <c:v>1.66</c:v>
                </c:pt>
                <c:pt idx="2">
                  <c:v>1.69</c:v>
                </c:pt>
                <c:pt idx="3">
                  <c:v>0.01</c:v>
                </c:pt>
                <c:pt idx="4">
                  <c:v>4.6</c:v>
                </c:pt>
              </c:numCache>
            </c:numRef>
          </c:val>
        </c:ser>
        <c:ser>
          <c:idx val="2"/>
          <c:order val="2"/>
          <c:tx>
            <c:strRef>
              <c:f>Sheet1!$D$1</c:f>
              <c:strCache>
                <c:ptCount val="1"/>
                <c:pt idx="0">
                  <c:v>20% noise</c:v>
                </c:pt>
              </c:strCache>
            </c:strRef>
          </c:tx>
          <c:spPr>
            <a:solidFill>
              <a:srgbClr val="2E6470"/>
            </a:solidFill>
            <a:effectLst/>
          </c:spPr>
          <c:invertIfNegative val="0"/>
          <c:dLbls>
            <c:numFmt formatCode="+0.0;−0.0;0.0" sourceLinked="0"/>
            <c:txPr>
              <a:bodyPr/>
              <a:lstStyle/>
              <a:p>
                <a:pPr>
                  <a:defRPr b="0" i="0" strike="noStrike" sz="1000" u="none">
                    <a:solidFill>
                      <a:srgbClr val="17242A"/>
                    </a:solidFill>
                    <a:latin typeface="+mn-lt"/>
                  </a:defRPr>
                </a:pPr>
              </a:p>
            </c:txPr>
            <c:showLegendKey val="0"/>
            <c:showVal val="1"/>
            <c:showCatName val="0"/>
            <c:showSerName val="0"/>
            <c:showPercent val="0"/>
            <c:showBubbleSize val="0"/>
            <c:showLeaderLines val="0"/>
          </c:dLbls>
          <c:cat>
            <c:multiLvlStrRef>
              <c:f>Sheet1!$A$2:$A$6</c:f>
              <c:multiLvlStrCache>
                <c:ptCount val="5"/>
                <c:lvl>
                  <c:pt idx="0">
                    <c:v>Keep single points (T6)</c:v>
                  </c:pt>
                  <c:pt idx="1">
                    <c:v>Keep + T2 entropy</c:v>
                  </c:pt>
                  <c:pt idx="2">
                    <c:v>Keep + T4 overlap</c:v>
                  </c:pt>
                  <c:pt idx="3">
                    <c:v>No radius term</c:v>
                  </c:pt>
                  <c:pt idx="4">
                    <c:v>LSTSVM (all points)</c:v>
                  </c:pt>
                </c:lvl>
              </c:multiLvlStrCache>
            </c:multiLvlStrRef>
          </c:cat>
          <c:val>
            <c:numRef>
              <c:f>Sheet1!$D$2:$D$6</c:f>
              <c:numCache>
                <c:formatCode>General</c:formatCode>
                <c:ptCount val="5"/>
                <c:pt idx="0">
                  <c:v>0.99</c:v>
                </c:pt>
                <c:pt idx="1">
                  <c:v>0.6</c:v>
                </c:pt>
                <c:pt idx="2">
                  <c:v>0.84</c:v>
                </c:pt>
                <c:pt idx="3">
                  <c:v>-1.56</c:v>
                </c:pt>
                <c:pt idx="4">
                  <c:v>4.18</c:v>
                </c:pt>
              </c:numCache>
            </c:numRef>
          </c:val>
        </c:ser>
        <c:dLbls>
          <c:numFmt formatCode="+0.0;−0.0;0.0" sourceLinked="0"/>
          <c:txPr>
            <a:bodyPr/>
            <a:lstStyle/>
            <a:p>
              <a:pPr>
                <a:defRPr b="0" i="0" strike="noStrike" sz="1000" u="none">
                  <a:solidFill>
                    <a:srgbClr val="17242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FB0B3"/>
            </a:solidFill>
            <a:prstDash val="solid"/>
            <a:round/>
          </a:ln>
        </c:spPr>
        <c:txPr>
          <a:bodyPr/>
          <a:lstStyle/>
          <a:p>
            <a:pPr>
              <a:defRPr sz="1200" b="0" i="0" u="none" strike="noStrike">
                <a:solidFill>
                  <a:srgbClr val="17242A"/>
                </a:solidFill>
                <a:latin typeface="+mn-lt"/>
              </a:defRPr>
            </a:pPr>
            <a:endParaRPr lang="en-US"/>
          </a:p>
        </c:txPr>
        <c:crossAx val="2094734552"/>
        <c:crosses val="autoZero"/>
        <c:auto val="1"/>
        <c:lblAlgn val="ctr"/>
        <c:noMultiLvlLbl val="1"/>
      </c:catAx>
      <c:valAx>
        <c:axId val="2094734552"/>
        <c:scaling>
          <c:orientation val="minMax"/>
          <c:max val="8"/>
          <c:min val="-4"/>
        </c:scaling>
        <c:delete val="0"/>
        <c:axPos val="l"/>
        <c:majorGridlines>
          <c:spPr>
            <a:ln w="6350" cap="flat">
              <a:solidFill>
                <a:srgbClr val="DCE5E4"/>
              </a:solidFill>
              <a:prstDash val="solid"/>
              <a:round/>
            </a:ln>
          </c:spPr>
        </c:majorGridlines>
        <c:numFmt formatCode="+0;−0;0" sourceLinked="0"/>
        <c:majorTickMark val="out"/>
        <c:minorTickMark val="none"/>
        <c:tickLblPos val="nextTo"/>
        <c:spPr>
          <a:ln w="12700" cap="flat">
            <a:noFill/>
            <a:prstDash val="solid"/>
            <a:round/>
          </a:ln>
        </c:spPr>
        <c:txPr>
          <a:bodyPr/>
          <a:lstStyle/>
          <a:p>
            <a:pPr>
              <a:defRPr sz="1200" b="0" i="0" u="none" strike="noStrike">
                <a:solidFill>
                  <a:srgbClr val="5A7A82"/>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200">
              <a:solidFill>
                <a:srgbClr val="1724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GBLSTSVM</c:v>
                </c:pt>
              </c:strCache>
            </c:strRef>
          </c:tx>
          <c:spPr>
            <a:solidFill>
              <a:srgbClr val="C0492F"/>
            </a:solidFill>
            <a:ln w="28575" cap="flat">
              <a:solidFill>
                <a:srgbClr val="C0492F"/>
              </a:solidFill>
              <a:prstDash val="solid"/>
              <a:round/>
            </a:ln>
            <a:effectLst/>
          </c:spPr>
          <c:invertIfNegative val="0"/>
          <c:dLbls>
            <c:numFmt formatCode="#,##0" sourceLinked="0"/>
            <c:txPr>
              <a:bodyPr/>
              <a:lstStyle/>
              <a:p>
                <a:pPr>
                  <a:defRPr b="0" i="0" strike="noStrike" sz="1100" u="none">
                    <a:solidFill>
                      <a:srgbClr val="17242A"/>
                    </a:solidFill>
                    <a:latin typeface="+mn-lt"/>
                  </a:defRPr>
                </a:pPr>
              </a:p>
            </c:txPr>
            <c:showLegendKey val="0"/>
            <c:showVal val="0"/>
            <c:showCatName val="0"/>
            <c:showSerName val="0"/>
            <c:showPercent val="0"/>
            <c:showBubbleSize val="0"/>
            <c:showLeaderLines val="0"/>
          </c:dLbls>
          <c:marker>
            <c:symbol val="circle"/>
            <c:size val="8"/>
            <c:spPr>
              <a:solidFill>
                <a:srgbClr val="C0492F"/>
              </a:solidFill>
              <a:ln w="9525" cap="flat">
                <a:solidFill>
                  <a:srgbClr val="C0492F"/>
                </a:solidFill>
                <a:prstDash val="solid"/>
                <a:round/>
              </a:ln>
              <a:effectLst/>
            </c:spPr>
          </c:marker>
          <c:cat>
            <c:multiLvlStrRef>
              <c:f>Sheet1!$A$2:$A$5</c:f>
              <c:multiLvlStrCache>
                <c:ptCount val="4"/>
                <c:lvl>
                  <c:pt idx="0">
                    <c:v>0% noise</c:v>
                  </c:pt>
                  <c:pt idx="1">
                    <c:v>10% noise</c:v>
                  </c:pt>
                  <c:pt idx="2">
                    <c:v>20% noise</c:v>
                  </c:pt>
                  <c:pt idx="3">
                    <c:v>30% noise</c:v>
                  </c:pt>
                </c:lvl>
              </c:multiLvlStrCache>
            </c:multiLvlStrRef>
          </c:cat>
          <c:val>
            <c:numRef>
              <c:f>Sheet1!$B$2:$B$5</c:f>
              <c:numCache>
                <c:formatCode>General</c:formatCode>
                <c:ptCount val="4"/>
                <c:pt idx="0">
                  <c:v>73.51</c:v>
                </c:pt>
                <c:pt idx="1">
                  <c:v>73.3</c:v>
                </c:pt>
                <c:pt idx="2">
                  <c:v>71.03</c:v>
                </c:pt>
                <c:pt idx="3">
                  <c:v>64.03</c:v>
                </c:pt>
              </c:numCache>
            </c:numRef>
          </c:val>
          <c:smooth val="0"/>
        </c:ser>
        <c:ser>
          <c:idx val="1"/>
          <c:order val="1"/>
          <c:tx>
            <c:strRef>
              <c:f>Sheet1!$C$1</c:f>
              <c:strCache>
                <c:ptCount val="1"/>
                <c:pt idx="0">
                  <c:v>GBFTSVM</c:v>
                </c:pt>
              </c:strCache>
            </c:strRef>
          </c:tx>
          <c:spPr>
            <a:solidFill>
              <a:srgbClr val="7B4FB0"/>
            </a:solidFill>
            <a:ln w="28575" cap="flat">
              <a:solidFill>
                <a:srgbClr val="7B4FB0"/>
              </a:solidFill>
              <a:prstDash val="solid"/>
              <a:round/>
            </a:ln>
            <a:effectLst/>
          </c:spPr>
          <c:invertIfNegative val="0"/>
          <c:dLbls>
            <c:numFmt formatCode="#,##0" sourceLinked="0"/>
            <c:txPr>
              <a:bodyPr/>
              <a:lstStyle/>
              <a:p>
                <a:pPr>
                  <a:defRPr b="0" i="0" strike="noStrike" sz="1100" u="none">
                    <a:solidFill>
                      <a:srgbClr val="17242A"/>
                    </a:solidFill>
                    <a:latin typeface="+mn-lt"/>
                  </a:defRPr>
                </a:pPr>
              </a:p>
            </c:txPr>
            <c:showLegendKey val="0"/>
            <c:showVal val="0"/>
            <c:showCatName val="0"/>
            <c:showSerName val="0"/>
            <c:showPercent val="0"/>
            <c:showBubbleSize val="0"/>
            <c:showLeaderLines val="0"/>
          </c:dLbls>
          <c:marker>
            <c:symbol val="circle"/>
            <c:size val="8"/>
            <c:spPr>
              <a:solidFill>
                <a:srgbClr val="7B4FB0"/>
              </a:solidFill>
              <a:ln w="9525" cap="flat">
                <a:solidFill>
                  <a:srgbClr val="7B4FB0"/>
                </a:solidFill>
                <a:prstDash val="solid"/>
                <a:round/>
              </a:ln>
              <a:effectLst/>
            </c:spPr>
          </c:marker>
          <c:cat>
            <c:multiLvlStrRef>
              <c:f>Sheet1!$A$2:$A$5</c:f>
              <c:multiLvlStrCache>
                <c:ptCount val="4"/>
                <c:lvl>
                  <c:pt idx="0">
                    <c:v>0% noise</c:v>
                  </c:pt>
                  <c:pt idx="1">
                    <c:v>10% noise</c:v>
                  </c:pt>
                  <c:pt idx="2">
                    <c:v>20% noise</c:v>
                  </c:pt>
                  <c:pt idx="3">
                    <c:v>30% noise</c:v>
                  </c:pt>
                </c:lvl>
              </c:multiLvlStrCache>
            </c:multiLvlStrRef>
          </c:cat>
          <c:val>
            <c:numRef>
              <c:f>Sheet1!$C$2:$C$5</c:f>
              <c:numCache>
                <c:formatCode>General</c:formatCode>
                <c:ptCount val="4"/>
                <c:pt idx="0">
                  <c:v>71.71</c:v>
                </c:pt>
                <c:pt idx="1">
                  <c:v>72.21</c:v>
                </c:pt>
                <c:pt idx="2">
                  <c:v>68.3</c:v>
                </c:pt>
                <c:pt idx="3">
                  <c:v>64.16</c:v>
                </c:pt>
              </c:numCache>
            </c:numRef>
          </c:val>
          <c:smooth val="0"/>
        </c:ser>
        <c:ser>
          <c:idx val="2"/>
          <c:order val="2"/>
          <c:tx>
            <c:strRef>
              <c:f>Sheet1!$D$1</c:f>
              <c:strCache>
                <c:ptCount val="1"/>
                <c:pt idx="0">
                  <c:v>Keep + T7 (ours)</c:v>
                </c:pt>
              </c:strCache>
            </c:strRef>
          </c:tx>
          <c:spPr>
            <a:solidFill>
              <a:srgbClr val="00897B"/>
            </a:solidFill>
            <a:ln w="28575" cap="flat">
              <a:solidFill>
                <a:srgbClr val="00897B"/>
              </a:solidFill>
              <a:prstDash val="solid"/>
              <a:round/>
            </a:ln>
            <a:effectLst/>
          </c:spPr>
          <c:invertIfNegative val="0"/>
          <c:dLbls>
            <c:numFmt formatCode="#,##0" sourceLinked="0"/>
            <c:txPr>
              <a:bodyPr/>
              <a:lstStyle/>
              <a:p>
                <a:pPr>
                  <a:defRPr b="0" i="0" strike="noStrike" sz="1100" u="none">
                    <a:solidFill>
                      <a:srgbClr val="17242A"/>
                    </a:solidFill>
                    <a:latin typeface="+mn-lt"/>
                  </a:defRPr>
                </a:pPr>
              </a:p>
            </c:txPr>
            <c:showLegendKey val="0"/>
            <c:showVal val="0"/>
            <c:showCatName val="0"/>
            <c:showSerName val="0"/>
            <c:showPercent val="0"/>
            <c:showBubbleSize val="0"/>
            <c:showLeaderLines val="0"/>
          </c:dLbls>
          <c:marker>
            <c:symbol val="circle"/>
            <c:size val="8"/>
            <c:spPr>
              <a:solidFill>
                <a:srgbClr val="00897B"/>
              </a:solidFill>
              <a:ln w="9525" cap="flat">
                <a:solidFill>
                  <a:srgbClr val="00897B"/>
                </a:solidFill>
                <a:prstDash val="solid"/>
                <a:round/>
              </a:ln>
              <a:effectLst/>
            </c:spPr>
          </c:marker>
          <c:cat>
            <c:multiLvlStrRef>
              <c:f>Sheet1!$A$2:$A$5</c:f>
              <c:multiLvlStrCache>
                <c:ptCount val="4"/>
                <c:lvl>
                  <c:pt idx="0">
                    <c:v>0% noise</c:v>
                  </c:pt>
                  <c:pt idx="1">
                    <c:v>10% noise</c:v>
                  </c:pt>
                  <c:pt idx="2">
                    <c:v>20% noise</c:v>
                  </c:pt>
                  <c:pt idx="3">
                    <c:v>30% noise</c:v>
                  </c:pt>
                </c:lvl>
              </c:multiLvlStrCache>
            </c:multiLvlStrRef>
          </c:cat>
          <c:val>
            <c:numRef>
              <c:f>Sheet1!$D$2:$D$5</c:f>
              <c:numCache>
                <c:formatCode>General</c:formatCode>
                <c:ptCount val="4"/>
                <c:pt idx="0">
                  <c:v>76.83</c:v>
                </c:pt>
                <c:pt idx="1">
                  <c:v>75.91</c:v>
                </c:pt>
                <c:pt idx="2">
                  <c:v>73.87</c:v>
                </c:pt>
                <c:pt idx="3">
                  <c:v>68.9</c:v>
                </c:pt>
              </c:numCache>
            </c:numRef>
          </c:val>
          <c:smooth val="0"/>
        </c:ser>
        <c:ser>
          <c:idx val="3"/>
          <c:order val="3"/>
          <c:tx>
            <c:strRef>
              <c:f>Sheet1!$E$1</c:f>
              <c:strCache>
                <c:ptCount val="1"/>
                <c:pt idx="0">
                  <c:v>LSTSVM</c:v>
                </c:pt>
              </c:strCache>
            </c:strRef>
          </c:tx>
          <c:spPr>
            <a:solidFill>
              <a:srgbClr val="2B63C6"/>
            </a:solidFill>
            <a:ln w="28575" cap="flat">
              <a:solidFill>
                <a:srgbClr val="2B63C6"/>
              </a:solidFill>
              <a:prstDash val="solid"/>
              <a:round/>
            </a:ln>
            <a:effectLst/>
          </c:spPr>
          <c:invertIfNegative val="0"/>
          <c:dLbls>
            <c:numFmt formatCode="#,##0" sourceLinked="0"/>
            <c:txPr>
              <a:bodyPr/>
              <a:lstStyle/>
              <a:p>
                <a:pPr>
                  <a:defRPr b="0" i="0" strike="noStrike" sz="1100" u="none">
                    <a:solidFill>
                      <a:srgbClr val="17242A"/>
                    </a:solidFill>
                    <a:latin typeface="+mn-lt"/>
                  </a:defRPr>
                </a:pPr>
              </a:p>
            </c:txPr>
            <c:showLegendKey val="0"/>
            <c:showVal val="0"/>
            <c:showCatName val="0"/>
            <c:showSerName val="0"/>
            <c:showPercent val="0"/>
            <c:showBubbleSize val="0"/>
            <c:showLeaderLines val="0"/>
          </c:dLbls>
          <c:marker>
            <c:symbol val="circle"/>
            <c:size val="8"/>
            <c:spPr>
              <a:solidFill>
                <a:srgbClr val="2B63C6"/>
              </a:solidFill>
              <a:ln w="9525" cap="flat">
                <a:solidFill>
                  <a:srgbClr val="2B63C6"/>
                </a:solidFill>
                <a:prstDash val="solid"/>
                <a:round/>
              </a:ln>
              <a:effectLst/>
            </c:spPr>
          </c:marker>
          <c:cat>
            <c:multiLvlStrRef>
              <c:f>Sheet1!$A$2:$A$5</c:f>
              <c:multiLvlStrCache>
                <c:ptCount val="4"/>
                <c:lvl>
                  <c:pt idx="0">
                    <c:v>0% noise</c:v>
                  </c:pt>
                  <c:pt idx="1">
                    <c:v>10% noise</c:v>
                  </c:pt>
                  <c:pt idx="2">
                    <c:v>20% noise</c:v>
                  </c:pt>
                  <c:pt idx="3">
                    <c:v>30% noise</c:v>
                  </c:pt>
                </c:lvl>
              </c:multiLvlStrCache>
            </c:multiLvlStrRef>
          </c:cat>
          <c:val>
            <c:numRef>
              <c:f>Sheet1!$E$2:$E$5</c:f>
              <c:numCache>
                <c:formatCode>General</c:formatCode>
                <c:ptCount val="4"/>
                <c:pt idx="0">
                  <c:v>80.78</c:v>
                </c:pt>
                <c:pt idx="1">
                  <c:v>78.48</c:v>
                </c:pt>
                <c:pt idx="2">
                  <c:v>75.66</c:v>
                </c:pt>
                <c:pt idx="3">
                  <c:v>69.13</c:v>
                </c:pt>
              </c:numCache>
            </c:numRef>
          </c:val>
          <c:smooth val="0"/>
        </c:ser>
        <c:ser>
          <c:idx val="4"/>
          <c:order val="4"/>
          <c:tx>
            <c:strRef>
              <c:f>Sheet1!$F$1</c:f>
              <c:strCache>
                <c:ptCount val="1"/>
                <c:pt idx="0">
                  <c:v>Fuzzy-kNN LSTSVM</c:v>
                </c:pt>
              </c:strCache>
            </c:strRef>
          </c:tx>
          <c:spPr>
            <a:solidFill>
              <a:srgbClr val="B88200"/>
            </a:solidFill>
            <a:ln w="28575" cap="flat">
              <a:solidFill>
                <a:srgbClr val="B88200"/>
              </a:solidFill>
              <a:prstDash val="solid"/>
              <a:round/>
            </a:ln>
            <a:effectLst/>
          </c:spPr>
          <c:invertIfNegative val="0"/>
          <c:dLbls>
            <c:numFmt formatCode="#,##0" sourceLinked="0"/>
            <c:txPr>
              <a:bodyPr/>
              <a:lstStyle/>
              <a:p>
                <a:pPr>
                  <a:defRPr b="0" i="0" strike="noStrike" sz="1100" u="none">
                    <a:solidFill>
                      <a:srgbClr val="17242A"/>
                    </a:solidFill>
                    <a:latin typeface="+mn-lt"/>
                  </a:defRPr>
                </a:pPr>
              </a:p>
            </c:txPr>
            <c:showLegendKey val="0"/>
            <c:showVal val="0"/>
            <c:showCatName val="0"/>
            <c:showSerName val="0"/>
            <c:showPercent val="0"/>
            <c:showBubbleSize val="0"/>
            <c:showLeaderLines val="0"/>
          </c:dLbls>
          <c:marker>
            <c:symbol val="circle"/>
            <c:size val="8"/>
            <c:spPr>
              <a:solidFill>
                <a:srgbClr val="B88200"/>
              </a:solidFill>
              <a:ln w="9525" cap="flat">
                <a:solidFill>
                  <a:srgbClr val="B88200"/>
                </a:solidFill>
                <a:prstDash val="solid"/>
                <a:round/>
              </a:ln>
              <a:effectLst/>
            </c:spPr>
          </c:marker>
          <c:cat>
            <c:multiLvlStrRef>
              <c:f>Sheet1!$A$2:$A$5</c:f>
              <c:multiLvlStrCache>
                <c:ptCount val="4"/>
                <c:lvl>
                  <c:pt idx="0">
                    <c:v>0% noise</c:v>
                  </c:pt>
                  <c:pt idx="1">
                    <c:v>10% noise</c:v>
                  </c:pt>
                  <c:pt idx="2">
                    <c:v>20% noise</c:v>
                  </c:pt>
                  <c:pt idx="3">
                    <c:v>30% noise</c:v>
                  </c:pt>
                </c:lvl>
              </c:multiLvlStrCache>
            </c:multiLvlStrRef>
          </c:cat>
          <c:val>
            <c:numRef>
              <c:f>Sheet1!$F$2:$F$5</c:f>
              <c:numCache>
                <c:formatCode>General</c:formatCode>
                <c:ptCount val="4"/>
                <c:pt idx="0">
                  <c:v>80.26</c:v>
                </c:pt>
                <c:pt idx="1">
                  <c:v>78.58</c:v>
                </c:pt>
                <c:pt idx="2">
                  <c:v>76.86</c:v>
                </c:pt>
                <c:pt idx="3">
                  <c:v>71</c:v>
                </c:pt>
              </c:numCache>
            </c:numRef>
          </c:val>
          <c:smooth val="0"/>
        </c:ser>
        <c:dLbls>
          <c:numFmt formatCode="#,##0" sourceLinked="0"/>
          <c:txPr>
            <a:bodyPr/>
            <a:lstStyle/>
            <a:p>
              <a:pPr>
                <a:defRPr b="0" i="0" strike="noStrike" sz="1100" u="none">
                  <a:solidFill>
                    <a:srgbClr val="17242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9FB0B3"/>
            </a:solidFill>
            <a:prstDash val="solid"/>
            <a:round/>
          </a:ln>
        </c:spPr>
        <c:txPr>
          <a:bodyPr/>
          <a:lstStyle/>
          <a:p>
            <a:pPr>
              <a:defRPr sz="1200" b="0" i="0" u="none" strike="noStrike">
                <a:solidFill>
                  <a:srgbClr val="17242A"/>
                </a:solidFill>
                <a:latin typeface="+mn-lt"/>
              </a:defRPr>
            </a:pPr>
            <a:endParaRPr lang="en-US"/>
          </a:p>
        </c:txPr>
        <c:crossAx val="2094734552"/>
        <c:crosses val="autoZero"/>
        <c:auto val="1"/>
        <c:lblAlgn val="ctr"/>
        <c:noMultiLvlLbl val="1"/>
      </c:catAx>
      <c:valAx>
        <c:axId val="2094734552"/>
        <c:scaling>
          <c:orientation val="minMax"/>
          <c:max val="85"/>
          <c:min val="60"/>
        </c:scaling>
        <c:delete val="0"/>
        <c:axPos val="l"/>
        <c:majorGridlines>
          <c:spPr>
            <a:ln w="6350" cap="flat">
              <a:solidFill>
                <a:srgbClr val="DCE5E4"/>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5A7A82"/>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200">
              <a:solidFill>
                <a:srgbClr val="1724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Kernel GBLSTSVM</c:v>
                </c:pt>
              </c:strCache>
            </c:strRef>
          </c:tx>
          <c:spPr>
            <a:solidFill>
              <a:srgbClr val="C0492F"/>
            </a:solidFill>
            <a:ln w="28575" cap="flat">
              <a:solidFill>
                <a:srgbClr val="C0492F"/>
              </a:solidFill>
              <a:prstDash val="solid"/>
              <a:round/>
            </a:ln>
            <a:effectLst/>
          </c:spPr>
          <c:invertIfNegative val="0"/>
          <c:dLbls>
            <c:numFmt formatCode="#,##0" sourceLinked="0"/>
            <c:txPr>
              <a:bodyPr/>
              <a:lstStyle/>
              <a:p>
                <a:pPr>
                  <a:defRPr b="0" i="0" strike="noStrike" sz="1100" u="none">
                    <a:solidFill>
                      <a:srgbClr val="17242A"/>
                    </a:solidFill>
                    <a:latin typeface="+mn-lt"/>
                  </a:defRPr>
                </a:pPr>
              </a:p>
            </c:txPr>
            <c:showLegendKey val="0"/>
            <c:showVal val="0"/>
            <c:showCatName val="0"/>
            <c:showSerName val="0"/>
            <c:showPercent val="0"/>
            <c:showBubbleSize val="0"/>
            <c:showLeaderLines val="0"/>
          </c:dLbls>
          <c:marker>
            <c:symbol val="circle"/>
            <c:size val="8"/>
            <c:spPr>
              <a:solidFill>
                <a:srgbClr val="C0492F"/>
              </a:solidFill>
              <a:ln w="9525" cap="flat">
                <a:solidFill>
                  <a:srgbClr val="C0492F"/>
                </a:solidFill>
                <a:prstDash val="solid"/>
                <a:round/>
              </a:ln>
              <a:effectLst/>
            </c:spPr>
          </c:marker>
          <c:cat>
            <c:multiLvlStrRef>
              <c:f>Sheet1!$A$2:$A$4</c:f>
              <c:multiLvlStrCache>
                <c:ptCount val="3"/>
                <c:lvl>
                  <c:pt idx="0">
                    <c:v>0% noise</c:v>
                  </c:pt>
                  <c:pt idx="1">
                    <c:v>20% noise</c:v>
                  </c:pt>
                  <c:pt idx="2">
                    <c:v>30% noise</c:v>
                  </c:pt>
                </c:lvl>
              </c:multiLvlStrCache>
            </c:multiLvlStrRef>
          </c:cat>
          <c:val>
            <c:numRef>
              <c:f>Sheet1!$B$2:$B$4</c:f>
              <c:numCache>
                <c:formatCode>General</c:formatCode>
                <c:ptCount val="3"/>
                <c:pt idx="0">
                  <c:v>77.19</c:v>
                </c:pt>
                <c:pt idx="1">
                  <c:v>70.62</c:v>
                </c:pt>
                <c:pt idx="2">
                  <c:v>63.01</c:v>
                </c:pt>
              </c:numCache>
            </c:numRef>
          </c:val>
          <c:smooth val="0"/>
        </c:ser>
        <c:ser>
          <c:idx val="1"/>
          <c:order val="1"/>
          <c:tx>
            <c:strRef>
              <c:f>Sheet1!$C$1</c:f>
              <c:strCache>
                <c:ptCount val="1"/>
                <c:pt idx="0">
                  <c:v>Kernel keep + T7</c:v>
                </c:pt>
              </c:strCache>
            </c:strRef>
          </c:tx>
          <c:spPr>
            <a:solidFill>
              <a:srgbClr val="00897B"/>
            </a:solidFill>
            <a:ln w="28575" cap="flat">
              <a:solidFill>
                <a:srgbClr val="00897B"/>
              </a:solidFill>
              <a:prstDash val="solid"/>
              <a:round/>
            </a:ln>
            <a:effectLst/>
          </c:spPr>
          <c:invertIfNegative val="0"/>
          <c:dLbls>
            <c:numFmt formatCode="#,##0" sourceLinked="0"/>
            <c:txPr>
              <a:bodyPr/>
              <a:lstStyle/>
              <a:p>
                <a:pPr>
                  <a:defRPr b="0" i="0" strike="noStrike" sz="1100" u="none">
                    <a:solidFill>
                      <a:srgbClr val="17242A"/>
                    </a:solidFill>
                    <a:latin typeface="+mn-lt"/>
                  </a:defRPr>
                </a:pPr>
              </a:p>
            </c:txPr>
            <c:showLegendKey val="0"/>
            <c:showVal val="0"/>
            <c:showCatName val="0"/>
            <c:showSerName val="0"/>
            <c:showPercent val="0"/>
            <c:showBubbleSize val="0"/>
            <c:showLeaderLines val="0"/>
          </c:dLbls>
          <c:marker>
            <c:symbol val="circle"/>
            <c:size val="8"/>
            <c:spPr>
              <a:solidFill>
                <a:srgbClr val="00897B"/>
              </a:solidFill>
              <a:ln w="9525" cap="flat">
                <a:solidFill>
                  <a:srgbClr val="00897B"/>
                </a:solidFill>
                <a:prstDash val="solid"/>
                <a:round/>
              </a:ln>
              <a:effectLst/>
            </c:spPr>
          </c:marker>
          <c:cat>
            <c:multiLvlStrRef>
              <c:f>Sheet1!$A$2:$A$4</c:f>
              <c:multiLvlStrCache>
                <c:ptCount val="3"/>
                <c:lvl>
                  <c:pt idx="0">
                    <c:v>0% noise</c:v>
                  </c:pt>
                  <c:pt idx="1">
                    <c:v>20% noise</c:v>
                  </c:pt>
                  <c:pt idx="2">
                    <c:v>30% noise</c:v>
                  </c:pt>
                </c:lvl>
              </c:multiLvlStrCache>
            </c:multiLvlStrRef>
          </c:cat>
          <c:val>
            <c:numRef>
              <c:f>Sheet1!$C$2:$C$4</c:f>
              <c:numCache>
                <c:formatCode>General</c:formatCode>
                <c:ptCount val="3"/>
                <c:pt idx="0">
                  <c:v>79.32</c:v>
                </c:pt>
                <c:pt idx="1">
                  <c:v>70.55</c:v>
                </c:pt>
                <c:pt idx="2">
                  <c:v>64.13</c:v>
                </c:pt>
              </c:numCache>
            </c:numRef>
          </c:val>
          <c:smooth val="0"/>
        </c:ser>
        <c:ser>
          <c:idx val="2"/>
          <c:order val="2"/>
          <c:tx>
            <c:strRef>
              <c:f>Sheet1!$D$1</c:f>
              <c:strCache>
                <c:ptCount val="1"/>
                <c:pt idx="0">
                  <c:v>Kernel LSTSVM</c:v>
                </c:pt>
              </c:strCache>
            </c:strRef>
          </c:tx>
          <c:spPr>
            <a:solidFill>
              <a:srgbClr val="2B63C6"/>
            </a:solidFill>
            <a:ln w="28575" cap="flat">
              <a:solidFill>
                <a:srgbClr val="2B63C6"/>
              </a:solidFill>
              <a:prstDash val="solid"/>
              <a:round/>
            </a:ln>
            <a:effectLst/>
          </c:spPr>
          <c:invertIfNegative val="0"/>
          <c:dLbls>
            <c:numFmt formatCode="#,##0" sourceLinked="0"/>
            <c:txPr>
              <a:bodyPr/>
              <a:lstStyle/>
              <a:p>
                <a:pPr>
                  <a:defRPr b="0" i="0" strike="noStrike" sz="1100" u="none">
                    <a:solidFill>
                      <a:srgbClr val="17242A"/>
                    </a:solidFill>
                    <a:latin typeface="+mn-lt"/>
                  </a:defRPr>
                </a:pPr>
              </a:p>
            </c:txPr>
            <c:showLegendKey val="0"/>
            <c:showVal val="0"/>
            <c:showCatName val="0"/>
            <c:showSerName val="0"/>
            <c:showPercent val="0"/>
            <c:showBubbleSize val="0"/>
            <c:showLeaderLines val="0"/>
          </c:dLbls>
          <c:marker>
            <c:symbol val="circle"/>
            <c:size val="8"/>
            <c:spPr>
              <a:solidFill>
                <a:srgbClr val="2B63C6"/>
              </a:solidFill>
              <a:ln w="9525" cap="flat">
                <a:solidFill>
                  <a:srgbClr val="2B63C6"/>
                </a:solidFill>
                <a:prstDash val="solid"/>
                <a:round/>
              </a:ln>
              <a:effectLst/>
            </c:spPr>
          </c:marker>
          <c:cat>
            <c:multiLvlStrRef>
              <c:f>Sheet1!$A$2:$A$4</c:f>
              <c:multiLvlStrCache>
                <c:ptCount val="3"/>
                <c:lvl>
                  <c:pt idx="0">
                    <c:v>0% noise</c:v>
                  </c:pt>
                  <c:pt idx="1">
                    <c:v>20% noise</c:v>
                  </c:pt>
                  <c:pt idx="2">
                    <c:v>30% noise</c:v>
                  </c:pt>
                </c:lvl>
              </c:multiLvlStrCache>
            </c:multiLvlStrRef>
          </c:cat>
          <c:val>
            <c:numRef>
              <c:f>Sheet1!$D$2:$D$4</c:f>
              <c:numCache>
                <c:formatCode>General</c:formatCode>
                <c:ptCount val="3"/>
                <c:pt idx="0">
                  <c:v>80.37</c:v>
                </c:pt>
                <c:pt idx="1">
                  <c:v>69.95</c:v>
                </c:pt>
                <c:pt idx="2">
                  <c:v>62.4</c:v>
                </c:pt>
              </c:numCache>
            </c:numRef>
          </c:val>
          <c:smooth val="0"/>
        </c:ser>
        <c:ser>
          <c:idx val="3"/>
          <c:order val="3"/>
          <c:tx>
            <c:strRef>
              <c:f>Sheet1!$E$1</c:f>
              <c:strCache>
                <c:ptCount val="1"/>
                <c:pt idx="0">
                  <c:v>Kernel fuzzy-kNN LSTSVM</c:v>
                </c:pt>
              </c:strCache>
            </c:strRef>
          </c:tx>
          <c:spPr>
            <a:solidFill>
              <a:srgbClr val="B88200"/>
            </a:solidFill>
            <a:ln w="28575" cap="flat">
              <a:solidFill>
                <a:srgbClr val="B88200"/>
              </a:solidFill>
              <a:prstDash val="solid"/>
              <a:round/>
            </a:ln>
            <a:effectLst/>
          </c:spPr>
          <c:invertIfNegative val="0"/>
          <c:dLbls>
            <c:numFmt formatCode="#,##0" sourceLinked="0"/>
            <c:txPr>
              <a:bodyPr/>
              <a:lstStyle/>
              <a:p>
                <a:pPr>
                  <a:defRPr b="0" i="0" strike="noStrike" sz="1100" u="none">
                    <a:solidFill>
                      <a:srgbClr val="17242A"/>
                    </a:solidFill>
                    <a:latin typeface="+mn-lt"/>
                  </a:defRPr>
                </a:pPr>
              </a:p>
            </c:txPr>
            <c:showLegendKey val="0"/>
            <c:showVal val="0"/>
            <c:showCatName val="0"/>
            <c:showSerName val="0"/>
            <c:showPercent val="0"/>
            <c:showBubbleSize val="0"/>
            <c:showLeaderLines val="0"/>
          </c:dLbls>
          <c:marker>
            <c:symbol val="circle"/>
            <c:size val="8"/>
            <c:spPr>
              <a:solidFill>
                <a:srgbClr val="B88200"/>
              </a:solidFill>
              <a:ln w="9525" cap="flat">
                <a:solidFill>
                  <a:srgbClr val="B88200"/>
                </a:solidFill>
                <a:prstDash val="solid"/>
                <a:round/>
              </a:ln>
              <a:effectLst/>
            </c:spPr>
          </c:marker>
          <c:cat>
            <c:multiLvlStrRef>
              <c:f>Sheet1!$A$2:$A$4</c:f>
              <c:multiLvlStrCache>
                <c:ptCount val="3"/>
                <c:lvl>
                  <c:pt idx="0">
                    <c:v>0% noise</c:v>
                  </c:pt>
                  <c:pt idx="1">
                    <c:v>20% noise</c:v>
                  </c:pt>
                  <c:pt idx="2">
                    <c:v>30% noise</c:v>
                  </c:pt>
                </c:lvl>
              </c:multiLvlStrCache>
            </c:multiLvlStrRef>
          </c:cat>
          <c:val>
            <c:numRef>
              <c:f>Sheet1!$E$2:$E$4</c:f>
              <c:numCache>
                <c:formatCode>General</c:formatCode>
                <c:ptCount val="3"/>
                <c:pt idx="0">
                  <c:v>80.78</c:v>
                </c:pt>
                <c:pt idx="1">
                  <c:v>73.29</c:v>
                </c:pt>
                <c:pt idx="2">
                  <c:v>65.96</c:v>
                </c:pt>
              </c:numCache>
            </c:numRef>
          </c:val>
          <c:smooth val="0"/>
        </c:ser>
        <c:dLbls>
          <c:numFmt formatCode="#,##0" sourceLinked="0"/>
          <c:txPr>
            <a:bodyPr/>
            <a:lstStyle/>
            <a:p>
              <a:pPr>
                <a:defRPr b="0" i="0" strike="noStrike" sz="1100" u="none">
                  <a:solidFill>
                    <a:srgbClr val="17242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9FB0B3"/>
            </a:solidFill>
            <a:prstDash val="solid"/>
            <a:round/>
          </a:ln>
        </c:spPr>
        <c:txPr>
          <a:bodyPr/>
          <a:lstStyle/>
          <a:p>
            <a:pPr>
              <a:defRPr sz="1200" b="0" i="0" u="none" strike="noStrike">
                <a:solidFill>
                  <a:srgbClr val="17242A"/>
                </a:solidFill>
                <a:latin typeface="+mn-lt"/>
              </a:defRPr>
            </a:pPr>
            <a:endParaRPr lang="en-US"/>
          </a:p>
        </c:txPr>
        <c:crossAx val="2094734552"/>
        <c:crosses val="autoZero"/>
        <c:auto val="1"/>
        <c:lblAlgn val="ctr"/>
        <c:noMultiLvlLbl val="1"/>
      </c:catAx>
      <c:valAx>
        <c:axId val="2094734552"/>
        <c:scaling>
          <c:orientation val="minMax"/>
          <c:max val="85"/>
          <c:min val="60"/>
        </c:scaling>
        <c:delete val="0"/>
        <c:axPos val="l"/>
        <c:majorGridlines>
          <c:spPr>
            <a:ln w="6350" cap="flat">
              <a:solidFill>
                <a:srgbClr val="DCE5E4"/>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5A7A82"/>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200">
              <a:solidFill>
                <a:srgbClr val="1724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Kernel GBLSTSVM</c:v>
                </c:pt>
              </c:strCache>
            </c:strRef>
          </c:tx>
          <c:spPr>
            <a:solidFill>
              <a:srgbClr val="C0492F"/>
            </a:solidFill>
            <a:ln w="28575" cap="flat">
              <a:solidFill>
                <a:srgbClr val="C0492F"/>
              </a:solidFill>
              <a:prstDash val="solid"/>
              <a:round/>
            </a:ln>
            <a:effectLst/>
          </c:spPr>
          <c:invertIfNegative val="0"/>
          <c:dLbls>
            <c:numFmt formatCode="#,##0" sourceLinked="0"/>
            <c:txPr>
              <a:bodyPr/>
              <a:lstStyle/>
              <a:p>
                <a:pPr>
                  <a:defRPr b="0" i="0" strike="noStrike" sz="1100" u="none">
                    <a:solidFill>
                      <a:srgbClr val="17242A"/>
                    </a:solidFill>
                    <a:latin typeface="+mn-lt"/>
                  </a:defRPr>
                </a:pPr>
              </a:p>
            </c:txPr>
            <c:showLegendKey val="0"/>
            <c:showVal val="0"/>
            <c:showCatName val="0"/>
            <c:showSerName val="0"/>
            <c:showPercent val="0"/>
            <c:showBubbleSize val="0"/>
            <c:showLeaderLines val="0"/>
          </c:dLbls>
          <c:marker>
            <c:symbol val="circle"/>
            <c:size val="8"/>
            <c:spPr>
              <a:solidFill>
                <a:srgbClr val="C0492F"/>
              </a:solidFill>
              <a:ln w="9525" cap="flat">
                <a:solidFill>
                  <a:srgbClr val="C0492F"/>
                </a:solidFill>
                <a:prstDash val="solid"/>
                <a:round/>
              </a:ln>
              <a:effectLst/>
            </c:spPr>
          </c:marker>
          <c:cat>
            <c:multiLvlStrRef>
              <c:f>Sheet1!$A$2:$A$10</c:f>
              <c:multiLvlStrCache>
                <c:ptCount val="9"/>
                <c:lvl>
                  <c:pt idx="0">
                    <c:v>1.75k</c:v>
                  </c:pt>
                  <c:pt idx="1">
                    <c:v>3.5k</c:v>
                  </c:pt>
                  <c:pt idx="2">
                    <c:v>7k</c:v>
                  </c:pt>
                  <c:pt idx="3">
                    <c:v>10.5k</c:v>
                  </c:pt>
                  <c:pt idx="4">
                    <c:v>14k</c:v>
                  </c:pt>
                  <c:pt idx="5">
                    <c:v>28k</c:v>
                  </c:pt>
                  <c:pt idx="6">
                    <c:v>42k</c:v>
                  </c:pt>
                  <c:pt idx="7">
                    <c:v>56k</c:v>
                  </c:pt>
                  <c:pt idx="8">
                    <c:v>70k</c:v>
                  </c:pt>
                </c:lvl>
              </c:multiLvlStrCache>
            </c:multiLvlStrRef>
          </c:cat>
          <c:val>
            <c:numRef>
              <c:f>Sheet1!$B$2:$B$10</c:f>
              <c:numCache>
                <c:formatCode>General</c:formatCode>
                <c:ptCount val="9"/>
                <c:pt idx="0">
                  <c:v>0.23</c:v>
                </c:pt>
                <c:pt idx="1">
                  <c:v>0.338</c:v>
                </c:pt>
                <c:pt idx="2">
                  <c:v>0.582</c:v>
                </c:pt>
                <c:pt idx="3">
                  <c:v>0.923</c:v>
                </c:pt>
                <c:pt idx="4">
                  <c:v>0.97</c:v>
                </c:pt>
                <c:pt idx="5">
                  <c:v>1.303</c:v>
                </c:pt>
                <c:pt idx="6">
                  <c:v>1.345</c:v>
                </c:pt>
                <c:pt idx="7">
                  <c:v>1.455</c:v>
                </c:pt>
                <c:pt idx="8">
                  <c:v>5.356</c:v>
                </c:pt>
              </c:numCache>
            </c:numRef>
          </c:val>
          <c:smooth val="0"/>
        </c:ser>
        <c:ser>
          <c:idx val="1"/>
          <c:order val="1"/>
          <c:tx>
            <c:strRef>
              <c:f>Sheet1!$C$1</c:f>
              <c:strCache>
                <c:ptCount val="1"/>
                <c:pt idx="0">
                  <c:v>Kernel keep + T7</c:v>
                </c:pt>
              </c:strCache>
            </c:strRef>
          </c:tx>
          <c:spPr>
            <a:solidFill>
              <a:srgbClr val="00897B"/>
            </a:solidFill>
            <a:ln w="28575" cap="flat">
              <a:solidFill>
                <a:srgbClr val="00897B"/>
              </a:solidFill>
              <a:prstDash val="solid"/>
              <a:round/>
            </a:ln>
            <a:effectLst/>
          </c:spPr>
          <c:invertIfNegative val="0"/>
          <c:dLbls>
            <c:numFmt formatCode="#,##0" sourceLinked="0"/>
            <c:txPr>
              <a:bodyPr/>
              <a:lstStyle/>
              <a:p>
                <a:pPr>
                  <a:defRPr b="0" i="0" strike="noStrike" sz="1100" u="none">
                    <a:solidFill>
                      <a:srgbClr val="17242A"/>
                    </a:solidFill>
                    <a:latin typeface="+mn-lt"/>
                  </a:defRPr>
                </a:pPr>
              </a:p>
            </c:txPr>
            <c:showLegendKey val="0"/>
            <c:showVal val="0"/>
            <c:showCatName val="0"/>
            <c:showSerName val="0"/>
            <c:showPercent val="0"/>
            <c:showBubbleSize val="0"/>
            <c:showLeaderLines val="0"/>
          </c:dLbls>
          <c:marker>
            <c:symbol val="circle"/>
            <c:size val="8"/>
            <c:spPr>
              <a:solidFill>
                <a:srgbClr val="00897B"/>
              </a:solidFill>
              <a:ln w="9525" cap="flat">
                <a:solidFill>
                  <a:srgbClr val="00897B"/>
                </a:solidFill>
                <a:prstDash val="solid"/>
                <a:round/>
              </a:ln>
              <a:effectLst/>
            </c:spPr>
          </c:marker>
          <c:cat>
            <c:multiLvlStrRef>
              <c:f>Sheet1!$A$2:$A$10</c:f>
              <c:multiLvlStrCache>
                <c:ptCount val="9"/>
                <c:lvl>
                  <c:pt idx="0">
                    <c:v>1.75k</c:v>
                  </c:pt>
                  <c:pt idx="1">
                    <c:v>3.5k</c:v>
                  </c:pt>
                  <c:pt idx="2">
                    <c:v>7k</c:v>
                  </c:pt>
                  <c:pt idx="3">
                    <c:v>10.5k</c:v>
                  </c:pt>
                  <c:pt idx="4">
                    <c:v>14k</c:v>
                  </c:pt>
                  <c:pt idx="5">
                    <c:v>28k</c:v>
                  </c:pt>
                  <c:pt idx="6">
                    <c:v>42k</c:v>
                  </c:pt>
                  <c:pt idx="7">
                    <c:v>56k</c:v>
                  </c:pt>
                  <c:pt idx="8">
                    <c:v>70k</c:v>
                  </c:pt>
                </c:lvl>
              </c:multiLvlStrCache>
            </c:multiLvlStrRef>
          </c:cat>
          <c:val>
            <c:numRef>
              <c:f>Sheet1!$C$2:$C$10</c:f>
              <c:numCache>
                <c:formatCode>General</c:formatCode>
                <c:ptCount val="9"/>
                <c:pt idx="0">
                  <c:v>0.244</c:v>
                </c:pt>
                <c:pt idx="1">
                  <c:v>0.354</c:v>
                </c:pt>
                <c:pt idx="2">
                  <c:v>0.668</c:v>
                </c:pt>
                <c:pt idx="3">
                  <c:v>1.099</c:v>
                </c:pt>
                <c:pt idx="4">
                  <c:v>1.103</c:v>
                </c:pt>
                <c:pt idx="5">
                  <c:v>1.622</c:v>
                </c:pt>
                <c:pt idx="6">
                  <c:v>1.696</c:v>
                </c:pt>
                <c:pt idx="7">
                  <c:v>1.637</c:v>
                </c:pt>
                <c:pt idx="8">
                  <c:v>12.476</c:v>
                </c:pt>
              </c:numCache>
            </c:numRef>
          </c:val>
          <c:smooth val="0"/>
        </c:ser>
        <c:ser>
          <c:idx val="2"/>
          <c:order val="2"/>
          <c:tx>
            <c:strRef>
              <c:f>Sheet1!$D$1</c:f>
              <c:strCache>
                <c:ptCount val="1"/>
                <c:pt idx="0">
                  <c:v>Reduced-kernel LSTSVM</c:v>
                </c:pt>
              </c:strCache>
            </c:strRef>
          </c:tx>
          <c:spPr>
            <a:solidFill>
              <a:srgbClr val="2B63C6"/>
            </a:solidFill>
            <a:ln w="28575" cap="flat">
              <a:solidFill>
                <a:srgbClr val="2B63C6"/>
              </a:solidFill>
              <a:prstDash val="solid"/>
              <a:round/>
            </a:ln>
            <a:effectLst/>
          </c:spPr>
          <c:invertIfNegative val="0"/>
          <c:dLbls>
            <c:numFmt formatCode="#,##0" sourceLinked="0"/>
            <c:txPr>
              <a:bodyPr/>
              <a:lstStyle/>
              <a:p>
                <a:pPr>
                  <a:defRPr b="0" i="0" strike="noStrike" sz="1100" u="none">
                    <a:solidFill>
                      <a:srgbClr val="17242A"/>
                    </a:solidFill>
                    <a:latin typeface="+mn-lt"/>
                  </a:defRPr>
                </a:pPr>
              </a:p>
            </c:txPr>
            <c:showLegendKey val="0"/>
            <c:showVal val="0"/>
            <c:showCatName val="0"/>
            <c:showSerName val="0"/>
            <c:showPercent val="0"/>
            <c:showBubbleSize val="0"/>
            <c:showLeaderLines val="0"/>
          </c:dLbls>
          <c:marker>
            <c:symbol val="circle"/>
            <c:size val="8"/>
            <c:spPr>
              <a:solidFill>
                <a:srgbClr val="2B63C6"/>
              </a:solidFill>
              <a:ln w="9525" cap="flat">
                <a:solidFill>
                  <a:srgbClr val="2B63C6"/>
                </a:solidFill>
                <a:prstDash val="solid"/>
                <a:round/>
              </a:ln>
              <a:effectLst/>
            </c:spPr>
          </c:marker>
          <c:cat>
            <c:multiLvlStrRef>
              <c:f>Sheet1!$A$2:$A$10</c:f>
              <c:multiLvlStrCache>
                <c:ptCount val="9"/>
                <c:lvl>
                  <c:pt idx="0">
                    <c:v>1.75k</c:v>
                  </c:pt>
                  <c:pt idx="1">
                    <c:v>3.5k</c:v>
                  </c:pt>
                  <c:pt idx="2">
                    <c:v>7k</c:v>
                  </c:pt>
                  <c:pt idx="3">
                    <c:v>10.5k</c:v>
                  </c:pt>
                  <c:pt idx="4">
                    <c:v>14k</c:v>
                  </c:pt>
                  <c:pt idx="5">
                    <c:v>28k</c:v>
                  </c:pt>
                  <c:pt idx="6">
                    <c:v>42k</c:v>
                  </c:pt>
                  <c:pt idx="7">
                    <c:v>56k</c:v>
                  </c:pt>
                  <c:pt idx="8">
                    <c:v>70k</c:v>
                  </c:pt>
                </c:lvl>
              </c:multiLvlStrCache>
            </c:multiLvlStrRef>
          </c:cat>
          <c:val>
            <c:numRef>
              <c:f>Sheet1!$D$2:$D$10</c:f>
              <c:numCache>
                <c:formatCode>General</c:formatCode>
                <c:ptCount val="9"/>
                <c:pt idx="0">
                  <c:v>0.025</c:v>
                </c:pt>
                <c:pt idx="1">
                  <c:v>0.054</c:v>
                </c:pt>
                <c:pt idx="2">
                  <c:v>0.268</c:v>
                </c:pt>
                <c:pt idx="3">
                  <c:v>0.408</c:v>
                </c:pt>
                <c:pt idx="4">
                  <c:v>0.86</c:v>
                </c:pt>
                <c:pt idx="5">
                  <c:v>1.886</c:v>
                </c:pt>
                <c:pt idx="6">
                  <c:v>2.936</c:v>
                </c:pt>
                <c:pt idx="7">
                  <c:v>3.467</c:v>
                </c:pt>
                <c:pt idx="8">
                  <c:v>35.603</c:v>
                </c:pt>
              </c:numCache>
            </c:numRef>
          </c:val>
          <c:smooth val="0"/>
        </c:ser>
        <c:dLbls>
          <c:numFmt formatCode="#,##0" sourceLinked="0"/>
          <c:txPr>
            <a:bodyPr/>
            <a:lstStyle/>
            <a:p>
              <a:pPr>
                <a:defRPr b="0" i="0" strike="noStrike" sz="1100" u="none">
                  <a:solidFill>
                    <a:srgbClr val="17242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A7A82"/>
                    </a:solidFill>
                    <a:latin typeface="+mn-lt"/>
                  </a:defRPr>
                </a:pPr>
                <a:r>
                  <a:rPr sz="1200" b="0" i="0" u="none" strike="noStrike">
                    <a:solidFill>
                      <a:srgbClr val="5A7A82"/>
                    </a:solidFill>
                    <a:latin typeface="+mn-lt"/>
                  </a:rPr>
                  <a:t>Training points</a:t>
                </a:r>
              </a:p>
            </c:rich>
          </c:tx>
          <c:layout/>
          <c:overlay val="0"/>
        </c:title>
        <c:numFmt formatCode="General" sourceLinked="1"/>
        <c:majorTickMark val="out"/>
        <c:minorTickMark val="none"/>
        <c:tickLblPos val="low"/>
        <c:spPr>
          <a:ln w="12700" cap="flat">
            <a:solidFill>
              <a:srgbClr val="9FB0B3"/>
            </a:solidFill>
            <a:prstDash val="solid"/>
            <a:round/>
          </a:ln>
        </c:spPr>
        <c:txPr>
          <a:bodyPr/>
          <a:lstStyle/>
          <a:p>
            <a:pPr>
              <a:defRPr sz="1200" b="0" i="0" u="none" strike="noStrike">
                <a:solidFill>
                  <a:srgbClr val="17242A"/>
                </a:solidFill>
                <a:latin typeface="+mn-lt"/>
              </a:defRPr>
            </a:pPr>
            <a:endParaRPr lang="en-US"/>
          </a:p>
        </c:txPr>
        <c:crossAx val="2094734552"/>
        <c:crosses val="autoZero"/>
        <c:auto val="1"/>
        <c:lblAlgn val="ctr"/>
        <c:noMultiLvlLbl val="1"/>
      </c:catAx>
      <c:valAx>
        <c:axId val="2094734552"/>
        <c:scaling>
          <c:logBase val="10"/>
          <c:orientation val="minMax"/>
          <c:max val="100"/>
          <c:min val="0.01"/>
        </c:scaling>
        <c:delete val="0"/>
        <c:axPos val="l"/>
        <c:majorGridlines>
          <c:spPr>
            <a:ln w="6350" cap="flat">
              <a:solidFill>
                <a:srgbClr val="DCE5E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5A7A8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724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GBLSTSVM</c:v>
                </c:pt>
              </c:strCache>
            </c:strRef>
          </c:tx>
          <c:spPr>
            <a:solidFill>
              <a:srgbClr val="C0492F"/>
            </a:solidFill>
            <a:ln w="28575" cap="flat">
              <a:solidFill>
                <a:srgbClr val="C0492F"/>
              </a:solidFill>
              <a:prstDash val="solid"/>
              <a:round/>
            </a:ln>
            <a:effectLst/>
          </c:spPr>
          <c:invertIfNegative val="0"/>
          <c:dLbls>
            <c:numFmt formatCode="#,##0" sourceLinked="0"/>
            <c:txPr>
              <a:bodyPr/>
              <a:lstStyle/>
              <a:p>
                <a:pPr>
                  <a:defRPr b="0" i="0" strike="noStrike" sz="1100" u="none">
                    <a:solidFill>
                      <a:srgbClr val="17242A"/>
                    </a:solidFill>
                    <a:latin typeface="+mn-lt"/>
                  </a:defRPr>
                </a:pPr>
              </a:p>
            </c:txPr>
            <c:showLegendKey val="0"/>
            <c:showVal val="0"/>
            <c:showCatName val="0"/>
            <c:showSerName val="0"/>
            <c:showPercent val="0"/>
            <c:showBubbleSize val="0"/>
            <c:showLeaderLines val="0"/>
          </c:dLbls>
          <c:marker>
            <c:symbol val="circle"/>
            <c:size val="8"/>
            <c:spPr>
              <a:solidFill>
                <a:srgbClr val="C0492F"/>
              </a:solidFill>
              <a:ln w="9525" cap="flat">
                <a:solidFill>
                  <a:srgbClr val="C0492F"/>
                </a:solidFill>
                <a:prstDash val="solid"/>
                <a:round/>
              </a:ln>
              <a:effectLst/>
            </c:spPr>
          </c:marker>
          <c:cat>
            <c:multiLvlStrRef>
              <c:f>Sheet1!$A$2:$A$5</c:f>
              <c:multiLvlStrCache>
                <c:ptCount val="4"/>
                <c:lvl>
                  <c:pt idx="0">
                    <c:v>0% noise</c:v>
                  </c:pt>
                  <c:pt idx="1">
                    <c:v>10% noise</c:v>
                  </c:pt>
                  <c:pt idx="2">
                    <c:v>20% noise</c:v>
                  </c:pt>
                  <c:pt idx="3">
                    <c:v>30% noise</c:v>
                  </c:pt>
                </c:lvl>
              </c:multiLvlStrCache>
            </c:multiLvlStrRef>
          </c:cat>
          <c:val>
            <c:numRef>
              <c:f>Sheet1!$B$2:$B$5</c:f>
              <c:numCache>
                <c:formatCode>General</c:formatCode>
                <c:ptCount val="4"/>
                <c:pt idx="0">
                  <c:v>73.51</c:v>
                </c:pt>
                <c:pt idx="1">
                  <c:v>73.3</c:v>
                </c:pt>
                <c:pt idx="2">
                  <c:v>71.03</c:v>
                </c:pt>
                <c:pt idx="3">
                  <c:v>64.03</c:v>
                </c:pt>
              </c:numCache>
            </c:numRef>
          </c:val>
          <c:smooth val="0"/>
        </c:ser>
        <c:ser>
          <c:idx val="1"/>
          <c:order val="1"/>
          <c:tx>
            <c:strRef>
              <c:f>Sheet1!$C$1</c:f>
              <c:strCache>
                <c:ptCount val="1"/>
                <c:pt idx="0">
                  <c:v>GBFTSVM</c:v>
                </c:pt>
              </c:strCache>
            </c:strRef>
          </c:tx>
          <c:spPr>
            <a:solidFill>
              <a:srgbClr val="7B4FB0"/>
            </a:solidFill>
            <a:ln w="28575" cap="flat">
              <a:solidFill>
                <a:srgbClr val="7B4FB0"/>
              </a:solidFill>
              <a:prstDash val="solid"/>
              <a:round/>
            </a:ln>
            <a:effectLst/>
          </c:spPr>
          <c:invertIfNegative val="0"/>
          <c:dLbls>
            <c:numFmt formatCode="#,##0" sourceLinked="0"/>
            <c:txPr>
              <a:bodyPr/>
              <a:lstStyle/>
              <a:p>
                <a:pPr>
                  <a:defRPr b="0" i="0" strike="noStrike" sz="1100" u="none">
                    <a:solidFill>
                      <a:srgbClr val="17242A"/>
                    </a:solidFill>
                    <a:latin typeface="+mn-lt"/>
                  </a:defRPr>
                </a:pPr>
              </a:p>
            </c:txPr>
            <c:showLegendKey val="0"/>
            <c:showVal val="0"/>
            <c:showCatName val="0"/>
            <c:showSerName val="0"/>
            <c:showPercent val="0"/>
            <c:showBubbleSize val="0"/>
            <c:showLeaderLines val="0"/>
          </c:dLbls>
          <c:marker>
            <c:symbol val="circle"/>
            <c:size val="8"/>
            <c:spPr>
              <a:solidFill>
                <a:srgbClr val="7B4FB0"/>
              </a:solidFill>
              <a:ln w="9525" cap="flat">
                <a:solidFill>
                  <a:srgbClr val="7B4FB0"/>
                </a:solidFill>
                <a:prstDash val="solid"/>
                <a:round/>
              </a:ln>
              <a:effectLst/>
            </c:spPr>
          </c:marker>
          <c:cat>
            <c:multiLvlStrRef>
              <c:f>Sheet1!$A$2:$A$5</c:f>
              <c:multiLvlStrCache>
                <c:ptCount val="4"/>
                <c:lvl>
                  <c:pt idx="0">
                    <c:v>0% noise</c:v>
                  </c:pt>
                  <c:pt idx="1">
                    <c:v>10% noise</c:v>
                  </c:pt>
                  <c:pt idx="2">
                    <c:v>20% noise</c:v>
                  </c:pt>
                  <c:pt idx="3">
                    <c:v>30% noise</c:v>
                  </c:pt>
                </c:lvl>
              </c:multiLvlStrCache>
            </c:multiLvlStrRef>
          </c:cat>
          <c:val>
            <c:numRef>
              <c:f>Sheet1!$C$2:$C$5</c:f>
              <c:numCache>
                <c:formatCode>General</c:formatCode>
                <c:ptCount val="4"/>
                <c:pt idx="0">
                  <c:v>71.71</c:v>
                </c:pt>
                <c:pt idx="1">
                  <c:v>72.21</c:v>
                </c:pt>
                <c:pt idx="2">
                  <c:v>68.3</c:v>
                </c:pt>
                <c:pt idx="3">
                  <c:v>64.16</c:v>
                </c:pt>
              </c:numCache>
            </c:numRef>
          </c:val>
          <c:smooth val="0"/>
        </c:ser>
        <c:ser>
          <c:idx val="2"/>
          <c:order val="2"/>
          <c:tx>
            <c:strRef>
              <c:f>Sheet1!$D$1</c:f>
              <c:strCache>
                <c:ptCount val="1"/>
                <c:pt idx="0">
                  <c:v>Keep + T7 (ours)</c:v>
                </c:pt>
              </c:strCache>
            </c:strRef>
          </c:tx>
          <c:spPr>
            <a:solidFill>
              <a:srgbClr val="00897B"/>
            </a:solidFill>
            <a:ln w="28575" cap="flat">
              <a:solidFill>
                <a:srgbClr val="00897B"/>
              </a:solidFill>
              <a:prstDash val="solid"/>
              <a:round/>
            </a:ln>
            <a:effectLst/>
          </c:spPr>
          <c:invertIfNegative val="0"/>
          <c:dLbls>
            <c:numFmt formatCode="#,##0" sourceLinked="0"/>
            <c:txPr>
              <a:bodyPr/>
              <a:lstStyle/>
              <a:p>
                <a:pPr>
                  <a:defRPr b="0" i="0" strike="noStrike" sz="1100" u="none">
                    <a:solidFill>
                      <a:srgbClr val="17242A"/>
                    </a:solidFill>
                    <a:latin typeface="+mn-lt"/>
                  </a:defRPr>
                </a:pPr>
              </a:p>
            </c:txPr>
            <c:showLegendKey val="0"/>
            <c:showVal val="0"/>
            <c:showCatName val="0"/>
            <c:showSerName val="0"/>
            <c:showPercent val="0"/>
            <c:showBubbleSize val="0"/>
            <c:showLeaderLines val="0"/>
          </c:dLbls>
          <c:marker>
            <c:symbol val="circle"/>
            <c:size val="8"/>
            <c:spPr>
              <a:solidFill>
                <a:srgbClr val="00897B"/>
              </a:solidFill>
              <a:ln w="9525" cap="flat">
                <a:solidFill>
                  <a:srgbClr val="00897B"/>
                </a:solidFill>
                <a:prstDash val="solid"/>
                <a:round/>
              </a:ln>
              <a:effectLst/>
            </c:spPr>
          </c:marker>
          <c:cat>
            <c:multiLvlStrRef>
              <c:f>Sheet1!$A$2:$A$5</c:f>
              <c:multiLvlStrCache>
                <c:ptCount val="4"/>
                <c:lvl>
                  <c:pt idx="0">
                    <c:v>0% noise</c:v>
                  </c:pt>
                  <c:pt idx="1">
                    <c:v>10% noise</c:v>
                  </c:pt>
                  <c:pt idx="2">
                    <c:v>20% noise</c:v>
                  </c:pt>
                  <c:pt idx="3">
                    <c:v>30% noise</c:v>
                  </c:pt>
                </c:lvl>
              </c:multiLvlStrCache>
            </c:multiLvlStrRef>
          </c:cat>
          <c:val>
            <c:numRef>
              <c:f>Sheet1!$D$2:$D$5</c:f>
              <c:numCache>
                <c:formatCode>General</c:formatCode>
                <c:ptCount val="4"/>
                <c:pt idx="0">
                  <c:v>76.83</c:v>
                </c:pt>
                <c:pt idx="1">
                  <c:v>75.91</c:v>
                </c:pt>
                <c:pt idx="2">
                  <c:v>73.87</c:v>
                </c:pt>
                <c:pt idx="3">
                  <c:v>68.9</c:v>
                </c:pt>
              </c:numCache>
            </c:numRef>
          </c:val>
          <c:smooth val="0"/>
        </c:ser>
        <c:dLbls>
          <c:numFmt formatCode="#,##0" sourceLinked="0"/>
          <c:txPr>
            <a:bodyPr/>
            <a:lstStyle/>
            <a:p>
              <a:pPr>
                <a:defRPr b="0" i="0" strike="noStrike" sz="1100" u="none">
                  <a:solidFill>
                    <a:srgbClr val="17242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9FB0B3"/>
            </a:solidFill>
            <a:prstDash val="solid"/>
            <a:round/>
          </a:ln>
        </c:spPr>
        <c:txPr>
          <a:bodyPr/>
          <a:lstStyle/>
          <a:p>
            <a:pPr>
              <a:defRPr sz="1200" b="0" i="0" u="none" strike="noStrike">
                <a:solidFill>
                  <a:srgbClr val="17242A"/>
                </a:solidFill>
                <a:latin typeface="+mn-lt"/>
              </a:defRPr>
            </a:pPr>
            <a:endParaRPr lang="en-US"/>
          </a:p>
        </c:txPr>
        <c:crossAx val="2094734552"/>
        <c:crosses val="autoZero"/>
        <c:auto val="1"/>
        <c:lblAlgn val="ctr"/>
        <c:noMultiLvlLbl val="1"/>
      </c:catAx>
      <c:valAx>
        <c:axId val="2094734552"/>
        <c:scaling>
          <c:orientation val="minMax"/>
          <c:max val="80"/>
          <c:min val="60"/>
        </c:scaling>
        <c:delete val="0"/>
        <c:axPos val="l"/>
        <c:majorGridlines>
          <c:spPr>
            <a:ln w="6350" cap="flat">
              <a:solidFill>
                <a:srgbClr val="DCE5E4"/>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5A7A82"/>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200">
              <a:solidFill>
                <a:srgbClr val="1724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GBLSTSVM</c:v>
                </c:pt>
              </c:strCache>
            </c:strRef>
          </c:tx>
          <c:spPr>
            <a:solidFill>
              <a:srgbClr val="C0492F"/>
            </a:solidFill>
            <a:effectLst/>
          </c:spPr>
          <c:invertIfNegative val="0"/>
          <c:dLbls>
            <c:numFmt formatCode="+0.0" sourceLinked="0"/>
            <c:txPr>
              <a:bodyPr/>
              <a:lstStyle/>
              <a:p>
                <a:pPr>
                  <a:defRPr b="0" i="0" strike="noStrike" sz="1100" u="none">
                    <a:solidFill>
                      <a:srgbClr val="17242A"/>
                    </a:solidFill>
                    <a:latin typeface="+mn-lt"/>
                  </a:defRPr>
                </a:pPr>
              </a:p>
            </c:txPr>
            <c:showLegendKey val="0"/>
            <c:showVal val="1"/>
            <c:showCatName val="0"/>
            <c:showSerName val="0"/>
            <c:showPercent val="0"/>
            <c:showBubbleSize val="0"/>
            <c:showLeaderLines val="0"/>
          </c:dLbls>
          <c:cat>
            <c:multiLvlStrRef>
              <c:f>Sheet1!$A$2:$A$5</c:f>
              <c:multiLvlStrCache>
                <c:ptCount val="4"/>
                <c:lvl>
                  <c:pt idx="0">
                    <c:v>0% noise</c:v>
                  </c:pt>
                  <c:pt idx="1">
                    <c:v>10% noise</c:v>
                  </c:pt>
                  <c:pt idx="2">
                    <c:v>20% noise</c:v>
                  </c:pt>
                  <c:pt idx="3">
                    <c:v>30% noise</c:v>
                  </c:pt>
                </c:lvl>
              </c:multiLvlStrCache>
            </c:multiLvlStrRef>
          </c:cat>
          <c:val>
            <c:numRef>
              <c:f>Sheet1!$B$2:$B$5</c:f>
              <c:numCache>
                <c:formatCode>General</c:formatCode>
                <c:ptCount val="4"/>
                <c:pt idx="0">
                  <c:v>9.4</c:v>
                </c:pt>
                <c:pt idx="1">
                  <c:v>9.64</c:v>
                </c:pt>
                <c:pt idx="2">
                  <c:v>10.9</c:v>
                </c:pt>
                <c:pt idx="3">
                  <c:v>14.78</c:v>
                </c:pt>
              </c:numCache>
            </c:numRef>
          </c:val>
        </c:ser>
        <c:ser>
          <c:idx val="1"/>
          <c:order val="1"/>
          <c:tx>
            <c:strRef>
              <c:f>Sheet1!$C$1</c:f>
              <c:strCache>
                <c:ptCount val="1"/>
                <c:pt idx="0">
                  <c:v>GBFTSVM</c:v>
                </c:pt>
              </c:strCache>
            </c:strRef>
          </c:tx>
          <c:spPr>
            <a:solidFill>
              <a:srgbClr val="7B4FB0"/>
            </a:solidFill>
            <a:effectLst/>
          </c:spPr>
          <c:invertIfNegative val="0"/>
          <c:dLbls>
            <c:numFmt formatCode="+0.0" sourceLinked="0"/>
            <c:txPr>
              <a:bodyPr/>
              <a:lstStyle/>
              <a:p>
                <a:pPr>
                  <a:defRPr b="0" i="0" strike="noStrike" sz="1100" u="none">
                    <a:solidFill>
                      <a:srgbClr val="17242A"/>
                    </a:solidFill>
                    <a:latin typeface="+mn-lt"/>
                  </a:defRPr>
                </a:pPr>
              </a:p>
            </c:txPr>
            <c:showLegendKey val="0"/>
            <c:showVal val="1"/>
            <c:showCatName val="0"/>
            <c:showSerName val="0"/>
            <c:showPercent val="0"/>
            <c:showBubbleSize val="0"/>
            <c:showLeaderLines val="0"/>
          </c:dLbls>
          <c:cat>
            <c:multiLvlStrRef>
              <c:f>Sheet1!$A$2:$A$5</c:f>
              <c:multiLvlStrCache>
                <c:ptCount val="4"/>
                <c:lvl>
                  <c:pt idx="0">
                    <c:v>0% noise</c:v>
                  </c:pt>
                  <c:pt idx="1">
                    <c:v>10% noise</c:v>
                  </c:pt>
                  <c:pt idx="2">
                    <c:v>20% noise</c:v>
                  </c:pt>
                  <c:pt idx="3">
                    <c:v>30% noise</c:v>
                  </c:pt>
                </c:lvl>
              </c:multiLvlStrCache>
            </c:multiLvlStrRef>
          </c:cat>
          <c:val>
            <c:numRef>
              <c:f>Sheet1!$C$2:$C$5</c:f>
              <c:numCache>
                <c:formatCode>General</c:formatCode>
                <c:ptCount val="4"/>
                <c:pt idx="0">
                  <c:v>9.11</c:v>
                </c:pt>
                <c:pt idx="1">
                  <c:v>10.11</c:v>
                </c:pt>
                <c:pt idx="2">
                  <c:v>13.29</c:v>
                </c:pt>
                <c:pt idx="3">
                  <c:v>14.49</c:v>
                </c:pt>
              </c:numCache>
            </c:numRef>
          </c:val>
        </c:ser>
        <c:dLbls>
          <c:numFmt formatCode="+0.0" sourceLinked="0"/>
          <c:txPr>
            <a:bodyPr/>
            <a:lstStyle/>
            <a:p>
              <a:pPr>
                <a:defRPr b="0" i="0" strike="noStrike" sz="1100" u="none">
                  <a:solidFill>
                    <a:srgbClr val="17242A"/>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9FB0B3"/>
            </a:solidFill>
            <a:prstDash val="solid"/>
            <a:round/>
          </a:ln>
        </c:spPr>
        <c:txPr>
          <a:bodyPr/>
          <a:lstStyle/>
          <a:p>
            <a:pPr>
              <a:defRPr sz="1200" b="0" i="0" u="none" strike="noStrike">
                <a:solidFill>
                  <a:srgbClr val="17242A"/>
                </a:solidFill>
                <a:latin typeface="+mn-lt"/>
              </a:defRPr>
            </a:pPr>
            <a:endParaRPr lang="en-US"/>
          </a:p>
        </c:txPr>
        <c:crossAx val="2094734552"/>
        <c:crosses val="autoZero"/>
        <c:auto val="1"/>
        <c:lblAlgn val="ctr"/>
        <c:noMultiLvlLbl val="1"/>
      </c:catAx>
      <c:valAx>
        <c:axId val="2094734552"/>
        <c:scaling>
          <c:orientation val="minMax"/>
          <c:max val="18"/>
          <c:min val="0"/>
        </c:scaling>
        <c:delete val="0"/>
        <c:axPos val="l"/>
        <c:majorGridlines>
          <c:spPr>
            <a:ln w="6350" cap="flat">
              <a:solidFill>
                <a:srgbClr val="DCE5E4"/>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5A7A82"/>
                </a:solidFill>
                <a:latin typeface="+mn-lt"/>
              </a:defRPr>
            </a:pPr>
            <a:endParaRPr lang="en-US"/>
          </a:p>
        </c:txPr>
        <c:crossAx val="2094734554"/>
        <c:crosses val="autoZero"/>
        <c:crossBetween val="between"/>
        <c:majorUnit val="3"/>
      </c:valAx>
      <c:spPr>
        <a:noFill/>
        <a:ln>
          <a:noFill/>
        </a:ln>
        <a:effectLst/>
      </c:spPr>
    </c:plotArea>
    <c:legend>
      <c:legendPos val="b"/>
      <c:overlay val="0"/>
      <c:txPr>
        <a:bodyPr/>
        <a:lstStyle/>
        <a:p>
          <a:pPr>
            <a:defRPr sz="1200">
              <a:solidFill>
                <a:srgbClr val="17242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The project started as: find a new fuzzy membership function for GBLSTSVM, the least squares twin SVM trained on granular balls, that makes it more accurate and more robust. Along the way we found that the bigger issue is not the membership but which points the balls throw away, and that the way these models are usually evaluated inflates their scores. This talk goes from the background to what we tried, what we found, and the plan for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Background explains the three ingredients: twin SVMs, granular balls and fuzzy membership. Then the research question, the protocol we built to test it fairly, the experiments round by round, the main results including the comparison with the closest published model (GBFTSVM), and finally the findings and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professor remembers one slide, it is this one. First, none of the fuzzy weights we put on the balls gained more than a point. Second, the reason: GBLSTSVM deletes every ball that holds a single point. That removes most mislabelled points, which is good, but also about half of the correct points, mostly those near the class border. Third, our fix keeps all balls and down-weights a ball when its neighbours carry the other label (T7); it gains about 5 points at 30% noise. Fourth, the original code chooses its settings by the test score; doing so inflates results by 9 to 15 points, which matters when comparing with published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classic SVM finds one line with the widest gap between classes, by solving one big optimisation problem. The twin SVM finds two lines instead, each hugging one class and staying away from the other; that splits the work into two smaller problems and runs about four times faster. The least squares twin SVM (LSTSVM) replaces the inequality constraints with equalities and squares the errors, so each line comes from solving a small linear system, the formula at the bottom. A and B are the points of the two classes; c1 trades off fitting class +1 against keeping class -1 away. A new point is assigned to whichever line is closer. The weakness we care about: every training point has the same weight, so a mislabelled point pulls on the lines as hard as a correct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Granular-ball computing replaces the training points with balls. Starting from the whole training set, it splits with k-means until each ball is almost pure, meaning at least 98.5% of its points share one label. Each ball is summarised by its centre, radius and label. GBLSTSVM, published in Pattern Recognition in 2025 by Tanveer and co-authors, fits the LSTSVM lines to the ball centres and uses the radius in the constraint, so a big ball must stay further from the other class's line. On the right of the figure there are 19 balls instead of 170 points. One detail turns out to matter a lot: balls that end up with a single point are deleted, the grey crosses. Our starting idea was to give each ball a fuzzy membership, a trust weight, because right now all balls count equally.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Fuzzy SVM, Lin and Wang 2002, gives every training point a membership s_i between 0 and 1 that multiplies its error in the objective. A point we do not trust gets a small s_i, so the model is allowed to misclassify it without much penalty. Different papers compute s_i differently, the table lists the main families: distance to the class centre (the original FSVM), entropy of the neighbourhood (EFSVM), intuitionistic or Pythagorean fuzzy sets that use a membership and a non-membership degree (IFTSVM; GBFTSVM on balls), and fuzzy k nearest neighbours (Keller 1985). These are the papers we took the fuzzy functions from. For granular balls only two such models existed: GBFSVM and GBFTSVM; none for the least squares version, which was our opening.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question as it was set at the start. We split it into four. Q1: do the known memberships help on balls? Q2: if not, what is actually holding GBLSTSVM back? Q3: can we close the gap to plain LSTSVM, which trains on every point? Q4: how does our answer compare with GBFTSVM, the closest published model? The rest of the talk answers these in order; the summary slide maps each finding back to its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thing we found when reading the code. For every k and every pair c1, c2 the model is trained, scored on the test data, and the best test score is kept and reported. That is 5 times 7 times 7, so 245 tries, with the winner picked by looking at the test labels. The reported number is then optimistic, and any small improvement from a new membership could just be luck in this selection. Later we measured the effect directly: tuning on the test set adds 9 to 15 points of balanced accuracy. So before trying memberships we rebuilt the evaluation: every setting is chosen by cross-validation on the training part, and the test set is used once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protocol in five steps. Twenty-one binary benchmark datasets, the same family used by the LSTSVM papers. Each is split 70/30, stratified, ten times. Label noise: we flip a share of the training labels at random, which simulates annotation errors, but leave the test labels clean so we measure how well the model learned the true classes. All settings are chosen by 5-fold cross-validation on the training part. The metric is balanced accuracy, the mean of the recall on each class, because many datasets are imbalanced (up to 16 to 1) and plain accuracy would reward predicting the majority class. For statistics we follow Demsar 2006: Wilcoxon signed-rank tests across datasets with Holm correction for multiple comparisons, and Friedman tests with Nemenyi critical-difference diagrams.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path we took. Round 1 put four fuzzy weights on GBLSTSVM's balls; none gained more than a point. That made us ask what else costs accuracy, and round 2 showed that simply keeping the single-point balls gains almost 4 points. Round 3 tried the other direction, ball-based weights on individual points, which did not beat plain LSTSVM. Round 4 introduced the neighbour-agreement membership T7 on all balls, which is our fix. Round 5 tried a smarter ball builder from the literature (ADPGBG), which was no better than keeping the points. Round 6 checked the kernel version and speed; round 7 compared with GBFTSVM. Red tags are dead ends, teal tags are results we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hook in our version of the code. The two lines come from two linear systems. The vectors slack_neg and slack_pos carry the membership of each ball; they multiply the rows of G or H in the slack term, which is the diagonal matrix S in the equation on the right. If a ball has a small membership, the line is allowed to violate that ball's constraint more cheaply. With all memberships equal to one we recover the original GBLSTSVM, and we verified that predictions match the original code. A useful trick: if every training point is its own ball with radius zero, the same function is plain LSTSVM, so comparisons between balls and points use exactly the same solver.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seven candidates. T1 to T3 are taken from the literature: centre distance from the original fuzzy SVM (and GBFSVM on balls), entropy from EFSVM, and the Pythagorean fuzzy score that GBFTSVM uses, which we tested by re-implementing GBFTSVM itself. T4 and T5 are our ideas that use what only balls have, a radius: overlap with balls of the other class, and density, points per unit radius. T6 is not a weight but a structural change: keep the single-point balls. T7 measures how many of a ball's nearest balls share its label, weighted by ball size; it is the fuzzy k-nearest-neighbour idea from Keller 1985, applied to balls. All parameters, such as k and gamma, are chosen by cross-validation.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1 result. Each bar is the change in balanced accuracy compared with plain GBLSTSVM, averaged over 21 datasets, at three noise levels from light to dark. The four fuzzy weights move accuracy by less than one point on clean data, and all of them lose under 20% noise. The rightmost group is the surprise: plain LSTSVM, with no balls at all, is 4 to 7 points better. So whatever the balls do, they lose information that no weight can give back. That is what we investigated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balls lose so much? We traced which training points survive. GBLSTSVM deletes every ball with fewer than two points, the one line of code shown. A mislabelled point sits among points of the other class, so k-means splits it off into a ball of its own and it gets deleted: 85% of flipped labels disappear at 20% noise, which is why GBLSTSVM looks robust. But the same thing happens to correct points near the border between the classes, and to points of the small class: about half of all correct points are deleted, and two thirds of the minority class. Those border points are exactly the ones that decide where the lines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keep all the balls, we also keep the flipped labels, so we need a weight that is low exactly for them. We tested each membership as a detector of flipped labels, using ROC-AUC: 1 means flipped points always get lower weights than correct ones, 0.5 is a coin toss. Entropy and density are worse than a coin toss: a flipped point surrounded by the other class sits in a pure, dense neighbourhood, so they trust it. Overlap is at chance and centre distance is weak. Neighbour agreement, T7, reaches about 0.87, matching fuzzy kNN on individual points. This is why T7 became the membership of our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2 tests the deletion directly. Keeping the single-point balls, with nothing else changed, gains almost 4 points on clean data, more than any fuzzy weight. Adding entropy or overlap weights on top adds nothing. As a check, removing the radius term from the model changes little, so the radius is not what makes balls work. The catch is visible at 20% noise: the gain shrinks, because the kept balls now include the mislabelled points. The natural next step is to keep everything and give the suspicious balls a low weight, using the one membership that detects them, T7.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T7 itself. For each ball we find its k nearest balls and compute the share of them, weighted by how many points they hold, that carry the same label. Raising it to a power gamma sharpens the weight, and a small floor keeps every ball in the model. It costs one nearest-neighbour search over the balls. If every point were its own ball, this would be exactly the fuzzy k-nearest-neighbour membership from Keller 1985, which is why fuzzy-kNN LSTSVM is the natural strongest baseline. k and gamma are chosen by cross-validation like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picture shows why T7 beats entropy. In both panels there is one flipped point, orange inside the blue class, and one correct point at the border. Entropy only asks whether the neighbourhood is mixed: around the flipped point all neighbours are blue, so the neighbourhood is pure and the flipped point gets full trust, while the correct border point sits in a mixed region and gets distrusted. Agreement asks whether my neighbours share my label: none of the flipped point's neighbours do, so it gets zero; three of five of the border point's neighbours do, so it keeps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with the final protocol, 10 splits. The teal line is our fix, keep + T7; brick is the original GBLSTSVM. Our fix is above GBLSTSVM at every noise level, by 3.3, 2.6, 2.9, 4.9 points, significant after Holm correction except at 10% noise, and it wins on most datasets. To be honest about the limits: plain LSTSVM on all points, the blue line, is still better up to 20% noise; at 30% noise our fix ties it. And fuzzy-kNN LSTSVM, amber, which gives each point the same kind of agreement weight, is the best model overall. So balls are not a free lunch; their value is under heavy noise and, as we will see, for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critical-difference diagram is the standard way to compare many classifiers over many datasets. Each method is placed at its average rank, 1 being best; the bar at the top left shows the critical difference, 1.97 ranks: methods closer than that, joined by thick lines, are not significantly different. At 30% noise, keep + T7 and LSTSVM share rank 3.1; GBLSTSVM and GBFTSVM are at the bottom, more than a critical difference away from our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checks. Left, the kernel version: with an RBF kernel, all models are closer together. Keep + T7 gains about 2 points on clean data and nothing significant under noise; kernel fuzzy-kNN LSTSVM is again the best. Right, round 5: ADPGBG is a published ball builder that grows each ball until it reaches the other class, so border points are not lost. It does about as well as simply keeping the single-point balls, and below keep + T7 at 20 and 30% noise. So a better ball builder alone does not replace the agreement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other claim for balls is speed. On a synthetic dataset from 1,750 to 70,000 training points, the kernel ball models train in about a second up to 56k points. Full kernel LSTSVM is not feasible at that size: it needs the full kernel matrix, about 73 GB at 70k points. But the fair comparison is a reduced-kernel LSTSVM, which uses a random subset of columns; it is just as fast and more accurate on clean data. Under 20% label noise the picture changes: pruned kernel GBLSTSVM is within 0.6 points of the best model (reduced-kernel fuzzy kNN) and several times faster from 28k points up. So large and noisy data is where balls are worth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GBFTSVM, by Zhao, Ding, Miao and Lang (arXiv 2024), is the published model closest to our question: a twin SVM on granular balls with a fuzzy score for each ball. The score uses a Pythagorean fuzzy set: a membership mu, which is the distance of the ball to its class centre, exactly our T1, and a non-membership nu that grows when the ball is impure. They combine into a score theta. The paper uses mu for pure balls and theta for impure ones. On k-means balls almost every ball is pure, so in practice the score is just T1. We implemented it from the paper. One technical point: the paper's solver, L-BFGS-B, sometimes stopped far from the true optimum on our data, so we solve the identical problem with LIBLINEAR's exact dual solver and verified it against a third solver.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a reviewer will ask for first. Under our fair protocol, GBFTSVM, violet, is at or slightly below GBLSTSVM, brick. Its fuzzy score does nothing measurable: with and without it (GBTWSVM) the results differ by about a point or less and never significantly, which fits the fact that on pure balls the score is just centre distance. Two ablations confirm our story: keeping single points lifts GBFTSVM by up to 4.5 points, so deletion is the weak spot of this model too; and ADPGBG balls help it a little. Our fix, keep + T7, is the best ball model in every column and beats GBFTSVM by 3.7 to 5.6 points, significant at every noise level after Holm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for every run we also recorded what tuning on the test set would have reported. With no change to the models, balanced accuracy rises by 9 to 15 points, more under heavy noise, for GBLSTSVM and GBFTSVM alike. Right: on the six datasets both studies use, the GBFTSVM paper reports 92.5% accuracy on average; even with test-set tuning our runs reach about 81%, and 74% with fair tuning. Some of the gap may come from their larger training sets and a different ball builder, but test-set tuning alone is worth about 10 points. This becomes one of the paper's points: how granular-ball models are evaluated changes the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findings, each tagged with the question it answers. Q1: the fuzzy weights we tried, including the published Pythagorean one, do not help on balls. Q2: the real limit is the deletion step, which works as a crude noise filter that also throws away half the correct points; and the popular entropy and density memberships cannot spot flipped labels at all. Q3: keeping every ball and weighting it by neighbour agreement gives a consistent gain over GBLSTSVM and ties LSTSVM at heavy noise, but does not beat fuzzy kNN on points. Q4: it also beats GBFTSVM clearly, and we showed that tuning on the test set, common in this literature, inflates scores by about 10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 than claiming a new membership that wins everywhere, which our data does not support, the paper is framed as an analysis: where granular balls actually help twin SVMs, and why. The five contributions are on the left. The outline on the right follows the order of this talk. Experiments, tables with significance tests and critical-difference diagrams are done; writing is the next step. The target journal is something to decide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next steps, in order. First, write the draft from the existing material. Second, close two literature gaps: read the ADPGBG paper in full to confirm our port matches it, and add GBTSVM from Tanveer's group as another baseline. Third and fourth are robustness checks: our label noise is random; real annotation errors cluster near the class border, where neighbour agreement is weakest, so we should test that, and we should test larger and multi-class data. Finally, choose the venue with you. All code and results are already in the GitHub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for the models, the ball generators and the fuzzy membership functions. The fuzzy functions come from [8] FSVM (centre distance), [9] EFSVM (entropy), [10] IFTSVM and [12] Yager (intuitionistic and Pythagorean), [11] fuzzy kNN (neighbour agreement), and [13] GBFSVM and [15] GBFTSVM on granular balls.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for label noise, statistics, solvers and data. [17] and [18] are the statistical tests; [19] is the reduced kernel used in the speed study; [20] and [21] are the exact dual solver used for GBFTSVM; [22] and [23] are the data sources; [24] is the lab's MATLAB suite we compared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and take questions. Likely questions: why not just use LSTSVM (answer: under heavy noise and at scale balls are competitive, and the analysis explains when); is T7 new (it adapts fuzzy kNN to balls; the contribution is the analysis and the fix, not the formula); why balanced accuracy (imbalanced datasets); and how GBFTSVM was implemented (from the paper, with an exact solver). The appendix has the datasets, the dead ends and the tuning grids.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21 binary datasets, from 194 to 1,484 points and 3 to 60 features, ordered from balanced to strongly imbalanced. They are the LSTSVM benchmark files that came with the GBLSTSVM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that did not work, kept for completeness. Each dead end changed the direction: purity was useless as a weight because k-means balls are pure; weights on pruned balls could not undo deletion; ball-based weights on points did not beat LSTSVM; a better ball builder was not enough by itself; the kernel version gains little; and ball-based weights were no faster than kNN on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reference, the full search grids. Every model gets the same budget for c1, c2 and k, and the membership parameters are chosen in the same cross-validation, so no model gets an unfair tuning 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325880"/>
            <a:ext cx="7589520" cy="23774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731520" y="3931920"/>
            <a:ext cx="7589520" cy="17373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lstStyle>
            <a:lvl1pPr algn="l" indent="0" marL="0">
              <a:buNone/>
              <a:defRPr lang="en-US" sz="1200" b="1" dirty="0">
                <a:solidFill>
                  <a:schemeClr val="accent6"/>
                </a:solidFill>
              </a:defRPr>
            </a:lvl1pPr>
          </a:lstStyle>
          <a:p>
            <a:pPr algn="l" indent="0" marL="0">
              <a:buNone/>
            </a:pP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4" name="Text 0"/>
          <p:cNvSpPr/>
          <p:nvPr/>
        </p:nvSpPr>
        <p:spPr>
          <a:xfrm>
            <a:off x="548640" y="6419088"/>
            <a:ext cx="7315200" cy="274320"/>
          </a:xfrm>
          <a:prstGeom prst="rect">
            <a:avLst/>
          </a:prstGeom>
          <a:noFill/>
          <a:ln/>
        </p:spPr>
        <p:txBody>
          <a:bodyPr wrap="square" rtlCol="0" anchor="ctr"/>
          <a:lstStyle/>
          <a:p>
            <a:pPr indent="0" marL="0">
              <a:buNone/>
            </a:pPr>
            <a:r>
              <a:rPr lang="en-US" sz="1000" dirty="0">
                <a:solidFill>
                  <a:schemeClr val="accent6"/>
                </a:solidFill>
              </a:rPr>
              <a:t>Fuzzy membership for GBLSTSVM · Midsem presentation</a:t>
            </a:r>
            <a:endParaRPr lang="en-US" sz="1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325880"/>
            <a:ext cx="7589520" cy="2377440"/>
          </a:xfrm>
          <a:prstGeom prst="rect">
            <a:avLst/>
          </a:prstGeom>
          <a:noFill/>
          <a:ln/>
        </p:spPr>
        <p:txBody>
          <a:bodyPr wrap="square" rtlCol="0" anchor="b"/>
          <a:lstStyle/>
          <a:p>
            <a:pPr algn="l" indent="0" marL="0">
              <a:buNone/>
            </a:pPr>
            <a:r>
              <a:rPr lang="en-US" sz="4000" b="1" dirty="0">
                <a:solidFill>
                  <a:schemeClr val="bg1"/>
                </a:solidFill>
              </a:rPr>
              <a:t>Where Do Granular Balls Help Twin SVMs?</a:t>
            </a:r>
            <a:endParaRPr lang="en-US" sz="4000" dirty="0"/>
          </a:p>
        </p:txBody>
      </p:sp>
      <p:sp>
        <p:nvSpPr>
          <p:cNvPr id="3" name="Text 0"/>
          <p:cNvSpPr/>
          <p:nvPr>
            <p:ph idx="101" type="body" hasCustomPrompt="1"/>
          </p:nvPr>
        </p:nvSpPr>
        <p:spPr>
          <a:xfrm>
            <a:off x="731520" y="3931920"/>
            <a:ext cx="7589520" cy="1737360"/>
          </a:xfrm>
          <a:prstGeom prst="rect">
            <a:avLst/>
          </a:prstGeom>
          <a:noFill/>
          <a:ln/>
        </p:spPr>
        <p:txBody>
          <a:bodyPr wrap="square" rtlCol="0" anchor="t"/>
          <a:lstStyle/>
          <a:p>
            <a:pPr algn="l" indent="0" marL="0">
              <a:buNone/>
            </a:pPr>
            <a:r>
              <a:rPr lang="en-US" sz="1800" dirty="0">
                <a:solidFill>
                  <a:schemeClr val="bg2"/>
                </a:solidFill>
              </a:rPr>
              <a:t>Fuzzy membership, label noise and a fair test for GBLSTSVM</a:t>
            </a:r>
            <a:endParaRPr lang="en-US" sz="1800" dirty="0"/>
          </a:p>
          <a:p>
            <a:pPr algn="l" indent="0" marL="0">
              <a:spcBef>
                <a:spcPts val="1400"/>
              </a:spcBef>
              <a:buNone/>
            </a:pPr>
            <a:r>
              <a:rPr lang="en-US" sz="1500" dirty="0">
                <a:solidFill>
                  <a:schemeClr val="bg2"/>
                </a:solidFill>
              </a:rPr>
              <a:t>Midsem presentation · Jayagna · October 2026</a:t>
            </a:r>
            <a:endParaRPr lang="en-US" sz="1800" dirty="0"/>
          </a:p>
        </p:txBody>
      </p:sp>
      <p:sp>
        <p:nvSpPr>
          <p:cNvPr id="4" name="ball-motif"/>
          <p:cNvSpPr/>
          <p:nvPr/>
        </p:nvSpPr>
        <p:spPr>
          <a:xfrm>
            <a:off x="8732520" y="960120"/>
            <a:ext cx="1325880" cy="1325880"/>
          </a:xfrm>
          <a:prstGeom prst="ellipse">
            <a:avLst/>
          </a:prstGeom>
          <a:solidFill>
            <a:schemeClr val="accent1">
              <a:alpha val="75000"/>
            </a:schemeClr>
          </a:solidFill>
          <a:ln w="12700">
            <a:solidFill>
              <a:schemeClr val="bg1"/>
            </a:solidFill>
            <a:prstDash val="solid"/>
          </a:ln>
        </p:spPr>
      </p:sp>
      <p:sp>
        <p:nvSpPr>
          <p:cNvPr id="5" name="ball-motif"/>
          <p:cNvSpPr/>
          <p:nvPr/>
        </p:nvSpPr>
        <p:spPr>
          <a:xfrm>
            <a:off x="10012680" y="640080"/>
            <a:ext cx="777240" cy="777240"/>
          </a:xfrm>
          <a:prstGeom prst="ellipse">
            <a:avLst/>
          </a:prstGeom>
          <a:solidFill>
            <a:schemeClr val="accent1">
              <a:alpha val="75000"/>
            </a:schemeClr>
          </a:solidFill>
          <a:ln w="12700">
            <a:solidFill>
              <a:schemeClr val="bg1"/>
            </a:solidFill>
            <a:prstDash val="solid"/>
          </a:ln>
        </p:spPr>
      </p:sp>
      <p:sp>
        <p:nvSpPr>
          <p:cNvPr id="6" name="ball-motif"/>
          <p:cNvSpPr/>
          <p:nvPr/>
        </p:nvSpPr>
        <p:spPr>
          <a:xfrm>
            <a:off x="9006840" y="2468880"/>
            <a:ext cx="868680" cy="868680"/>
          </a:xfrm>
          <a:prstGeom prst="ellipse">
            <a:avLst/>
          </a:prstGeom>
          <a:solidFill>
            <a:schemeClr val="accent1">
              <a:alpha val="75000"/>
            </a:schemeClr>
          </a:solidFill>
          <a:ln w="12700">
            <a:solidFill>
              <a:schemeClr val="bg1"/>
            </a:solidFill>
            <a:prstDash val="solid"/>
          </a:ln>
        </p:spPr>
      </p:sp>
      <p:sp>
        <p:nvSpPr>
          <p:cNvPr id="7" name="ball-motif"/>
          <p:cNvSpPr/>
          <p:nvPr/>
        </p:nvSpPr>
        <p:spPr>
          <a:xfrm>
            <a:off x="10058400" y="1691640"/>
            <a:ext cx="502920" cy="502920"/>
          </a:xfrm>
          <a:prstGeom prst="ellipse">
            <a:avLst/>
          </a:prstGeom>
          <a:solidFill>
            <a:schemeClr val="accent1">
              <a:alpha val="75000"/>
            </a:schemeClr>
          </a:solidFill>
          <a:ln w="12700">
            <a:solidFill>
              <a:schemeClr val="bg1"/>
            </a:solidFill>
            <a:prstDash val="solid"/>
          </a:ln>
        </p:spPr>
      </p:sp>
      <p:sp>
        <p:nvSpPr>
          <p:cNvPr id="8" name="ball-motif"/>
          <p:cNvSpPr/>
          <p:nvPr/>
        </p:nvSpPr>
        <p:spPr>
          <a:xfrm>
            <a:off x="9829800" y="2697480"/>
            <a:ext cx="292608" cy="292608"/>
          </a:xfrm>
          <a:prstGeom prst="ellipse">
            <a:avLst/>
          </a:prstGeom>
          <a:solidFill>
            <a:schemeClr val="accent1">
              <a:alpha val="75000"/>
            </a:schemeClr>
          </a:solidFill>
          <a:ln w="12700">
            <a:solidFill>
              <a:schemeClr val="bg1"/>
            </a:solidFill>
            <a:prstDash val="solid"/>
          </a:ln>
        </p:spPr>
      </p:sp>
      <p:sp>
        <p:nvSpPr>
          <p:cNvPr id="9" name="ball-motif"/>
          <p:cNvSpPr/>
          <p:nvPr/>
        </p:nvSpPr>
        <p:spPr>
          <a:xfrm>
            <a:off x="10469880" y="3246120"/>
            <a:ext cx="1188720" cy="1188720"/>
          </a:xfrm>
          <a:prstGeom prst="ellipse">
            <a:avLst/>
          </a:prstGeom>
          <a:solidFill>
            <a:schemeClr val="accent5">
              <a:alpha val="75000"/>
            </a:schemeClr>
          </a:solidFill>
          <a:ln w="12700">
            <a:solidFill>
              <a:schemeClr val="bg1"/>
            </a:solidFill>
            <a:prstDash val="solid"/>
          </a:ln>
        </p:spPr>
      </p:sp>
      <p:sp>
        <p:nvSpPr>
          <p:cNvPr id="10" name="ball-motif"/>
          <p:cNvSpPr/>
          <p:nvPr/>
        </p:nvSpPr>
        <p:spPr>
          <a:xfrm>
            <a:off x="9372600" y="4160520"/>
            <a:ext cx="960120" cy="960120"/>
          </a:xfrm>
          <a:prstGeom prst="ellipse">
            <a:avLst/>
          </a:prstGeom>
          <a:solidFill>
            <a:schemeClr val="accent5">
              <a:alpha val="75000"/>
            </a:schemeClr>
          </a:solidFill>
          <a:ln w="12700">
            <a:solidFill>
              <a:schemeClr val="bg1"/>
            </a:solidFill>
            <a:prstDash val="solid"/>
          </a:ln>
        </p:spPr>
      </p:sp>
      <p:sp>
        <p:nvSpPr>
          <p:cNvPr id="11" name="ball-motif"/>
          <p:cNvSpPr/>
          <p:nvPr/>
        </p:nvSpPr>
        <p:spPr>
          <a:xfrm>
            <a:off x="10835640" y="4709160"/>
            <a:ext cx="731520" cy="731520"/>
          </a:xfrm>
          <a:prstGeom prst="ellipse">
            <a:avLst/>
          </a:prstGeom>
          <a:solidFill>
            <a:schemeClr val="accent5">
              <a:alpha val="75000"/>
            </a:schemeClr>
          </a:solidFill>
          <a:ln w="12700">
            <a:solidFill>
              <a:schemeClr val="bg1"/>
            </a:solidFill>
            <a:prstDash val="solid"/>
          </a:ln>
        </p:spPr>
      </p:sp>
      <p:sp>
        <p:nvSpPr>
          <p:cNvPr id="12" name="ball-motif"/>
          <p:cNvSpPr/>
          <p:nvPr/>
        </p:nvSpPr>
        <p:spPr>
          <a:xfrm>
            <a:off x="10241280" y="4572000"/>
            <a:ext cx="347472" cy="347472"/>
          </a:xfrm>
          <a:prstGeom prst="ellipse">
            <a:avLst/>
          </a:prstGeom>
          <a:solidFill>
            <a:schemeClr val="accent5">
              <a:alpha val="75000"/>
            </a:schemeClr>
          </a:solidFill>
          <a:ln w="12700">
            <a:solidFill>
              <a:schemeClr val="bg1"/>
            </a:solidFill>
            <a:prstDash val="solid"/>
          </a:ln>
        </p:spPr>
      </p:sp>
      <p:sp>
        <p:nvSpPr>
          <p:cNvPr id="13" name="ball-motif"/>
          <p:cNvSpPr/>
          <p:nvPr/>
        </p:nvSpPr>
        <p:spPr>
          <a:xfrm>
            <a:off x="11292840" y="2697480"/>
            <a:ext cx="457200" cy="457200"/>
          </a:xfrm>
          <a:prstGeom prst="ellipse">
            <a:avLst/>
          </a:prstGeom>
          <a:solidFill>
            <a:schemeClr val="accent5">
              <a:alpha val="75000"/>
            </a:schemeClr>
          </a:solidFill>
          <a:ln w="12700">
            <a:solidFill>
              <a:schemeClr val="bg1"/>
            </a:solidFill>
            <a:prstDash val="solid"/>
          </a:ln>
        </p:spPr>
      </p:sp>
      <p:sp>
        <p:nvSpPr>
          <p:cNvPr id="14" name="plane-1"/>
          <p:cNvSpPr/>
          <p:nvPr/>
        </p:nvSpPr>
        <p:spPr>
          <a:xfrm flipV="1">
            <a:off x="8366760" y="502920"/>
            <a:ext cx="2834640" cy="3383280"/>
          </a:xfrm>
          <a:prstGeom prst="line">
            <a:avLst/>
          </a:prstGeom>
          <a:noFill/>
          <a:ln w="31750">
            <a:solidFill>
              <a:schemeClr val="accent1"/>
            </a:solidFill>
            <a:prstDash val="solid"/>
          </a:ln>
        </p:spPr>
      </p:sp>
      <p:sp>
        <p:nvSpPr>
          <p:cNvPr id="15" name="plane-2"/>
          <p:cNvSpPr/>
          <p:nvPr/>
        </p:nvSpPr>
        <p:spPr>
          <a:xfrm flipV="1">
            <a:off x="9098280" y="2514600"/>
            <a:ext cx="2788920" cy="3566160"/>
          </a:xfrm>
          <a:prstGeom prst="line">
            <a:avLst/>
          </a:prstGeom>
          <a:noFill/>
          <a:ln w="31750">
            <a:solidFill>
              <a:schemeClr val="accent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INTRODUCTION</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Outline</a:t>
            </a:r>
            <a:endParaRPr lang="en-US" sz="2800" dirty="0"/>
          </a:p>
        </p:txBody>
      </p:sp>
      <p:sp>
        <p:nvSpPr>
          <p:cNvPr id="4" name="badge"/>
          <p:cNvSpPr/>
          <p:nvPr/>
        </p:nvSpPr>
        <p:spPr>
          <a:xfrm>
            <a:off x="548640" y="1554480"/>
            <a:ext cx="548640" cy="548640"/>
          </a:xfrm>
          <a:prstGeom prst="ellipse">
            <a:avLst/>
          </a:prstGeom>
          <a:solidFill>
            <a:schemeClr val="accent1"/>
          </a:solidFill>
          <a:ln w="12700">
            <a:solidFill>
              <a:schemeClr val="accent1"/>
            </a:solidFill>
            <a:prstDash val="solid"/>
          </a:ln>
        </p:spPr>
      </p:sp>
      <p:sp>
        <p:nvSpPr>
          <p:cNvPr id="5" name="Text 3"/>
          <p:cNvSpPr txBox="1"/>
          <p:nvPr/>
        </p:nvSpPr>
        <p:spPr>
          <a:xfrm>
            <a:off x="548640" y="15544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325880" y="1508760"/>
            <a:ext cx="44805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Background</a:t>
            </a:r>
            <a:endParaRPr lang="en-US" sz="2000" dirty="0"/>
          </a:p>
        </p:txBody>
      </p:sp>
      <p:sp>
        <p:nvSpPr>
          <p:cNvPr id="7" name="Text 5"/>
          <p:cNvSpPr txBox="1"/>
          <p:nvPr/>
        </p:nvSpPr>
        <p:spPr>
          <a:xfrm>
            <a:off x="1325880" y="1947672"/>
            <a:ext cx="4480560" cy="548640"/>
          </a:xfrm>
          <a:prstGeom prst="rect">
            <a:avLst/>
          </a:prstGeom>
          <a:noFill/>
          <a:ln/>
        </p:spPr>
        <p:txBody>
          <a:bodyPr wrap="square" lIns="0" tIns="0" rIns="0" bIns="0" rtlCol="0" anchor="t"/>
          <a:lstStyle/>
          <a:p>
            <a:pPr indent="0" marL="0">
              <a:buNone/>
            </a:pPr>
            <a:r>
              <a:rPr lang="en-US" sz="1500" dirty="0">
                <a:solidFill>
                  <a:schemeClr val="tx1"/>
                </a:solidFill>
              </a:rPr>
              <a:t>Twin SVMs, granular balls and fuzzy membership</a:t>
            </a:r>
            <a:endParaRPr lang="en-US" sz="1500" dirty="0"/>
          </a:p>
        </p:txBody>
      </p:sp>
      <p:sp>
        <p:nvSpPr>
          <p:cNvPr id="8" name="badge"/>
          <p:cNvSpPr/>
          <p:nvPr/>
        </p:nvSpPr>
        <p:spPr>
          <a:xfrm>
            <a:off x="548640" y="2926080"/>
            <a:ext cx="548640" cy="548640"/>
          </a:xfrm>
          <a:prstGeom prst="ellipse">
            <a:avLst/>
          </a:prstGeom>
          <a:solidFill>
            <a:schemeClr val="accent1"/>
          </a:solidFill>
          <a:ln w="12700">
            <a:solidFill>
              <a:schemeClr val="accent1"/>
            </a:solidFill>
            <a:prstDash val="solid"/>
          </a:ln>
        </p:spPr>
      </p:sp>
      <p:sp>
        <p:nvSpPr>
          <p:cNvPr id="9" name="Text 7"/>
          <p:cNvSpPr txBox="1"/>
          <p:nvPr/>
        </p:nvSpPr>
        <p:spPr>
          <a:xfrm>
            <a:off x="548640" y="29260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1325880" y="2880360"/>
            <a:ext cx="44805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Research question</a:t>
            </a:r>
            <a:endParaRPr lang="en-US" sz="2000" dirty="0"/>
          </a:p>
        </p:txBody>
      </p:sp>
      <p:sp>
        <p:nvSpPr>
          <p:cNvPr id="11" name="Text 9"/>
          <p:cNvSpPr txBox="1"/>
          <p:nvPr/>
        </p:nvSpPr>
        <p:spPr>
          <a:xfrm>
            <a:off x="1325880" y="3319272"/>
            <a:ext cx="4480560" cy="548640"/>
          </a:xfrm>
          <a:prstGeom prst="rect">
            <a:avLst/>
          </a:prstGeom>
          <a:noFill/>
          <a:ln/>
        </p:spPr>
        <p:txBody>
          <a:bodyPr wrap="square" lIns="0" tIns="0" rIns="0" bIns="0" rtlCol="0" anchor="t"/>
          <a:lstStyle/>
          <a:p>
            <a:pPr indent="0" marL="0">
              <a:buNone/>
            </a:pPr>
            <a:r>
              <a:rPr lang="en-US" sz="1500" dirty="0">
                <a:solidFill>
                  <a:schemeClr val="tx1"/>
                </a:solidFill>
              </a:rPr>
              <a:t>What we set out to find, as four sub-questions</a:t>
            </a:r>
            <a:endParaRPr lang="en-US" sz="1500" dirty="0"/>
          </a:p>
        </p:txBody>
      </p:sp>
      <p:sp>
        <p:nvSpPr>
          <p:cNvPr id="12" name="badge"/>
          <p:cNvSpPr/>
          <p:nvPr/>
        </p:nvSpPr>
        <p:spPr>
          <a:xfrm>
            <a:off x="548640" y="4297680"/>
            <a:ext cx="548640" cy="548640"/>
          </a:xfrm>
          <a:prstGeom prst="ellipse">
            <a:avLst/>
          </a:prstGeom>
          <a:solidFill>
            <a:schemeClr val="accent1"/>
          </a:solidFill>
          <a:ln w="12700">
            <a:solidFill>
              <a:schemeClr val="accent1"/>
            </a:solidFill>
            <a:prstDash val="solid"/>
          </a:ln>
        </p:spPr>
      </p:sp>
      <p:sp>
        <p:nvSpPr>
          <p:cNvPr id="13" name="Text 11"/>
          <p:cNvSpPr txBox="1"/>
          <p:nvPr/>
        </p:nvSpPr>
        <p:spPr>
          <a:xfrm>
            <a:off x="548640" y="42976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2"/>
          <p:cNvSpPr txBox="1"/>
          <p:nvPr/>
        </p:nvSpPr>
        <p:spPr>
          <a:xfrm>
            <a:off x="1325880" y="4251960"/>
            <a:ext cx="44805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Method</a:t>
            </a:r>
            <a:endParaRPr lang="en-US" sz="2000" dirty="0"/>
          </a:p>
        </p:txBody>
      </p:sp>
      <p:sp>
        <p:nvSpPr>
          <p:cNvPr id="15" name="Text 13"/>
          <p:cNvSpPr txBox="1"/>
          <p:nvPr/>
        </p:nvSpPr>
        <p:spPr>
          <a:xfrm>
            <a:off x="1325880" y="4690872"/>
            <a:ext cx="4480560" cy="548640"/>
          </a:xfrm>
          <a:prstGeom prst="rect">
            <a:avLst/>
          </a:prstGeom>
          <a:noFill/>
          <a:ln/>
        </p:spPr>
        <p:txBody>
          <a:bodyPr wrap="square" lIns="0" tIns="0" rIns="0" bIns="0" rtlCol="0" anchor="t"/>
          <a:lstStyle/>
          <a:p>
            <a:pPr indent="0" marL="0">
              <a:buNone/>
            </a:pPr>
            <a:r>
              <a:rPr lang="en-US" sz="1500" dirty="0">
                <a:solidFill>
                  <a:schemeClr val="tx1"/>
                </a:solidFill>
              </a:rPr>
              <a:t>A fair test protocol and seven candidate memberships</a:t>
            </a:r>
            <a:endParaRPr lang="en-US" sz="1500" dirty="0"/>
          </a:p>
        </p:txBody>
      </p:sp>
      <p:sp>
        <p:nvSpPr>
          <p:cNvPr id="16" name="badge"/>
          <p:cNvSpPr/>
          <p:nvPr/>
        </p:nvSpPr>
        <p:spPr>
          <a:xfrm>
            <a:off x="6263640" y="1554480"/>
            <a:ext cx="548640" cy="548640"/>
          </a:xfrm>
          <a:prstGeom prst="ellipse">
            <a:avLst/>
          </a:prstGeom>
          <a:solidFill>
            <a:schemeClr val="accent1"/>
          </a:solidFill>
          <a:ln w="12700">
            <a:solidFill>
              <a:schemeClr val="accent1"/>
            </a:solidFill>
            <a:prstDash val="solid"/>
          </a:ln>
        </p:spPr>
      </p:sp>
      <p:sp>
        <p:nvSpPr>
          <p:cNvPr id="17" name="Text 15"/>
          <p:cNvSpPr txBox="1"/>
          <p:nvPr/>
        </p:nvSpPr>
        <p:spPr>
          <a:xfrm>
            <a:off x="6263640" y="15544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Text 16"/>
          <p:cNvSpPr txBox="1"/>
          <p:nvPr/>
        </p:nvSpPr>
        <p:spPr>
          <a:xfrm>
            <a:off x="7040880" y="1508760"/>
            <a:ext cx="44805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Experiments</a:t>
            </a:r>
            <a:endParaRPr lang="en-US" sz="2000" dirty="0"/>
          </a:p>
        </p:txBody>
      </p:sp>
      <p:sp>
        <p:nvSpPr>
          <p:cNvPr id="19" name="Text 17"/>
          <p:cNvSpPr txBox="1"/>
          <p:nvPr/>
        </p:nvSpPr>
        <p:spPr>
          <a:xfrm>
            <a:off x="7040880" y="1947672"/>
            <a:ext cx="4480560" cy="548640"/>
          </a:xfrm>
          <a:prstGeom prst="rect">
            <a:avLst/>
          </a:prstGeom>
          <a:noFill/>
          <a:ln/>
        </p:spPr>
        <p:txBody>
          <a:bodyPr wrap="square" lIns="0" tIns="0" rIns="0" bIns="0" rtlCol="0" anchor="t"/>
          <a:lstStyle/>
          <a:p>
            <a:pPr indent="0" marL="0">
              <a:buNone/>
            </a:pPr>
            <a:r>
              <a:rPr lang="en-US" sz="1500" dirty="0">
                <a:solidFill>
                  <a:schemeClr val="tx1"/>
                </a:solidFill>
              </a:rPr>
              <a:t>Rounds 1 to 5: what failed, what worked and why</a:t>
            </a:r>
            <a:endParaRPr lang="en-US" sz="1500" dirty="0"/>
          </a:p>
        </p:txBody>
      </p:sp>
      <p:sp>
        <p:nvSpPr>
          <p:cNvPr id="20" name="badge"/>
          <p:cNvSpPr/>
          <p:nvPr/>
        </p:nvSpPr>
        <p:spPr>
          <a:xfrm>
            <a:off x="6263640" y="2926080"/>
            <a:ext cx="548640" cy="548640"/>
          </a:xfrm>
          <a:prstGeom prst="ellipse">
            <a:avLst/>
          </a:prstGeom>
          <a:solidFill>
            <a:schemeClr val="accent1"/>
          </a:solidFill>
          <a:ln w="12700">
            <a:solidFill>
              <a:schemeClr val="accent1"/>
            </a:solidFill>
            <a:prstDash val="solid"/>
          </a:ln>
        </p:spPr>
      </p:sp>
      <p:sp>
        <p:nvSpPr>
          <p:cNvPr id="21" name="Text 19"/>
          <p:cNvSpPr txBox="1"/>
          <p:nvPr/>
        </p:nvSpPr>
        <p:spPr>
          <a:xfrm>
            <a:off x="6263640" y="29260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2" name="Text 20"/>
          <p:cNvSpPr txBox="1"/>
          <p:nvPr/>
        </p:nvSpPr>
        <p:spPr>
          <a:xfrm>
            <a:off x="7040880" y="2880360"/>
            <a:ext cx="44805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Results</a:t>
            </a:r>
            <a:endParaRPr lang="en-US" sz="2000" dirty="0"/>
          </a:p>
        </p:txBody>
      </p:sp>
      <p:sp>
        <p:nvSpPr>
          <p:cNvPr id="23" name="Text 21"/>
          <p:cNvSpPr txBox="1"/>
          <p:nvPr/>
        </p:nvSpPr>
        <p:spPr>
          <a:xfrm>
            <a:off x="7040880" y="3319272"/>
            <a:ext cx="4480560" cy="548640"/>
          </a:xfrm>
          <a:prstGeom prst="rect">
            <a:avLst/>
          </a:prstGeom>
          <a:noFill/>
          <a:ln/>
        </p:spPr>
        <p:txBody>
          <a:bodyPr wrap="square" lIns="0" tIns="0" rIns="0" bIns="0" rtlCol="0" anchor="t"/>
          <a:lstStyle/>
          <a:p>
            <a:pPr indent="0" marL="0">
              <a:buNone/>
            </a:pPr>
            <a:r>
              <a:rPr lang="en-US" sz="1500" dirty="0">
                <a:solidFill>
                  <a:schemeClr val="tx1"/>
                </a:solidFill>
              </a:rPr>
              <a:t>Our fix, the kernel version, speed, and the published GBFTSVM baseline</a:t>
            </a:r>
            <a:endParaRPr lang="en-US" sz="1500" dirty="0"/>
          </a:p>
        </p:txBody>
      </p:sp>
      <p:sp>
        <p:nvSpPr>
          <p:cNvPr id="24" name="badge"/>
          <p:cNvSpPr/>
          <p:nvPr/>
        </p:nvSpPr>
        <p:spPr>
          <a:xfrm>
            <a:off x="6263640" y="4297680"/>
            <a:ext cx="548640" cy="548640"/>
          </a:xfrm>
          <a:prstGeom prst="ellipse">
            <a:avLst/>
          </a:prstGeom>
          <a:solidFill>
            <a:schemeClr val="accent1"/>
          </a:solidFill>
          <a:ln w="12700">
            <a:solidFill>
              <a:schemeClr val="accent1"/>
            </a:solidFill>
            <a:prstDash val="solid"/>
          </a:ln>
        </p:spPr>
      </p:sp>
      <p:sp>
        <p:nvSpPr>
          <p:cNvPr id="25" name="Text 23"/>
          <p:cNvSpPr txBox="1"/>
          <p:nvPr/>
        </p:nvSpPr>
        <p:spPr>
          <a:xfrm>
            <a:off x="6263640" y="429768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6" name="Text 24"/>
          <p:cNvSpPr txBox="1"/>
          <p:nvPr/>
        </p:nvSpPr>
        <p:spPr>
          <a:xfrm>
            <a:off x="7040880" y="4251960"/>
            <a:ext cx="448056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Conclusion</a:t>
            </a:r>
            <a:endParaRPr lang="en-US" sz="2000" dirty="0"/>
          </a:p>
        </p:txBody>
      </p:sp>
      <p:sp>
        <p:nvSpPr>
          <p:cNvPr id="27" name="Text 25"/>
          <p:cNvSpPr txBox="1"/>
          <p:nvPr/>
        </p:nvSpPr>
        <p:spPr>
          <a:xfrm>
            <a:off x="7040880" y="4690872"/>
            <a:ext cx="4480560" cy="548640"/>
          </a:xfrm>
          <a:prstGeom prst="rect">
            <a:avLst/>
          </a:prstGeom>
          <a:noFill/>
          <a:ln/>
        </p:spPr>
        <p:txBody>
          <a:bodyPr wrap="square" lIns="0" tIns="0" rIns="0" bIns="0" rtlCol="0" anchor="t"/>
          <a:lstStyle/>
          <a:p>
            <a:pPr indent="0" marL="0">
              <a:buNone/>
            </a:pPr>
            <a:r>
              <a:rPr lang="en-US" sz="1500" dirty="0">
                <a:solidFill>
                  <a:schemeClr val="tx1"/>
                </a:solidFill>
              </a:rPr>
              <a:t>Findings, paper plan and next steps</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SUMMARY</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The story in one slide</a:t>
            </a:r>
            <a:endParaRPr lang="en-US" sz="2800" dirty="0"/>
          </a:p>
        </p:txBody>
      </p:sp>
      <p:sp>
        <p:nvSpPr>
          <p:cNvPr id="4" name="stat-card"/>
          <p:cNvSpPr/>
          <p:nvPr/>
        </p:nvSpPr>
        <p:spPr>
          <a:xfrm>
            <a:off x="548640" y="1463040"/>
            <a:ext cx="2606040" cy="3291840"/>
          </a:xfrm>
          <a:prstGeom prst="roundRect">
            <a:avLst>
              <a:gd name="adj" fmla="val 3509"/>
            </a:avLst>
          </a:prstGeom>
          <a:solidFill>
            <a:schemeClr val="bg2"/>
          </a:solidFill>
          <a:ln w="9525">
            <a:solidFill>
              <a:schemeClr val="bg2"/>
            </a:solidFill>
            <a:prstDash val="solid"/>
          </a:ln>
        </p:spPr>
      </p:sp>
      <p:sp>
        <p:nvSpPr>
          <p:cNvPr id="5" name="Text 3"/>
          <p:cNvSpPr txBox="1"/>
          <p:nvPr/>
        </p:nvSpPr>
        <p:spPr>
          <a:xfrm>
            <a:off x="749808" y="1645920"/>
            <a:ext cx="2240280" cy="1051560"/>
          </a:xfrm>
          <a:prstGeom prst="rect">
            <a:avLst/>
          </a:prstGeom>
          <a:noFill/>
          <a:ln/>
        </p:spPr>
        <p:txBody>
          <a:bodyPr wrap="square" lIns="0" tIns="0" rIns="0" bIns="0" rtlCol="0" anchor="ctr"/>
          <a:lstStyle/>
          <a:p>
            <a:pPr indent="0" marL="0">
              <a:buNone/>
            </a:pPr>
            <a:r>
              <a:rPr lang="en-US" sz="4600" b="1" dirty="0">
                <a:solidFill>
                  <a:schemeClr val="tx2"/>
                </a:solidFill>
                <a:latin typeface="Cambria" pitchFamily="34" charset="0"/>
                <a:ea typeface="Cambria" pitchFamily="34" charset="-122"/>
                <a:cs typeface="Cambria" pitchFamily="34" charset="-120"/>
              </a:rPr>
              <a:t>+0.8</a:t>
            </a:r>
            <a:endParaRPr lang="en-US" sz="4600" dirty="0"/>
          </a:p>
        </p:txBody>
      </p:sp>
      <p:sp>
        <p:nvSpPr>
          <p:cNvPr id="6" name="Text 4"/>
          <p:cNvSpPr txBox="1"/>
          <p:nvPr/>
        </p:nvSpPr>
        <p:spPr>
          <a:xfrm>
            <a:off x="749808" y="2788920"/>
            <a:ext cx="2240280" cy="1828800"/>
          </a:xfrm>
          <a:prstGeom prst="rect">
            <a:avLst/>
          </a:prstGeom>
          <a:noFill/>
          <a:ln/>
        </p:spPr>
        <p:txBody>
          <a:bodyPr wrap="square" lIns="0" tIns="0" rIns="0" bIns="0" rtlCol="0" anchor="t"/>
          <a:lstStyle/>
          <a:p>
            <a:pPr indent="0" marL="0">
              <a:buNone/>
            </a:pPr>
            <a:r>
              <a:rPr lang="en-US" sz="1600" dirty="0">
                <a:solidFill>
                  <a:schemeClr val="tx1"/>
                </a:solidFill>
              </a:rPr>
              <a:t>points: the best gain from four fuzzy weights on GBLSTSVM’s balls (round 1)</a:t>
            </a:r>
            <a:endParaRPr lang="en-US" sz="1600" dirty="0"/>
          </a:p>
        </p:txBody>
      </p:sp>
      <p:sp>
        <p:nvSpPr>
          <p:cNvPr id="7" name="stat-card"/>
          <p:cNvSpPr/>
          <p:nvPr/>
        </p:nvSpPr>
        <p:spPr>
          <a:xfrm>
            <a:off x="3383280" y="1463040"/>
            <a:ext cx="2606040" cy="3291840"/>
          </a:xfrm>
          <a:prstGeom prst="roundRect">
            <a:avLst>
              <a:gd name="adj" fmla="val 3509"/>
            </a:avLst>
          </a:prstGeom>
          <a:solidFill>
            <a:schemeClr val="bg2"/>
          </a:solidFill>
          <a:ln w="9525">
            <a:solidFill>
              <a:schemeClr val="bg2"/>
            </a:solidFill>
            <a:prstDash val="solid"/>
          </a:ln>
        </p:spPr>
      </p:sp>
      <p:sp>
        <p:nvSpPr>
          <p:cNvPr id="8" name="Text 6"/>
          <p:cNvSpPr txBox="1"/>
          <p:nvPr/>
        </p:nvSpPr>
        <p:spPr>
          <a:xfrm>
            <a:off x="3584448" y="1645920"/>
            <a:ext cx="2240280" cy="1051560"/>
          </a:xfrm>
          <a:prstGeom prst="rect">
            <a:avLst/>
          </a:prstGeom>
          <a:noFill/>
          <a:ln/>
        </p:spPr>
        <p:txBody>
          <a:bodyPr wrap="square" lIns="0" tIns="0" rIns="0" bIns="0" rtlCol="0" anchor="ctr"/>
          <a:lstStyle/>
          <a:p>
            <a:pPr indent="0" marL="0">
              <a:buNone/>
            </a:pPr>
            <a:r>
              <a:rPr lang="en-US" sz="4600" b="1" dirty="0">
                <a:solidFill>
                  <a:schemeClr val="accent2"/>
                </a:solidFill>
                <a:latin typeface="Cambria" pitchFamily="34" charset="0"/>
                <a:ea typeface="Cambria" pitchFamily="34" charset="-122"/>
                <a:cs typeface="Cambria" pitchFamily="34" charset="-120"/>
              </a:rPr>
              <a:t>52%</a:t>
            </a:r>
            <a:endParaRPr lang="en-US" sz="4600" dirty="0"/>
          </a:p>
        </p:txBody>
      </p:sp>
      <p:sp>
        <p:nvSpPr>
          <p:cNvPr id="9" name="Text 7"/>
          <p:cNvSpPr txBox="1"/>
          <p:nvPr/>
        </p:nvSpPr>
        <p:spPr>
          <a:xfrm>
            <a:off x="3584448" y="2788920"/>
            <a:ext cx="2240280" cy="1828800"/>
          </a:xfrm>
          <a:prstGeom prst="rect">
            <a:avLst/>
          </a:prstGeom>
          <a:noFill/>
          <a:ln/>
        </p:spPr>
        <p:txBody>
          <a:bodyPr wrap="square" lIns="0" tIns="0" rIns="0" bIns="0" rtlCol="0" anchor="t"/>
          <a:lstStyle/>
          <a:p>
            <a:pPr indent="0" marL="0">
              <a:buNone/>
            </a:pPr>
            <a:r>
              <a:rPr lang="en-US" sz="1600" dirty="0">
                <a:solidFill>
                  <a:schemeClr val="tx1"/>
                </a:solidFill>
              </a:rPr>
              <a:t>of correct training points are deleted by GBLSTSVM at 20% noise, along with 85% of the mislabelled ones</a:t>
            </a:r>
            <a:endParaRPr lang="en-US" sz="1600" dirty="0"/>
          </a:p>
        </p:txBody>
      </p:sp>
      <p:sp>
        <p:nvSpPr>
          <p:cNvPr id="10" name="stat-card"/>
          <p:cNvSpPr/>
          <p:nvPr/>
        </p:nvSpPr>
        <p:spPr>
          <a:xfrm>
            <a:off x="6217920" y="1463040"/>
            <a:ext cx="2606040" cy="3291840"/>
          </a:xfrm>
          <a:prstGeom prst="roundRect">
            <a:avLst>
              <a:gd name="adj" fmla="val 3509"/>
            </a:avLst>
          </a:prstGeom>
          <a:solidFill>
            <a:schemeClr val="bg2"/>
          </a:solidFill>
          <a:ln w="9525">
            <a:solidFill>
              <a:schemeClr val="bg2"/>
            </a:solidFill>
            <a:prstDash val="solid"/>
          </a:ln>
        </p:spPr>
      </p:sp>
      <p:sp>
        <p:nvSpPr>
          <p:cNvPr id="11" name="Text 9"/>
          <p:cNvSpPr txBox="1"/>
          <p:nvPr/>
        </p:nvSpPr>
        <p:spPr>
          <a:xfrm>
            <a:off x="6419088" y="1645920"/>
            <a:ext cx="2240280" cy="1051560"/>
          </a:xfrm>
          <a:prstGeom prst="rect">
            <a:avLst/>
          </a:prstGeom>
          <a:noFill/>
          <a:ln/>
        </p:spPr>
        <p:txBody>
          <a:bodyPr wrap="square" lIns="0" tIns="0" rIns="0" bIns="0" rtlCol="0" anchor="ctr"/>
          <a:lstStyle/>
          <a:p>
            <a:pPr indent="0" marL="0">
              <a:buNone/>
            </a:pPr>
            <a:r>
              <a:rPr lang="en-US" sz="4600" b="1" dirty="0">
                <a:solidFill>
                  <a:schemeClr val="accent1"/>
                </a:solidFill>
                <a:latin typeface="Cambria" pitchFamily="34" charset="0"/>
                <a:ea typeface="Cambria" pitchFamily="34" charset="-122"/>
                <a:cs typeface="Cambria" pitchFamily="34" charset="-120"/>
              </a:rPr>
              <a:t>+4.9</a:t>
            </a:r>
            <a:endParaRPr lang="en-US" sz="4600" dirty="0"/>
          </a:p>
        </p:txBody>
      </p:sp>
      <p:sp>
        <p:nvSpPr>
          <p:cNvPr id="12" name="Text 10"/>
          <p:cNvSpPr txBox="1"/>
          <p:nvPr/>
        </p:nvSpPr>
        <p:spPr>
          <a:xfrm>
            <a:off x="6419088" y="2788920"/>
            <a:ext cx="2240280" cy="1828800"/>
          </a:xfrm>
          <a:prstGeom prst="rect">
            <a:avLst/>
          </a:prstGeom>
          <a:noFill/>
          <a:ln/>
        </p:spPr>
        <p:txBody>
          <a:bodyPr wrap="square" lIns="0" tIns="0" rIns="0" bIns="0" rtlCol="0" anchor="t"/>
          <a:lstStyle/>
          <a:p>
            <a:pPr indent="0" marL="0">
              <a:buNone/>
            </a:pPr>
            <a:r>
              <a:rPr lang="en-US" sz="1600" dirty="0">
                <a:solidFill>
                  <a:schemeClr val="tx1"/>
                </a:solidFill>
              </a:rPr>
              <a:t>points for our fix (keep + T7) over GBLSTSVM at 30% noise, Holm p &lt; 0.001</a:t>
            </a:r>
            <a:endParaRPr lang="en-US" sz="1600" dirty="0"/>
          </a:p>
        </p:txBody>
      </p:sp>
      <p:sp>
        <p:nvSpPr>
          <p:cNvPr id="13" name="stat-card"/>
          <p:cNvSpPr/>
          <p:nvPr/>
        </p:nvSpPr>
        <p:spPr>
          <a:xfrm>
            <a:off x="9052560" y="1463040"/>
            <a:ext cx="2606040" cy="3291840"/>
          </a:xfrm>
          <a:prstGeom prst="roundRect">
            <a:avLst>
              <a:gd name="adj" fmla="val 3509"/>
            </a:avLst>
          </a:prstGeom>
          <a:solidFill>
            <a:schemeClr val="bg2"/>
          </a:solidFill>
          <a:ln w="9525">
            <a:solidFill>
              <a:schemeClr val="bg2"/>
            </a:solidFill>
            <a:prstDash val="solid"/>
          </a:ln>
        </p:spPr>
      </p:sp>
      <p:sp>
        <p:nvSpPr>
          <p:cNvPr id="14" name="Text 12"/>
          <p:cNvSpPr txBox="1"/>
          <p:nvPr/>
        </p:nvSpPr>
        <p:spPr>
          <a:xfrm>
            <a:off x="9253728" y="1645920"/>
            <a:ext cx="2240280" cy="1051560"/>
          </a:xfrm>
          <a:prstGeom prst="rect">
            <a:avLst/>
          </a:prstGeom>
          <a:noFill/>
          <a:ln/>
        </p:spPr>
        <p:txBody>
          <a:bodyPr wrap="square" lIns="0" tIns="0" rIns="0" bIns="0" rtlCol="0" anchor="ctr"/>
          <a:lstStyle/>
          <a:p>
            <a:pPr indent="0" marL="0">
              <a:buNone/>
            </a:pPr>
            <a:r>
              <a:rPr lang="en-US" sz="4600" b="1" dirty="0">
                <a:solidFill>
                  <a:schemeClr val="accent4"/>
                </a:solidFill>
                <a:latin typeface="Cambria" pitchFamily="34" charset="0"/>
                <a:ea typeface="Cambria" pitchFamily="34" charset="-122"/>
                <a:cs typeface="Cambria" pitchFamily="34" charset="-120"/>
              </a:rPr>
              <a:t>+9–15</a:t>
            </a:r>
            <a:endParaRPr lang="en-US" sz="4600" dirty="0"/>
          </a:p>
        </p:txBody>
      </p:sp>
      <p:sp>
        <p:nvSpPr>
          <p:cNvPr id="15" name="Text 13"/>
          <p:cNvSpPr txBox="1"/>
          <p:nvPr/>
        </p:nvSpPr>
        <p:spPr>
          <a:xfrm>
            <a:off x="9253728" y="2788920"/>
            <a:ext cx="2240280" cy="1828800"/>
          </a:xfrm>
          <a:prstGeom prst="rect">
            <a:avLst/>
          </a:prstGeom>
          <a:noFill/>
          <a:ln/>
        </p:spPr>
        <p:txBody>
          <a:bodyPr wrap="square" lIns="0" tIns="0" rIns="0" bIns="0" rtlCol="0" anchor="t"/>
          <a:lstStyle/>
          <a:p>
            <a:pPr indent="0" marL="0">
              <a:buNone/>
            </a:pPr>
            <a:r>
              <a:rPr lang="en-US" sz="1600" dirty="0">
                <a:solidFill>
                  <a:schemeClr val="tx1"/>
                </a:solidFill>
              </a:rPr>
              <a:t>points of balanced accuracy gained just by tuning on the test set, as the original code and the GBFTSVM paper do</a:t>
            </a:r>
            <a:endParaRPr lang="en-US" sz="1600" dirty="0"/>
          </a:p>
        </p:txBody>
      </p:sp>
      <p:sp>
        <p:nvSpPr>
          <p:cNvPr id="16" name="Text 14"/>
          <p:cNvSpPr txBox="1"/>
          <p:nvPr/>
        </p:nvSpPr>
        <p:spPr>
          <a:xfrm>
            <a:off x="548640" y="4937760"/>
            <a:ext cx="11064240" cy="640080"/>
          </a:xfrm>
          <a:prstGeom prst="rect">
            <a:avLst/>
          </a:prstGeom>
          <a:noFill/>
          <a:ln/>
        </p:spPr>
        <p:txBody>
          <a:bodyPr wrap="square" lIns="0" tIns="0" rIns="0" bIns="0" rtlCol="0" anchor="t"/>
          <a:lstStyle/>
          <a:p>
            <a:pPr indent="0" marL="0">
              <a:buNone/>
            </a:pPr>
            <a:r>
              <a:rPr lang="en-US" sz="1600" i="1" dirty="0">
                <a:solidFill>
                  <a:schemeClr val="tx2"/>
                </a:solidFill>
              </a:rPr>
              <a:t>Fuzzy weights on balls are not the bottleneck. What GBLSTSVM deletes is, and keeping every ball while weighting it by how many neighbours share its label recovers most of the loss.</a:t>
            </a:r>
            <a:endParaRPr lang="en-US" sz="1600" dirty="0"/>
          </a:p>
        </p:txBody>
      </p:sp>
      <p:sp>
        <p:nvSpPr>
          <p:cNvPr id="17"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18"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19" name="Text 17"/>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Main message: granular balls help twin SVMs under heavy label noise, but only when no ball is thrown away.</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BACKGROUND</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From SVM to the least squares twin SVM</a:t>
            </a:r>
            <a:endParaRPr lang="en-US" sz="2800" dirty="0"/>
          </a:p>
        </p:txBody>
      </p:sp>
      <p:sp>
        <p:nvSpPr>
          <p:cNvPr id="4" name="model-card"/>
          <p:cNvSpPr/>
          <p:nvPr/>
        </p:nvSpPr>
        <p:spPr>
          <a:xfrm>
            <a:off x="548640" y="1371600"/>
            <a:ext cx="3529584" cy="2377440"/>
          </a:xfrm>
          <a:prstGeom prst="roundRect">
            <a:avLst>
              <a:gd name="adj" fmla="val 3846"/>
            </a:avLst>
          </a:prstGeom>
          <a:solidFill>
            <a:schemeClr val="bg2"/>
          </a:solidFill>
          <a:ln w="9525">
            <a:solidFill>
              <a:schemeClr val="bg2"/>
            </a:solidFill>
            <a:prstDash val="solid"/>
          </a:ln>
        </p:spPr>
      </p:sp>
      <p:sp>
        <p:nvSpPr>
          <p:cNvPr id="5" name="dot"/>
          <p:cNvSpPr/>
          <p:nvPr/>
        </p:nvSpPr>
        <p:spPr>
          <a:xfrm>
            <a:off x="960120" y="1618488"/>
            <a:ext cx="118872" cy="118872"/>
          </a:xfrm>
          <a:prstGeom prst="ellipse">
            <a:avLst/>
          </a:prstGeom>
          <a:solidFill>
            <a:schemeClr val="accent1"/>
          </a:solidFill>
          <a:ln w="12700">
            <a:solidFill>
              <a:schemeClr val="accent1"/>
            </a:solidFill>
            <a:prstDash val="solid"/>
          </a:ln>
        </p:spPr>
      </p:sp>
      <p:sp>
        <p:nvSpPr>
          <p:cNvPr id="6" name="dot"/>
          <p:cNvSpPr/>
          <p:nvPr/>
        </p:nvSpPr>
        <p:spPr>
          <a:xfrm>
            <a:off x="1188720" y="1527048"/>
            <a:ext cx="118872" cy="118872"/>
          </a:xfrm>
          <a:prstGeom prst="ellipse">
            <a:avLst/>
          </a:prstGeom>
          <a:solidFill>
            <a:schemeClr val="accent1"/>
          </a:solidFill>
          <a:ln w="12700">
            <a:solidFill>
              <a:schemeClr val="accent1"/>
            </a:solidFill>
            <a:prstDash val="solid"/>
          </a:ln>
        </p:spPr>
      </p:sp>
      <p:sp>
        <p:nvSpPr>
          <p:cNvPr id="7" name="dot"/>
          <p:cNvSpPr/>
          <p:nvPr/>
        </p:nvSpPr>
        <p:spPr>
          <a:xfrm>
            <a:off x="1051560" y="1892808"/>
            <a:ext cx="118872" cy="118872"/>
          </a:xfrm>
          <a:prstGeom prst="ellipse">
            <a:avLst/>
          </a:prstGeom>
          <a:solidFill>
            <a:schemeClr val="accent1"/>
          </a:solidFill>
          <a:ln w="12700">
            <a:solidFill>
              <a:schemeClr val="accent1"/>
            </a:solidFill>
            <a:prstDash val="solid"/>
          </a:ln>
        </p:spPr>
      </p:sp>
      <p:sp>
        <p:nvSpPr>
          <p:cNvPr id="8" name="dot"/>
          <p:cNvSpPr/>
          <p:nvPr/>
        </p:nvSpPr>
        <p:spPr>
          <a:xfrm>
            <a:off x="1325880" y="1755648"/>
            <a:ext cx="118872" cy="118872"/>
          </a:xfrm>
          <a:prstGeom prst="ellipse">
            <a:avLst/>
          </a:prstGeom>
          <a:solidFill>
            <a:schemeClr val="accent1"/>
          </a:solidFill>
          <a:ln w="12700">
            <a:solidFill>
              <a:schemeClr val="accent1"/>
            </a:solidFill>
            <a:prstDash val="solid"/>
          </a:ln>
        </p:spPr>
      </p:sp>
      <p:sp>
        <p:nvSpPr>
          <p:cNvPr id="9" name="dot"/>
          <p:cNvSpPr/>
          <p:nvPr/>
        </p:nvSpPr>
        <p:spPr>
          <a:xfrm>
            <a:off x="914400" y="2029968"/>
            <a:ext cx="118872" cy="118872"/>
          </a:xfrm>
          <a:prstGeom prst="ellipse">
            <a:avLst/>
          </a:prstGeom>
          <a:solidFill>
            <a:schemeClr val="accent1"/>
          </a:solidFill>
          <a:ln w="12700">
            <a:solidFill>
              <a:schemeClr val="accent1"/>
            </a:solidFill>
            <a:prstDash val="solid"/>
          </a:ln>
        </p:spPr>
      </p:sp>
      <p:sp>
        <p:nvSpPr>
          <p:cNvPr id="10" name="dot"/>
          <p:cNvSpPr/>
          <p:nvPr/>
        </p:nvSpPr>
        <p:spPr>
          <a:xfrm>
            <a:off x="1783080" y="1892808"/>
            <a:ext cx="118872" cy="118872"/>
          </a:xfrm>
          <a:prstGeom prst="ellipse">
            <a:avLst/>
          </a:prstGeom>
          <a:solidFill>
            <a:schemeClr val="accent5"/>
          </a:solidFill>
          <a:ln w="12700">
            <a:solidFill>
              <a:schemeClr val="accent5"/>
            </a:solidFill>
            <a:prstDash val="solid"/>
          </a:ln>
        </p:spPr>
      </p:sp>
      <p:sp>
        <p:nvSpPr>
          <p:cNvPr id="11" name="dot"/>
          <p:cNvSpPr/>
          <p:nvPr/>
        </p:nvSpPr>
        <p:spPr>
          <a:xfrm>
            <a:off x="2011680" y="1755648"/>
            <a:ext cx="118872" cy="118872"/>
          </a:xfrm>
          <a:prstGeom prst="ellipse">
            <a:avLst/>
          </a:prstGeom>
          <a:solidFill>
            <a:schemeClr val="accent5"/>
          </a:solidFill>
          <a:ln w="12700">
            <a:solidFill>
              <a:schemeClr val="accent5"/>
            </a:solidFill>
            <a:prstDash val="solid"/>
          </a:ln>
        </p:spPr>
      </p:sp>
      <p:sp>
        <p:nvSpPr>
          <p:cNvPr id="12" name="dot"/>
          <p:cNvSpPr/>
          <p:nvPr/>
        </p:nvSpPr>
        <p:spPr>
          <a:xfrm>
            <a:off x="1920240" y="2121408"/>
            <a:ext cx="118872" cy="118872"/>
          </a:xfrm>
          <a:prstGeom prst="ellipse">
            <a:avLst/>
          </a:prstGeom>
          <a:solidFill>
            <a:schemeClr val="accent5"/>
          </a:solidFill>
          <a:ln w="12700">
            <a:solidFill>
              <a:schemeClr val="accent5"/>
            </a:solidFill>
            <a:prstDash val="solid"/>
          </a:ln>
        </p:spPr>
      </p:sp>
      <p:sp>
        <p:nvSpPr>
          <p:cNvPr id="13" name="dot"/>
          <p:cNvSpPr/>
          <p:nvPr/>
        </p:nvSpPr>
        <p:spPr>
          <a:xfrm>
            <a:off x="2194560" y="2029968"/>
            <a:ext cx="118872" cy="118872"/>
          </a:xfrm>
          <a:prstGeom prst="ellipse">
            <a:avLst/>
          </a:prstGeom>
          <a:solidFill>
            <a:schemeClr val="accent5"/>
          </a:solidFill>
          <a:ln w="12700">
            <a:solidFill>
              <a:schemeClr val="accent5"/>
            </a:solidFill>
            <a:prstDash val="solid"/>
          </a:ln>
        </p:spPr>
      </p:sp>
      <p:sp>
        <p:nvSpPr>
          <p:cNvPr id="14" name="dot"/>
          <p:cNvSpPr/>
          <p:nvPr/>
        </p:nvSpPr>
        <p:spPr>
          <a:xfrm>
            <a:off x="2103120" y="2258568"/>
            <a:ext cx="118872" cy="118872"/>
          </a:xfrm>
          <a:prstGeom prst="ellipse">
            <a:avLst/>
          </a:prstGeom>
          <a:solidFill>
            <a:schemeClr val="accent5"/>
          </a:solidFill>
          <a:ln w="12700">
            <a:solidFill>
              <a:schemeClr val="accent5"/>
            </a:solidFill>
            <a:prstDash val="solid"/>
          </a:ln>
        </p:spPr>
      </p:sp>
      <p:sp>
        <p:nvSpPr>
          <p:cNvPr id="15" name="sketch-line"/>
          <p:cNvSpPr/>
          <p:nvPr/>
        </p:nvSpPr>
        <p:spPr>
          <a:xfrm flipH="1">
            <a:off x="1371600" y="1481328"/>
            <a:ext cx="457200" cy="914400"/>
          </a:xfrm>
          <a:prstGeom prst="line">
            <a:avLst/>
          </a:prstGeom>
          <a:noFill/>
          <a:ln w="25400">
            <a:solidFill>
              <a:schemeClr val="tx2"/>
            </a:solidFill>
            <a:prstDash val="solid"/>
          </a:ln>
        </p:spPr>
      </p:sp>
      <p:sp>
        <p:nvSpPr>
          <p:cNvPr id="16" name="Text 14"/>
          <p:cNvSpPr txBox="1"/>
          <p:nvPr/>
        </p:nvSpPr>
        <p:spPr>
          <a:xfrm>
            <a:off x="2606040" y="1508760"/>
            <a:ext cx="1371600" cy="822960"/>
          </a:xfrm>
          <a:prstGeom prst="rect">
            <a:avLst/>
          </a:prstGeom>
          <a:noFill/>
          <a:ln/>
        </p:spPr>
        <p:txBody>
          <a:bodyPr wrap="square" lIns="0" tIns="0" rIns="0" bIns="0" rtlCol="0" anchor="ctr"/>
          <a:lstStyle/>
          <a:p>
            <a:pPr indent="0" marL="0">
              <a:buNone/>
            </a:pPr>
            <a:r>
              <a:rPr lang="en-US" sz="1600" b="1" dirty="0">
                <a:solidFill>
                  <a:schemeClr val="tx2"/>
                </a:solidFill>
              </a:rPr>
              <a:t>SVM [1]</a:t>
            </a:r>
            <a:endParaRPr lang="en-US" sz="1600" dirty="0"/>
          </a:p>
        </p:txBody>
      </p:sp>
      <p:sp>
        <p:nvSpPr>
          <p:cNvPr id="17" name="Text 15"/>
          <p:cNvSpPr txBox="1"/>
          <p:nvPr/>
        </p:nvSpPr>
        <p:spPr>
          <a:xfrm>
            <a:off x="777240" y="2514600"/>
            <a:ext cx="3108960" cy="1143000"/>
          </a:xfrm>
          <a:prstGeom prst="rect">
            <a:avLst/>
          </a:prstGeom>
          <a:noFill/>
          <a:ln/>
        </p:spPr>
        <p:txBody>
          <a:bodyPr wrap="square" lIns="0" tIns="0" rIns="0" bIns="0" rtlCol="0" anchor="t"/>
          <a:lstStyle/>
          <a:p>
            <a:pPr indent="0" marL="0">
              <a:buNone/>
            </a:pPr>
            <a:r>
              <a:rPr lang="en-US" sz="1400" dirty="0">
                <a:solidFill>
                  <a:schemeClr val="tx1"/>
                </a:solidFill>
              </a:rPr>
              <a:t>One separating line with the widest margin; one large quadratic program (QP) over all points.</a:t>
            </a:r>
            <a:endParaRPr lang="en-US" sz="1400" dirty="0"/>
          </a:p>
        </p:txBody>
      </p:sp>
      <p:sp>
        <p:nvSpPr>
          <p:cNvPr id="18" name="model-card"/>
          <p:cNvSpPr/>
          <p:nvPr/>
        </p:nvSpPr>
        <p:spPr>
          <a:xfrm>
            <a:off x="4315968" y="1371600"/>
            <a:ext cx="3529584" cy="2377440"/>
          </a:xfrm>
          <a:prstGeom prst="roundRect">
            <a:avLst>
              <a:gd name="adj" fmla="val 3846"/>
            </a:avLst>
          </a:prstGeom>
          <a:solidFill>
            <a:schemeClr val="bg2"/>
          </a:solidFill>
          <a:ln w="9525">
            <a:solidFill>
              <a:schemeClr val="bg2"/>
            </a:solidFill>
            <a:prstDash val="solid"/>
          </a:ln>
        </p:spPr>
      </p:sp>
      <p:sp>
        <p:nvSpPr>
          <p:cNvPr id="19" name="dot"/>
          <p:cNvSpPr/>
          <p:nvPr/>
        </p:nvSpPr>
        <p:spPr>
          <a:xfrm>
            <a:off x="4727448" y="1618488"/>
            <a:ext cx="118872" cy="118872"/>
          </a:xfrm>
          <a:prstGeom prst="ellipse">
            <a:avLst/>
          </a:prstGeom>
          <a:solidFill>
            <a:schemeClr val="accent1"/>
          </a:solidFill>
          <a:ln w="12700">
            <a:solidFill>
              <a:schemeClr val="accent1"/>
            </a:solidFill>
            <a:prstDash val="solid"/>
          </a:ln>
        </p:spPr>
      </p:sp>
      <p:sp>
        <p:nvSpPr>
          <p:cNvPr id="20" name="dot"/>
          <p:cNvSpPr/>
          <p:nvPr/>
        </p:nvSpPr>
        <p:spPr>
          <a:xfrm>
            <a:off x="4956048" y="1527048"/>
            <a:ext cx="118872" cy="118872"/>
          </a:xfrm>
          <a:prstGeom prst="ellipse">
            <a:avLst/>
          </a:prstGeom>
          <a:solidFill>
            <a:schemeClr val="accent1"/>
          </a:solidFill>
          <a:ln w="12700">
            <a:solidFill>
              <a:schemeClr val="accent1"/>
            </a:solidFill>
            <a:prstDash val="solid"/>
          </a:ln>
        </p:spPr>
      </p:sp>
      <p:sp>
        <p:nvSpPr>
          <p:cNvPr id="21" name="dot"/>
          <p:cNvSpPr/>
          <p:nvPr/>
        </p:nvSpPr>
        <p:spPr>
          <a:xfrm>
            <a:off x="4818888" y="1892808"/>
            <a:ext cx="118872" cy="118872"/>
          </a:xfrm>
          <a:prstGeom prst="ellipse">
            <a:avLst/>
          </a:prstGeom>
          <a:solidFill>
            <a:schemeClr val="accent1"/>
          </a:solidFill>
          <a:ln w="12700">
            <a:solidFill>
              <a:schemeClr val="accent1"/>
            </a:solidFill>
            <a:prstDash val="solid"/>
          </a:ln>
        </p:spPr>
      </p:sp>
      <p:sp>
        <p:nvSpPr>
          <p:cNvPr id="22" name="dot"/>
          <p:cNvSpPr/>
          <p:nvPr/>
        </p:nvSpPr>
        <p:spPr>
          <a:xfrm>
            <a:off x="5093208" y="1755648"/>
            <a:ext cx="118872" cy="118872"/>
          </a:xfrm>
          <a:prstGeom prst="ellipse">
            <a:avLst/>
          </a:prstGeom>
          <a:solidFill>
            <a:schemeClr val="accent1"/>
          </a:solidFill>
          <a:ln w="12700">
            <a:solidFill>
              <a:schemeClr val="accent1"/>
            </a:solidFill>
            <a:prstDash val="solid"/>
          </a:ln>
        </p:spPr>
      </p:sp>
      <p:sp>
        <p:nvSpPr>
          <p:cNvPr id="23" name="dot"/>
          <p:cNvSpPr/>
          <p:nvPr/>
        </p:nvSpPr>
        <p:spPr>
          <a:xfrm>
            <a:off x="4681728" y="2029968"/>
            <a:ext cx="118872" cy="118872"/>
          </a:xfrm>
          <a:prstGeom prst="ellipse">
            <a:avLst/>
          </a:prstGeom>
          <a:solidFill>
            <a:schemeClr val="accent1"/>
          </a:solidFill>
          <a:ln w="12700">
            <a:solidFill>
              <a:schemeClr val="accent1"/>
            </a:solidFill>
            <a:prstDash val="solid"/>
          </a:ln>
        </p:spPr>
      </p:sp>
      <p:sp>
        <p:nvSpPr>
          <p:cNvPr id="24" name="dot"/>
          <p:cNvSpPr/>
          <p:nvPr/>
        </p:nvSpPr>
        <p:spPr>
          <a:xfrm>
            <a:off x="5550408" y="1892808"/>
            <a:ext cx="118872" cy="118872"/>
          </a:xfrm>
          <a:prstGeom prst="ellipse">
            <a:avLst/>
          </a:prstGeom>
          <a:solidFill>
            <a:schemeClr val="accent5"/>
          </a:solidFill>
          <a:ln w="12700">
            <a:solidFill>
              <a:schemeClr val="accent5"/>
            </a:solidFill>
            <a:prstDash val="solid"/>
          </a:ln>
        </p:spPr>
      </p:sp>
      <p:sp>
        <p:nvSpPr>
          <p:cNvPr id="25" name="dot"/>
          <p:cNvSpPr/>
          <p:nvPr/>
        </p:nvSpPr>
        <p:spPr>
          <a:xfrm>
            <a:off x="5779008" y="1755648"/>
            <a:ext cx="118872" cy="118872"/>
          </a:xfrm>
          <a:prstGeom prst="ellipse">
            <a:avLst/>
          </a:prstGeom>
          <a:solidFill>
            <a:schemeClr val="accent5"/>
          </a:solidFill>
          <a:ln w="12700">
            <a:solidFill>
              <a:schemeClr val="accent5"/>
            </a:solidFill>
            <a:prstDash val="solid"/>
          </a:ln>
        </p:spPr>
      </p:sp>
      <p:sp>
        <p:nvSpPr>
          <p:cNvPr id="26" name="dot"/>
          <p:cNvSpPr/>
          <p:nvPr/>
        </p:nvSpPr>
        <p:spPr>
          <a:xfrm>
            <a:off x="5687568" y="2121408"/>
            <a:ext cx="118872" cy="118872"/>
          </a:xfrm>
          <a:prstGeom prst="ellipse">
            <a:avLst/>
          </a:prstGeom>
          <a:solidFill>
            <a:schemeClr val="accent5"/>
          </a:solidFill>
          <a:ln w="12700">
            <a:solidFill>
              <a:schemeClr val="accent5"/>
            </a:solidFill>
            <a:prstDash val="solid"/>
          </a:ln>
        </p:spPr>
      </p:sp>
      <p:sp>
        <p:nvSpPr>
          <p:cNvPr id="27" name="dot"/>
          <p:cNvSpPr/>
          <p:nvPr/>
        </p:nvSpPr>
        <p:spPr>
          <a:xfrm>
            <a:off x="5961888" y="2029968"/>
            <a:ext cx="118872" cy="118872"/>
          </a:xfrm>
          <a:prstGeom prst="ellipse">
            <a:avLst/>
          </a:prstGeom>
          <a:solidFill>
            <a:schemeClr val="accent5"/>
          </a:solidFill>
          <a:ln w="12700">
            <a:solidFill>
              <a:schemeClr val="accent5"/>
            </a:solidFill>
            <a:prstDash val="solid"/>
          </a:ln>
        </p:spPr>
      </p:sp>
      <p:sp>
        <p:nvSpPr>
          <p:cNvPr id="28" name="dot"/>
          <p:cNvSpPr/>
          <p:nvPr/>
        </p:nvSpPr>
        <p:spPr>
          <a:xfrm>
            <a:off x="5870448" y="2258568"/>
            <a:ext cx="118872" cy="118872"/>
          </a:xfrm>
          <a:prstGeom prst="ellipse">
            <a:avLst/>
          </a:prstGeom>
          <a:solidFill>
            <a:schemeClr val="accent5"/>
          </a:solidFill>
          <a:ln w="12700">
            <a:solidFill>
              <a:schemeClr val="accent5"/>
            </a:solidFill>
            <a:prstDash val="solid"/>
          </a:ln>
        </p:spPr>
      </p:sp>
      <p:sp>
        <p:nvSpPr>
          <p:cNvPr id="29" name="sketch-line"/>
          <p:cNvSpPr/>
          <p:nvPr/>
        </p:nvSpPr>
        <p:spPr>
          <a:xfrm flipH="1">
            <a:off x="4681728" y="1527048"/>
            <a:ext cx="548640" cy="685800"/>
          </a:xfrm>
          <a:prstGeom prst="line">
            <a:avLst/>
          </a:prstGeom>
          <a:noFill/>
          <a:ln w="25400">
            <a:solidFill>
              <a:schemeClr val="accent1"/>
            </a:solidFill>
            <a:prstDash val="solid"/>
          </a:ln>
        </p:spPr>
      </p:sp>
      <p:sp>
        <p:nvSpPr>
          <p:cNvPr id="30" name="sketch-line"/>
          <p:cNvSpPr/>
          <p:nvPr/>
        </p:nvSpPr>
        <p:spPr>
          <a:xfrm flipH="1">
            <a:off x="5596128" y="1709928"/>
            <a:ext cx="502920" cy="685800"/>
          </a:xfrm>
          <a:prstGeom prst="line">
            <a:avLst/>
          </a:prstGeom>
          <a:noFill/>
          <a:ln w="25400">
            <a:solidFill>
              <a:schemeClr val="accent5"/>
            </a:solidFill>
            <a:prstDash val="solid"/>
          </a:ln>
        </p:spPr>
      </p:sp>
      <p:sp>
        <p:nvSpPr>
          <p:cNvPr id="31" name="Text 29"/>
          <p:cNvSpPr txBox="1"/>
          <p:nvPr/>
        </p:nvSpPr>
        <p:spPr>
          <a:xfrm>
            <a:off x="6373368" y="1508760"/>
            <a:ext cx="1371600" cy="822960"/>
          </a:xfrm>
          <a:prstGeom prst="rect">
            <a:avLst/>
          </a:prstGeom>
          <a:noFill/>
          <a:ln/>
        </p:spPr>
        <p:txBody>
          <a:bodyPr wrap="square" lIns="0" tIns="0" rIns="0" bIns="0" rtlCol="0" anchor="ctr"/>
          <a:lstStyle/>
          <a:p>
            <a:pPr indent="0" marL="0">
              <a:buNone/>
            </a:pPr>
            <a:r>
              <a:rPr lang="en-US" sz="1600" b="1" dirty="0">
                <a:solidFill>
                  <a:schemeClr val="tx2"/>
                </a:solidFill>
              </a:rPr>
              <a:t>TWSVM [2]</a:t>
            </a:r>
            <a:endParaRPr lang="en-US" sz="1600" dirty="0"/>
          </a:p>
        </p:txBody>
      </p:sp>
      <p:sp>
        <p:nvSpPr>
          <p:cNvPr id="32" name="Text 30"/>
          <p:cNvSpPr txBox="1"/>
          <p:nvPr/>
        </p:nvSpPr>
        <p:spPr>
          <a:xfrm>
            <a:off x="4544568" y="2514600"/>
            <a:ext cx="3108960" cy="1143000"/>
          </a:xfrm>
          <a:prstGeom prst="rect">
            <a:avLst/>
          </a:prstGeom>
          <a:noFill/>
          <a:ln/>
        </p:spPr>
        <p:txBody>
          <a:bodyPr wrap="square" lIns="0" tIns="0" rIns="0" bIns="0" rtlCol="0" anchor="t"/>
          <a:lstStyle/>
          <a:p>
            <a:pPr indent="0" marL="0">
              <a:buNone/>
            </a:pPr>
            <a:r>
              <a:rPr lang="en-US" sz="1400" dirty="0">
                <a:solidFill>
                  <a:schemeClr val="tx1"/>
                </a:solidFill>
              </a:rPr>
              <a:t>Two lines, each close to one class and far from the other; two QPs of half the size, about 4× faster.</a:t>
            </a:r>
            <a:endParaRPr lang="en-US" sz="1400" dirty="0"/>
          </a:p>
        </p:txBody>
      </p:sp>
      <p:sp>
        <p:nvSpPr>
          <p:cNvPr id="33" name="model-card"/>
          <p:cNvSpPr/>
          <p:nvPr/>
        </p:nvSpPr>
        <p:spPr>
          <a:xfrm>
            <a:off x="8083296" y="1371600"/>
            <a:ext cx="3529584" cy="2377440"/>
          </a:xfrm>
          <a:prstGeom prst="roundRect">
            <a:avLst>
              <a:gd name="adj" fmla="val 3846"/>
            </a:avLst>
          </a:prstGeom>
          <a:solidFill>
            <a:schemeClr val="bg2"/>
          </a:solidFill>
          <a:ln w="9525">
            <a:solidFill>
              <a:schemeClr val="bg2"/>
            </a:solidFill>
            <a:prstDash val="solid"/>
          </a:ln>
        </p:spPr>
      </p:sp>
      <p:sp>
        <p:nvSpPr>
          <p:cNvPr id="34" name="dot"/>
          <p:cNvSpPr/>
          <p:nvPr/>
        </p:nvSpPr>
        <p:spPr>
          <a:xfrm>
            <a:off x="8494776" y="1618488"/>
            <a:ext cx="118872" cy="118872"/>
          </a:xfrm>
          <a:prstGeom prst="ellipse">
            <a:avLst/>
          </a:prstGeom>
          <a:solidFill>
            <a:schemeClr val="accent1"/>
          </a:solidFill>
          <a:ln w="12700">
            <a:solidFill>
              <a:schemeClr val="accent1"/>
            </a:solidFill>
            <a:prstDash val="solid"/>
          </a:ln>
        </p:spPr>
      </p:sp>
      <p:sp>
        <p:nvSpPr>
          <p:cNvPr id="35" name="dot"/>
          <p:cNvSpPr/>
          <p:nvPr/>
        </p:nvSpPr>
        <p:spPr>
          <a:xfrm>
            <a:off x="8723376" y="1527048"/>
            <a:ext cx="118872" cy="118872"/>
          </a:xfrm>
          <a:prstGeom prst="ellipse">
            <a:avLst/>
          </a:prstGeom>
          <a:solidFill>
            <a:schemeClr val="accent1"/>
          </a:solidFill>
          <a:ln w="12700">
            <a:solidFill>
              <a:schemeClr val="accent1"/>
            </a:solidFill>
            <a:prstDash val="solid"/>
          </a:ln>
        </p:spPr>
      </p:sp>
      <p:sp>
        <p:nvSpPr>
          <p:cNvPr id="36" name="dot"/>
          <p:cNvSpPr/>
          <p:nvPr/>
        </p:nvSpPr>
        <p:spPr>
          <a:xfrm>
            <a:off x="8586216" y="1892808"/>
            <a:ext cx="118872" cy="118872"/>
          </a:xfrm>
          <a:prstGeom prst="ellipse">
            <a:avLst/>
          </a:prstGeom>
          <a:solidFill>
            <a:schemeClr val="accent1"/>
          </a:solidFill>
          <a:ln w="12700">
            <a:solidFill>
              <a:schemeClr val="accent1"/>
            </a:solidFill>
            <a:prstDash val="solid"/>
          </a:ln>
        </p:spPr>
      </p:sp>
      <p:sp>
        <p:nvSpPr>
          <p:cNvPr id="37" name="dot"/>
          <p:cNvSpPr/>
          <p:nvPr/>
        </p:nvSpPr>
        <p:spPr>
          <a:xfrm>
            <a:off x="8860536" y="1755648"/>
            <a:ext cx="118872" cy="118872"/>
          </a:xfrm>
          <a:prstGeom prst="ellipse">
            <a:avLst/>
          </a:prstGeom>
          <a:solidFill>
            <a:schemeClr val="accent1"/>
          </a:solidFill>
          <a:ln w="12700">
            <a:solidFill>
              <a:schemeClr val="accent1"/>
            </a:solidFill>
            <a:prstDash val="solid"/>
          </a:ln>
        </p:spPr>
      </p:sp>
      <p:sp>
        <p:nvSpPr>
          <p:cNvPr id="38" name="dot"/>
          <p:cNvSpPr/>
          <p:nvPr/>
        </p:nvSpPr>
        <p:spPr>
          <a:xfrm>
            <a:off x="8449056" y="2029968"/>
            <a:ext cx="118872" cy="118872"/>
          </a:xfrm>
          <a:prstGeom prst="ellipse">
            <a:avLst/>
          </a:prstGeom>
          <a:solidFill>
            <a:schemeClr val="accent1"/>
          </a:solidFill>
          <a:ln w="12700">
            <a:solidFill>
              <a:schemeClr val="accent1"/>
            </a:solidFill>
            <a:prstDash val="solid"/>
          </a:ln>
        </p:spPr>
      </p:sp>
      <p:sp>
        <p:nvSpPr>
          <p:cNvPr id="39" name="dot"/>
          <p:cNvSpPr/>
          <p:nvPr/>
        </p:nvSpPr>
        <p:spPr>
          <a:xfrm>
            <a:off x="9317736" y="1892808"/>
            <a:ext cx="118872" cy="118872"/>
          </a:xfrm>
          <a:prstGeom prst="ellipse">
            <a:avLst/>
          </a:prstGeom>
          <a:solidFill>
            <a:schemeClr val="accent5"/>
          </a:solidFill>
          <a:ln w="12700">
            <a:solidFill>
              <a:schemeClr val="accent5"/>
            </a:solidFill>
            <a:prstDash val="solid"/>
          </a:ln>
        </p:spPr>
      </p:sp>
      <p:sp>
        <p:nvSpPr>
          <p:cNvPr id="40" name="dot"/>
          <p:cNvSpPr/>
          <p:nvPr/>
        </p:nvSpPr>
        <p:spPr>
          <a:xfrm>
            <a:off x="9546336" y="1755648"/>
            <a:ext cx="118872" cy="118872"/>
          </a:xfrm>
          <a:prstGeom prst="ellipse">
            <a:avLst/>
          </a:prstGeom>
          <a:solidFill>
            <a:schemeClr val="accent5"/>
          </a:solidFill>
          <a:ln w="12700">
            <a:solidFill>
              <a:schemeClr val="accent5"/>
            </a:solidFill>
            <a:prstDash val="solid"/>
          </a:ln>
        </p:spPr>
      </p:sp>
      <p:sp>
        <p:nvSpPr>
          <p:cNvPr id="41" name="dot"/>
          <p:cNvSpPr/>
          <p:nvPr/>
        </p:nvSpPr>
        <p:spPr>
          <a:xfrm>
            <a:off x="9454896" y="2121408"/>
            <a:ext cx="118872" cy="118872"/>
          </a:xfrm>
          <a:prstGeom prst="ellipse">
            <a:avLst/>
          </a:prstGeom>
          <a:solidFill>
            <a:schemeClr val="accent5"/>
          </a:solidFill>
          <a:ln w="12700">
            <a:solidFill>
              <a:schemeClr val="accent5"/>
            </a:solidFill>
            <a:prstDash val="solid"/>
          </a:ln>
        </p:spPr>
      </p:sp>
      <p:sp>
        <p:nvSpPr>
          <p:cNvPr id="42" name="dot"/>
          <p:cNvSpPr/>
          <p:nvPr/>
        </p:nvSpPr>
        <p:spPr>
          <a:xfrm>
            <a:off x="9729216" y="2029968"/>
            <a:ext cx="118872" cy="118872"/>
          </a:xfrm>
          <a:prstGeom prst="ellipse">
            <a:avLst/>
          </a:prstGeom>
          <a:solidFill>
            <a:schemeClr val="accent5"/>
          </a:solidFill>
          <a:ln w="12700">
            <a:solidFill>
              <a:schemeClr val="accent5"/>
            </a:solidFill>
            <a:prstDash val="solid"/>
          </a:ln>
        </p:spPr>
      </p:sp>
      <p:sp>
        <p:nvSpPr>
          <p:cNvPr id="43" name="dot"/>
          <p:cNvSpPr/>
          <p:nvPr/>
        </p:nvSpPr>
        <p:spPr>
          <a:xfrm>
            <a:off x="9637776" y="2258568"/>
            <a:ext cx="118872" cy="118872"/>
          </a:xfrm>
          <a:prstGeom prst="ellipse">
            <a:avLst/>
          </a:prstGeom>
          <a:solidFill>
            <a:schemeClr val="accent5"/>
          </a:solidFill>
          <a:ln w="12700">
            <a:solidFill>
              <a:schemeClr val="accent5"/>
            </a:solidFill>
            <a:prstDash val="solid"/>
          </a:ln>
        </p:spPr>
      </p:sp>
      <p:sp>
        <p:nvSpPr>
          <p:cNvPr id="44" name="sketch-line"/>
          <p:cNvSpPr/>
          <p:nvPr/>
        </p:nvSpPr>
        <p:spPr>
          <a:xfrm flipH="1">
            <a:off x="8449056" y="1527048"/>
            <a:ext cx="548640" cy="685800"/>
          </a:xfrm>
          <a:prstGeom prst="line">
            <a:avLst/>
          </a:prstGeom>
          <a:noFill/>
          <a:ln w="25400">
            <a:solidFill>
              <a:schemeClr val="accent1"/>
            </a:solidFill>
            <a:prstDash val="solid"/>
          </a:ln>
        </p:spPr>
      </p:sp>
      <p:sp>
        <p:nvSpPr>
          <p:cNvPr id="45" name="sketch-line"/>
          <p:cNvSpPr/>
          <p:nvPr/>
        </p:nvSpPr>
        <p:spPr>
          <a:xfrm flipH="1">
            <a:off x="9363456" y="1709928"/>
            <a:ext cx="502920" cy="685800"/>
          </a:xfrm>
          <a:prstGeom prst="line">
            <a:avLst/>
          </a:prstGeom>
          <a:noFill/>
          <a:ln w="25400">
            <a:solidFill>
              <a:schemeClr val="accent5"/>
            </a:solidFill>
            <a:prstDash val="solid"/>
          </a:ln>
        </p:spPr>
      </p:sp>
      <p:sp>
        <p:nvSpPr>
          <p:cNvPr id="46" name="Text 44"/>
          <p:cNvSpPr txBox="1"/>
          <p:nvPr/>
        </p:nvSpPr>
        <p:spPr>
          <a:xfrm>
            <a:off x="10140696" y="1508760"/>
            <a:ext cx="1371600" cy="822960"/>
          </a:xfrm>
          <a:prstGeom prst="rect">
            <a:avLst/>
          </a:prstGeom>
          <a:noFill/>
          <a:ln/>
        </p:spPr>
        <p:txBody>
          <a:bodyPr wrap="square" lIns="0" tIns="0" rIns="0" bIns="0" rtlCol="0" anchor="ctr"/>
          <a:lstStyle/>
          <a:p>
            <a:pPr indent="0" marL="0">
              <a:buNone/>
            </a:pPr>
            <a:r>
              <a:rPr lang="en-US" sz="1600" b="1" dirty="0">
                <a:solidFill>
                  <a:schemeClr val="tx2"/>
                </a:solidFill>
              </a:rPr>
              <a:t>LSTSVM [3]</a:t>
            </a:r>
            <a:endParaRPr lang="en-US" sz="1600" dirty="0"/>
          </a:p>
        </p:txBody>
      </p:sp>
      <p:sp>
        <p:nvSpPr>
          <p:cNvPr id="47" name="Text 45"/>
          <p:cNvSpPr txBox="1"/>
          <p:nvPr/>
        </p:nvSpPr>
        <p:spPr>
          <a:xfrm>
            <a:off x="8311896" y="2514600"/>
            <a:ext cx="3108960" cy="1143000"/>
          </a:xfrm>
          <a:prstGeom prst="rect">
            <a:avLst/>
          </a:prstGeom>
          <a:noFill/>
          <a:ln/>
        </p:spPr>
        <p:txBody>
          <a:bodyPr wrap="square" lIns="0" tIns="0" rIns="0" bIns="0" rtlCol="0" anchor="t"/>
          <a:lstStyle/>
          <a:p>
            <a:pPr indent="0" marL="0">
              <a:buNone/>
            </a:pPr>
            <a:r>
              <a:rPr lang="en-US" sz="1400" dirty="0">
                <a:solidFill>
                  <a:schemeClr val="tx1"/>
                </a:solidFill>
              </a:rPr>
              <a:t>Squared errors and equality constraints: each line is the solution of a small linear system. No QP.</a:t>
            </a:r>
            <a:endParaRPr lang="en-US" sz="1400" dirty="0"/>
          </a:p>
        </p:txBody>
      </p:sp>
      <p:sp>
        <p:nvSpPr>
          <p:cNvPr id="48" name="equation-card"/>
          <p:cNvSpPr/>
          <p:nvPr/>
        </p:nvSpPr>
        <p:spPr>
          <a:xfrm>
            <a:off x="548640" y="3931920"/>
            <a:ext cx="11064240" cy="1600200"/>
          </a:xfrm>
          <a:prstGeom prst="roundRect">
            <a:avLst>
              <a:gd name="adj" fmla="val 5714"/>
            </a:avLst>
          </a:prstGeom>
          <a:solidFill>
            <a:schemeClr val="bg1"/>
          </a:solidFill>
          <a:ln w="9525">
            <a:solidFill>
              <a:srgbClr val="DCE5E4"/>
            </a:solidFill>
            <a:prstDash val="solid"/>
          </a:ln>
        </p:spPr>
      </p:sp>
      <p:sp>
        <p:nvSpPr>
          <p:cNvPr id="49" name="Text 47"/>
          <p:cNvSpPr txBox="1"/>
          <p:nvPr/>
        </p:nvSpPr>
        <p:spPr>
          <a:xfrm>
            <a:off x="777240" y="4041648"/>
            <a:ext cx="4572000" cy="320040"/>
          </a:xfrm>
          <a:prstGeom prst="rect">
            <a:avLst/>
          </a:prstGeom>
          <a:noFill/>
          <a:ln/>
        </p:spPr>
        <p:txBody>
          <a:bodyPr wrap="square" lIns="0" tIns="0" rIns="0" bIns="0" rtlCol="0" anchor="t"/>
          <a:lstStyle/>
          <a:p>
            <a:pPr indent="0" marL="0">
              <a:buNone/>
            </a:pPr>
            <a:r>
              <a:rPr lang="en-US" sz="1400" b="1" dirty="0">
                <a:solidFill>
                  <a:schemeClr val="accent6"/>
                </a:solidFill>
              </a:rPr>
              <a:t>LSTSVM, line 1 (close to class +1)</a:t>
            </a:r>
            <a:endParaRPr lang="en-US" sz="1400" dirty="0"/>
          </a:p>
        </p:txBody>
      </p:sp>
      <p:sp>
        <p:nvSpPr>
          <p:cNvPr id="50" name="Text 48"/>
          <p:cNvSpPr txBox="1"/>
          <p:nvPr/>
        </p:nvSpPr>
        <p:spPr>
          <a:xfrm>
            <a:off x="777240" y="4389120"/>
            <a:ext cx="10607040" cy="1097280"/>
          </a:xfrm>
          <a:prstGeom prst="rect">
            <a:avLst/>
          </a:prstGeom>
          <a:noFill/>
          <a:ln/>
        </p:spPr>
        <p:txBody>
          <a:bodyPr wrap="square" lIns="0" tIns="0" rIns="0" bIns="0" rtlCol="0" anchor="t"/>
          <a:lstStyle/>
          <a:p>
            <a:pPr indent="0" marL="0">
              <a:spcAft>
                <a:spcPts val="400"/>
              </a:spcAft>
              <a:buNone/>
            </a:pPr>
            <a:r>
              <a:rPr lang="en-US" sz="1600" dirty="0">
                <a:solidFill>
                  <a:schemeClr val="tx1"/>
                </a:solidFill>
                <a:latin typeface="Cambria" pitchFamily="34" charset="0"/>
                <a:ea typeface="Cambria" pitchFamily="34" charset="-122"/>
                <a:cs typeface="Cambria" pitchFamily="34" charset="-120"/>
              </a:rPr>
              <a:t>min  ½‖A w</a:t>
            </a:r>
            <a:r>
              <a:rPr lang="en-US" sz="1600" baseline="-40000" dirty="0">
                <a:solidFill>
                  <a:schemeClr val="tx1"/>
                </a:solidFill>
                <a:latin typeface="Cambria" pitchFamily="34" charset="0"/>
                <a:ea typeface="Cambria" pitchFamily="34" charset="-122"/>
                <a:cs typeface="Cambria" pitchFamily="34" charset="-120"/>
              </a:rPr>
              <a:t>1</a:t>
            </a:r>
            <a:r>
              <a:rPr lang="en-US" sz="1600" dirty="0">
                <a:solidFill>
                  <a:schemeClr val="tx1"/>
                </a:solidFill>
                <a:latin typeface="Cambria" pitchFamily="34" charset="0"/>
                <a:ea typeface="Cambria" pitchFamily="34" charset="-122"/>
                <a:cs typeface="Cambria" pitchFamily="34" charset="-120"/>
              </a:rPr>
              <a:t> + e b</a:t>
            </a:r>
            <a:r>
              <a:rPr lang="en-US" sz="1600" baseline="-40000" dirty="0">
                <a:solidFill>
                  <a:schemeClr val="tx1"/>
                </a:solidFill>
                <a:latin typeface="Cambria" pitchFamily="34" charset="0"/>
                <a:ea typeface="Cambria" pitchFamily="34" charset="-122"/>
                <a:cs typeface="Cambria" pitchFamily="34" charset="-120"/>
              </a:rPr>
              <a:t>1</a:t>
            </a:r>
            <a:r>
              <a:rPr lang="en-US" sz="1600" dirty="0">
                <a:solidFill>
                  <a:schemeClr val="tx1"/>
                </a:solidFill>
                <a:latin typeface="Cambria" pitchFamily="34" charset="0"/>
                <a:ea typeface="Cambria" pitchFamily="34" charset="-122"/>
                <a:cs typeface="Cambria" pitchFamily="34" charset="-120"/>
              </a:rPr>
              <a:t>‖</a:t>
            </a:r>
            <a:r>
              <a:rPr lang="en-US" sz="1600" baseline="30000" dirty="0">
                <a:solidFill>
                  <a:schemeClr val="tx1"/>
                </a:solidFill>
                <a:latin typeface="Cambria" pitchFamily="34" charset="0"/>
                <a:ea typeface="Cambria" pitchFamily="34" charset="-122"/>
                <a:cs typeface="Cambria" pitchFamily="34" charset="-120"/>
              </a:rPr>
              <a:t>2</a:t>
            </a:r>
            <a:r>
              <a:rPr lang="en-US" sz="1600" dirty="0">
                <a:solidFill>
                  <a:schemeClr val="tx1"/>
                </a:solidFill>
                <a:latin typeface="Cambria" pitchFamily="34" charset="0"/>
                <a:ea typeface="Cambria" pitchFamily="34" charset="-122"/>
                <a:cs typeface="Cambria" pitchFamily="34" charset="-120"/>
              </a:rPr>
              <a:t> + (c</a:t>
            </a:r>
            <a:r>
              <a:rPr lang="en-US" sz="1600" baseline="-40000" dirty="0">
                <a:solidFill>
                  <a:schemeClr val="tx1"/>
                </a:solidFill>
                <a:latin typeface="Cambria" pitchFamily="34" charset="0"/>
                <a:ea typeface="Cambria" pitchFamily="34" charset="-122"/>
                <a:cs typeface="Cambria" pitchFamily="34" charset="-120"/>
              </a:rPr>
              <a:t>1</a:t>
            </a:r>
            <a:r>
              <a:rPr lang="en-US" sz="1600" dirty="0">
                <a:solidFill>
                  <a:schemeClr val="tx1"/>
                </a:solidFill>
                <a:latin typeface="Cambria" pitchFamily="34" charset="0"/>
                <a:ea typeface="Cambria" pitchFamily="34" charset="-122"/>
                <a:cs typeface="Cambria" pitchFamily="34" charset="-120"/>
              </a:rPr>
              <a:t>/2) ‖ξ‖</a:t>
            </a:r>
            <a:r>
              <a:rPr lang="en-US" sz="1600" baseline="30000" dirty="0">
                <a:solidFill>
                  <a:schemeClr val="tx1"/>
                </a:solidFill>
                <a:latin typeface="Cambria" pitchFamily="34" charset="0"/>
                <a:ea typeface="Cambria" pitchFamily="34" charset="-122"/>
                <a:cs typeface="Cambria" pitchFamily="34" charset="-120"/>
              </a:rPr>
              <a:t>2</a:t>
            </a:r>
            <a:r>
              <a:rPr lang="en-US" sz="1600" dirty="0">
                <a:solidFill>
                  <a:schemeClr val="tx1"/>
                </a:solidFill>
                <a:latin typeface="Cambria" pitchFamily="34" charset="0"/>
                <a:ea typeface="Cambria" pitchFamily="34" charset="-122"/>
                <a:cs typeface="Cambria" pitchFamily="34" charset="-120"/>
              </a:rPr>
              <a:t>     subject to   −(B w</a:t>
            </a:r>
            <a:r>
              <a:rPr lang="en-US" sz="1600" baseline="-40000" dirty="0">
                <a:solidFill>
                  <a:schemeClr val="tx1"/>
                </a:solidFill>
                <a:latin typeface="Cambria" pitchFamily="34" charset="0"/>
                <a:ea typeface="Cambria" pitchFamily="34" charset="-122"/>
                <a:cs typeface="Cambria" pitchFamily="34" charset="-120"/>
              </a:rPr>
              <a:t>1</a:t>
            </a:r>
            <a:r>
              <a:rPr lang="en-US" sz="1600" dirty="0">
                <a:solidFill>
                  <a:schemeClr val="tx1"/>
                </a:solidFill>
                <a:latin typeface="Cambria" pitchFamily="34" charset="0"/>
                <a:ea typeface="Cambria" pitchFamily="34" charset="-122"/>
                <a:cs typeface="Cambria" pitchFamily="34" charset="-120"/>
              </a:rPr>
              <a:t> + e b</a:t>
            </a:r>
            <a:r>
              <a:rPr lang="en-US" sz="1600" baseline="-40000" dirty="0">
                <a:solidFill>
                  <a:schemeClr val="tx1"/>
                </a:solidFill>
                <a:latin typeface="Cambria" pitchFamily="34" charset="0"/>
                <a:ea typeface="Cambria" pitchFamily="34" charset="-122"/>
                <a:cs typeface="Cambria" pitchFamily="34" charset="-120"/>
              </a:rPr>
              <a:t>1</a:t>
            </a:r>
            <a:r>
              <a:rPr lang="en-US" sz="1600" dirty="0">
                <a:solidFill>
                  <a:schemeClr val="tx1"/>
                </a:solidFill>
                <a:latin typeface="Cambria" pitchFamily="34" charset="0"/>
                <a:ea typeface="Cambria" pitchFamily="34" charset="-122"/>
                <a:cs typeface="Cambria" pitchFamily="34" charset="-120"/>
              </a:rPr>
              <a:t>) + ξ = e</a:t>
            </a:r>
            <a:endParaRPr lang="en-US" sz="1400" dirty="0"/>
          </a:p>
          <a:p>
            <a:pPr indent="0" marL="0">
              <a:spcAft>
                <a:spcPts val="400"/>
              </a:spcAft>
              <a:buNone/>
            </a:pPr>
            <a:r>
              <a:rPr lang="en-US" sz="1600" dirty="0">
                <a:solidFill>
                  <a:schemeClr val="tx1"/>
                </a:solidFill>
                <a:latin typeface="Cambria" pitchFamily="34" charset="0"/>
                <a:ea typeface="Cambria" pitchFamily="34" charset="-122"/>
                <a:cs typeface="Cambria" pitchFamily="34" charset="-120"/>
              </a:rPr>
              <a:t>⇒   [w</a:t>
            </a:r>
            <a:r>
              <a:rPr lang="en-US" sz="1600" baseline="-40000" dirty="0">
                <a:solidFill>
                  <a:schemeClr val="tx1"/>
                </a:solidFill>
                <a:latin typeface="Cambria" pitchFamily="34" charset="0"/>
                <a:ea typeface="Cambria" pitchFamily="34" charset="-122"/>
                <a:cs typeface="Cambria" pitchFamily="34" charset="-120"/>
              </a:rPr>
              <a:t>1</a:t>
            </a:r>
            <a:r>
              <a:rPr lang="en-US" sz="1600" dirty="0">
                <a:solidFill>
                  <a:schemeClr val="tx1"/>
                </a:solidFill>
                <a:latin typeface="Cambria" pitchFamily="34" charset="0"/>
                <a:ea typeface="Cambria" pitchFamily="34" charset="-122"/>
                <a:cs typeface="Cambria" pitchFamily="34" charset="-120"/>
              </a:rPr>
              <a:t> ; b</a:t>
            </a:r>
            <a:r>
              <a:rPr lang="en-US" sz="1600" baseline="-40000" dirty="0">
                <a:solidFill>
                  <a:schemeClr val="tx1"/>
                </a:solidFill>
                <a:latin typeface="Cambria" pitchFamily="34" charset="0"/>
                <a:ea typeface="Cambria" pitchFamily="34" charset="-122"/>
                <a:cs typeface="Cambria" pitchFamily="34" charset="-120"/>
              </a:rPr>
              <a:t>1</a:t>
            </a:r>
            <a:r>
              <a:rPr lang="en-US" sz="1600" dirty="0">
                <a:solidFill>
                  <a:schemeClr val="tx1"/>
                </a:solidFill>
                <a:latin typeface="Cambria" pitchFamily="34" charset="0"/>
                <a:ea typeface="Cambria" pitchFamily="34" charset="-122"/>
                <a:cs typeface="Cambria" pitchFamily="34" charset="-120"/>
              </a:rPr>
              <a:t>] = −(G</a:t>
            </a:r>
            <a:r>
              <a:rPr lang="en-US" sz="1600" baseline="30000" dirty="0">
                <a:solidFill>
                  <a:schemeClr val="tx1"/>
                </a:solidFill>
                <a:latin typeface="Cambria" pitchFamily="34" charset="0"/>
                <a:ea typeface="Cambria" pitchFamily="34" charset="-122"/>
                <a:cs typeface="Cambria" pitchFamily="34" charset="-120"/>
              </a:rPr>
              <a:t>T</a:t>
            </a:r>
            <a:r>
              <a:rPr lang="en-US" sz="1600" dirty="0">
                <a:solidFill>
                  <a:schemeClr val="tx1"/>
                </a:solidFill>
                <a:latin typeface="Cambria" pitchFamily="34" charset="0"/>
                <a:ea typeface="Cambria" pitchFamily="34" charset="-122"/>
                <a:cs typeface="Cambria" pitchFamily="34" charset="-120"/>
              </a:rPr>
              <a:t>G + (1/c</a:t>
            </a:r>
            <a:r>
              <a:rPr lang="en-US" sz="1600" baseline="-40000" dirty="0">
                <a:solidFill>
                  <a:schemeClr val="tx1"/>
                </a:solidFill>
                <a:latin typeface="Cambria" pitchFamily="34" charset="0"/>
                <a:ea typeface="Cambria" pitchFamily="34" charset="-122"/>
                <a:cs typeface="Cambria" pitchFamily="34" charset="-120"/>
              </a:rPr>
              <a:t>1</a:t>
            </a:r>
            <a:r>
              <a:rPr lang="en-US" sz="1600" dirty="0">
                <a:solidFill>
                  <a:schemeClr val="tx1"/>
                </a:solidFill>
                <a:latin typeface="Cambria" pitchFamily="34" charset="0"/>
                <a:ea typeface="Cambria" pitchFamily="34" charset="-122"/>
                <a:cs typeface="Cambria" pitchFamily="34" charset="-120"/>
              </a:rPr>
              <a:t>) H</a:t>
            </a:r>
            <a:r>
              <a:rPr lang="en-US" sz="1600" baseline="30000" dirty="0">
                <a:solidFill>
                  <a:schemeClr val="tx1"/>
                </a:solidFill>
                <a:latin typeface="Cambria" pitchFamily="34" charset="0"/>
                <a:ea typeface="Cambria" pitchFamily="34" charset="-122"/>
                <a:cs typeface="Cambria" pitchFamily="34" charset="-120"/>
              </a:rPr>
              <a:t>T</a:t>
            </a:r>
            <a:r>
              <a:rPr lang="en-US" sz="1600" dirty="0">
                <a:solidFill>
                  <a:schemeClr val="tx1"/>
                </a:solidFill>
                <a:latin typeface="Cambria" pitchFamily="34" charset="0"/>
                <a:ea typeface="Cambria" pitchFamily="34" charset="-122"/>
                <a:cs typeface="Cambria" pitchFamily="34" charset="-120"/>
              </a:rPr>
              <a:t>H)</a:t>
            </a:r>
            <a:r>
              <a:rPr lang="en-US" sz="1600" baseline="30000" dirty="0">
                <a:solidFill>
                  <a:schemeClr val="tx1"/>
                </a:solidFill>
                <a:latin typeface="Cambria" pitchFamily="34" charset="0"/>
                <a:ea typeface="Cambria" pitchFamily="34" charset="-122"/>
                <a:cs typeface="Cambria" pitchFamily="34" charset="-120"/>
              </a:rPr>
              <a:t>−1</a:t>
            </a:r>
            <a:r>
              <a:rPr lang="en-US" sz="1600" dirty="0">
                <a:solidFill>
                  <a:schemeClr val="tx1"/>
                </a:solidFill>
                <a:latin typeface="Cambria" pitchFamily="34" charset="0"/>
                <a:ea typeface="Cambria" pitchFamily="34" charset="-122"/>
                <a:cs typeface="Cambria" pitchFamily="34" charset="-120"/>
              </a:rPr>
              <a:t> G</a:t>
            </a:r>
            <a:r>
              <a:rPr lang="en-US" sz="1600" baseline="30000" dirty="0">
                <a:solidFill>
                  <a:schemeClr val="tx1"/>
                </a:solidFill>
                <a:latin typeface="Cambria" pitchFamily="34" charset="0"/>
                <a:ea typeface="Cambria" pitchFamily="34" charset="-122"/>
                <a:cs typeface="Cambria" pitchFamily="34" charset="-120"/>
              </a:rPr>
              <a:t>T</a:t>
            </a:r>
            <a:r>
              <a:rPr lang="en-US" sz="1600" dirty="0">
                <a:solidFill>
                  <a:schemeClr val="tx1"/>
                </a:solidFill>
                <a:latin typeface="Cambria" pitchFamily="34" charset="0"/>
                <a:ea typeface="Cambria" pitchFamily="34" charset="-122"/>
                <a:cs typeface="Cambria" pitchFamily="34" charset="-120"/>
              </a:rPr>
              <a:t>e,       H = [A  e],  G = [B  e]</a:t>
            </a:r>
            <a:endParaRPr lang="en-US" sz="1400" dirty="0"/>
          </a:p>
          <a:p>
            <a:pPr indent="0" marL="0">
              <a:spcAft>
                <a:spcPts val="400"/>
              </a:spcAft>
              <a:buNone/>
            </a:pPr>
            <a:r>
              <a:rPr lang="en-US" sz="1600" dirty="0">
                <a:solidFill>
                  <a:schemeClr val="tx1"/>
                </a:solidFill>
                <a:latin typeface="Cambria" pitchFamily="34" charset="0"/>
                <a:ea typeface="Cambria" pitchFamily="34" charset="-122"/>
                <a:cs typeface="Cambria" pitchFamily="34" charset="-120"/>
              </a:rPr>
              <a:t>A new point x goes to the class of the nearer line:  class(x) = argmin</a:t>
            </a:r>
            <a:r>
              <a:rPr lang="en-US" sz="1600" baseline="-40000" dirty="0">
                <a:solidFill>
                  <a:schemeClr val="tx1"/>
                </a:solidFill>
                <a:latin typeface="Cambria" pitchFamily="34" charset="0"/>
                <a:ea typeface="Cambria" pitchFamily="34" charset="-122"/>
                <a:cs typeface="Cambria" pitchFamily="34" charset="-120"/>
              </a:rPr>
              <a:t>k</a:t>
            </a:r>
            <a:r>
              <a:rPr lang="en-US" sz="1600" dirty="0">
                <a:solidFill>
                  <a:schemeClr val="tx1"/>
                </a:solidFill>
                <a:latin typeface="Cambria" pitchFamily="34" charset="0"/>
                <a:ea typeface="Cambria" pitchFamily="34" charset="-122"/>
                <a:cs typeface="Cambria" pitchFamily="34" charset="-120"/>
              </a:rPr>
              <a:t> |w</a:t>
            </a:r>
            <a:r>
              <a:rPr lang="en-US" sz="1600" baseline="-40000" dirty="0">
                <a:solidFill>
                  <a:schemeClr val="tx1"/>
                </a:solidFill>
                <a:latin typeface="Cambria" pitchFamily="34" charset="0"/>
                <a:ea typeface="Cambria" pitchFamily="34" charset="-122"/>
                <a:cs typeface="Cambria" pitchFamily="34" charset="-120"/>
              </a:rPr>
              <a:t>k</a:t>
            </a:r>
            <a:r>
              <a:rPr lang="en-US" sz="1600" baseline="30000" dirty="0">
                <a:solidFill>
                  <a:schemeClr val="tx1"/>
                </a:solidFill>
                <a:latin typeface="Cambria" pitchFamily="34" charset="0"/>
                <a:ea typeface="Cambria" pitchFamily="34" charset="-122"/>
                <a:cs typeface="Cambria" pitchFamily="34" charset="-120"/>
              </a:rPr>
              <a:t>T</a:t>
            </a:r>
            <a:r>
              <a:rPr lang="en-US" sz="1600" dirty="0">
                <a:solidFill>
                  <a:schemeClr val="tx1"/>
                </a:solidFill>
                <a:latin typeface="Cambria" pitchFamily="34" charset="0"/>
                <a:ea typeface="Cambria" pitchFamily="34" charset="-122"/>
                <a:cs typeface="Cambria" pitchFamily="34" charset="-120"/>
              </a:rPr>
              <a:t>x + b</a:t>
            </a:r>
            <a:r>
              <a:rPr lang="en-US" sz="1600" baseline="-40000" dirty="0">
                <a:solidFill>
                  <a:schemeClr val="tx1"/>
                </a:solidFill>
                <a:latin typeface="Cambria" pitchFamily="34" charset="0"/>
                <a:ea typeface="Cambria" pitchFamily="34" charset="-122"/>
                <a:cs typeface="Cambria" pitchFamily="34" charset="-120"/>
              </a:rPr>
              <a:t>k</a:t>
            </a:r>
            <a:r>
              <a:rPr lang="en-US" sz="1600" dirty="0">
                <a:solidFill>
                  <a:schemeClr val="tx1"/>
                </a:solidFill>
                <a:latin typeface="Cambria" pitchFamily="34" charset="0"/>
                <a:ea typeface="Cambria" pitchFamily="34" charset="-122"/>
                <a:cs typeface="Cambria" pitchFamily="34" charset="-120"/>
              </a:rPr>
              <a:t>| / ‖w</a:t>
            </a:r>
            <a:r>
              <a:rPr lang="en-US" sz="1600" baseline="-40000" dirty="0">
                <a:solidFill>
                  <a:schemeClr val="tx1"/>
                </a:solidFill>
                <a:latin typeface="Cambria" pitchFamily="34" charset="0"/>
                <a:ea typeface="Cambria" pitchFamily="34" charset="-122"/>
                <a:cs typeface="Cambria" pitchFamily="34" charset="-120"/>
              </a:rPr>
              <a:t>k</a:t>
            </a:r>
            <a:r>
              <a:rPr lang="en-US" sz="1600" dirty="0">
                <a:solidFill>
                  <a:schemeClr val="tx1"/>
                </a:solidFill>
                <a:latin typeface="Cambria" pitchFamily="34" charset="0"/>
                <a:ea typeface="Cambria" pitchFamily="34" charset="-122"/>
                <a:cs typeface="Cambria" pitchFamily="34" charset="-120"/>
              </a:rPr>
              <a:t>‖</a:t>
            </a:r>
            <a:endParaRPr lang="en-US" sz="1400" dirty="0"/>
          </a:p>
        </p:txBody>
      </p:sp>
      <p:sp>
        <p:nvSpPr>
          <p:cNvPr id="51"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52"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53" name="Text 51"/>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LSTSVM is fast and simple, but every training point counts equally, including mislabelled ones.</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BACKGROUND</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Granular balls: train on balls instead of points</a:t>
            </a:r>
            <a:endParaRPr lang="en-US" sz="2800" dirty="0"/>
          </a:p>
        </p:txBody>
      </p:sp>
      <p:pic>
        <p:nvPicPr>
          <p:cNvPr id="4" name="Image 0" descr="Left: training points of two classes. Right: the same data covered by 19 granular balls with the two GBLSTSVM planes; 24 single-point balls are deleted and shown as grey crosses.">    </p:cNvPr>
          <p:cNvPicPr>
            <a:picLocks noChangeAspect="1"/>
          </p:cNvPicPr>
          <p:nvPr/>
        </p:nvPicPr>
        <p:blipFill>
          <a:blip r:embed="rId1"/>
          <a:stretch>
            <a:fillRect/>
          </a:stretch>
        </p:blipFill>
        <p:spPr>
          <a:xfrm>
            <a:off x="548640" y="1371600"/>
            <a:ext cx="6492240" cy="3567165"/>
          </a:xfrm>
          <a:prstGeom prst="rect">
            <a:avLst/>
          </a:prstGeom>
        </p:spPr>
      </p:pic>
      <p:sp>
        <p:nvSpPr>
          <p:cNvPr id="5" name="Text 2"/>
          <p:cNvSpPr txBox="1"/>
          <p:nvPr/>
        </p:nvSpPr>
        <p:spPr>
          <a:xfrm>
            <a:off x="7315200" y="1417320"/>
            <a:ext cx="4297680" cy="4023360"/>
          </a:xfrm>
          <a:prstGeom prst="rect">
            <a:avLst/>
          </a:prstGeom>
          <a:noFill/>
          <a:ln/>
        </p:spPr>
        <p:txBody>
          <a:bodyPr wrap="square" lIns="0" tIns="0" rIns="0" bIns="0" rtlCol="0" anchor="t"/>
          <a:lstStyle/>
          <a:p>
            <a:pPr marL="203200" indent="-203200">
              <a:spcAft>
                <a:spcPts val="900"/>
              </a:spcAft>
              <a:buSzPct val="100000"/>
              <a:buChar char="•"/>
            </a:pPr>
            <a:r>
              <a:rPr lang="en-US" sz="1500" b="1" dirty="0">
                <a:solidFill>
                  <a:schemeClr val="tx1"/>
                </a:solidFill>
              </a:rPr>
              <a:t>Granular balls [4]: </a:t>
            </a:r>
            <a:r>
              <a:rPr lang="en-US" sz="1500" dirty="0">
                <a:solidFill>
                  <a:schemeClr val="tx1"/>
                </a:solidFill>
              </a:rPr>
              <a:t>split the training set with k-means until each ball is at least 98.5% one class.</a:t>
            </a:r>
            <a:endParaRPr lang="en-US" sz="1500" dirty="0"/>
          </a:p>
          <a:p>
            <a:pPr marL="203200" indent="-203200">
              <a:spcAft>
                <a:spcPts val="900"/>
              </a:spcAft>
              <a:buSzPct val="100000"/>
              <a:buChar char="•"/>
            </a:pPr>
            <a:r>
              <a:rPr lang="en-US" sz="1500" b="1" dirty="0">
                <a:solidFill>
                  <a:schemeClr val="tx1"/>
                </a:solidFill>
              </a:rPr>
              <a:t>A ball </a:t>
            </a:r>
            <a:r>
              <a:rPr lang="en-US" sz="1500" dirty="0">
                <a:solidFill>
                  <a:schemeClr val="tx1"/>
                </a:solidFill>
              </a:rPr>
              <a:t>= centre c, radius r (mean distance of its points) and a label.</a:t>
            </a:r>
            <a:endParaRPr lang="en-US" sz="1500" dirty="0"/>
          </a:p>
          <a:p>
            <a:pPr marL="203200" indent="-203200">
              <a:spcAft>
                <a:spcPts val="900"/>
              </a:spcAft>
              <a:buSzPct val="100000"/>
              <a:buChar char="•"/>
            </a:pPr>
            <a:r>
              <a:rPr lang="en-US" sz="1500" b="1" dirty="0">
                <a:solidFill>
                  <a:schemeClr val="tx1"/>
                </a:solidFill>
              </a:rPr>
              <a:t>GBLSTSVM [5]: </a:t>
            </a:r>
            <a:r>
              <a:rPr lang="en-US" sz="1500" dirty="0">
                <a:solidFill>
                  <a:schemeClr val="tx1"/>
                </a:solidFill>
              </a:rPr>
              <a:t>LSTSVM fitted to the ball centres; the radius widens the margin a ball must keep: −(Gz) + ξ = e + r.</a:t>
            </a:r>
            <a:endParaRPr lang="en-US" sz="1500" dirty="0"/>
          </a:p>
          <a:p>
            <a:pPr marL="203200" indent="-203200">
              <a:spcAft>
                <a:spcPts val="900"/>
              </a:spcAft>
              <a:buSzPct val="100000"/>
              <a:buChar char="•"/>
            </a:pPr>
            <a:r>
              <a:rPr lang="en-US" sz="1500" b="1" dirty="0">
                <a:solidFill>
                  <a:schemeClr val="tx1"/>
                </a:solidFill>
              </a:rPr>
              <a:t>Why: </a:t>
            </a:r>
            <a:r>
              <a:rPr lang="en-US" sz="1500" dirty="0">
                <a:solidFill>
                  <a:schemeClr val="tx1"/>
                </a:solidFill>
              </a:rPr>
              <a:t>fewer training units, so it is faster, and it is claimed to resist noise.</a:t>
            </a:r>
            <a:endParaRPr lang="en-US" sz="1500" dirty="0"/>
          </a:p>
          <a:p>
            <a:pPr marL="203200" indent="-203200">
              <a:spcAft>
                <a:spcPts val="900"/>
              </a:spcAft>
              <a:buSzPct val="100000"/>
              <a:buChar char="•"/>
            </a:pPr>
            <a:r>
              <a:rPr lang="en-US" sz="1500" b="1" dirty="0">
                <a:solidFill>
                  <a:schemeClr val="tx1"/>
                </a:solidFill>
              </a:rPr>
              <a:t>Then: </a:t>
            </a:r>
            <a:r>
              <a:rPr lang="en-US" sz="1500" dirty="0">
                <a:solidFill>
                  <a:schemeClr val="tx1"/>
                </a:solidFill>
              </a:rPr>
              <a:t>every ball holding a single point is deleted (grey crosses).</a:t>
            </a:r>
            <a:endParaRPr lang="en-US" sz="1500" dirty="0"/>
          </a:p>
        </p:txBody>
      </p:sp>
      <p:sp>
        <p:nvSpPr>
          <p:cNvPr id="6"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7"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8" name="Text 5"/>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Every remaining ball enters the model with the same weight: that is where a fuzzy membership can go.</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BACKGROUND</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Fuzzy membership: trust each training unit differently</a:t>
            </a:r>
            <a:endParaRPr lang="en-US" sz="2800" dirty="0"/>
          </a:p>
        </p:txBody>
      </p:sp>
      <p:sp>
        <p:nvSpPr>
          <p:cNvPr id="4" name="fsvm-card"/>
          <p:cNvSpPr/>
          <p:nvPr/>
        </p:nvSpPr>
        <p:spPr>
          <a:xfrm>
            <a:off x="548640" y="1371600"/>
            <a:ext cx="4343400" cy="4114800"/>
          </a:xfrm>
          <a:prstGeom prst="roundRect">
            <a:avLst>
              <a:gd name="adj" fmla="val 2222"/>
            </a:avLst>
          </a:prstGeom>
          <a:solidFill>
            <a:schemeClr val="bg2"/>
          </a:solidFill>
          <a:ln w="9525">
            <a:solidFill>
              <a:schemeClr val="bg2"/>
            </a:solidFill>
            <a:prstDash val="solid"/>
          </a:ln>
        </p:spPr>
      </p:sp>
      <p:sp>
        <p:nvSpPr>
          <p:cNvPr id="5" name="Text 3"/>
          <p:cNvSpPr txBox="1"/>
          <p:nvPr/>
        </p:nvSpPr>
        <p:spPr>
          <a:xfrm>
            <a:off x="777240" y="1508760"/>
            <a:ext cx="3931920" cy="365760"/>
          </a:xfrm>
          <a:prstGeom prst="rect">
            <a:avLst/>
          </a:prstGeom>
          <a:noFill/>
          <a:ln/>
        </p:spPr>
        <p:txBody>
          <a:bodyPr wrap="square" lIns="0" tIns="0" rIns="0" bIns="0" rtlCol="0" anchor="t"/>
          <a:lstStyle/>
          <a:p>
            <a:pPr indent="0" marL="0">
              <a:buNone/>
            </a:pPr>
            <a:r>
              <a:rPr lang="en-US" sz="1800" b="1" dirty="0">
                <a:solidFill>
                  <a:schemeClr val="tx2"/>
                </a:solidFill>
              </a:rPr>
              <a:t>Fuzzy SVM [8]</a:t>
            </a:r>
            <a:endParaRPr lang="en-US" sz="1800" dirty="0"/>
          </a:p>
        </p:txBody>
      </p:sp>
      <p:sp>
        <p:nvSpPr>
          <p:cNvPr id="6" name="Text 4"/>
          <p:cNvSpPr txBox="1"/>
          <p:nvPr/>
        </p:nvSpPr>
        <p:spPr>
          <a:xfrm>
            <a:off x="777240" y="2011680"/>
            <a:ext cx="3931920" cy="457200"/>
          </a:xfrm>
          <a:prstGeom prst="rect">
            <a:avLst/>
          </a:prstGeom>
          <a:noFill/>
          <a:ln/>
        </p:spPr>
        <p:txBody>
          <a:bodyPr wrap="square" lIns="0" tIns="0" rIns="0" bIns="0" rtlCol="0" anchor="t"/>
          <a:lstStyle/>
          <a:p>
            <a:pPr indent="0" marL="0">
              <a:buNone/>
            </a:pPr>
            <a:r>
              <a:rPr lang="en-US" sz="1800" dirty="0">
                <a:solidFill>
                  <a:schemeClr val="tx1"/>
                </a:solidFill>
                <a:latin typeface="Cambria" pitchFamily="34" charset="0"/>
                <a:ea typeface="Cambria" pitchFamily="34" charset="-122"/>
                <a:cs typeface="Cambria" pitchFamily="34" charset="-120"/>
              </a:rPr>
              <a:t>min  ½‖w‖</a:t>
            </a:r>
            <a:r>
              <a:rPr lang="en-US" sz="1800" baseline="30000" dirty="0">
                <a:solidFill>
                  <a:schemeClr val="tx1"/>
                </a:solidFill>
                <a:latin typeface="Cambria" pitchFamily="34" charset="0"/>
                <a:ea typeface="Cambria" pitchFamily="34" charset="-122"/>
                <a:cs typeface="Cambria" pitchFamily="34" charset="-120"/>
              </a:rPr>
              <a:t>2</a:t>
            </a:r>
            <a:r>
              <a:rPr lang="en-US" sz="1800" dirty="0">
                <a:solidFill>
                  <a:schemeClr val="tx1"/>
                </a:solidFill>
                <a:latin typeface="Cambria" pitchFamily="34" charset="0"/>
                <a:ea typeface="Cambria" pitchFamily="34" charset="-122"/>
                <a:cs typeface="Cambria" pitchFamily="34" charset="-120"/>
              </a:rPr>
              <a:t> + C Σ</a:t>
            </a:r>
            <a:r>
              <a:rPr lang="en-US" sz="1800" baseline="-40000" dirty="0">
                <a:solidFill>
                  <a:schemeClr val="tx1"/>
                </a:solidFill>
                <a:latin typeface="Cambria" pitchFamily="34" charset="0"/>
                <a:ea typeface="Cambria" pitchFamily="34" charset="-122"/>
                <a:cs typeface="Cambria" pitchFamily="34" charset="-120"/>
              </a:rPr>
              <a:t>i</a:t>
            </a:r>
            <a:r>
              <a:rPr lang="en-US" sz="1800" dirty="0">
                <a:solidFill>
                  <a:schemeClr val="tx1"/>
                </a:solidFill>
                <a:latin typeface="Cambria" pitchFamily="34" charset="0"/>
                <a:ea typeface="Cambria" pitchFamily="34" charset="-122"/>
                <a:cs typeface="Cambria" pitchFamily="34" charset="-120"/>
              </a:rPr>
              <a:t> s</a:t>
            </a:r>
            <a:r>
              <a:rPr lang="en-US" sz="1800" baseline="-40000" dirty="0">
                <a:solidFill>
                  <a:schemeClr val="tx1"/>
                </a:solidFill>
                <a:latin typeface="Cambria" pitchFamily="34" charset="0"/>
                <a:ea typeface="Cambria" pitchFamily="34" charset="-122"/>
                <a:cs typeface="Cambria" pitchFamily="34" charset="-120"/>
              </a:rPr>
              <a:t>i</a:t>
            </a:r>
            <a:r>
              <a:rPr lang="en-US" sz="1800" dirty="0">
                <a:solidFill>
                  <a:schemeClr val="tx1"/>
                </a:solidFill>
                <a:latin typeface="Cambria" pitchFamily="34" charset="0"/>
                <a:ea typeface="Cambria" pitchFamily="34" charset="-122"/>
                <a:cs typeface="Cambria" pitchFamily="34" charset="-120"/>
              </a:rPr>
              <a:t> ξ</a:t>
            </a:r>
            <a:r>
              <a:rPr lang="en-US" sz="1800" baseline="-40000" dirty="0">
                <a:solidFill>
                  <a:schemeClr val="tx1"/>
                </a:solidFill>
                <a:latin typeface="Cambria" pitchFamily="34" charset="0"/>
                <a:ea typeface="Cambria" pitchFamily="34" charset="-122"/>
                <a:cs typeface="Cambria" pitchFamily="34" charset="-120"/>
              </a:rPr>
              <a:t>i</a:t>
            </a:r>
            <a:r>
              <a:rPr lang="en-US" sz="1800" dirty="0">
                <a:solidFill>
                  <a:schemeClr val="tx1"/>
                </a:solidFill>
                <a:latin typeface="Cambria" pitchFamily="34" charset="0"/>
                <a:ea typeface="Cambria" pitchFamily="34" charset="-122"/>
                <a:cs typeface="Cambria" pitchFamily="34" charset="-120"/>
              </a:rPr>
              <a:t> ,     0 &lt; s</a:t>
            </a:r>
            <a:r>
              <a:rPr lang="en-US" sz="1800" baseline="-40000" dirty="0">
                <a:solidFill>
                  <a:schemeClr val="tx1"/>
                </a:solidFill>
                <a:latin typeface="Cambria" pitchFamily="34" charset="0"/>
                <a:ea typeface="Cambria" pitchFamily="34" charset="-122"/>
                <a:cs typeface="Cambria" pitchFamily="34" charset="-120"/>
              </a:rPr>
              <a:t>i</a:t>
            </a:r>
            <a:r>
              <a:rPr lang="en-US" sz="1800" dirty="0">
                <a:solidFill>
                  <a:schemeClr val="tx1"/>
                </a:solidFill>
                <a:latin typeface="Cambria" pitchFamily="34" charset="0"/>
                <a:ea typeface="Cambria" pitchFamily="34" charset="-122"/>
                <a:cs typeface="Cambria" pitchFamily="34" charset="-120"/>
              </a:rPr>
              <a:t> ≤ 1</a:t>
            </a:r>
            <a:endParaRPr lang="en-US" sz="1400" dirty="0"/>
          </a:p>
        </p:txBody>
      </p:sp>
      <p:sp>
        <p:nvSpPr>
          <p:cNvPr id="7" name="Text 5"/>
          <p:cNvSpPr txBox="1"/>
          <p:nvPr/>
        </p:nvSpPr>
        <p:spPr>
          <a:xfrm>
            <a:off x="777240" y="2651760"/>
            <a:ext cx="3931920" cy="2743200"/>
          </a:xfrm>
          <a:prstGeom prst="rect">
            <a:avLst/>
          </a:prstGeom>
          <a:noFill/>
          <a:ln/>
        </p:spPr>
        <p:txBody>
          <a:bodyPr wrap="square" lIns="0" tIns="0" rIns="0" bIns="0" rtlCol="0" anchor="t"/>
          <a:lstStyle/>
          <a:p>
            <a:pPr marL="203200" indent="-203200">
              <a:spcAft>
                <a:spcPts val="1000"/>
              </a:spcAft>
              <a:buSzPct val="100000"/>
              <a:buChar char="•"/>
            </a:pPr>
            <a:r>
              <a:rPr lang="en-US" sz="1500" b="1" dirty="0">
                <a:solidFill>
                  <a:schemeClr val="tx1"/>
                </a:solidFill>
              </a:rPr>
              <a:t>s</a:t>
            </a:r>
            <a:r>
              <a:rPr lang="en-US" sz="1500" b="1" baseline="-40000" dirty="0">
                <a:solidFill>
                  <a:schemeClr val="tx1"/>
                </a:solidFill>
              </a:rPr>
              <a:t>i</a:t>
            </a:r>
            <a:r>
              <a:rPr lang="en-US" sz="1500" dirty="0">
                <a:solidFill>
                  <a:schemeClr val="tx1"/>
                </a:solidFill>
              </a:rPr>
              <a:t> is how much we trust training point i.</a:t>
            </a:r>
            <a:endParaRPr lang="en-US" sz="1500" dirty="0"/>
          </a:p>
          <a:p>
            <a:pPr marL="203200" indent="-203200">
              <a:spcAft>
                <a:spcPts val="1000"/>
              </a:spcAft>
              <a:buSzPct val="100000"/>
              <a:buChar char="•"/>
            </a:pPr>
            <a:r>
              <a:rPr lang="en-US" sz="1500" dirty="0">
                <a:solidFill>
                  <a:schemeClr val="tx1"/>
                </a:solidFill>
              </a:rPr>
              <a:t>A point we doubt (likely noise or an outlier) gets a small s</a:t>
            </a:r>
            <a:r>
              <a:rPr lang="en-US" sz="1500" baseline="-40000" dirty="0">
                <a:solidFill>
                  <a:schemeClr val="tx1"/>
                </a:solidFill>
              </a:rPr>
              <a:t>i</a:t>
            </a:r>
            <a:r>
              <a:rPr lang="en-US" sz="1500" dirty="0">
                <a:solidFill>
                  <a:schemeClr val="tx1"/>
                </a:solidFill>
              </a:rPr>
              <a:t>, so the model may get it wrong cheaply.</a:t>
            </a:r>
            <a:endParaRPr lang="en-US" sz="1500" dirty="0"/>
          </a:p>
          <a:p>
            <a:pPr marL="203200" indent="-203200">
              <a:spcAft>
                <a:spcPts val="1000"/>
              </a:spcAft>
              <a:buSzPct val="100000"/>
              <a:buChar char="•"/>
            </a:pPr>
            <a:r>
              <a:rPr lang="en-US" sz="1500" dirty="0">
                <a:solidFill>
                  <a:schemeClr val="tx1"/>
                </a:solidFill>
              </a:rPr>
              <a:t>The whole question is how to compute s</a:t>
            </a:r>
            <a:r>
              <a:rPr lang="en-US" sz="1500" baseline="-40000" dirty="0">
                <a:solidFill>
                  <a:schemeClr val="tx1"/>
                </a:solidFill>
              </a:rPr>
              <a:t>i</a:t>
            </a:r>
            <a:r>
              <a:rPr lang="en-US" sz="1500" dirty="0">
                <a:solidFill>
                  <a:schemeClr val="tx1"/>
                </a:solidFill>
              </a:rPr>
              <a:t> from the data alone.</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166360" y="1371600"/>
          <a:ext cx="6446520" cy="914400"/>
        </p:xfrm>
        <a:graphic>
          <a:graphicData uri="http://schemas.openxmlformats.org/drawingml/2006/table">
            <a:tbl>
              <a:tblPr/>
              <a:tblGrid>
                <a:gridCol w="1783080"/>
                <a:gridCol w="2514600"/>
                <a:gridCol w="2148840"/>
              </a:tblGrid>
              <a:tr h="411480">
                <a:tc>
                  <a:txBody>
                    <a:bodyPr/>
                    <a:lstStyle/>
                    <a:p>
                      <a:pPr indent="0" marL="0">
                        <a:buNone/>
                      </a:pPr>
                      <a:r>
                        <a:rPr lang="en-US" sz="1300" b="1" dirty="0">
                          <a:solidFill>
                            <a:schemeClr val="bg1"/>
                          </a:solidFill>
                        </a:rPr>
                        <a:t>Membership</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Idea: a unit is doubtful when …</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Source</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r>
              <a:tr h="777240">
                <a:tc>
                  <a:txBody>
                    <a:bodyPr/>
                    <a:lstStyle/>
                    <a:p>
                      <a:pPr indent="0" marL="0">
                        <a:buNone/>
                      </a:pPr>
                      <a:r>
                        <a:rPr lang="en-US" sz="1300" b="1" dirty="0">
                          <a:solidFill>
                            <a:schemeClr val="tx1"/>
                          </a:solidFill>
                        </a:rPr>
                        <a:t>Centre distance</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it lies far from its class centre</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FSVM [8]; on balls: GBFSVM [13]</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777240">
                <a:tc>
                  <a:txBody>
                    <a:bodyPr/>
                    <a:lstStyle/>
                    <a:p>
                      <a:pPr indent="0" marL="0">
                        <a:buNone/>
                      </a:pPr>
                      <a:r>
                        <a:rPr lang="en-US" sz="1300" b="1" dirty="0">
                          <a:solidFill>
                            <a:schemeClr val="tx1"/>
                          </a:solidFill>
                        </a:rPr>
                        <a:t>Entropy</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its neighbourhood mixes both classes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EFSVM [9]</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868680">
                <a:tc>
                  <a:txBody>
                    <a:bodyPr/>
                    <a:lstStyle/>
                    <a:p>
                      <a:pPr indent="0" marL="0">
                        <a:buNone/>
                      </a:pPr>
                      <a:r>
                        <a:rPr lang="en-US" sz="1300" b="1" dirty="0">
                          <a:solidFill>
                            <a:schemeClr val="tx1"/>
                          </a:solidFill>
                        </a:rPr>
                        <a:t>Intuitionistic / Pythagorean</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membership and non-membership degrees disagree</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IFTSVM [10], [12]; on balls: GBFTSVM [15]</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777240">
                <a:tc>
                  <a:txBody>
                    <a:bodyPr/>
                    <a:lstStyle/>
                    <a:p>
                      <a:pPr indent="0" marL="0">
                        <a:buNone/>
                      </a:pPr>
                      <a:r>
                        <a:rPr lang="en-US" sz="1300" b="1" dirty="0">
                          <a:solidFill>
                            <a:schemeClr val="tx1"/>
                          </a:solidFill>
                        </a:rPr>
                        <a:t>k nearest neighbours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few neighbours share its label</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Fuzzy kNN [11]</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bl>
          </a:graphicData>
        </a:graphic>
      </p:graphicFrame>
      <p:sp>
        <p:nvSpPr>
          <p:cNvPr id="9"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10"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11" name="Text 8"/>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On points these weights are well studied; on granular balls only GBFSVM and GBFTSVM exist, and none on GBLSTSVM.</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RESEARCH QUESTION</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Research question</a:t>
            </a:r>
            <a:endParaRPr lang="en-US" sz="2800" dirty="0"/>
          </a:p>
        </p:txBody>
      </p:sp>
      <p:sp>
        <p:nvSpPr>
          <p:cNvPr id="4" name="question-card"/>
          <p:cNvSpPr/>
          <p:nvPr/>
        </p:nvSpPr>
        <p:spPr>
          <a:xfrm>
            <a:off x="548640" y="1371600"/>
            <a:ext cx="11064240" cy="1234440"/>
          </a:xfrm>
          <a:prstGeom prst="roundRect">
            <a:avLst>
              <a:gd name="adj" fmla="val 7407"/>
            </a:avLst>
          </a:prstGeom>
          <a:solidFill>
            <a:schemeClr val="tx2"/>
          </a:solidFill>
          <a:ln w="9525">
            <a:solidFill>
              <a:schemeClr val="tx2"/>
            </a:solidFill>
            <a:prstDash val="solid"/>
          </a:ln>
        </p:spPr>
      </p:sp>
      <p:sp>
        <p:nvSpPr>
          <p:cNvPr id="5" name="Text 3"/>
          <p:cNvSpPr txBox="1"/>
          <p:nvPr/>
        </p:nvSpPr>
        <p:spPr>
          <a:xfrm>
            <a:off x="868680" y="1371600"/>
            <a:ext cx="10424160" cy="1234440"/>
          </a:xfrm>
          <a:prstGeom prst="rect">
            <a:avLst/>
          </a:prstGeom>
          <a:noFill/>
          <a:ln/>
        </p:spPr>
        <p:txBody>
          <a:bodyPr wrap="square" lIns="0" tIns="0" rIns="0" bIns="0" rtlCol="0" anchor="ctr"/>
          <a:lstStyle/>
          <a:p>
            <a:pPr indent="0" marL="0">
              <a:buNone/>
            </a:pPr>
            <a:r>
              <a:rPr lang="en-US" sz="2400" i="1" dirty="0">
                <a:solidFill>
                  <a:schemeClr val="bg1"/>
                </a:solidFill>
                <a:latin typeface="Cambria" pitchFamily="34" charset="0"/>
                <a:ea typeface="Cambria" pitchFamily="34" charset="-122"/>
                <a:cs typeface="Cambria" pitchFamily="34" charset="-120"/>
              </a:rPr>
              <a:t>Can a fuzzy membership on granular balls make GBLSTSVM more accurate and more robust to label noise?</a:t>
            </a:r>
            <a:endParaRPr lang="en-US" sz="2400" dirty="0"/>
          </a:p>
        </p:txBody>
      </p:sp>
      <p:sp>
        <p:nvSpPr>
          <p:cNvPr id="6" name="subq-card"/>
          <p:cNvSpPr/>
          <p:nvPr/>
        </p:nvSpPr>
        <p:spPr>
          <a:xfrm>
            <a:off x="548640" y="2880360"/>
            <a:ext cx="5440680" cy="1234440"/>
          </a:xfrm>
          <a:prstGeom prst="roundRect">
            <a:avLst>
              <a:gd name="adj" fmla="val 7407"/>
            </a:avLst>
          </a:prstGeom>
          <a:solidFill>
            <a:schemeClr val="bg2"/>
          </a:solidFill>
          <a:ln w="9525">
            <a:solidFill>
              <a:schemeClr val="bg2"/>
            </a:solidFill>
            <a:prstDash val="solid"/>
          </a:ln>
        </p:spPr>
      </p:sp>
      <p:sp>
        <p:nvSpPr>
          <p:cNvPr id="7" name="badge"/>
          <p:cNvSpPr/>
          <p:nvPr/>
        </p:nvSpPr>
        <p:spPr>
          <a:xfrm>
            <a:off x="777240" y="3227832"/>
            <a:ext cx="548640" cy="548640"/>
          </a:xfrm>
          <a:prstGeom prst="ellipse">
            <a:avLst/>
          </a:prstGeom>
          <a:solidFill>
            <a:schemeClr val="accent1"/>
          </a:solidFill>
          <a:ln w="12700">
            <a:solidFill>
              <a:schemeClr val="accent1"/>
            </a:solidFill>
            <a:prstDash val="solid"/>
          </a:ln>
        </p:spPr>
      </p:sp>
      <p:sp>
        <p:nvSpPr>
          <p:cNvPr id="8" name="Text 6"/>
          <p:cNvSpPr txBox="1"/>
          <p:nvPr/>
        </p:nvSpPr>
        <p:spPr>
          <a:xfrm>
            <a:off x="777240" y="3227832"/>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Q1</a:t>
            </a:r>
            <a:endParaRPr lang="en-US" sz="1500" dirty="0"/>
          </a:p>
        </p:txBody>
      </p:sp>
      <p:sp>
        <p:nvSpPr>
          <p:cNvPr id="9" name="Text 7"/>
          <p:cNvSpPr txBox="1"/>
          <p:nvPr/>
        </p:nvSpPr>
        <p:spPr>
          <a:xfrm>
            <a:off x="1508760" y="2990088"/>
            <a:ext cx="4297680" cy="1005840"/>
          </a:xfrm>
          <a:prstGeom prst="rect">
            <a:avLst/>
          </a:prstGeom>
          <a:noFill/>
          <a:ln/>
        </p:spPr>
        <p:txBody>
          <a:bodyPr wrap="square" lIns="0" tIns="0" rIns="0" bIns="0" rtlCol="0" anchor="ctr"/>
          <a:lstStyle/>
          <a:p>
            <a:pPr indent="0" marL="0">
              <a:buNone/>
            </a:pPr>
            <a:r>
              <a:rPr lang="en-US" sz="1600" dirty="0">
                <a:solidFill>
                  <a:schemeClr val="tx1"/>
                </a:solidFill>
              </a:rPr>
              <a:t>Do existing memberships help when they are applied to balls instead of points?</a:t>
            </a:r>
            <a:endParaRPr lang="en-US" sz="1600" dirty="0"/>
          </a:p>
        </p:txBody>
      </p:sp>
      <p:sp>
        <p:nvSpPr>
          <p:cNvPr id="10" name="subq-card"/>
          <p:cNvSpPr/>
          <p:nvPr/>
        </p:nvSpPr>
        <p:spPr>
          <a:xfrm>
            <a:off x="6172200" y="2880360"/>
            <a:ext cx="5440680" cy="1234440"/>
          </a:xfrm>
          <a:prstGeom prst="roundRect">
            <a:avLst>
              <a:gd name="adj" fmla="val 7407"/>
            </a:avLst>
          </a:prstGeom>
          <a:solidFill>
            <a:schemeClr val="bg2"/>
          </a:solidFill>
          <a:ln w="9525">
            <a:solidFill>
              <a:schemeClr val="bg2"/>
            </a:solidFill>
            <a:prstDash val="solid"/>
          </a:ln>
        </p:spPr>
      </p:sp>
      <p:sp>
        <p:nvSpPr>
          <p:cNvPr id="11" name="badge"/>
          <p:cNvSpPr/>
          <p:nvPr/>
        </p:nvSpPr>
        <p:spPr>
          <a:xfrm>
            <a:off x="6400800" y="3227832"/>
            <a:ext cx="548640" cy="548640"/>
          </a:xfrm>
          <a:prstGeom prst="ellipse">
            <a:avLst/>
          </a:prstGeom>
          <a:solidFill>
            <a:schemeClr val="accent1"/>
          </a:solidFill>
          <a:ln w="12700">
            <a:solidFill>
              <a:schemeClr val="accent1"/>
            </a:solidFill>
            <a:prstDash val="solid"/>
          </a:ln>
        </p:spPr>
      </p:sp>
      <p:sp>
        <p:nvSpPr>
          <p:cNvPr id="12" name="Text 10"/>
          <p:cNvSpPr txBox="1"/>
          <p:nvPr/>
        </p:nvSpPr>
        <p:spPr>
          <a:xfrm>
            <a:off x="6400800" y="3227832"/>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Q2</a:t>
            </a:r>
            <a:endParaRPr lang="en-US" sz="1500" dirty="0"/>
          </a:p>
        </p:txBody>
      </p:sp>
      <p:sp>
        <p:nvSpPr>
          <p:cNvPr id="13" name="Text 11"/>
          <p:cNvSpPr txBox="1"/>
          <p:nvPr/>
        </p:nvSpPr>
        <p:spPr>
          <a:xfrm>
            <a:off x="7132320" y="2990088"/>
            <a:ext cx="4297680" cy="1005840"/>
          </a:xfrm>
          <a:prstGeom prst="rect">
            <a:avLst/>
          </a:prstGeom>
          <a:noFill/>
          <a:ln/>
        </p:spPr>
        <p:txBody>
          <a:bodyPr wrap="square" lIns="0" tIns="0" rIns="0" bIns="0" rtlCol="0" anchor="ctr"/>
          <a:lstStyle/>
          <a:p>
            <a:pPr indent="0" marL="0">
              <a:buNone/>
            </a:pPr>
            <a:r>
              <a:rPr lang="en-US" sz="1600" dirty="0">
                <a:solidFill>
                  <a:schemeClr val="tx1"/>
                </a:solidFill>
              </a:rPr>
              <a:t>If not, what is it that limits GBLSTSVM?</a:t>
            </a:r>
            <a:endParaRPr lang="en-US" sz="1600" dirty="0"/>
          </a:p>
        </p:txBody>
      </p:sp>
      <p:sp>
        <p:nvSpPr>
          <p:cNvPr id="14" name="subq-card"/>
          <p:cNvSpPr/>
          <p:nvPr/>
        </p:nvSpPr>
        <p:spPr>
          <a:xfrm>
            <a:off x="548640" y="4343400"/>
            <a:ext cx="5440680" cy="1234440"/>
          </a:xfrm>
          <a:prstGeom prst="roundRect">
            <a:avLst>
              <a:gd name="adj" fmla="val 7407"/>
            </a:avLst>
          </a:prstGeom>
          <a:solidFill>
            <a:schemeClr val="bg2"/>
          </a:solidFill>
          <a:ln w="9525">
            <a:solidFill>
              <a:schemeClr val="bg2"/>
            </a:solidFill>
            <a:prstDash val="solid"/>
          </a:ln>
        </p:spPr>
      </p:sp>
      <p:sp>
        <p:nvSpPr>
          <p:cNvPr id="15" name="badge"/>
          <p:cNvSpPr/>
          <p:nvPr/>
        </p:nvSpPr>
        <p:spPr>
          <a:xfrm>
            <a:off x="777240" y="4690872"/>
            <a:ext cx="548640" cy="548640"/>
          </a:xfrm>
          <a:prstGeom prst="ellipse">
            <a:avLst/>
          </a:prstGeom>
          <a:solidFill>
            <a:schemeClr val="accent1"/>
          </a:solidFill>
          <a:ln w="12700">
            <a:solidFill>
              <a:schemeClr val="accent1"/>
            </a:solidFill>
            <a:prstDash val="solid"/>
          </a:ln>
        </p:spPr>
      </p:sp>
      <p:sp>
        <p:nvSpPr>
          <p:cNvPr id="16" name="Text 14"/>
          <p:cNvSpPr txBox="1"/>
          <p:nvPr/>
        </p:nvSpPr>
        <p:spPr>
          <a:xfrm>
            <a:off x="777240" y="4690872"/>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Q3</a:t>
            </a:r>
            <a:endParaRPr lang="en-US" sz="1500" dirty="0"/>
          </a:p>
        </p:txBody>
      </p:sp>
      <p:sp>
        <p:nvSpPr>
          <p:cNvPr id="17" name="Text 15"/>
          <p:cNvSpPr txBox="1"/>
          <p:nvPr/>
        </p:nvSpPr>
        <p:spPr>
          <a:xfrm>
            <a:off x="1508760" y="4453128"/>
            <a:ext cx="4297680" cy="1005840"/>
          </a:xfrm>
          <a:prstGeom prst="rect">
            <a:avLst/>
          </a:prstGeom>
          <a:noFill/>
          <a:ln/>
        </p:spPr>
        <p:txBody>
          <a:bodyPr wrap="square" lIns="0" tIns="0" rIns="0" bIns="0" rtlCol="0" anchor="ctr"/>
          <a:lstStyle/>
          <a:p>
            <a:pPr indent="0" marL="0">
              <a:buNone/>
            </a:pPr>
            <a:r>
              <a:rPr lang="en-US" sz="1600" dirty="0">
                <a:solidFill>
                  <a:schemeClr val="tx1"/>
                </a:solidFill>
              </a:rPr>
              <a:t>Can a new membership, or another fix, close the gap to LSTSVM trained on every point?</a:t>
            </a:r>
            <a:endParaRPr lang="en-US" sz="1600" dirty="0"/>
          </a:p>
        </p:txBody>
      </p:sp>
      <p:sp>
        <p:nvSpPr>
          <p:cNvPr id="18" name="subq-card"/>
          <p:cNvSpPr/>
          <p:nvPr/>
        </p:nvSpPr>
        <p:spPr>
          <a:xfrm>
            <a:off x="6172200" y="4343400"/>
            <a:ext cx="5440680" cy="1234440"/>
          </a:xfrm>
          <a:prstGeom prst="roundRect">
            <a:avLst>
              <a:gd name="adj" fmla="val 7407"/>
            </a:avLst>
          </a:prstGeom>
          <a:solidFill>
            <a:schemeClr val="bg2"/>
          </a:solidFill>
          <a:ln w="9525">
            <a:solidFill>
              <a:schemeClr val="bg2"/>
            </a:solidFill>
            <a:prstDash val="solid"/>
          </a:ln>
        </p:spPr>
      </p:sp>
      <p:sp>
        <p:nvSpPr>
          <p:cNvPr id="19" name="badge"/>
          <p:cNvSpPr/>
          <p:nvPr/>
        </p:nvSpPr>
        <p:spPr>
          <a:xfrm>
            <a:off x="6400800" y="4690872"/>
            <a:ext cx="548640" cy="548640"/>
          </a:xfrm>
          <a:prstGeom prst="ellipse">
            <a:avLst/>
          </a:prstGeom>
          <a:solidFill>
            <a:schemeClr val="accent1"/>
          </a:solidFill>
          <a:ln w="12700">
            <a:solidFill>
              <a:schemeClr val="accent1"/>
            </a:solidFill>
            <a:prstDash val="solid"/>
          </a:ln>
        </p:spPr>
      </p:sp>
      <p:sp>
        <p:nvSpPr>
          <p:cNvPr id="20" name="Text 18"/>
          <p:cNvSpPr txBox="1"/>
          <p:nvPr/>
        </p:nvSpPr>
        <p:spPr>
          <a:xfrm>
            <a:off x="6400800" y="4690872"/>
            <a:ext cx="548640" cy="548640"/>
          </a:xfrm>
          <a:prstGeom prst="rect">
            <a:avLst/>
          </a:prstGeom>
          <a:noFill/>
          <a:ln/>
        </p:spPr>
        <p:txBody>
          <a:bodyPr wrap="square" lIns="0" tIns="0" rIns="0" bIns="0" rtlCol="0" anchor="ctr"/>
          <a:lstStyle/>
          <a:p>
            <a:pPr algn="ctr" indent="0" marL="0">
              <a:buNone/>
            </a:pPr>
            <a:r>
              <a:rPr lang="en-US" sz="1500" b="1" dirty="0">
                <a:solidFill>
                  <a:schemeClr val="bg1"/>
                </a:solidFill>
              </a:rPr>
              <a:t>Q4</a:t>
            </a:r>
            <a:endParaRPr lang="en-US" sz="1500" dirty="0"/>
          </a:p>
        </p:txBody>
      </p:sp>
      <p:sp>
        <p:nvSpPr>
          <p:cNvPr id="21" name="Text 19"/>
          <p:cNvSpPr txBox="1"/>
          <p:nvPr/>
        </p:nvSpPr>
        <p:spPr>
          <a:xfrm>
            <a:off x="7132320" y="4453128"/>
            <a:ext cx="4297680" cy="1005840"/>
          </a:xfrm>
          <a:prstGeom prst="rect">
            <a:avLst/>
          </a:prstGeom>
          <a:noFill/>
          <a:ln/>
        </p:spPr>
        <p:txBody>
          <a:bodyPr wrap="square" lIns="0" tIns="0" rIns="0" bIns="0" rtlCol="0" anchor="ctr"/>
          <a:lstStyle/>
          <a:p>
            <a:pPr indent="0" marL="0">
              <a:buNone/>
            </a:pPr>
            <a:r>
              <a:rPr lang="en-US" sz="1600" dirty="0">
                <a:solidFill>
                  <a:schemeClr val="tx1"/>
                </a:solidFill>
              </a:rPr>
              <a:t>How does the fix compare with the published fuzzy granular-ball model, GBFTSVM [15]?</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METHOD</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First problem: the original code tunes on the test set</a:t>
            </a:r>
            <a:endParaRPr lang="en-US" sz="2800" dirty="0"/>
          </a:p>
        </p:txBody>
      </p:sp>
      <p:sp>
        <p:nvSpPr>
          <p:cNvPr id="4" name="code-frame"/>
          <p:cNvSpPr/>
          <p:nvPr/>
        </p:nvSpPr>
        <p:spPr>
          <a:xfrm>
            <a:off x="548640" y="1371600"/>
            <a:ext cx="6309360" cy="2816352"/>
          </a:xfrm>
          <a:prstGeom prst="roundRect">
            <a:avLst>
              <a:gd name="adj" fmla="val 2597"/>
            </a:avLst>
          </a:prstGeom>
          <a:solidFill>
            <a:schemeClr val="tx2"/>
          </a:solidFill>
          <a:ln w="9525">
            <a:solidFill>
              <a:schemeClr val="tx2"/>
            </a:solidFill>
            <a:prstDash val="solid"/>
          </a:ln>
        </p:spPr>
      </p:sp>
      <p:sp>
        <p:nvSpPr>
          <p:cNvPr id="5" name="code-dot"/>
          <p:cNvSpPr/>
          <p:nvPr/>
        </p:nvSpPr>
        <p:spPr>
          <a:xfrm>
            <a:off x="694944" y="1490472"/>
            <a:ext cx="109728" cy="109728"/>
          </a:xfrm>
          <a:prstGeom prst="ellipse">
            <a:avLst/>
          </a:prstGeom>
          <a:solidFill>
            <a:schemeClr val="bg2">
              <a:alpha val="55000"/>
            </a:schemeClr>
          </a:solidFill>
          <a:ln w="12700">
            <a:solidFill>
              <a:schemeClr val="bg2">
                <a:alpha val="55000"/>
              </a:schemeClr>
            </a:solidFill>
            <a:prstDash val="solid"/>
          </a:ln>
        </p:spPr>
      </p:sp>
      <p:sp>
        <p:nvSpPr>
          <p:cNvPr id="6" name="code-dot"/>
          <p:cNvSpPr/>
          <p:nvPr/>
        </p:nvSpPr>
        <p:spPr>
          <a:xfrm>
            <a:off x="877824" y="1490472"/>
            <a:ext cx="109728" cy="109728"/>
          </a:xfrm>
          <a:prstGeom prst="ellipse">
            <a:avLst/>
          </a:prstGeom>
          <a:solidFill>
            <a:schemeClr val="bg2">
              <a:alpha val="55000"/>
            </a:schemeClr>
          </a:solidFill>
          <a:ln w="12700">
            <a:solidFill>
              <a:schemeClr val="bg2">
                <a:alpha val="55000"/>
              </a:schemeClr>
            </a:solidFill>
            <a:prstDash val="solid"/>
          </a:ln>
        </p:spPr>
      </p:sp>
      <p:sp>
        <p:nvSpPr>
          <p:cNvPr id="7" name="code-dot"/>
          <p:cNvSpPr/>
          <p:nvPr/>
        </p:nvSpPr>
        <p:spPr>
          <a:xfrm>
            <a:off x="1060704" y="1490472"/>
            <a:ext cx="109728" cy="109728"/>
          </a:xfrm>
          <a:prstGeom prst="ellipse">
            <a:avLst/>
          </a:prstGeom>
          <a:solidFill>
            <a:schemeClr val="bg2">
              <a:alpha val="55000"/>
            </a:schemeClr>
          </a:solidFill>
          <a:ln w="12700">
            <a:solidFill>
              <a:schemeClr val="bg2">
                <a:alpha val="55000"/>
              </a:schemeClr>
            </a:solidFill>
            <a:prstDash val="solid"/>
          </a:ln>
        </p:spPr>
      </p:sp>
      <p:sp>
        <p:nvSpPr>
          <p:cNvPr id="8" name="Text 6"/>
          <p:cNvSpPr txBox="1"/>
          <p:nvPr/>
        </p:nvSpPr>
        <p:spPr>
          <a:xfrm>
            <a:off x="1298448" y="1408176"/>
            <a:ext cx="5394960" cy="27432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main.py (original GBLSTSVM code)</a:t>
            </a:r>
            <a:endParaRPr lang="en-US" sz="1100" dirty="0"/>
          </a:p>
        </p:txBody>
      </p:sp>
      <p:sp>
        <p:nvSpPr>
          <p:cNvPr id="9" name="code-body"/>
          <p:cNvSpPr/>
          <p:nvPr/>
        </p:nvSpPr>
        <p:spPr>
          <a:xfrm>
            <a:off x="585216" y="1719072"/>
            <a:ext cx="6236208" cy="2432304"/>
          </a:xfrm>
          <a:prstGeom prst="rect">
            <a:avLst/>
          </a:prstGeom>
          <a:solidFill>
            <a:schemeClr val="bg1"/>
          </a:solidFill>
          <a:ln w="12700">
            <a:solidFill>
              <a:schemeClr val="bg1"/>
            </a:solidFill>
            <a:prstDash val="solid"/>
          </a:ln>
        </p:spPr>
      </p:sp>
      <p:sp>
        <p:nvSpPr>
          <p:cNvPr id="10" name="code"/>
          <p:cNvSpPr txBox="1"/>
          <p:nvPr/>
        </p:nvSpPr>
        <p:spPr>
          <a:xfrm>
            <a:off x="676656" y="1810512"/>
            <a:ext cx="6053328" cy="2286000"/>
          </a:xfrm>
          <a:prstGeom prst="rect">
            <a:avLst/>
          </a:prstGeom>
          <a:noFill/>
          <a:ln/>
        </p:spPr>
        <p:txBody>
          <a:bodyPr wrap="square" lIns="0" tIns="0" rIns="0" bIns="0" rtlCol="0" anchor="t"/>
          <a:lstStyle/>
          <a:p>
            <a:pPr indent="0" marL="0">
              <a:lnSpc>
                <a:spcPct val="100000"/>
              </a:lnSpc>
              <a:buNone/>
            </a:pPr>
            <a:r>
              <a:rPr lang="en-US" sz="1200" dirty="0">
                <a:solidFill>
                  <a:schemeClr val="tx1"/>
                </a:solidFill>
                <a:latin typeface="Courier New" pitchFamily="34" charset="0"/>
                <a:ea typeface="Courier New" pitchFamily="34" charset="-122"/>
                <a:cs typeface="Courier New" pitchFamily="34" charset="-120"/>
              </a:rPr>
              <a:t>c_candidates = [</a:t>
            </a:r>
            <a:r>
              <a:rPr lang="en-US" sz="1200" dirty="0">
                <a:solidFill>
                  <a:schemeClr val="accent4"/>
                </a:solidFill>
                <a:latin typeface="Courier New" pitchFamily="34" charset="0"/>
                <a:ea typeface="Courier New" pitchFamily="34" charset="-122"/>
                <a:cs typeface="Courier New" pitchFamily="34" charset="-120"/>
              </a:rPr>
              <a:t>0.001</a:t>
            </a:r>
            <a:r>
              <a:rPr lang="en-US" sz="1200" dirty="0">
                <a:solidFill>
                  <a:schemeClr val="tx1"/>
                </a:solidFill>
                <a:latin typeface="Courier New" pitchFamily="34" charset="0"/>
                <a:ea typeface="Courier New" pitchFamily="34" charset="-122"/>
                <a:cs typeface="Courier New" pitchFamily="34" charset="-120"/>
              </a:rPr>
              <a:t>, </a:t>
            </a:r>
            <a:r>
              <a:rPr lang="en-US" sz="1200" dirty="0">
                <a:solidFill>
                  <a:schemeClr val="accent4"/>
                </a:solidFill>
                <a:latin typeface="Courier New" pitchFamily="34" charset="0"/>
                <a:ea typeface="Courier New" pitchFamily="34" charset="-122"/>
                <a:cs typeface="Courier New" pitchFamily="34" charset="-120"/>
              </a:rPr>
              <a:t>0.01</a:t>
            </a:r>
            <a:r>
              <a:rPr lang="en-US" sz="1200" dirty="0">
                <a:solidFill>
                  <a:schemeClr val="tx1"/>
                </a:solidFill>
                <a:latin typeface="Courier New" pitchFamily="34" charset="0"/>
                <a:ea typeface="Courier New" pitchFamily="34" charset="-122"/>
                <a:cs typeface="Courier New" pitchFamily="34" charset="-120"/>
              </a:rPr>
              <a:t>, </a:t>
            </a:r>
            <a:r>
              <a:rPr lang="en-US" sz="1200" dirty="0">
                <a:solidFill>
                  <a:schemeClr val="accent4"/>
                </a:solidFill>
                <a:latin typeface="Courier New" pitchFamily="34" charset="0"/>
                <a:ea typeface="Courier New" pitchFamily="34" charset="-122"/>
                <a:cs typeface="Courier New" pitchFamily="34" charset="-120"/>
              </a:rPr>
              <a:t>0.1</a:t>
            </a:r>
            <a:r>
              <a:rPr lang="en-US" sz="1200" dirty="0">
                <a:solidFill>
                  <a:schemeClr val="tx1"/>
                </a:solidFill>
                <a:latin typeface="Courier New" pitchFamily="34" charset="0"/>
                <a:ea typeface="Courier New" pitchFamily="34" charset="-122"/>
                <a:cs typeface="Courier New" pitchFamily="34" charset="-120"/>
              </a:rPr>
              <a:t>, </a:t>
            </a:r>
            <a:r>
              <a:rPr lang="en-US" sz="1200" dirty="0">
                <a:solidFill>
                  <a:schemeClr val="accent4"/>
                </a:solidFill>
                <a:latin typeface="Courier New" pitchFamily="34" charset="0"/>
                <a:ea typeface="Courier New" pitchFamily="34" charset="-122"/>
                <a:cs typeface="Courier New" pitchFamily="34" charset="-120"/>
              </a:rPr>
              <a:t>1.0</a:t>
            </a:r>
            <a:r>
              <a:rPr lang="en-US" sz="1200" dirty="0">
                <a:solidFill>
                  <a:schemeClr val="tx1"/>
                </a:solidFill>
                <a:latin typeface="Courier New" pitchFamily="34" charset="0"/>
                <a:ea typeface="Courier New" pitchFamily="34" charset="-122"/>
                <a:cs typeface="Courier New" pitchFamily="34" charset="-120"/>
              </a:rPr>
              <a:t>, </a:t>
            </a:r>
            <a:r>
              <a:rPr lang="en-US" sz="1200" dirty="0">
                <a:solidFill>
                  <a:schemeClr val="accent4"/>
                </a:solidFill>
                <a:latin typeface="Courier New" pitchFamily="34" charset="0"/>
                <a:ea typeface="Courier New" pitchFamily="34" charset="-122"/>
                <a:cs typeface="Courier New" pitchFamily="34" charset="-120"/>
              </a:rPr>
              <a:t>10.0</a:t>
            </a:r>
            <a:r>
              <a:rPr lang="en-US" sz="1200" dirty="0">
                <a:solidFill>
                  <a:schemeClr val="tx1"/>
                </a:solidFill>
                <a:latin typeface="Courier New" pitchFamily="34" charset="0"/>
                <a:ea typeface="Courier New" pitchFamily="34" charset="-122"/>
                <a:cs typeface="Courier New" pitchFamily="34" charset="-120"/>
              </a:rPr>
              <a:t>, </a:t>
            </a:r>
            <a:r>
              <a:rPr lang="en-US" sz="1200" dirty="0">
                <a:solidFill>
                  <a:schemeClr val="accent4"/>
                </a:solidFill>
                <a:latin typeface="Courier New" pitchFamily="34" charset="0"/>
                <a:ea typeface="Courier New" pitchFamily="34" charset="-122"/>
                <a:cs typeface="Courier New" pitchFamily="34" charset="-120"/>
              </a:rPr>
              <a:t>100.0</a:t>
            </a:r>
            <a:r>
              <a:rPr lang="en-US" sz="1200" dirty="0">
                <a:solidFill>
                  <a:schemeClr val="tx1"/>
                </a:solidFill>
                <a:latin typeface="Courier New" pitchFamily="34" charset="0"/>
                <a:ea typeface="Courier New" pitchFamily="34" charset="-122"/>
                <a:cs typeface="Courier New" pitchFamily="34" charset="-120"/>
              </a:rPr>
              <a:t>, </a:t>
            </a:r>
            <a:r>
              <a:rPr lang="en-US" sz="1200" dirty="0">
                <a:solidFill>
                  <a:schemeClr val="accent4"/>
                </a:solidFill>
                <a:latin typeface="Courier New" pitchFamily="34" charset="0"/>
                <a:ea typeface="Courier New" pitchFamily="34" charset="-122"/>
                <a:cs typeface="Courier New" pitchFamily="34" charset="-120"/>
              </a:rPr>
              <a:t>1000.0</a:t>
            </a:r>
            <a:r>
              <a:rPr lang="en-US" sz="1200" dirty="0">
                <a:solidFill>
                  <a:schemeClr val="tx1"/>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b="1" dirty="0">
                <a:solidFill>
                  <a:schemeClr val="accent3"/>
                </a:solidFill>
                <a:latin typeface="Courier New" pitchFamily="34" charset="0"/>
                <a:ea typeface="Courier New" pitchFamily="34" charset="-122"/>
                <a:cs typeface="Courier New" pitchFamily="34" charset="-120"/>
              </a:rPr>
              <a:t>for</a:t>
            </a:r>
            <a:r>
              <a:rPr lang="en-US" sz="1200" dirty="0">
                <a:solidFill>
                  <a:schemeClr val="tx1"/>
                </a:solidFill>
                <a:latin typeface="Courier New" pitchFamily="34" charset="0"/>
                <a:ea typeface="Courier New" pitchFamily="34" charset="-122"/>
                <a:cs typeface="Courier New" pitchFamily="34" charset="-120"/>
              </a:rPr>
              <a:t> k </a:t>
            </a:r>
            <a:r>
              <a:rPr lang="en-US" sz="1200" b="1" dirty="0">
                <a:solidFill>
                  <a:schemeClr val="accent3"/>
                </a:solidFill>
                <a:latin typeface="Courier New" pitchFamily="34" charset="0"/>
                <a:ea typeface="Courier New" pitchFamily="34" charset="-122"/>
                <a:cs typeface="Courier New" pitchFamily="34" charset="-120"/>
              </a:rPr>
              <a:t>in</a:t>
            </a:r>
            <a:r>
              <a:rPr lang="en-US" sz="1200" dirty="0">
                <a:solidFill>
                  <a:schemeClr val="tx1"/>
                </a:solidFill>
                <a:latin typeface="Courier New" pitchFamily="34" charset="0"/>
                <a:ea typeface="Courier New" pitchFamily="34" charset="-122"/>
                <a:cs typeface="Courier New" pitchFamily="34" charset="-120"/>
              </a:rPr>
              <a:t> k_values:                      </a:t>
            </a:r>
            <a:r>
              <a:rPr lang="en-US" sz="1200" i="1" dirty="0">
                <a:solidFill>
                  <a:schemeClr val="accent6"/>
                </a:solidFill>
                <a:latin typeface="Courier New" pitchFamily="34" charset="0"/>
                <a:ea typeface="Courier New" pitchFamily="34" charset="-122"/>
                <a:cs typeface="Courier New" pitchFamily="34" charset="-120"/>
              </a:rPr>
              <a:t># k-means splits: 2..6</a:t>
            </a:r>
            <a:endParaRPr lang="en-US" sz="1200" dirty="0"/>
          </a:p>
          <a:p>
            <a:pPr indent="0" marL="0">
              <a:lnSpc>
                <a:spcPct val="100000"/>
              </a:lnSpc>
              <a:buNone/>
            </a:pPr>
            <a:r>
              <a:rPr lang="en-US" sz="1200" dirty="0">
                <a:solidFill>
                  <a:schemeClr val="tx1"/>
                </a:solidFill>
                <a:latin typeface="Courier New" pitchFamily="34" charset="0"/>
                <a:ea typeface="Courier New" pitchFamily="34" charset="-122"/>
                <a:cs typeface="Courier New" pitchFamily="34" charset="-120"/>
              </a:rPr>
              <a:t>    ...</a:t>
            </a:r>
            <a:endParaRPr lang="en-US" sz="1200" dirty="0"/>
          </a:p>
          <a:p>
            <a:pPr indent="0" marL="0">
              <a:lnSpc>
                <a:spcPct val="100000"/>
              </a:lnSpc>
              <a:buNone/>
            </a:pPr>
            <a:r>
              <a:rPr lang="en-US" sz="1200" dirty="0">
                <a:solidFill>
                  <a:schemeClr val="tx1"/>
                </a:solidFill>
                <a:latin typeface="Courier New" pitchFamily="34" charset="0"/>
                <a:ea typeface="Courier New" pitchFamily="34" charset="-122"/>
                <a:cs typeface="Courier New" pitchFamily="34" charset="-120"/>
              </a:rPr>
              <a:t>    </a:t>
            </a:r>
            <a:r>
              <a:rPr lang="en-US" sz="1200" b="1" dirty="0">
                <a:solidFill>
                  <a:schemeClr val="accent3"/>
                </a:solidFill>
                <a:latin typeface="Courier New" pitchFamily="34" charset="0"/>
                <a:ea typeface="Courier New" pitchFamily="34" charset="-122"/>
                <a:cs typeface="Courier New" pitchFamily="34" charset="-120"/>
              </a:rPr>
              <a:t>for</a:t>
            </a:r>
            <a:r>
              <a:rPr lang="en-US" sz="1200" dirty="0">
                <a:solidFill>
                  <a:schemeClr val="tx1"/>
                </a:solidFill>
                <a:latin typeface="Courier New" pitchFamily="34" charset="0"/>
                <a:ea typeface="Courier New" pitchFamily="34" charset="-122"/>
                <a:cs typeface="Courier New" pitchFamily="34" charset="-120"/>
              </a:rPr>
              <a:t> c1 </a:t>
            </a:r>
            <a:r>
              <a:rPr lang="en-US" sz="1200" b="1" dirty="0">
                <a:solidFill>
                  <a:schemeClr val="accent3"/>
                </a:solidFill>
                <a:latin typeface="Courier New" pitchFamily="34" charset="0"/>
                <a:ea typeface="Courier New" pitchFamily="34" charset="-122"/>
                <a:cs typeface="Courier New" pitchFamily="34" charset="-120"/>
              </a:rPr>
              <a:t>in</a:t>
            </a:r>
            <a:r>
              <a:rPr lang="en-US" sz="1200" dirty="0">
                <a:solidFill>
                  <a:schemeClr val="tx1"/>
                </a:solidFill>
                <a:latin typeface="Courier New" pitchFamily="34" charset="0"/>
                <a:ea typeface="Courier New" pitchFamily="34" charset="-122"/>
                <a:cs typeface="Courier New" pitchFamily="34" charset="-120"/>
              </a:rPr>
              <a:t> c_candidates:</a:t>
            </a:r>
            <a:endParaRPr lang="en-US" sz="1200" dirty="0"/>
          </a:p>
          <a:p>
            <a:pPr indent="0" marL="0">
              <a:lnSpc>
                <a:spcPct val="100000"/>
              </a:lnSpc>
              <a:buNone/>
            </a:pPr>
            <a:r>
              <a:rPr lang="en-US" sz="1200" dirty="0">
                <a:solidFill>
                  <a:schemeClr val="tx1"/>
                </a:solidFill>
                <a:latin typeface="Courier New" pitchFamily="34" charset="0"/>
                <a:ea typeface="Courier New" pitchFamily="34" charset="-122"/>
                <a:cs typeface="Courier New" pitchFamily="34" charset="-120"/>
              </a:rPr>
              <a:t>        </a:t>
            </a:r>
            <a:r>
              <a:rPr lang="en-US" sz="1200" b="1" dirty="0">
                <a:solidFill>
                  <a:schemeClr val="accent3"/>
                </a:solidFill>
                <a:latin typeface="Courier New" pitchFamily="34" charset="0"/>
                <a:ea typeface="Courier New" pitchFamily="34" charset="-122"/>
                <a:cs typeface="Courier New" pitchFamily="34" charset="-120"/>
              </a:rPr>
              <a:t>for</a:t>
            </a:r>
            <a:r>
              <a:rPr lang="en-US" sz="1200" dirty="0">
                <a:solidFill>
                  <a:schemeClr val="tx1"/>
                </a:solidFill>
                <a:latin typeface="Courier New" pitchFamily="34" charset="0"/>
                <a:ea typeface="Courier New" pitchFamily="34" charset="-122"/>
                <a:cs typeface="Courier New" pitchFamily="34" charset="-120"/>
              </a:rPr>
              <a:t> c2 </a:t>
            </a:r>
            <a:r>
              <a:rPr lang="en-US" sz="1200" b="1" dirty="0">
                <a:solidFill>
                  <a:schemeClr val="accent3"/>
                </a:solidFill>
                <a:latin typeface="Courier New" pitchFamily="34" charset="0"/>
                <a:ea typeface="Courier New" pitchFamily="34" charset="-122"/>
                <a:cs typeface="Courier New" pitchFamily="34" charset="-120"/>
              </a:rPr>
              <a:t>in</a:t>
            </a:r>
            <a:r>
              <a:rPr lang="en-US" sz="1200" dirty="0">
                <a:solidFill>
                  <a:schemeClr val="tx1"/>
                </a:solidFill>
                <a:latin typeface="Courier New" pitchFamily="34" charset="0"/>
                <a:ea typeface="Courier New" pitchFamily="34" charset="-122"/>
                <a:cs typeface="Courier New" pitchFamily="34" charset="-120"/>
              </a:rPr>
              <a:t> c_candidates:</a:t>
            </a:r>
            <a:endParaRPr lang="en-US" sz="1200" dirty="0"/>
          </a:p>
          <a:p>
            <a:pPr indent="0" marL="0">
              <a:lnSpc>
                <a:spcPct val="100000"/>
              </a:lnSpc>
              <a:buNone/>
            </a:pPr>
            <a:r>
              <a:rPr lang="en-US" sz="1200" dirty="0">
                <a:solidFill>
                  <a:schemeClr val="tx1"/>
                </a:solidFill>
                <a:latin typeface="Courier New" pitchFamily="34" charset="0"/>
                <a:ea typeface="Courier New" pitchFamily="34" charset="-122"/>
                <a:cs typeface="Courier New" pitchFamily="34" charset="-120"/>
              </a:rPr>
              <a:t>            res = LSTWGBSVM(train_ball_matrix, test_data,</a:t>
            </a:r>
            <a:endParaRPr lang="en-US" sz="1200" dirty="0"/>
          </a:p>
          <a:p>
            <a:pPr indent="0" marL="0">
              <a:lnSpc>
                <a:spcPct val="100000"/>
              </a:lnSpc>
              <a:buNone/>
            </a:pPr>
            <a:r>
              <a:rPr lang="en-US" sz="1200" dirty="0">
                <a:solidFill>
                  <a:schemeClr val="tx1"/>
                </a:solidFill>
                <a:latin typeface="Courier New" pitchFamily="34" charset="0"/>
                <a:ea typeface="Courier New" pitchFamily="34" charset="-122"/>
                <a:cs typeface="Courier New" pitchFamily="34" charset="-120"/>
              </a:rPr>
              <a:t>                            c1=c1, c2=c2, return_details=</a:t>
            </a:r>
            <a:r>
              <a:rPr lang="en-US" sz="1200" b="1" dirty="0">
                <a:solidFill>
                  <a:schemeClr val="accent3"/>
                </a:solidFill>
                <a:latin typeface="Courier New" pitchFamily="34" charset="0"/>
                <a:ea typeface="Courier New" pitchFamily="34" charset="-122"/>
                <a:cs typeface="Courier New" pitchFamily="34" charset="-120"/>
              </a:rPr>
              <a:t>True</a:t>
            </a:r>
            <a:r>
              <a:rPr lang="en-US" sz="1200" dirty="0">
                <a:solidFill>
                  <a:schemeClr val="tx1"/>
                </a:solidFill>
                <a:latin typeface="Courier New" pitchFamily="34" charset="0"/>
                <a:ea typeface="Courier New" pitchFamily="34" charset="-122"/>
                <a:cs typeface="Courier New" pitchFamily="34" charset="-120"/>
              </a:rPr>
              <a:t>)</a:t>
            </a:r>
            <a:endParaRPr lang="en-US" sz="1200" dirty="0"/>
          </a:p>
          <a:p>
            <a:pPr indent="0" marL="0">
              <a:lnSpc>
                <a:spcPct val="100000"/>
              </a:lnSpc>
              <a:buNone/>
            </a:pPr>
            <a:r>
              <a:rPr lang="en-US" sz="1200" dirty="0">
                <a:solidFill>
                  <a:schemeClr val="tx1"/>
                </a:solidFill>
                <a:latin typeface="Courier New" pitchFamily="34" charset="0"/>
                <a:ea typeface="Courier New" pitchFamily="34" charset="-122"/>
                <a:cs typeface="Courier New" pitchFamily="34" charset="-120"/>
              </a:rPr>
              <a:t>            score = res[</a:t>
            </a:r>
            <a:r>
              <a:rPr lang="en-US" sz="1200" dirty="0">
                <a:solidFill>
                  <a:schemeClr val="accent2"/>
                </a:solidFill>
                <a:latin typeface="Courier New" pitchFamily="34" charset="0"/>
                <a:ea typeface="Courier New" pitchFamily="34" charset="-122"/>
                <a:cs typeface="Courier New" pitchFamily="34" charset="-120"/>
              </a:rPr>
              <a:t>"auc"</a:t>
            </a:r>
            <a:r>
              <a:rPr lang="en-US" sz="1200" dirty="0">
                <a:solidFill>
                  <a:schemeClr val="tx1"/>
                </a:solidFill>
                <a:latin typeface="Courier New" pitchFamily="34" charset="0"/>
                <a:ea typeface="Courier New" pitchFamily="34" charset="-122"/>
                <a:cs typeface="Courier New" pitchFamily="34" charset="-120"/>
              </a:rPr>
              <a:t>]          </a:t>
            </a:r>
            <a:r>
              <a:rPr lang="en-US" sz="1200" i="1" dirty="0">
                <a:solidFill>
                  <a:schemeClr val="accent6"/>
                </a:solidFill>
                <a:latin typeface="Courier New" pitchFamily="34" charset="0"/>
                <a:ea typeface="Courier New" pitchFamily="34" charset="-122"/>
                <a:cs typeface="Courier New" pitchFamily="34" charset="-120"/>
              </a:rPr>
              <a:t># measured on test_data</a:t>
            </a:r>
            <a:endParaRPr lang="en-US" sz="1200" dirty="0"/>
          </a:p>
          <a:p>
            <a:pPr indent="0" marL="0">
              <a:lnSpc>
                <a:spcPct val="100000"/>
              </a:lnSpc>
              <a:buNone/>
            </a:pPr>
            <a:r>
              <a:rPr lang="en-US" sz="1200" dirty="0">
                <a:solidFill>
                  <a:schemeClr val="tx1"/>
                </a:solidFill>
                <a:latin typeface="Courier New" pitchFamily="34" charset="0"/>
                <a:ea typeface="Courier New" pitchFamily="34" charset="-122"/>
                <a:cs typeface="Courier New" pitchFamily="34" charset="-120"/>
              </a:rPr>
              <a:t>            </a:t>
            </a:r>
            <a:r>
              <a:rPr lang="en-US" sz="1200" b="1" dirty="0">
                <a:solidFill>
                  <a:schemeClr val="accent3"/>
                </a:solidFill>
                <a:latin typeface="Courier New" pitchFamily="34" charset="0"/>
                <a:ea typeface="Courier New" pitchFamily="34" charset="-122"/>
                <a:cs typeface="Courier New" pitchFamily="34" charset="-120"/>
              </a:rPr>
              <a:t>if</a:t>
            </a:r>
            <a:r>
              <a:rPr lang="en-US" sz="1200" dirty="0">
                <a:solidFill>
                  <a:schemeClr val="tx1"/>
                </a:solidFill>
                <a:latin typeface="Courier New" pitchFamily="34" charset="0"/>
                <a:ea typeface="Courier New" pitchFamily="34" charset="-122"/>
                <a:cs typeface="Courier New" pitchFamily="34" charset="-120"/>
              </a:rPr>
              <a:t> score &gt; best_uw_score:</a:t>
            </a:r>
            <a:endParaRPr lang="en-US" sz="1200" dirty="0"/>
          </a:p>
          <a:p>
            <a:pPr indent="0" marL="0">
              <a:lnSpc>
                <a:spcPct val="100000"/>
              </a:lnSpc>
              <a:buNone/>
            </a:pPr>
            <a:r>
              <a:rPr lang="en-US" sz="1200" dirty="0">
                <a:solidFill>
                  <a:schemeClr val="tx1"/>
                </a:solidFill>
                <a:latin typeface="Courier New" pitchFamily="34" charset="0"/>
                <a:ea typeface="Courier New" pitchFamily="34" charset="-122"/>
                <a:cs typeface="Courier New" pitchFamily="34" charset="-120"/>
              </a:rPr>
              <a:t>                best_uw_score = score</a:t>
            </a:r>
            <a:endParaRPr lang="en-US" sz="1200" dirty="0"/>
          </a:p>
          <a:p>
            <a:pPr indent="0" marL="0">
              <a:lnSpc>
                <a:spcPct val="100000"/>
              </a:lnSpc>
              <a:buNone/>
            </a:pPr>
            <a:r>
              <a:rPr lang="en-US" sz="1200" dirty="0">
                <a:solidFill>
                  <a:schemeClr val="tx1"/>
                </a:solidFill>
                <a:latin typeface="Courier New" pitchFamily="34" charset="0"/>
                <a:ea typeface="Courier New" pitchFamily="34" charset="-122"/>
                <a:cs typeface="Courier New" pitchFamily="34" charset="-120"/>
              </a:rPr>
              <a:t>                best_unweighted = (c1, c2, res)</a:t>
            </a:r>
            <a:endParaRPr lang="en-US" sz="1200" dirty="0"/>
          </a:p>
          <a:p>
            <a:pPr indent="0" marL="0">
              <a:lnSpc>
                <a:spcPct val="100000"/>
              </a:lnSpc>
              <a:buNone/>
            </a:pPr>
            <a:r>
              <a:rPr lang="en-US" sz="1200" i="1" dirty="0">
                <a:solidFill>
                  <a:schemeClr val="accent6"/>
                </a:solidFill>
                <a:latin typeface="Courier New" pitchFamily="34" charset="0"/>
                <a:ea typeface="Courier New" pitchFamily="34" charset="-122"/>
                <a:cs typeface="Courier New" pitchFamily="34" charset="-120"/>
              </a:rPr>
              <a:t># best_unweighted is then reported as the result</a:t>
            </a:r>
            <a:endParaRPr lang="en-US" sz="1200" dirty="0"/>
          </a:p>
        </p:txBody>
      </p:sp>
      <p:sp>
        <p:nvSpPr>
          <p:cNvPr id="11" name="Text 9"/>
          <p:cNvSpPr txBox="1"/>
          <p:nvPr/>
        </p:nvSpPr>
        <p:spPr>
          <a:xfrm>
            <a:off x="548640" y="4297680"/>
            <a:ext cx="6309360" cy="457200"/>
          </a:xfrm>
          <a:prstGeom prst="rect">
            <a:avLst/>
          </a:prstGeom>
          <a:noFill/>
          <a:ln/>
        </p:spPr>
        <p:txBody>
          <a:bodyPr wrap="square" lIns="0" tIns="0" rIns="0" bIns="0" rtlCol="0" anchor="t"/>
          <a:lstStyle/>
          <a:p>
            <a:pPr indent="0" marL="0">
              <a:buNone/>
            </a:pPr>
            <a:r>
              <a:rPr lang="en-US" sz="1200" i="1" dirty="0">
                <a:solidFill>
                  <a:schemeClr val="accent6"/>
                </a:solidFill>
              </a:rPr>
              <a:t>Shortened from main.py; the same loop runs again for the class-weighted model, with test AUC plus accuracy as the score.</a:t>
            </a:r>
            <a:endParaRPr lang="en-US" sz="1200" dirty="0"/>
          </a:p>
        </p:txBody>
      </p:sp>
      <p:sp>
        <p:nvSpPr>
          <p:cNvPr id="12" name="Text 10"/>
          <p:cNvSpPr txBox="1"/>
          <p:nvPr/>
        </p:nvSpPr>
        <p:spPr>
          <a:xfrm>
            <a:off x="7178040" y="1371600"/>
            <a:ext cx="4434840" cy="365760"/>
          </a:xfrm>
          <a:prstGeom prst="rect">
            <a:avLst/>
          </a:prstGeom>
          <a:noFill/>
          <a:ln/>
        </p:spPr>
        <p:txBody>
          <a:bodyPr wrap="square" lIns="0" tIns="0" rIns="0" bIns="0" rtlCol="0" anchor="t"/>
          <a:lstStyle/>
          <a:p>
            <a:pPr indent="0" marL="0">
              <a:buNone/>
            </a:pPr>
            <a:r>
              <a:rPr lang="en-US" sz="1800" b="1" dirty="0">
                <a:solidFill>
                  <a:schemeClr val="tx2"/>
                </a:solidFill>
              </a:rPr>
              <a:t>Why this is a problem</a:t>
            </a:r>
            <a:endParaRPr lang="en-US" sz="1800" dirty="0"/>
          </a:p>
        </p:txBody>
      </p:sp>
      <p:sp>
        <p:nvSpPr>
          <p:cNvPr id="13" name="Text 11"/>
          <p:cNvSpPr txBox="1"/>
          <p:nvPr/>
        </p:nvSpPr>
        <p:spPr>
          <a:xfrm>
            <a:off x="7178040" y="1783080"/>
            <a:ext cx="4434840" cy="21945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c1, c2 and k (245 combinations) are picked by their score on the test set, and that same score is reported.</a:t>
            </a:r>
            <a:endParaRPr lang="en-US" sz="1500" dirty="0"/>
          </a:p>
          <a:p>
            <a:pPr marL="203200" indent="-203200">
              <a:spcAft>
                <a:spcPts val="800"/>
              </a:spcAft>
              <a:buSzPct val="100000"/>
              <a:buChar char="•"/>
            </a:pPr>
            <a:r>
              <a:rPr lang="en-US" sz="1500" dirty="0">
                <a:solidFill>
                  <a:schemeClr val="tx1"/>
                </a:solidFill>
              </a:rPr>
              <a:t>The test set is no longer unseen: the result is the best of 245 tries, so it is optimistic.</a:t>
            </a:r>
            <a:endParaRPr lang="en-US" sz="1500" dirty="0"/>
          </a:p>
          <a:p>
            <a:pPr marL="203200" indent="-203200">
              <a:spcAft>
                <a:spcPts val="800"/>
              </a:spcAft>
              <a:buSzPct val="100000"/>
              <a:buChar char="•"/>
            </a:pPr>
            <a:r>
              <a:rPr lang="en-US" sz="1500" b="1" dirty="0">
                <a:solidFill>
                  <a:schemeClr val="tx1"/>
                </a:solidFill>
              </a:rPr>
              <a:t>We measured it: </a:t>
            </a:r>
            <a:r>
              <a:rPr lang="en-US" sz="1500" dirty="0">
                <a:solidFill>
                  <a:schemeClr val="tx1"/>
                </a:solidFill>
              </a:rPr>
              <a:t>+9 to +15 points of balanced accuracy.</a:t>
            </a:r>
            <a:endParaRPr lang="en-US" sz="1500" dirty="0"/>
          </a:p>
        </p:txBody>
      </p:sp>
      <p:sp>
        <p:nvSpPr>
          <p:cNvPr id="14" name="Text 12"/>
          <p:cNvSpPr txBox="1"/>
          <p:nvPr/>
        </p:nvSpPr>
        <p:spPr>
          <a:xfrm>
            <a:off x="7178040" y="4023360"/>
            <a:ext cx="4434840" cy="365760"/>
          </a:xfrm>
          <a:prstGeom prst="rect">
            <a:avLst/>
          </a:prstGeom>
          <a:noFill/>
          <a:ln/>
        </p:spPr>
        <p:txBody>
          <a:bodyPr wrap="square" lIns="0" tIns="0" rIns="0" bIns="0" rtlCol="0" anchor="t"/>
          <a:lstStyle/>
          <a:p>
            <a:pPr indent="0" marL="0">
              <a:buNone/>
            </a:pPr>
            <a:r>
              <a:rPr lang="en-US" sz="1800" b="1" dirty="0">
                <a:solidFill>
                  <a:schemeClr val="accent1"/>
                </a:solidFill>
              </a:rPr>
              <a:t>What we do instead</a:t>
            </a:r>
            <a:endParaRPr lang="en-US" sz="1800" dirty="0"/>
          </a:p>
        </p:txBody>
      </p:sp>
      <p:sp>
        <p:nvSpPr>
          <p:cNvPr id="15" name="Text 13"/>
          <p:cNvSpPr txBox="1"/>
          <p:nvPr/>
        </p:nvSpPr>
        <p:spPr>
          <a:xfrm>
            <a:off x="7178040" y="4434840"/>
            <a:ext cx="4434840" cy="1005840"/>
          </a:xfrm>
          <a:prstGeom prst="rect">
            <a:avLst/>
          </a:prstGeom>
          <a:noFill/>
          <a:ln/>
        </p:spPr>
        <p:txBody>
          <a:bodyPr wrap="square" lIns="0" tIns="0" rIns="0" bIns="0" rtlCol="0" anchor="t"/>
          <a:lstStyle/>
          <a:p>
            <a:pPr indent="0" marL="0">
              <a:buNone/>
            </a:pPr>
            <a:r>
              <a:rPr lang="en-US" sz="1500" dirty="0">
                <a:solidFill>
                  <a:schemeClr val="tx1"/>
                </a:solidFill>
              </a:rPr>
              <a:t>Choose every setting by 5-fold cross-validation inside the training part, and use the test set exactly once.</a:t>
            </a:r>
            <a:endParaRPr lang="en-US" sz="1500" dirty="0"/>
          </a:p>
        </p:txBody>
      </p:sp>
      <p:sp>
        <p:nvSpPr>
          <p:cNvPr id="16"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17"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18" name="Text 16"/>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Before testing any membership, we rebuilt the evaluation so that the test data never influences a choice.</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METHOD</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Our protocol: a fair, repeatable test bench</a:t>
            </a:r>
            <a:endParaRPr lang="en-US" sz="2800" dirty="0"/>
          </a:p>
        </p:txBody>
      </p:sp>
      <p:sp>
        <p:nvSpPr>
          <p:cNvPr id="4" name="step-card"/>
          <p:cNvSpPr/>
          <p:nvPr/>
        </p:nvSpPr>
        <p:spPr>
          <a:xfrm>
            <a:off x="548640" y="1371600"/>
            <a:ext cx="2029968" cy="2103120"/>
          </a:xfrm>
          <a:prstGeom prst="roundRect">
            <a:avLst>
              <a:gd name="adj" fmla="val 4505"/>
            </a:avLst>
          </a:prstGeom>
          <a:solidFill>
            <a:schemeClr val="bg2"/>
          </a:solidFill>
          <a:ln w="9525">
            <a:solidFill>
              <a:schemeClr val="bg2"/>
            </a:solidFill>
            <a:prstDash val="solid"/>
          </a:ln>
        </p:spPr>
      </p:sp>
      <p:sp>
        <p:nvSpPr>
          <p:cNvPr id="5" name="badge"/>
          <p:cNvSpPr/>
          <p:nvPr/>
        </p:nvSpPr>
        <p:spPr>
          <a:xfrm>
            <a:off x="713232" y="1508760"/>
            <a:ext cx="411480" cy="411480"/>
          </a:xfrm>
          <a:prstGeom prst="ellipse">
            <a:avLst/>
          </a:prstGeom>
          <a:solidFill>
            <a:schemeClr val="accent1"/>
          </a:solidFill>
          <a:ln w="12700">
            <a:solidFill>
              <a:schemeClr val="accent1"/>
            </a:solidFill>
            <a:prstDash val="solid"/>
          </a:ln>
        </p:spPr>
      </p:sp>
      <p:sp>
        <p:nvSpPr>
          <p:cNvPr id="6" name="Text 4"/>
          <p:cNvSpPr txBox="1"/>
          <p:nvPr/>
        </p:nvSpPr>
        <p:spPr>
          <a:xfrm>
            <a:off x="713232" y="15087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1234440" y="1517904"/>
            <a:ext cx="1234440" cy="384048"/>
          </a:xfrm>
          <a:prstGeom prst="rect">
            <a:avLst/>
          </a:prstGeom>
          <a:noFill/>
          <a:ln/>
        </p:spPr>
        <p:txBody>
          <a:bodyPr wrap="square" lIns="0" tIns="0" rIns="0" bIns="0" rtlCol="0" anchor="ctr"/>
          <a:lstStyle/>
          <a:p>
            <a:pPr indent="0" marL="0">
              <a:buNone/>
            </a:pPr>
            <a:r>
              <a:rPr lang="en-US" sz="1700" b="1" dirty="0">
                <a:solidFill>
                  <a:schemeClr val="tx2"/>
                </a:solidFill>
              </a:rPr>
              <a:t>Data</a:t>
            </a:r>
            <a:endParaRPr lang="en-US" sz="1700" dirty="0"/>
          </a:p>
        </p:txBody>
      </p:sp>
      <p:sp>
        <p:nvSpPr>
          <p:cNvPr id="8" name="Text 6"/>
          <p:cNvSpPr txBox="1"/>
          <p:nvPr/>
        </p:nvSpPr>
        <p:spPr>
          <a:xfrm>
            <a:off x="713232" y="2057400"/>
            <a:ext cx="1755648" cy="1371600"/>
          </a:xfrm>
          <a:prstGeom prst="rect">
            <a:avLst/>
          </a:prstGeom>
          <a:noFill/>
          <a:ln/>
        </p:spPr>
        <p:txBody>
          <a:bodyPr wrap="square" lIns="0" tIns="0" rIns="0" bIns="0" rtlCol="0" anchor="t"/>
          <a:lstStyle/>
          <a:p>
            <a:pPr indent="0" marL="0">
              <a:buNone/>
            </a:pPr>
            <a:r>
              <a:rPr lang="en-US" sz="1300" dirty="0">
                <a:solidFill>
                  <a:schemeClr val="tx1"/>
                </a:solidFill>
              </a:rPr>
              <a:t>21 binary datasets from UCI and KEEL [22, 23], standardised on the training part</a:t>
            </a:r>
            <a:endParaRPr lang="en-US" sz="1300" dirty="0"/>
          </a:p>
        </p:txBody>
      </p:sp>
      <p:sp>
        <p:nvSpPr>
          <p:cNvPr id="9" name="flow-arrow"/>
          <p:cNvSpPr/>
          <p:nvPr/>
        </p:nvSpPr>
        <p:spPr>
          <a:xfrm>
            <a:off x="2596896" y="2286000"/>
            <a:ext cx="201168" cy="274320"/>
          </a:xfrm>
          <a:prstGeom prst="rightArrow">
            <a:avLst/>
          </a:prstGeom>
          <a:solidFill>
            <a:schemeClr val="accent6"/>
          </a:solidFill>
          <a:ln w="12700">
            <a:solidFill>
              <a:schemeClr val="accent6"/>
            </a:solidFill>
            <a:prstDash val="solid"/>
          </a:ln>
        </p:spPr>
      </p:sp>
      <p:sp>
        <p:nvSpPr>
          <p:cNvPr id="10" name="step-card"/>
          <p:cNvSpPr/>
          <p:nvPr/>
        </p:nvSpPr>
        <p:spPr>
          <a:xfrm>
            <a:off x="2807208" y="1371600"/>
            <a:ext cx="2029968" cy="2103120"/>
          </a:xfrm>
          <a:prstGeom prst="roundRect">
            <a:avLst>
              <a:gd name="adj" fmla="val 4505"/>
            </a:avLst>
          </a:prstGeom>
          <a:solidFill>
            <a:schemeClr val="bg2"/>
          </a:solidFill>
          <a:ln w="9525">
            <a:solidFill>
              <a:schemeClr val="bg2"/>
            </a:solidFill>
            <a:prstDash val="solid"/>
          </a:ln>
        </p:spPr>
      </p:sp>
      <p:sp>
        <p:nvSpPr>
          <p:cNvPr id="11" name="badge"/>
          <p:cNvSpPr/>
          <p:nvPr/>
        </p:nvSpPr>
        <p:spPr>
          <a:xfrm>
            <a:off x="2971800" y="1508760"/>
            <a:ext cx="411480" cy="411480"/>
          </a:xfrm>
          <a:prstGeom prst="ellipse">
            <a:avLst/>
          </a:prstGeom>
          <a:solidFill>
            <a:schemeClr val="accent1"/>
          </a:solidFill>
          <a:ln w="12700">
            <a:solidFill>
              <a:schemeClr val="accent1"/>
            </a:solidFill>
            <a:prstDash val="solid"/>
          </a:ln>
        </p:spPr>
      </p:sp>
      <p:sp>
        <p:nvSpPr>
          <p:cNvPr id="12" name="Text 10"/>
          <p:cNvSpPr txBox="1"/>
          <p:nvPr/>
        </p:nvSpPr>
        <p:spPr>
          <a:xfrm>
            <a:off x="2971800" y="15087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3" name="Text 11"/>
          <p:cNvSpPr txBox="1"/>
          <p:nvPr/>
        </p:nvSpPr>
        <p:spPr>
          <a:xfrm>
            <a:off x="3493008" y="1517904"/>
            <a:ext cx="1234440" cy="384048"/>
          </a:xfrm>
          <a:prstGeom prst="rect">
            <a:avLst/>
          </a:prstGeom>
          <a:noFill/>
          <a:ln/>
        </p:spPr>
        <p:txBody>
          <a:bodyPr wrap="square" lIns="0" tIns="0" rIns="0" bIns="0" rtlCol="0" anchor="ctr"/>
          <a:lstStyle/>
          <a:p>
            <a:pPr indent="0" marL="0">
              <a:buNone/>
            </a:pPr>
            <a:r>
              <a:rPr lang="en-US" sz="1700" b="1" dirty="0">
                <a:solidFill>
                  <a:schemeClr val="tx2"/>
                </a:solidFill>
              </a:rPr>
              <a:t>Split</a:t>
            </a:r>
            <a:endParaRPr lang="en-US" sz="1700" dirty="0"/>
          </a:p>
        </p:txBody>
      </p:sp>
      <p:sp>
        <p:nvSpPr>
          <p:cNvPr id="14" name="Text 12"/>
          <p:cNvSpPr txBox="1"/>
          <p:nvPr/>
        </p:nvSpPr>
        <p:spPr>
          <a:xfrm>
            <a:off x="2971800" y="2057400"/>
            <a:ext cx="1755648" cy="1371600"/>
          </a:xfrm>
          <a:prstGeom prst="rect">
            <a:avLst/>
          </a:prstGeom>
          <a:noFill/>
          <a:ln/>
        </p:spPr>
        <p:txBody>
          <a:bodyPr wrap="square" lIns="0" tIns="0" rIns="0" bIns="0" rtlCol="0" anchor="t"/>
          <a:lstStyle/>
          <a:p>
            <a:pPr indent="0" marL="0">
              <a:buNone/>
            </a:pPr>
            <a:r>
              <a:rPr lang="en-US" sz="1300" dirty="0">
                <a:solidFill>
                  <a:schemeClr val="tx1"/>
                </a:solidFill>
              </a:rPr>
              <a:t>Stratified 70/30 train/test split, repeated 10 times with different seeds</a:t>
            </a:r>
            <a:endParaRPr lang="en-US" sz="1300" dirty="0"/>
          </a:p>
        </p:txBody>
      </p:sp>
      <p:sp>
        <p:nvSpPr>
          <p:cNvPr id="15" name="flow-arrow"/>
          <p:cNvSpPr/>
          <p:nvPr/>
        </p:nvSpPr>
        <p:spPr>
          <a:xfrm>
            <a:off x="4855464" y="2286000"/>
            <a:ext cx="201168" cy="274320"/>
          </a:xfrm>
          <a:prstGeom prst="rightArrow">
            <a:avLst/>
          </a:prstGeom>
          <a:solidFill>
            <a:schemeClr val="accent6"/>
          </a:solidFill>
          <a:ln w="12700">
            <a:solidFill>
              <a:schemeClr val="accent6"/>
            </a:solidFill>
            <a:prstDash val="solid"/>
          </a:ln>
        </p:spPr>
      </p:sp>
      <p:sp>
        <p:nvSpPr>
          <p:cNvPr id="16" name="step-card"/>
          <p:cNvSpPr/>
          <p:nvPr/>
        </p:nvSpPr>
        <p:spPr>
          <a:xfrm>
            <a:off x="5065776" y="1371600"/>
            <a:ext cx="2029968" cy="2103120"/>
          </a:xfrm>
          <a:prstGeom prst="roundRect">
            <a:avLst>
              <a:gd name="adj" fmla="val 4505"/>
            </a:avLst>
          </a:prstGeom>
          <a:solidFill>
            <a:schemeClr val="bg2"/>
          </a:solidFill>
          <a:ln w="9525">
            <a:solidFill>
              <a:schemeClr val="bg2"/>
            </a:solidFill>
            <a:prstDash val="solid"/>
          </a:ln>
        </p:spPr>
      </p:sp>
      <p:sp>
        <p:nvSpPr>
          <p:cNvPr id="17" name="badge"/>
          <p:cNvSpPr/>
          <p:nvPr/>
        </p:nvSpPr>
        <p:spPr>
          <a:xfrm>
            <a:off x="5230368" y="1508760"/>
            <a:ext cx="411480" cy="411480"/>
          </a:xfrm>
          <a:prstGeom prst="ellipse">
            <a:avLst/>
          </a:prstGeom>
          <a:solidFill>
            <a:schemeClr val="accent1"/>
          </a:solidFill>
          <a:ln w="12700">
            <a:solidFill>
              <a:schemeClr val="accent1"/>
            </a:solidFill>
            <a:prstDash val="solid"/>
          </a:ln>
        </p:spPr>
      </p:sp>
      <p:sp>
        <p:nvSpPr>
          <p:cNvPr id="18" name="Text 16"/>
          <p:cNvSpPr txBox="1"/>
          <p:nvPr/>
        </p:nvSpPr>
        <p:spPr>
          <a:xfrm>
            <a:off x="5230368" y="15087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9" name="Text 17"/>
          <p:cNvSpPr txBox="1"/>
          <p:nvPr/>
        </p:nvSpPr>
        <p:spPr>
          <a:xfrm>
            <a:off x="5751576" y="1517904"/>
            <a:ext cx="1234440" cy="384048"/>
          </a:xfrm>
          <a:prstGeom prst="rect">
            <a:avLst/>
          </a:prstGeom>
          <a:noFill/>
          <a:ln/>
        </p:spPr>
        <p:txBody>
          <a:bodyPr wrap="square" lIns="0" tIns="0" rIns="0" bIns="0" rtlCol="0" anchor="ctr"/>
          <a:lstStyle/>
          <a:p>
            <a:pPr indent="0" marL="0">
              <a:buNone/>
            </a:pPr>
            <a:r>
              <a:rPr lang="en-US" sz="1700" b="1" dirty="0">
                <a:solidFill>
                  <a:schemeClr val="tx2"/>
                </a:solidFill>
              </a:rPr>
              <a:t>Noise</a:t>
            </a:r>
            <a:endParaRPr lang="en-US" sz="1700" dirty="0"/>
          </a:p>
        </p:txBody>
      </p:sp>
      <p:sp>
        <p:nvSpPr>
          <p:cNvPr id="20" name="Text 18"/>
          <p:cNvSpPr txBox="1"/>
          <p:nvPr/>
        </p:nvSpPr>
        <p:spPr>
          <a:xfrm>
            <a:off x="5230368" y="2057400"/>
            <a:ext cx="1755648" cy="1371600"/>
          </a:xfrm>
          <a:prstGeom prst="rect">
            <a:avLst/>
          </a:prstGeom>
          <a:noFill/>
          <a:ln/>
        </p:spPr>
        <p:txBody>
          <a:bodyPr wrap="square" lIns="0" tIns="0" rIns="0" bIns="0" rtlCol="0" anchor="t"/>
          <a:lstStyle/>
          <a:p>
            <a:pPr indent="0" marL="0">
              <a:buNone/>
            </a:pPr>
            <a:r>
              <a:rPr lang="en-US" sz="1300" dirty="0">
                <a:solidFill>
                  <a:schemeClr val="tx1"/>
                </a:solidFill>
              </a:rPr>
              <a:t>Flip 0, 10, 20 or 30% of the training labels at random [16]; test labels stay clean</a:t>
            </a:r>
            <a:endParaRPr lang="en-US" sz="1300" dirty="0"/>
          </a:p>
        </p:txBody>
      </p:sp>
      <p:sp>
        <p:nvSpPr>
          <p:cNvPr id="21" name="flow-arrow"/>
          <p:cNvSpPr/>
          <p:nvPr/>
        </p:nvSpPr>
        <p:spPr>
          <a:xfrm>
            <a:off x="7114032" y="2286000"/>
            <a:ext cx="201168" cy="274320"/>
          </a:xfrm>
          <a:prstGeom prst="rightArrow">
            <a:avLst/>
          </a:prstGeom>
          <a:solidFill>
            <a:schemeClr val="accent6"/>
          </a:solidFill>
          <a:ln w="12700">
            <a:solidFill>
              <a:schemeClr val="accent6"/>
            </a:solidFill>
            <a:prstDash val="solid"/>
          </a:ln>
        </p:spPr>
      </p:sp>
      <p:sp>
        <p:nvSpPr>
          <p:cNvPr id="22" name="step-card"/>
          <p:cNvSpPr/>
          <p:nvPr/>
        </p:nvSpPr>
        <p:spPr>
          <a:xfrm>
            <a:off x="7324344" y="1371600"/>
            <a:ext cx="2029968" cy="2103120"/>
          </a:xfrm>
          <a:prstGeom prst="roundRect">
            <a:avLst>
              <a:gd name="adj" fmla="val 4505"/>
            </a:avLst>
          </a:prstGeom>
          <a:solidFill>
            <a:schemeClr val="bg2"/>
          </a:solidFill>
          <a:ln w="9525">
            <a:solidFill>
              <a:schemeClr val="bg2"/>
            </a:solidFill>
            <a:prstDash val="solid"/>
          </a:ln>
        </p:spPr>
      </p:sp>
      <p:sp>
        <p:nvSpPr>
          <p:cNvPr id="23" name="badge"/>
          <p:cNvSpPr/>
          <p:nvPr/>
        </p:nvSpPr>
        <p:spPr>
          <a:xfrm>
            <a:off x="7488936" y="1508760"/>
            <a:ext cx="411480" cy="411480"/>
          </a:xfrm>
          <a:prstGeom prst="ellipse">
            <a:avLst/>
          </a:prstGeom>
          <a:solidFill>
            <a:schemeClr val="accent1"/>
          </a:solidFill>
          <a:ln w="12700">
            <a:solidFill>
              <a:schemeClr val="accent1"/>
            </a:solidFill>
            <a:prstDash val="solid"/>
          </a:ln>
        </p:spPr>
      </p:sp>
      <p:sp>
        <p:nvSpPr>
          <p:cNvPr id="24" name="Text 22"/>
          <p:cNvSpPr txBox="1"/>
          <p:nvPr/>
        </p:nvSpPr>
        <p:spPr>
          <a:xfrm>
            <a:off x="7488936" y="15087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5" name="Text 23"/>
          <p:cNvSpPr txBox="1"/>
          <p:nvPr/>
        </p:nvSpPr>
        <p:spPr>
          <a:xfrm>
            <a:off x="8010144" y="1517904"/>
            <a:ext cx="1234440" cy="384048"/>
          </a:xfrm>
          <a:prstGeom prst="rect">
            <a:avLst/>
          </a:prstGeom>
          <a:noFill/>
          <a:ln/>
        </p:spPr>
        <p:txBody>
          <a:bodyPr wrap="square" lIns="0" tIns="0" rIns="0" bIns="0" rtlCol="0" anchor="ctr"/>
          <a:lstStyle/>
          <a:p>
            <a:pPr indent="0" marL="0">
              <a:buNone/>
            </a:pPr>
            <a:r>
              <a:rPr lang="en-US" sz="1700" b="1" dirty="0">
                <a:solidFill>
                  <a:schemeClr val="tx2"/>
                </a:solidFill>
              </a:rPr>
              <a:t>Tune</a:t>
            </a:r>
            <a:endParaRPr lang="en-US" sz="1700" dirty="0"/>
          </a:p>
        </p:txBody>
      </p:sp>
      <p:sp>
        <p:nvSpPr>
          <p:cNvPr id="26" name="Text 24"/>
          <p:cNvSpPr txBox="1"/>
          <p:nvPr/>
        </p:nvSpPr>
        <p:spPr>
          <a:xfrm>
            <a:off x="7488936" y="2057400"/>
            <a:ext cx="1755648" cy="1371600"/>
          </a:xfrm>
          <a:prstGeom prst="rect">
            <a:avLst/>
          </a:prstGeom>
          <a:noFill/>
          <a:ln/>
        </p:spPr>
        <p:txBody>
          <a:bodyPr wrap="square" lIns="0" tIns="0" rIns="0" bIns="0" rtlCol="0" anchor="t"/>
          <a:lstStyle/>
          <a:p>
            <a:pPr indent="0" marL="0">
              <a:buNone/>
            </a:pPr>
            <a:r>
              <a:rPr lang="en-US" sz="1300" dirty="0">
                <a:solidFill>
                  <a:schemeClr val="tx1"/>
                </a:solidFill>
              </a:rPr>
              <a:t>5-fold cross-validation on the training part picks c1, c2, k and the membership settings</a:t>
            </a:r>
            <a:endParaRPr lang="en-US" sz="1300" dirty="0"/>
          </a:p>
        </p:txBody>
      </p:sp>
      <p:sp>
        <p:nvSpPr>
          <p:cNvPr id="27" name="flow-arrow"/>
          <p:cNvSpPr/>
          <p:nvPr/>
        </p:nvSpPr>
        <p:spPr>
          <a:xfrm>
            <a:off x="9372600" y="2286000"/>
            <a:ext cx="201168" cy="274320"/>
          </a:xfrm>
          <a:prstGeom prst="rightArrow">
            <a:avLst/>
          </a:prstGeom>
          <a:solidFill>
            <a:schemeClr val="accent6"/>
          </a:solidFill>
          <a:ln w="12700">
            <a:solidFill>
              <a:schemeClr val="accent6"/>
            </a:solidFill>
            <a:prstDash val="solid"/>
          </a:ln>
        </p:spPr>
      </p:sp>
      <p:sp>
        <p:nvSpPr>
          <p:cNvPr id="28" name="step-card"/>
          <p:cNvSpPr/>
          <p:nvPr/>
        </p:nvSpPr>
        <p:spPr>
          <a:xfrm>
            <a:off x="9582912" y="1371600"/>
            <a:ext cx="2029968" cy="2103120"/>
          </a:xfrm>
          <a:prstGeom prst="roundRect">
            <a:avLst>
              <a:gd name="adj" fmla="val 4505"/>
            </a:avLst>
          </a:prstGeom>
          <a:solidFill>
            <a:schemeClr val="bg2"/>
          </a:solidFill>
          <a:ln w="9525">
            <a:solidFill>
              <a:schemeClr val="bg2"/>
            </a:solidFill>
            <a:prstDash val="solid"/>
          </a:ln>
        </p:spPr>
      </p:sp>
      <p:sp>
        <p:nvSpPr>
          <p:cNvPr id="29" name="badge"/>
          <p:cNvSpPr/>
          <p:nvPr/>
        </p:nvSpPr>
        <p:spPr>
          <a:xfrm>
            <a:off x="9747504" y="1508760"/>
            <a:ext cx="411480" cy="411480"/>
          </a:xfrm>
          <a:prstGeom prst="ellipse">
            <a:avLst/>
          </a:prstGeom>
          <a:solidFill>
            <a:schemeClr val="accent1"/>
          </a:solidFill>
          <a:ln w="12700">
            <a:solidFill>
              <a:schemeClr val="accent1"/>
            </a:solidFill>
            <a:prstDash val="solid"/>
          </a:ln>
        </p:spPr>
      </p:sp>
      <p:sp>
        <p:nvSpPr>
          <p:cNvPr id="30" name="Text 28"/>
          <p:cNvSpPr txBox="1"/>
          <p:nvPr/>
        </p:nvSpPr>
        <p:spPr>
          <a:xfrm>
            <a:off x="9747504" y="15087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1" name="Text 29"/>
          <p:cNvSpPr txBox="1"/>
          <p:nvPr/>
        </p:nvSpPr>
        <p:spPr>
          <a:xfrm>
            <a:off x="10268712" y="1517904"/>
            <a:ext cx="1234440" cy="384048"/>
          </a:xfrm>
          <a:prstGeom prst="rect">
            <a:avLst/>
          </a:prstGeom>
          <a:noFill/>
          <a:ln/>
        </p:spPr>
        <p:txBody>
          <a:bodyPr wrap="square" lIns="0" tIns="0" rIns="0" bIns="0" rtlCol="0" anchor="ctr"/>
          <a:lstStyle/>
          <a:p>
            <a:pPr indent="0" marL="0">
              <a:buNone/>
            </a:pPr>
            <a:r>
              <a:rPr lang="en-US" sz="1700" b="1" dirty="0">
                <a:solidFill>
                  <a:schemeClr val="tx2"/>
                </a:solidFill>
              </a:rPr>
              <a:t>Test</a:t>
            </a:r>
            <a:endParaRPr lang="en-US" sz="1700" dirty="0"/>
          </a:p>
        </p:txBody>
      </p:sp>
      <p:sp>
        <p:nvSpPr>
          <p:cNvPr id="32" name="Text 30"/>
          <p:cNvSpPr txBox="1"/>
          <p:nvPr/>
        </p:nvSpPr>
        <p:spPr>
          <a:xfrm>
            <a:off x="9747504" y="2057400"/>
            <a:ext cx="1755648" cy="1371600"/>
          </a:xfrm>
          <a:prstGeom prst="rect">
            <a:avLst/>
          </a:prstGeom>
          <a:noFill/>
          <a:ln/>
        </p:spPr>
        <p:txBody>
          <a:bodyPr wrap="square" lIns="0" tIns="0" rIns="0" bIns="0" rtlCol="0" anchor="t"/>
          <a:lstStyle/>
          <a:p>
            <a:pPr indent="0" marL="0">
              <a:buNone/>
            </a:pPr>
            <a:r>
              <a:rPr lang="en-US" sz="1300" dirty="0">
                <a:solidFill>
                  <a:schemeClr val="tx1"/>
                </a:solidFill>
              </a:rPr>
              <a:t>Retrain on the whole training part with the chosen settings; score the test set once</a:t>
            </a:r>
            <a:endParaRPr lang="en-US" sz="1300" dirty="0"/>
          </a:p>
        </p:txBody>
      </p:sp>
      <p:sp>
        <p:nvSpPr>
          <p:cNvPr id="33" name="Text 31"/>
          <p:cNvSpPr txBox="1"/>
          <p:nvPr/>
        </p:nvSpPr>
        <p:spPr>
          <a:xfrm>
            <a:off x="548640" y="3703320"/>
            <a:ext cx="2651760" cy="68580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21</a:t>
            </a:r>
            <a:endParaRPr lang="en-US" sz="3600" dirty="0"/>
          </a:p>
        </p:txBody>
      </p:sp>
      <p:sp>
        <p:nvSpPr>
          <p:cNvPr id="34" name="Text 32"/>
          <p:cNvSpPr txBox="1"/>
          <p:nvPr/>
        </p:nvSpPr>
        <p:spPr>
          <a:xfrm>
            <a:off x="548640" y="4434840"/>
            <a:ext cx="2606040" cy="1005840"/>
          </a:xfrm>
          <a:prstGeom prst="rect">
            <a:avLst/>
          </a:prstGeom>
          <a:noFill/>
          <a:ln/>
        </p:spPr>
        <p:txBody>
          <a:bodyPr wrap="square" lIns="0" tIns="0" rIns="0" bIns="0" rtlCol="0" anchor="t"/>
          <a:lstStyle/>
          <a:p>
            <a:pPr indent="0" marL="0">
              <a:buNone/>
            </a:pPr>
            <a:r>
              <a:rPr lang="en-US" sz="1400" dirty="0">
                <a:solidFill>
                  <a:schemeClr val="tx1"/>
                </a:solidFill>
              </a:rPr>
              <a:t>datasets: 194–1,484 points, 3–60 features, class imbalance up to 16:1</a:t>
            </a:r>
            <a:endParaRPr lang="en-US" sz="1400" dirty="0"/>
          </a:p>
        </p:txBody>
      </p:sp>
      <p:sp>
        <p:nvSpPr>
          <p:cNvPr id="35" name="Text 33"/>
          <p:cNvSpPr txBox="1"/>
          <p:nvPr/>
        </p:nvSpPr>
        <p:spPr>
          <a:xfrm>
            <a:off x="3364992" y="3703320"/>
            <a:ext cx="2651760" cy="68580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10</a:t>
            </a:r>
            <a:endParaRPr lang="en-US" sz="3600" dirty="0"/>
          </a:p>
        </p:txBody>
      </p:sp>
      <p:sp>
        <p:nvSpPr>
          <p:cNvPr id="36" name="Text 34"/>
          <p:cNvSpPr txBox="1"/>
          <p:nvPr/>
        </p:nvSpPr>
        <p:spPr>
          <a:xfrm>
            <a:off x="3364992" y="4434840"/>
            <a:ext cx="2606040" cy="1005840"/>
          </a:xfrm>
          <a:prstGeom prst="rect">
            <a:avLst/>
          </a:prstGeom>
          <a:noFill/>
          <a:ln/>
        </p:spPr>
        <p:txBody>
          <a:bodyPr wrap="square" lIns="0" tIns="0" rIns="0" bIns="0" rtlCol="0" anchor="t"/>
          <a:lstStyle/>
          <a:p>
            <a:pPr indent="0" marL="0">
              <a:buNone/>
            </a:pPr>
            <a:r>
              <a:rPr lang="en-US" sz="1400" dirty="0">
                <a:solidFill>
                  <a:schemeClr val="tx1"/>
                </a:solidFill>
              </a:rPr>
              <a:t>random splits per dataset and noise level, so 840 runs per model</a:t>
            </a:r>
            <a:endParaRPr lang="en-US" sz="1400" dirty="0"/>
          </a:p>
        </p:txBody>
      </p:sp>
      <p:sp>
        <p:nvSpPr>
          <p:cNvPr id="37" name="Text 35"/>
          <p:cNvSpPr txBox="1"/>
          <p:nvPr/>
        </p:nvSpPr>
        <p:spPr>
          <a:xfrm>
            <a:off x="6181344" y="3703320"/>
            <a:ext cx="2651760" cy="68580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4</a:t>
            </a:r>
            <a:endParaRPr lang="en-US" sz="3600" dirty="0"/>
          </a:p>
        </p:txBody>
      </p:sp>
      <p:sp>
        <p:nvSpPr>
          <p:cNvPr id="38" name="Text 36"/>
          <p:cNvSpPr txBox="1"/>
          <p:nvPr/>
        </p:nvSpPr>
        <p:spPr>
          <a:xfrm>
            <a:off x="6181344" y="4434840"/>
            <a:ext cx="2606040" cy="1005840"/>
          </a:xfrm>
          <a:prstGeom prst="rect">
            <a:avLst/>
          </a:prstGeom>
          <a:noFill/>
          <a:ln/>
        </p:spPr>
        <p:txBody>
          <a:bodyPr wrap="square" lIns="0" tIns="0" rIns="0" bIns="0" rtlCol="0" anchor="t"/>
          <a:lstStyle/>
          <a:p>
            <a:pPr indent="0" marL="0">
              <a:buNone/>
            </a:pPr>
            <a:r>
              <a:rPr lang="en-US" sz="1400" dirty="0">
                <a:solidFill>
                  <a:schemeClr val="tx1"/>
                </a:solidFill>
              </a:rPr>
              <a:t>label-noise levels: 0, 10, 20 and 30% of training labels flipped</a:t>
            </a:r>
            <a:endParaRPr lang="en-US" sz="1400" dirty="0"/>
          </a:p>
        </p:txBody>
      </p:sp>
      <p:sp>
        <p:nvSpPr>
          <p:cNvPr id="39" name="Text 37"/>
          <p:cNvSpPr txBox="1"/>
          <p:nvPr/>
        </p:nvSpPr>
        <p:spPr>
          <a:xfrm>
            <a:off x="8997696" y="3703320"/>
            <a:ext cx="2651760" cy="685800"/>
          </a:xfrm>
          <a:prstGeom prst="rect">
            <a:avLst/>
          </a:prstGeom>
          <a:noFill/>
          <a:ln/>
        </p:spPr>
        <p:txBody>
          <a:bodyPr wrap="square" lIns="0" tIns="0" rIns="0" bIns="0" rtlCol="0" anchor="b"/>
          <a:lstStyle/>
          <a:p>
            <a:pPr indent="0" marL="0">
              <a:buNone/>
            </a:pPr>
            <a:r>
              <a:rPr lang="en-US" sz="3600" b="1" dirty="0">
                <a:solidFill>
                  <a:schemeClr val="accent1"/>
                </a:solidFill>
                <a:latin typeface="Cambria" pitchFamily="34" charset="0"/>
                <a:ea typeface="Cambria" pitchFamily="34" charset="-122"/>
                <a:cs typeface="Cambria" pitchFamily="34" charset="-120"/>
              </a:rPr>
              <a:t>BA</a:t>
            </a:r>
            <a:endParaRPr lang="en-US" sz="3600" dirty="0"/>
          </a:p>
        </p:txBody>
      </p:sp>
      <p:sp>
        <p:nvSpPr>
          <p:cNvPr id="40" name="Text 38"/>
          <p:cNvSpPr txBox="1"/>
          <p:nvPr/>
        </p:nvSpPr>
        <p:spPr>
          <a:xfrm>
            <a:off x="8997696" y="4434840"/>
            <a:ext cx="2606040" cy="1005840"/>
          </a:xfrm>
          <a:prstGeom prst="rect">
            <a:avLst/>
          </a:prstGeom>
          <a:noFill/>
          <a:ln/>
        </p:spPr>
        <p:txBody>
          <a:bodyPr wrap="square" lIns="0" tIns="0" rIns="0" bIns="0" rtlCol="0" anchor="t"/>
          <a:lstStyle/>
          <a:p>
            <a:pPr indent="0" marL="0">
              <a:buNone/>
            </a:pPr>
            <a:r>
              <a:rPr lang="en-US" sz="1400" dirty="0">
                <a:solidFill>
                  <a:schemeClr val="tx1"/>
                </a:solidFill>
              </a:rPr>
              <a:t>balanced accuracy (mean recall of the two classes), fair under class imbalance</a:t>
            </a:r>
            <a:endParaRPr lang="en-US" sz="1400" dirty="0"/>
          </a:p>
        </p:txBody>
      </p:sp>
      <p:sp>
        <p:nvSpPr>
          <p:cNvPr id="41"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42"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43" name="Text 41"/>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Statistics: Wilcoxon signed-rank tests with Holm correction [18], and Friedman + Nemenyi rank tests [17].</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METHOD</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Seven rounds of experiments, each building on the last</a:t>
            </a:r>
            <a:endParaRPr lang="en-US" sz="2800" dirty="0"/>
          </a:p>
        </p:txBody>
      </p:sp>
      <p:sp>
        <p:nvSpPr>
          <p:cNvPr id="4" name="timeline"/>
          <p:cNvSpPr/>
          <p:nvPr/>
        </p:nvSpPr>
        <p:spPr>
          <a:xfrm>
            <a:off x="914400" y="1920240"/>
            <a:ext cx="10332720" cy="0"/>
          </a:xfrm>
          <a:prstGeom prst="line">
            <a:avLst/>
          </a:prstGeom>
          <a:noFill/>
          <a:ln w="38100">
            <a:solidFill>
              <a:srgbClr val="DCE5E4"/>
            </a:solidFill>
            <a:prstDash val="solid"/>
          </a:ln>
        </p:spPr>
      </p:sp>
      <p:sp>
        <p:nvSpPr>
          <p:cNvPr id="5" name="badge"/>
          <p:cNvSpPr/>
          <p:nvPr/>
        </p:nvSpPr>
        <p:spPr>
          <a:xfrm>
            <a:off x="960120" y="1645920"/>
            <a:ext cx="548640" cy="548640"/>
          </a:xfrm>
          <a:prstGeom prst="ellipse">
            <a:avLst/>
          </a:prstGeom>
          <a:solidFill>
            <a:schemeClr val="tx2"/>
          </a:solidFill>
          <a:ln w="12700">
            <a:solidFill>
              <a:schemeClr val="tx2"/>
            </a:solidFill>
            <a:prstDash val="solid"/>
          </a:ln>
        </p:spPr>
      </p:sp>
      <p:sp>
        <p:nvSpPr>
          <p:cNvPr id="6" name="Text 4"/>
          <p:cNvSpPr txBox="1"/>
          <p:nvPr/>
        </p:nvSpPr>
        <p:spPr>
          <a:xfrm>
            <a:off x="960120" y="16459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548640" y="2377440"/>
            <a:ext cx="1463040" cy="685800"/>
          </a:xfrm>
          <a:prstGeom prst="rect">
            <a:avLst/>
          </a:prstGeom>
          <a:noFill/>
          <a:ln/>
        </p:spPr>
        <p:txBody>
          <a:bodyPr wrap="square" lIns="0" tIns="0" rIns="0" bIns="0" rtlCol="0" anchor="t"/>
          <a:lstStyle/>
          <a:p>
            <a:pPr algn="ctr" indent="0" marL="0">
              <a:buNone/>
            </a:pPr>
            <a:r>
              <a:rPr lang="en-US" sz="1500" b="1" dirty="0">
                <a:solidFill>
                  <a:schemeClr val="tx2"/>
                </a:solidFill>
              </a:rPr>
              <a:t>Fuzzy weights on balls</a:t>
            </a:r>
            <a:endParaRPr lang="en-US" sz="1500" dirty="0"/>
          </a:p>
        </p:txBody>
      </p:sp>
      <p:sp>
        <p:nvSpPr>
          <p:cNvPr id="8" name="Text 6"/>
          <p:cNvSpPr txBox="1"/>
          <p:nvPr/>
        </p:nvSpPr>
        <p:spPr>
          <a:xfrm>
            <a:off x="548640" y="3108960"/>
            <a:ext cx="1463040" cy="868680"/>
          </a:xfrm>
          <a:prstGeom prst="rect">
            <a:avLst/>
          </a:prstGeom>
          <a:noFill/>
          <a:ln/>
        </p:spPr>
        <p:txBody>
          <a:bodyPr wrap="square" lIns="0" tIns="0" rIns="0" bIns="0" rtlCol="0" anchor="t"/>
          <a:lstStyle/>
          <a:p>
            <a:pPr algn="ctr" indent="0" marL="0">
              <a:buNone/>
            </a:pPr>
            <a:r>
              <a:rPr lang="en-US" sz="1300" dirty="0">
                <a:solidFill>
                  <a:schemeClr val="tx1"/>
                </a:solidFill>
              </a:rPr>
              <a:t>T1, T2, T4, T5 on GBLSTSVM</a:t>
            </a:r>
            <a:endParaRPr lang="en-US" sz="1300" dirty="0"/>
          </a:p>
        </p:txBody>
      </p:sp>
      <p:sp>
        <p:nvSpPr>
          <p:cNvPr id="9" name="outcome-tag"/>
          <p:cNvSpPr/>
          <p:nvPr/>
        </p:nvSpPr>
        <p:spPr>
          <a:xfrm>
            <a:off x="640080" y="4069080"/>
            <a:ext cx="1280160" cy="411480"/>
          </a:xfrm>
          <a:prstGeom prst="roundRect">
            <a:avLst>
              <a:gd name="adj" fmla="val 44444"/>
            </a:avLst>
          </a:prstGeom>
          <a:solidFill>
            <a:schemeClr val="accent2"/>
          </a:solidFill>
          <a:ln w="9525">
            <a:solidFill>
              <a:schemeClr val="accent2"/>
            </a:solidFill>
            <a:prstDash val="solid"/>
          </a:ln>
        </p:spPr>
      </p:sp>
      <p:sp>
        <p:nvSpPr>
          <p:cNvPr id="10" name="Text 8"/>
          <p:cNvSpPr txBox="1"/>
          <p:nvPr/>
        </p:nvSpPr>
        <p:spPr>
          <a:xfrm>
            <a:off x="640080" y="4069080"/>
            <a:ext cx="1280160" cy="411480"/>
          </a:xfrm>
          <a:prstGeom prst="rect">
            <a:avLst/>
          </a:prstGeom>
          <a:noFill/>
          <a:ln/>
        </p:spPr>
        <p:txBody>
          <a:bodyPr wrap="square" lIns="0" tIns="0" rIns="0" bIns="0" rtlCol="0" anchor="ctr"/>
          <a:lstStyle/>
          <a:p>
            <a:pPr algn="ctr" indent="0" marL="0">
              <a:buNone/>
            </a:pPr>
            <a:r>
              <a:rPr lang="en-US" sz="1300" b="1" dirty="0">
                <a:solidFill>
                  <a:schemeClr val="bg1"/>
                </a:solidFill>
              </a:rPr>
              <a:t>&lt; 1 pt</a:t>
            </a:r>
            <a:endParaRPr lang="en-US" sz="1300" dirty="0"/>
          </a:p>
        </p:txBody>
      </p:sp>
      <p:sp>
        <p:nvSpPr>
          <p:cNvPr id="11" name="badge"/>
          <p:cNvSpPr/>
          <p:nvPr/>
        </p:nvSpPr>
        <p:spPr>
          <a:xfrm>
            <a:off x="2560320" y="1645920"/>
            <a:ext cx="548640" cy="548640"/>
          </a:xfrm>
          <a:prstGeom prst="ellipse">
            <a:avLst/>
          </a:prstGeom>
          <a:solidFill>
            <a:schemeClr val="tx2"/>
          </a:solidFill>
          <a:ln w="12700">
            <a:solidFill>
              <a:schemeClr val="tx2"/>
            </a:solidFill>
            <a:prstDash val="solid"/>
          </a:ln>
        </p:spPr>
      </p:sp>
      <p:sp>
        <p:nvSpPr>
          <p:cNvPr id="12" name="Text 10"/>
          <p:cNvSpPr txBox="1"/>
          <p:nvPr/>
        </p:nvSpPr>
        <p:spPr>
          <a:xfrm>
            <a:off x="2560320" y="16459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 11"/>
          <p:cNvSpPr txBox="1"/>
          <p:nvPr/>
        </p:nvSpPr>
        <p:spPr>
          <a:xfrm>
            <a:off x="2148840" y="2377440"/>
            <a:ext cx="1463040" cy="685800"/>
          </a:xfrm>
          <a:prstGeom prst="rect">
            <a:avLst/>
          </a:prstGeom>
          <a:noFill/>
          <a:ln/>
        </p:spPr>
        <p:txBody>
          <a:bodyPr wrap="square" lIns="0" tIns="0" rIns="0" bIns="0" rtlCol="0" anchor="t"/>
          <a:lstStyle/>
          <a:p>
            <a:pPr algn="ctr" indent="0" marL="0">
              <a:buNone/>
            </a:pPr>
            <a:r>
              <a:rPr lang="en-US" sz="1500" b="1" dirty="0">
                <a:solidFill>
                  <a:schemeClr val="tx2"/>
                </a:solidFill>
              </a:rPr>
              <a:t>Keep single-point balls</a:t>
            </a:r>
            <a:endParaRPr lang="en-US" sz="1500" dirty="0"/>
          </a:p>
        </p:txBody>
      </p:sp>
      <p:sp>
        <p:nvSpPr>
          <p:cNvPr id="14" name="Text 12"/>
          <p:cNvSpPr txBox="1"/>
          <p:nvPr/>
        </p:nvSpPr>
        <p:spPr>
          <a:xfrm>
            <a:off x="2148840" y="3108960"/>
            <a:ext cx="1463040" cy="868680"/>
          </a:xfrm>
          <a:prstGeom prst="rect">
            <a:avLst/>
          </a:prstGeom>
          <a:noFill/>
          <a:ln/>
        </p:spPr>
        <p:txBody>
          <a:bodyPr wrap="square" lIns="0" tIns="0" rIns="0" bIns="0" rtlCol="0" anchor="t"/>
          <a:lstStyle/>
          <a:p>
            <a:pPr algn="ctr" indent="0" marL="0">
              <a:buNone/>
            </a:pPr>
            <a:r>
              <a:rPr lang="en-US" sz="1300" dirty="0">
                <a:solidFill>
                  <a:schemeClr val="tx1"/>
                </a:solidFill>
              </a:rPr>
              <a:t>Undo the deletion step (T6)</a:t>
            </a:r>
            <a:endParaRPr lang="en-US" sz="1300" dirty="0"/>
          </a:p>
        </p:txBody>
      </p:sp>
      <p:sp>
        <p:nvSpPr>
          <p:cNvPr id="15" name="outcome-tag"/>
          <p:cNvSpPr/>
          <p:nvPr/>
        </p:nvSpPr>
        <p:spPr>
          <a:xfrm>
            <a:off x="2240280" y="4069080"/>
            <a:ext cx="1280160" cy="411480"/>
          </a:xfrm>
          <a:prstGeom prst="roundRect">
            <a:avLst>
              <a:gd name="adj" fmla="val 44444"/>
            </a:avLst>
          </a:prstGeom>
          <a:solidFill>
            <a:schemeClr val="accent1"/>
          </a:solidFill>
          <a:ln w="9525">
            <a:solidFill>
              <a:schemeClr val="accent1"/>
            </a:solidFill>
            <a:prstDash val="solid"/>
          </a:ln>
        </p:spPr>
      </p:sp>
      <p:sp>
        <p:nvSpPr>
          <p:cNvPr id="16" name="Text 14"/>
          <p:cNvSpPr txBox="1"/>
          <p:nvPr/>
        </p:nvSpPr>
        <p:spPr>
          <a:xfrm>
            <a:off x="2240280" y="4069080"/>
            <a:ext cx="1280160" cy="411480"/>
          </a:xfrm>
          <a:prstGeom prst="rect">
            <a:avLst/>
          </a:prstGeom>
          <a:noFill/>
          <a:ln/>
        </p:spPr>
        <p:txBody>
          <a:bodyPr wrap="square" lIns="0" tIns="0" rIns="0" bIns="0" rtlCol="0" anchor="ctr"/>
          <a:lstStyle/>
          <a:p>
            <a:pPr algn="ctr" indent="0" marL="0">
              <a:buNone/>
            </a:pPr>
            <a:r>
              <a:rPr lang="en-US" sz="1300" b="1" dirty="0">
                <a:solidFill>
                  <a:schemeClr val="bg1"/>
                </a:solidFill>
              </a:rPr>
              <a:t>+3.8 pts</a:t>
            </a:r>
            <a:endParaRPr lang="en-US" sz="1300" dirty="0"/>
          </a:p>
        </p:txBody>
      </p:sp>
      <p:sp>
        <p:nvSpPr>
          <p:cNvPr id="17" name="badge"/>
          <p:cNvSpPr/>
          <p:nvPr/>
        </p:nvSpPr>
        <p:spPr>
          <a:xfrm>
            <a:off x="4160520" y="1645920"/>
            <a:ext cx="548640" cy="548640"/>
          </a:xfrm>
          <a:prstGeom prst="ellipse">
            <a:avLst/>
          </a:prstGeom>
          <a:solidFill>
            <a:schemeClr val="tx2"/>
          </a:solidFill>
          <a:ln w="12700">
            <a:solidFill>
              <a:schemeClr val="tx2"/>
            </a:solidFill>
            <a:prstDash val="solid"/>
          </a:ln>
        </p:spPr>
      </p:sp>
      <p:sp>
        <p:nvSpPr>
          <p:cNvPr id="18" name="Text 16"/>
          <p:cNvSpPr txBox="1"/>
          <p:nvPr/>
        </p:nvSpPr>
        <p:spPr>
          <a:xfrm>
            <a:off x="4160520" y="16459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Text 17"/>
          <p:cNvSpPr txBox="1"/>
          <p:nvPr/>
        </p:nvSpPr>
        <p:spPr>
          <a:xfrm>
            <a:off x="3749040" y="2377440"/>
            <a:ext cx="1463040" cy="685800"/>
          </a:xfrm>
          <a:prstGeom prst="rect">
            <a:avLst/>
          </a:prstGeom>
          <a:noFill/>
          <a:ln/>
        </p:spPr>
        <p:txBody>
          <a:bodyPr wrap="square" lIns="0" tIns="0" rIns="0" bIns="0" rtlCol="0" anchor="t"/>
          <a:lstStyle/>
          <a:p>
            <a:pPr algn="ctr" indent="0" marL="0">
              <a:buNone/>
            </a:pPr>
            <a:r>
              <a:rPr lang="en-US" sz="1500" b="1" dirty="0">
                <a:solidFill>
                  <a:schemeClr val="tx2"/>
                </a:solidFill>
              </a:rPr>
              <a:t>Ball weights on points</a:t>
            </a:r>
            <a:endParaRPr lang="en-US" sz="1500" dirty="0"/>
          </a:p>
        </p:txBody>
      </p:sp>
      <p:sp>
        <p:nvSpPr>
          <p:cNvPr id="20" name="Text 18"/>
          <p:cNvSpPr txBox="1"/>
          <p:nvPr/>
        </p:nvSpPr>
        <p:spPr>
          <a:xfrm>
            <a:off x="3749040" y="3108960"/>
            <a:ext cx="1463040" cy="868680"/>
          </a:xfrm>
          <a:prstGeom prst="rect">
            <a:avLst/>
          </a:prstGeom>
          <a:noFill/>
          <a:ln/>
        </p:spPr>
        <p:txBody>
          <a:bodyPr wrap="square" lIns="0" tIns="0" rIns="0" bIns="0" rtlCol="0" anchor="t"/>
          <a:lstStyle/>
          <a:p>
            <a:pPr algn="ctr" indent="0" marL="0">
              <a:buNone/>
            </a:pPr>
            <a:r>
              <a:rPr lang="en-US" sz="1300" dirty="0">
                <a:solidFill>
                  <a:schemeClr val="tx1"/>
                </a:solidFill>
              </a:rPr>
              <a:t>LSTSVM on all points, ball-based weights</a:t>
            </a:r>
            <a:endParaRPr lang="en-US" sz="1300" dirty="0"/>
          </a:p>
        </p:txBody>
      </p:sp>
      <p:sp>
        <p:nvSpPr>
          <p:cNvPr id="21" name="outcome-tag"/>
          <p:cNvSpPr/>
          <p:nvPr/>
        </p:nvSpPr>
        <p:spPr>
          <a:xfrm>
            <a:off x="3840480" y="4069080"/>
            <a:ext cx="1280160" cy="411480"/>
          </a:xfrm>
          <a:prstGeom prst="roundRect">
            <a:avLst>
              <a:gd name="adj" fmla="val 44444"/>
            </a:avLst>
          </a:prstGeom>
          <a:solidFill>
            <a:schemeClr val="accent2"/>
          </a:solidFill>
          <a:ln w="9525">
            <a:solidFill>
              <a:schemeClr val="accent2"/>
            </a:solidFill>
            <a:prstDash val="solid"/>
          </a:ln>
        </p:spPr>
      </p:sp>
      <p:sp>
        <p:nvSpPr>
          <p:cNvPr id="22" name="Text 20"/>
          <p:cNvSpPr txBox="1"/>
          <p:nvPr/>
        </p:nvSpPr>
        <p:spPr>
          <a:xfrm>
            <a:off x="3840480" y="4069080"/>
            <a:ext cx="1280160" cy="411480"/>
          </a:xfrm>
          <a:prstGeom prst="rect">
            <a:avLst/>
          </a:prstGeom>
          <a:noFill/>
          <a:ln/>
        </p:spPr>
        <p:txBody>
          <a:bodyPr wrap="square" lIns="0" tIns="0" rIns="0" bIns="0" rtlCol="0" anchor="ctr"/>
          <a:lstStyle/>
          <a:p>
            <a:pPr algn="ctr" indent="0" marL="0">
              <a:buNone/>
            </a:pPr>
            <a:r>
              <a:rPr lang="en-US" sz="1300" b="1" dirty="0">
                <a:solidFill>
                  <a:schemeClr val="bg1"/>
                </a:solidFill>
              </a:rPr>
              <a:t>dead end</a:t>
            </a:r>
            <a:endParaRPr lang="en-US" sz="1300" dirty="0"/>
          </a:p>
        </p:txBody>
      </p:sp>
      <p:sp>
        <p:nvSpPr>
          <p:cNvPr id="23" name="badge"/>
          <p:cNvSpPr/>
          <p:nvPr/>
        </p:nvSpPr>
        <p:spPr>
          <a:xfrm>
            <a:off x="5760720" y="1645920"/>
            <a:ext cx="548640" cy="548640"/>
          </a:xfrm>
          <a:prstGeom prst="ellipse">
            <a:avLst/>
          </a:prstGeom>
          <a:solidFill>
            <a:schemeClr val="tx2"/>
          </a:solidFill>
          <a:ln w="12700">
            <a:solidFill>
              <a:schemeClr val="tx2"/>
            </a:solidFill>
            <a:prstDash val="solid"/>
          </a:ln>
        </p:spPr>
      </p:sp>
      <p:sp>
        <p:nvSpPr>
          <p:cNvPr id="24" name="Text 22"/>
          <p:cNvSpPr txBox="1"/>
          <p:nvPr/>
        </p:nvSpPr>
        <p:spPr>
          <a:xfrm>
            <a:off x="5760720" y="16459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5" name="Text 23"/>
          <p:cNvSpPr txBox="1"/>
          <p:nvPr/>
        </p:nvSpPr>
        <p:spPr>
          <a:xfrm>
            <a:off x="5349240" y="2377440"/>
            <a:ext cx="1463040" cy="685800"/>
          </a:xfrm>
          <a:prstGeom prst="rect">
            <a:avLst/>
          </a:prstGeom>
          <a:noFill/>
          <a:ln/>
        </p:spPr>
        <p:txBody>
          <a:bodyPr wrap="square" lIns="0" tIns="0" rIns="0" bIns="0" rtlCol="0" anchor="t"/>
          <a:lstStyle/>
          <a:p>
            <a:pPr algn="ctr" indent="0" marL="0">
              <a:buNone/>
            </a:pPr>
            <a:r>
              <a:rPr lang="en-US" sz="1500" b="1" dirty="0">
                <a:solidFill>
                  <a:schemeClr val="tx2"/>
                </a:solidFill>
              </a:rPr>
              <a:t>Neighbour agreement</a:t>
            </a:r>
            <a:endParaRPr lang="en-US" sz="1500" dirty="0"/>
          </a:p>
        </p:txBody>
      </p:sp>
      <p:sp>
        <p:nvSpPr>
          <p:cNvPr id="26" name="Text 24"/>
          <p:cNvSpPr txBox="1"/>
          <p:nvPr/>
        </p:nvSpPr>
        <p:spPr>
          <a:xfrm>
            <a:off x="5349240" y="3108960"/>
            <a:ext cx="1463040" cy="868680"/>
          </a:xfrm>
          <a:prstGeom prst="rect">
            <a:avLst/>
          </a:prstGeom>
          <a:noFill/>
          <a:ln/>
        </p:spPr>
        <p:txBody>
          <a:bodyPr wrap="square" lIns="0" tIns="0" rIns="0" bIns="0" rtlCol="0" anchor="t"/>
          <a:lstStyle/>
          <a:p>
            <a:pPr algn="ctr" indent="0" marL="0">
              <a:buNone/>
            </a:pPr>
            <a:r>
              <a:rPr lang="en-US" sz="1300" dirty="0">
                <a:solidFill>
                  <a:schemeClr val="tx1"/>
                </a:solidFill>
              </a:rPr>
              <a:t>T7 on all balls, up to 30% noise</a:t>
            </a:r>
            <a:endParaRPr lang="en-US" sz="1300" dirty="0"/>
          </a:p>
        </p:txBody>
      </p:sp>
      <p:sp>
        <p:nvSpPr>
          <p:cNvPr id="27" name="outcome-tag"/>
          <p:cNvSpPr/>
          <p:nvPr/>
        </p:nvSpPr>
        <p:spPr>
          <a:xfrm>
            <a:off x="5440680" y="4069080"/>
            <a:ext cx="1280160" cy="411480"/>
          </a:xfrm>
          <a:prstGeom prst="roundRect">
            <a:avLst>
              <a:gd name="adj" fmla="val 44444"/>
            </a:avLst>
          </a:prstGeom>
          <a:solidFill>
            <a:schemeClr val="accent1"/>
          </a:solidFill>
          <a:ln w="9525">
            <a:solidFill>
              <a:schemeClr val="accent1"/>
            </a:solidFill>
            <a:prstDash val="solid"/>
          </a:ln>
        </p:spPr>
      </p:sp>
      <p:sp>
        <p:nvSpPr>
          <p:cNvPr id="28" name="Text 26"/>
          <p:cNvSpPr txBox="1"/>
          <p:nvPr/>
        </p:nvSpPr>
        <p:spPr>
          <a:xfrm>
            <a:off x="5440680" y="4069080"/>
            <a:ext cx="1280160" cy="411480"/>
          </a:xfrm>
          <a:prstGeom prst="rect">
            <a:avLst/>
          </a:prstGeom>
          <a:noFill/>
          <a:ln/>
        </p:spPr>
        <p:txBody>
          <a:bodyPr wrap="square" lIns="0" tIns="0" rIns="0" bIns="0" rtlCol="0" anchor="ctr"/>
          <a:lstStyle/>
          <a:p>
            <a:pPr algn="ctr" indent="0" marL="0">
              <a:buNone/>
            </a:pPr>
            <a:r>
              <a:rPr lang="en-US" sz="1300" b="1" dirty="0">
                <a:solidFill>
                  <a:schemeClr val="bg1"/>
                </a:solidFill>
              </a:rPr>
              <a:t>best fix</a:t>
            </a:r>
            <a:endParaRPr lang="en-US" sz="1300" dirty="0"/>
          </a:p>
        </p:txBody>
      </p:sp>
      <p:sp>
        <p:nvSpPr>
          <p:cNvPr id="29" name="badge"/>
          <p:cNvSpPr/>
          <p:nvPr/>
        </p:nvSpPr>
        <p:spPr>
          <a:xfrm>
            <a:off x="7360920" y="1645920"/>
            <a:ext cx="548640" cy="548640"/>
          </a:xfrm>
          <a:prstGeom prst="ellipse">
            <a:avLst/>
          </a:prstGeom>
          <a:solidFill>
            <a:schemeClr val="tx2"/>
          </a:solidFill>
          <a:ln w="12700">
            <a:solidFill>
              <a:schemeClr val="tx2"/>
            </a:solidFill>
            <a:prstDash val="solid"/>
          </a:ln>
        </p:spPr>
      </p:sp>
      <p:sp>
        <p:nvSpPr>
          <p:cNvPr id="30" name="Text 28"/>
          <p:cNvSpPr txBox="1"/>
          <p:nvPr/>
        </p:nvSpPr>
        <p:spPr>
          <a:xfrm>
            <a:off x="7360920" y="16459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1" name="Text 29"/>
          <p:cNvSpPr txBox="1"/>
          <p:nvPr/>
        </p:nvSpPr>
        <p:spPr>
          <a:xfrm>
            <a:off x="6949440" y="2377440"/>
            <a:ext cx="1463040" cy="685800"/>
          </a:xfrm>
          <a:prstGeom prst="rect">
            <a:avLst/>
          </a:prstGeom>
          <a:noFill/>
          <a:ln/>
        </p:spPr>
        <p:txBody>
          <a:bodyPr wrap="square" lIns="0" tIns="0" rIns="0" bIns="0" rtlCol="0" anchor="t"/>
          <a:lstStyle/>
          <a:p>
            <a:pPr algn="ctr" indent="0" marL="0">
              <a:buNone/>
            </a:pPr>
            <a:r>
              <a:rPr lang="en-US" sz="1500" b="1" dirty="0">
                <a:solidFill>
                  <a:schemeClr val="tx2"/>
                </a:solidFill>
              </a:rPr>
              <a:t>Better ball builder</a:t>
            </a:r>
            <a:endParaRPr lang="en-US" sz="1500" dirty="0"/>
          </a:p>
        </p:txBody>
      </p:sp>
      <p:sp>
        <p:nvSpPr>
          <p:cNvPr id="32" name="Text 30"/>
          <p:cNvSpPr txBox="1"/>
          <p:nvPr/>
        </p:nvSpPr>
        <p:spPr>
          <a:xfrm>
            <a:off x="6949440" y="3108960"/>
            <a:ext cx="1463040" cy="868680"/>
          </a:xfrm>
          <a:prstGeom prst="rect">
            <a:avLst/>
          </a:prstGeom>
          <a:noFill/>
          <a:ln/>
        </p:spPr>
        <p:txBody>
          <a:bodyPr wrap="square" lIns="0" tIns="0" rIns="0" bIns="0" rtlCol="0" anchor="t"/>
          <a:lstStyle/>
          <a:p>
            <a:pPr algn="ctr" indent="0" marL="0">
              <a:buNone/>
            </a:pPr>
            <a:r>
              <a:rPr lang="en-US" sz="1300" dirty="0">
                <a:solidFill>
                  <a:schemeClr val="tx1"/>
                </a:solidFill>
              </a:rPr>
              <a:t>ADPGBG balls [7]</a:t>
            </a:r>
            <a:endParaRPr lang="en-US" sz="1300" dirty="0"/>
          </a:p>
        </p:txBody>
      </p:sp>
      <p:sp>
        <p:nvSpPr>
          <p:cNvPr id="33" name="outcome-tag"/>
          <p:cNvSpPr/>
          <p:nvPr/>
        </p:nvSpPr>
        <p:spPr>
          <a:xfrm>
            <a:off x="7040880" y="4069080"/>
            <a:ext cx="1280160" cy="411480"/>
          </a:xfrm>
          <a:prstGeom prst="roundRect">
            <a:avLst>
              <a:gd name="adj" fmla="val 44444"/>
            </a:avLst>
          </a:prstGeom>
          <a:solidFill>
            <a:schemeClr val="accent6"/>
          </a:solidFill>
          <a:ln w="9525">
            <a:solidFill>
              <a:schemeClr val="accent6"/>
            </a:solidFill>
            <a:prstDash val="solid"/>
          </a:ln>
        </p:spPr>
      </p:sp>
      <p:sp>
        <p:nvSpPr>
          <p:cNvPr id="34" name="Text 32"/>
          <p:cNvSpPr txBox="1"/>
          <p:nvPr/>
        </p:nvSpPr>
        <p:spPr>
          <a:xfrm>
            <a:off x="7040880" y="4069080"/>
            <a:ext cx="1280160" cy="411480"/>
          </a:xfrm>
          <a:prstGeom prst="rect">
            <a:avLst/>
          </a:prstGeom>
          <a:noFill/>
          <a:ln/>
        </p:spPr>
        <p:txBody>
          <a:bodyPr wrap="square" lIns="0" tIns="0" rIns="0" bIns="0" rtlCol="0" anchor="ctr"/>
          <a:lstStyle/>
          <a:p>
            <a:pPr algn="ctr" indent="0" marL="0">
              <a:buNone/>
            </a:pPr>
            <a:r>
              <a:rPr lang="en-US" sz="1300" b="1" dirty="0">
                <a:solidFill>
                  <a:schemeClr val="bg1"/>
                </a:solidFill>
              </a:rPr>
              <a:t>≈ keeping</a:t>
            </a:r>
            <a:endParaRPr lang="en-US" sz="1300" dirty="0"/>
          </a:p>
        </p:txBody>
      </p:sp>
      <p:sp>
        <p:nvSpPr>
          <p:cNvPr id="35" name="badge"/>
          <p:cNvSpPr/>
          <p:nvPr/>
        </p:nvSpPr>
        <p:spPr>
          <a:xfrm>
            <a:off x="8961120" y="1645920"/>
            <a:ext cx="548640" cy="548640"/>
          </a:xfrm>
          <a:prstGeom prst="ellipse">
            <a:avLst/>
          </a:prstGeom>
          <a:solidFill>
            <a:schemeClr val="tx2"/>
          </a:solidFill>
          <a:ln w="12700">
            <a:solidFill>
              <a:schemeClr val="tx2"/>
            </a:solidFill>
            <a:prstDash val="solid"/>
          </a:ln>
        </p:spPr>
      </p:sp>
      <p:sp>
        <p:nvSpPr>
          <p:cNvPr id="36" name="Text 34"/>
          <p:cNvSpPr txBox="1"/>
          <p:nvPr/>
        </p:nvSpPr>
        <p:spPr>
          <a:xfrm>
            <a:off x="8961120" y="16459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7" name="Text 35"/>
          <p:cNvSpPr txBox="1"/>
          <p:nvPr/>
        </p:nvSpPr>
        <p:spPr>
          <a:xfrm>
            <a:off x="8549640" y="2377440"/>
            <a:ext cx="1463040" cy="685800"/>
          </a:xfrm>
          <a:prstGeom prst="rect">
            <a:avLst/>
          </a:prstGeom>
          <a:noFill/>
          <a:ln/>
        </p:spPr>
        <p:txBody>
          <a:bodyPr wrap="square" lIns="0" tIns="0" rIns="0" bIns="0" rtlCol="0" anchor="t"/>
          <a:lstStyle/>
          <a:p>
            <a:pPr algn="ctr" indent="0" marL="0">
              <a:buNone/>
            </a:pPr>
            <a:r>
              <a:rPr lang="en-US" sz="1500" b="1" dirty="0">
                <a:solidFill>
                  <a:schemeClr val="tx2"/>
                </a:solidFill>
              </a:rPr>
              <a:t>Kernel and speed</a:t>
            </a:r>
            <a:endParaRPr lang="en-US" sz="1500" dirty="0"/>
          </a:p>
        </p:txBody>
      </p:sp>
      <p:sp>
        <p:nvSpPr>
          <p:cNvPr id="38" name="Text 36"/>
          <p:cNvSpPr txBox="1"/>
          <p:nvPr/>
        </p:nvSpPr>
        <p:spPr>
          <a:xfrm>
            <a:off x="8549640" y="3108960"/>
            <a:ext cx="1463040" cy="868680"/>
          </a:xfrm>
          <a:prstGeom prst="rect">
            <a:avLst/>
          </a:prstGeom>
          <a:noFill/>
          <a:ln/>
        </p:spPr>
        <p:txBody>
          <a:bodyPr wrap="square" lIns="0" tIns="0" rIns="0" bIns="0" rtlCol="0" anchor="t"/>
          <a:lstStyle/>
          <a:p>
            <a:pPr algn="ctr" indent="0" marL="0">
              <a:buNone/>
            </a:pPr>
            <a:r>
              <a:rPr lang="en-US" sz="1300" dirty="0">
                <a:solidFill>
                  <a:schemeClr val="tx1"/>
                </a:solidFill>
              </a:rPr>
              <a:t>RBF kernel; 2.5k–100k points</a:t>
            </a:r>
            <a:endParaRPr lang="en-US" sz="1300" dirty="0"/>
          </a:p>
        </p:txBody>
      </p:sp>
      <p:sp>
        <p:nvSpPr>
          <p:cNvPr id="39" name="outcome-tag"/>
          <p:cNvSpPr/>
          <p:nvPr/>
        </p:nvSpPr>
        <p:spPr>
          <a:xfrm>
            <a:off x="8641080" y="4069080"/>
            <a:ext cx="1280160" cy="411480"/>
          </a:xfrm>
          <a:prstGeom prst="roundRect">
            <a:avLst>
              <a:gd name="adj" fmla="val 44444"/>
            </a:avLst>
          </a:prstGeom>
          <a:solidFill>
            <a:schemeClr val="accent6"/>
          </a:solidFill>
          <a:ln w="9525">
            <a:solidFill>
              <a:schemeClr val="accent6"/>
            </a:solidFill>
            <a:prstDash val="solid"/>
          </a:ln>
        </p:spPr>
      </p:sp>
      <p:sp>
        <p:nvSpPr>
          <p:cNvPr id="40" name="Text 38"/>
          <p:cNvSpPr txBox="1"/>
          <p:nvPr/>
        </p:nvSpPr>
        <p:spPr>
          <a:xfrm>
            <a:off x="8641080" y="4069080"/>
            <a:ext cx="1280160" cy="411480"/>
          </a:xfrm>
          <a:prstGeom prst="rect">
            <a:avLst/>
          </a:prstGeom>
          <a:noFill/>
          <a:ln/>
        </p:spPr>
        <p:txBody>
          <a:bodyPr wrap="square" lIns="0" tIns="0" rIns="0" bIns="0" rtlCol="0" anchor="ctr"/>
          <a:lstStyle/>
          <a:p>
            <a:pPr algn="ctr" indent="0" marL="0">
              <a:buNone/>
            </a:pPr>
            <a:r>
              <a:rPr lang="en-US" sz="1300" b="1" dirty="0">
                <a:solidFill>
                  <a:schemeClr val="bg1"/>
                </a:solidFill>
              </a:rPr>
              <a:t>gain shrinks</a:t>
            </a:r>
            <a:endParaRPr lang="en-US" sz="1300" dirty="0"/>
          </a:p>
        </p:txBody>
      </p:sp>
      <p:sp>
        <p:nvSpPr>
          <p:cNvPr id="41" name="badge"/>
          <p:cNvSpPr/>
          <p:nvPr/>
        </p:nvSpPr>
        <p:spPr>
          <a:xfrm>
            <a:off x="10561320" y="1645920"/>
            <a:ext cx="548640" cy="548640"/>
          </a:xfrm>
          <a:prstGeom prst="ellipse">
            <a:avLst/>
          </a:prstGeom>
          <a:solidFill>
            <a:schemeClr val="tx2"/>
          </a:solidFill>
          <a:ln w="12700">
            <a:solidFill>
              <a:schemeClr val="tx2"/>
            </a:solidFill>
            <a:prstDash val="solid"/>
          </a:ln>
        </p:spPr>
      </p:sp>
      <p:sp>
        <p:nvSpPr>
          <p:cNvPr id="42" name="Text 40"/>
          <p:cNvSpPr txBox="1"/>
          <p:nvPr/>
        </p:nvSpPr>
        <p:spPr>
          <a:xfrm>
            <a:off x="10561320" y="164592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43" name="Text 41"/>
          <p:cNvSpPr txBox="1"/>
          <p:nvPr/>
        </p:nvSpPr>
        <p:spPr>
          <a:xfrm>
            <a:off x="10149840" y="2377440"/>
            <a:ext cx="1463040" cy="685800"/>
          </a:xfrm>
          <a:prstGeom prst="rect">
            <a:avLst/>
          </a:prstGeom>
          <a:noFill/>
          <a:ln/>
        </p:spPr>
        <p:txBody>
          <a:bodyPr wrap="square" lIns="0" tIns="0" rIns="0" bIns="0" rtlCol="0" anchor="t"/>
          <a:lstStyle/>
          <a:p>
            <a:pPr algn="ctr" indent="0" marL="0">
              <a:buNone/>
            </a:pPr>
            <a:r>
              <a:rPr lang="en-US" sz="1500" b="1" dirty="0">
                <a:solidFill>
                  <a:schemeClr val="tx2"/>
                </a:solidFill>
              </a:rPr>
              <a:t>Published baseline</a:t>
            </a:r>
            <a:endParaRPr lang="en-US" sz="1500" dirty="0"/>
          </a:p>
        </p:txBody>
      </p:sp>
      <p:sp>
        <p:nvSpPr>
          <p:cNvPr id="44" name="Text 42"/>
          <p:cNvSpPr txBox="1"/>
          <p:nvPr/>
        </p:nvSpPr>
        <p:spPr>
          <a:xfrm>
            <a:off x="10149840" y="3108960"/>
            <a:ext cx="1463040" cy="868680"/>
          </a:xfrm>
          <a:prstGeom prst="rect">
            <a:avLst/>
          </a:prstGeom>
          <a:noFill/>
          <a:ln/>
        </p:spPr>
        <p:txBody>
          <a:bodyPr wrap="square" lIns="0" tIns="0" rIns="0" bIns="0" rtlCol="0" anchor="t"/>
          <a:lstStyle/>
          <a:p>
            <a:pPr algn="ctr" indent="0" marL="0">
              <a:buNone/>
            </a:pPr>
            <a:r>
              <a:rPr lang="en-US" sz="1300" dirty="0">
                <a:solidFill>
                  <a:schemeClr val="tx1"/>
                </a:solidFill>
              </a:rPr>
              <a:t>GBFTSVM [15] re-implemented</a:t>
            </a:r>
            <a:endParaRPr lang="en-US" sz="1300" dirty="0"/>
          </a:p>
        </p:txBody>
      </p:sp>
      <p:sp>
        <p:nvSpPr>
          <p:cNvPr id="45" name="outcome-tag"/>
          <p:cNvSpPr/>
          <p:nvPr/>
        </p:nvSpPr>
        <p:spPr>
          <a:xfrm>
            <a:off x="10241280" y="4069080"/>
            <a:ext cx="1280160" cy="411480"/>
          </a:xfrm>
          <a:prstGeom prst="roundRect">
            <a:avLst>
              <a:gd name="adj" fmla="val 44444"/>
            </a:avLst>
          </a:prstGeom>
          <a:solidFill>
            <a:schemeClr val="accent1"/>
          </a:solidFill>
          <a:ln w="9525">
            <a:solidFill>
              <a:schemeClr val="accent1"/>
            </a:solidFill>
            <a:prstDash val="solid"/>
          </a:ln>
        </p:spPr>
      </p:sp>
      <p:sp>
        <p:nvSpPr>
          <p:cNvPr id="46" name="Text 44"/>
          <p:cNvSpPr txBox="1"/>
          <p:nvPr/>
        </p:nvSpPr>
        <p:spPr>
          <a:xfrm>
            <a:off x="10241280" y="4069080"/>
            <a:ext cx="1280160" cy="411480"/>
          </a:xfrm>
          <a:prstGeom prst="rect">
            <a:avLst/>
          </a:prstGeom>
          <a:noFill/>
          <a:ln/>
        </p:spPr>
        <p:txBody>
          <a:bodyPr wrap="square" lIns="0" tIns="0" rIns="0" bIns="0" rtlCol="0" anchor="ctr"/>
          <a:lstStyle/>
          <a:p>
            <a:pPr algn="ctr" indent="0" marL="0">
              <a:buNone/>
            </a:pPr>
            <a:r>
              <a:rPr lang="en-US" sz="1300" b="1" dirty="0">
                <a:solidFill>
                  <a:schemeClr val="bg1"/>
                </a:solidFill>
              </a:rPr>
              <a:t>ours ahead</a:t>
            </a:r>
            <a:endParaRPr lang="en-US" sz="1300" dirty="0"/>
          </a:p>
        </p:txBody>
      </p:sp>
      <p:sp>
        <p:nvSpPr>
          <p:cNvPr id="47" name="Text 45"/>
          <p:cNvSpPr txBox="1"/>
          <p:nvPr/>
        </p:nvSpPr>
        <p:spPr>
          <a:xfrm>
            <a:off x="548640" y="4800600"/>
            <a:ext cx="11064240" cy="640080"/>
          </a:xfrm>
          <a:prstGeom prst="rect">
            <a:avLst/>
          </a:prstGeom>
          <a:noFill/>
          <a:ln/>
        </p:spPr>
        <p:txBody>
          <a:bodyPr wrap="square" lIns="0" tIns="0" rIns="0" bIns="0" rtlCol="0" anchor="t"/>
          <a:lstStyle/>
          <a:p>
            <a:pPr indent="0" marL="0">
              <a:buNone/>
            </a:pPr>
            <a:r>
              <a:rPr lang="en-US" sz="1400" dirty="0">
                <a:solidFill>
                  <a:schemeClr val="accent6"/>
                </a:solidFill>
              </a:rPr>
              <a:t>Rounds 1–5 use the linear model; round 6 adds the RBF kernel and a timing study; round 7 adds the closest published competitor. Rounds 1–3 used 5 splits; the final tables use 10.</a:t>
            </a:r>
            <a:endParaRPr lang="en-US" sz="1400" dirty="0"/>
          </a:p>
        </p:txBody>
      </p:sp>
      <p:sp>
        <p:nvSpPr>
          <p:cNvPr id="48"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49"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50" name="Text 48"/>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Each dead end pointed to the next experiment; this order is also the order of the paper.</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METHOD</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Where a membership enters GBLSTSVM</a:t>
            </a:r>
            <a:endParaRPr lang="en-US" sz="2800" dirty="0"/>
          </a:p>
        </p:txBody>
      </p:sp>
      <p:sp>
        <p:nvSpPr>
          <p:cNvPr id="4" name="code-frame"/>
          <p:cNvSpPr/>
          <p:nvPr/>
        </p:nvSpPr>
        <p:spPr>
          <a:xfrm>
            <a:off x="548640" y="1371600"/>
            <a:ext cx="6949440" cy="2996184"/>
          </a:xfrm>
          <a:prstGeom prst="roundRect">
            <a:avLst>
              <a:gd name="adj" fmla="val 2442"/>
            </a:avLst>
          </a:prstGeom>
          <a:solidFill>
            <a:schemeClr val="tx2"/>
          </a:solidFill>
          <a:ln w="9525">
            <a:solidFill>
              <a:schemeClr val="tx2"/>
            </a:solidFill>
            <a:prstDash val="solid"/>
          </a:ln>
        </p:spPr>
      </p:sp>
      <p:sp>
        <p:nvSpPr>
          <p:cNvPr id="5" name="code-dot"/>
          <p:cNvSpPr/>
          <p:nvPr/>
        </p:nvSpPr>
        <p:spPr>
          <a:xfrm>
            <a:off x="694944" y="1490472"/>
            <a:ext cx="109728" cy="109728"/>
          </a:xfrm>
          <a:prstGeom prst="ellipse">
            <a:avLst/>
          </a:prstGeom>
          <a:solidFill>
            <a:schemeClr val="bg2">
              <a:alpha val="55000"/>
            </a:schemeClr>
          </a:solidFill>
          <a:ln w="12700">
            <a:solidFill>
              <a:schemeClr val="bg2">
                <a:alpha val="55000"/>
              </a:schemeClr>
            </a:solidFill>
            <a:prstDash val="solid"/>
          </a:ln>
        </p:spPr>
      </p:sp>
      <p:sp>
        <p:nvSpPr>
          <p:cNvPr id="6" name="code-dot"/>
          <p:cNvSpPr/>
          <p:nvPr/>
        </p:nvSpPr>
        <p:spPr>
          <a:xfrm>
            <a:off x="877824" y="1490472"/>
            <a:ext cx="109728" cy="109728"/>
          </a:xfrm>
          <a:prstGeom prst="ellipse">
            <a:avLst/>
          </a:prstGeom>
          <a:solidFill>
            <a:schemeClr val="bg2">
              <a:alpha val="55000"/>
            </a:schemeClr>
          </a:solidFill>
          <a:ln w="12700">
            <a:solidFill>
              <a:schemeClr val="bg2">
                <a:alpha val="55000"/>
              </a:schemeClr>
            </a:solidFill>
            <a:prstDash val="solid"/>
          </a:ln>
        </p:spPr>
      </p:sp>
      <p:sp>
        <p:nvSpPr>
          <p:cNvPr id="7" name="code-dot"/>
          <p:cNvSpPr/>
          <p:nvPr/>
        </p:nvSpPr>
        <p:spPr>
          <a:xfrm>
            <a:off x="1060704" y="1490472"/>
            <a:ext cx="109728" cy="109728"/>
          </a:xfrm>
          <a:prstGeom prst="ellipse">
            <a:avLst/>
          </a:prstGeom>
          <a:solidFill>
            <a:schemeClr val="bg2">
              <a:alpha val="55000"/>
            </a:schemeClr>
          </a:solidFill>
          <a:ln w="12700">
            <a:solidFill>
              <a:schemeClr val="bg2">
                <a:alpha val="55000"/>
              </a:schemeClr>
            </a:solidFill>
            <a:prstDash val="solid"/>
          </a:ln>
        </p:spPr>
      </p:sp>
      <p:sp>
        <p:nvSpPr>
          <p:cNvPr id="8" name="Text 6"/>
          <p:cNvSpPr txBox="1"/>
          <p:nvPr/>
        </p:nvSpPr>
        <p:spPr>
          <a:xfrm>
            <a:off x="1298448" y="1408176"/>
            <a:ext cx="6035040" cy="27432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GBLSTSVM.py (simplified)</a:t>
            </a:r>
            <a:endParaRPr lang="en-US" sz="1100" dirty="0"/>
          </a:p>
        </p:txBody>
      </p:sp>
      <p:sp>
        <p:nvSpPr>
          <p:cNvPr id="9" name="code-body"/>
          <p:cNvSpPr/>
          <p:nvPr/>
        </p:nvSpPr>
        <p:spPr>
          <a:xfrm>
            <a:off x="585216" y="1719072"/>
            <a:ext cx="6876288" cy="2612136"/>
          </a:xfrm>
          <a:prstGeom prst="rect">
            <a:avLst/>
          </a:prstGeom>
          <a:solidFill>
            <a:schemeClr val="bg1"/>
          </a:solidFill>
          <a:ln w="12700">
            <a:solidFill>
              <a:schemeClr val="bg1"/>
            </a:solidFill>
            <a:prstDash val="solid"/>
          </a:ln>
        </p:spPr>
      </p:sp>
      <p:sp>
        <p:nvSpPr>
          <p:cNvPr id="10" name="code"/>
          <p:cNvSpPr txBox="1"/>
          <p:nvPr/>
        </p:nvSpPr>
        <p:spPr>
          <a:xfrm>
            <a:off x="676656" y="1810512"/>
            <a:ext cx="6693408" cy="2465832"/>
          </a:xfrm>
          <a:prstGeom prst="rect">
            <a:avLst/>
          </a:prstGeom>
          <a:noFill/>
          <a:ln/>
        </p:spPr>
        <p:txBody>
          <a:bodyPr wrap="square" lIns="0" tIns="0" rIns="0" bIns="0" rtlCol="0" anchor="t"/>
          <a:lstStyle/>
          <a:p>
            <a:pPr indent="0" marL="0">
              <a:lnSpc>
                <a:spcPct val="100000"/>
              </a:lnSpc>
              <a:buNone/>
            </a:pPr>
            <a:r>
              <a:rPr lang="en-US" sz="1300" b="1" dirty="0">
                <a:solidFill>
                  <a:schemeClr val="accent3"/>
                </a:solidFill>
                <a:latin typeface="Courier New" pitchFamily="34" charset="0"/>
                <a:ea typeface="Courier New" pitchFamily="34" charset="-122"/>
                <a:cs typeface="Courier New" pitchFamily="34" charset="-120"/>
              </a:rPr>
              <a:t>def</a:t>
            </a:r>
            <a:r>
              <a:rPr lang="en-US" sz="1300" dirty="0">
                <a:solidFill>
                  <a:schemeClr val="tx1"/>
                </a:solidFill>
                <a:latin typeface="Courier New" pitchFamily="34" charset="0"/>
                <a:ea typeface="Courier New" pitchFamily="34" charset="-122"/>
                <a:cs typeface="Courier New" pitchFamily="34" charset="-120"/>
              </a:rPr>
              <a:t> </a:t>
            </a:r>
            <a:r>
              <a:rPr lang="en-US" sz="1300" b="1" dirty="0">
                <a:solidFill>
                  <a:schemeClr val="tx2"/>
                </a:solidFill>
                <a:latin typeface="Courier New" pitchFamily="34" charset="0"/>
                <a:ea typeface="Courier New" pitchFamily="34" charset="-122"/>
                <a:cs typeface="Courier New" pitchFamily="34" charset="-120"/>
              </a:rPr>
              <a:t>solve_gb_planes</a:t>
            </a:r>
            <a:r>
              <a:rPr lang="en-US" sz="1300" dirty="0">
                <a:solidFill>
                  <a:schemeClr val="tx1"/>
                </a:solidFill>
                <a:latin typeface="Courier New" pitchFamily="34" charset="0"/>
                <a:ea typeface="Courier New" pitchFamily="34" charset="-122"/>
                <a:cs typeface="Courier New" pitchFamily="34" charset="-120"/>
              </a:rPr>
              <a:t>(A, R_pos, B, R_neg, c1, c2,</a:t>
            </a:r>
            <a:endParaRPr lang="en-US" sz="1300" dirty="0"/>
          </a:p>
          <a:p>
            <a:pPr indent="0" marL="0">
              <a:lnSpc>
                <a:spcPct val="100000"/>
              </a:lnSpc>
              <a:buNone/>
            </a:pPr>
            <a:r>
              <a:rPr lang="en-US" sz="1300" dirty="0">
                <a:solidFill>
                  <a:schemeClr val="tx1"/>
                </a:solidFill>
                <a:latin typeface="Courier New" pitchFamily="34" charset="0"/>
                <a:ea typeface="Courier New" pitchFamily="34" charset="-122"/>
                <a:cs typeface="Courier New" pitchFamily="34" charset="-120"/>
              </a:rPr>
              <a:t>                    prox_pos, slack_pos, prox_neg, slack_neg):</a:t>
            </a:r>
            <a:endParaRPr lang="en-US" sz="1300" dirty="0"/>
          </a:p>
          <a:p>
            <a:pPr indent="0" marL="0">
              <a:lnSpc>
                <a:spcPct val="100000"/>
              </a:lnSpc>
              <a:buNone/>
            </a:pPr>
            <a:r>
              <a:rPr lang="en-US" sz="1300" dirty="0">
                <a:solidFill>
                  <a:schemeClr val="tx1"/>
                </a:solidFill>
                <a:latin typeface="Courier New" pitchFamily="34" charset="0"/>
                <a:ea typeface="Courier New" pitchFamily="34" charset="-122"/>
                <a:cs typeface="Courier New" pitchFamily="34" charset="-120"/>
              </a:rPr>
              <a:t>    H = np.column_stack((A, np.ones(len(A))))  </a:t>
            </a:r>
            <a:r>
              <a:rPr lang="en-US" sz="1300" i="1" dirty="0">
                <a:solidFill>
                  <a:schemeClr val="accent6"/>
                </a:solidFill>
                <a:latin typeface="Courier New" pitchFamily="34" charset="0"/>
                <a:ea typeface="Courier New" pitchFamily="34" charset="-122"/>
                <a:cs typeface="Courier New" pitchFamily="34" charset="-120"/>
              </a:rPr>
              <a:t># +1 centres</a:t>
            </a:r>
            <a:endParaRPr lang="en-US" sz="1300" dirty="0"/>
          </a:p>
          <a:p>
            <a:pPr indent="0" marL="0">
              <a:lnSpc>
                <a:spcPct val="100000"/>
              </a:lnSpc>
              <a:buNone/>
            </a:pPr>
            <a:r>
              <a:rPr lang="en-US" sz="1300" dirty="0">
                <a:solidFill>
                  <a:schemeClr val="tx1"/>
                </a:solidFill>
                <a:latin typeface="Courier New" pitchFamily="34" charset="0"/>
                <a:ea typeface="Courier New" pitchFamily="34" charset="-122"/>
                <a:cs typeface="Courier New" pitchFamily="34" charset="-120"/>
              </a:rPr>
              <a:t>    G = np.column_stack((B, np.ones(len(B))))  </a:t>
            </a:r>
            <a:r>
              <a:rPr lang="en-US" sz="1300" i="1" dirty="0">
                <a:solidFill>
                  <a:schemeClr val="accent6"/>
                </a:solidFill>
                <a:latin typeface="Courier New" pitchFamily="34" charset="0"/>
                <a:ea typeface="Courier New" pitchFamily="34" charset="-122"/>
                <a:cs typeface="Courier New" pitchFamily="34" charset="-120"/>
              </a:rPr>
              <a:t># -1 centres</a:t>
            </a:r>
            <a:endParaRPr lang="en-US" sz="1300" dirty="0"/>
          </a:p>
          <a:p>
            <a:pPr indent="0" marL="0">
              <a:lnSpc>
                <a:spcPct val="100000"/>
              </a:lnSpc>
              <a:buNone/>
            </a:pPr>
            <a:r>
              <a:rPr lang="en-US" sz="1300" dirty="0">
                <a:solidFill>
                  <a:schemeClr val="tx1"/>
                </a:solidFill>
                <a:latin typeface="Courier New" pitchFamily="34" charset="0"/>
                <a:ea typeface="Courier New" pitchFamily="34" charset="-122"/>
                <a:cs typeface="Courier New" pitchFamily="34" charset="-120"/>
              </a:rPr>
              <a:t>    I = </a:t>
            </a:r>
            <a:r>
              <a:rPr lang="en-US" sz="1300" dirty="0">
                <a:solidFill>
                  <a:schemeClr val="accent4"/>
                </a:solidFill>
                <a:latin typeface="Courier New" pitchFamily="34" charset="0"/>
                <a:ea typeface="Courier New" pitchFamily="34" charset="-122"/>
                <a:cs typeface="Courier New" pitchFamily="34" charset="-120"/>
              </a:rPr>
              <a:t>1e-4</a:t>
            </a:r>
            <a:r>
              <a:rPr lang="en-US" sz="1300" dirty="0">
                <a:solidFill>
                  <a:schemeClr val="tx1"/>
                </a:solidFill>
                <a:latin typeface="Courier New" pitchFamily="34" charset="0"/>
                <a:ea typeface="Courier New" pitchFamily="34" charset="-122"/>
                <a:cs typeface="Courier New" pitchFamily="34" charset="-120"/>
              </a:rPr>
              <a:t> * np.identity(H.shape[</a:t>
            </a:r>
            <a:r>
              <a:rPr lang="en-US" sz="1300" dirty="0">
                <a:solidFill>
                  <a:schemeClr val="accent4"/>
                </a:solidFill>
                <a:latin typeface="Courier New" pitchFamily="34" charset="0"/>
                <a:ea typeface="Courier New" pitchFamily="34" charset="-122"/>
                <a:cs typeface="Courier New" pitchFamily="34" charset="-120"/>
              </a:rPr>
              <a:t>1</a:t>
            </a:r>
            <a:r>
              <a:rPr lang="en-US" sz="1300" dirty="0">
                <a:solidFill>
                  <a:schemeClr val="tx1"/>
                </a:solidFill>
                <a:latin typeface="Courier New" pitchFamily="34" charset="0"/>
                <a:ea typeface="Courier New" pitchFamily="34" charset="-122"/>
                <a:cs typeface="Courier New" pitchFamily="34" charset="-120"/>
              </a:rPr>
              <a:t>])</a:t>
            </a:r>
            <a:endParaRPr lang="en-US" sz="1300" dirty="0"/>
          </a:p>
          <a:p>
            <a:pPr indent="0" marL="0">
              <a:lnSpc>
                <a:spcPct val="100000"/>
              </a:lnSpc>
              <a:buNone/>
            </a:pPr>
            <a:r>
              <a:rPr lang="en-US" sz="1300" dirty="0">
                <a:solidFill>
                  <a:schemeClr val="tx1"/>
                </a:solidFill>
                <a:latin typeface="Courier New" pitchFamily="34" charset="0"/>
                <a:ea typeface="Courier New" pitchFamily="34" charset="-122"/>
                <a:cs typeface="Courier New" pitchFamily="34" charset="-120"/>
              </a:rPr>
              <a:t>    G_Q2 = G.T * slack_neg      </a:t>
            </a:r>
            <a:r>
              <a:rPr lang="en-US" sz="1300" i="1" dirty="0">
                <a:solidFill>
                  <a:schemeClr val="accent6"/>
                </a:solidFill>
                <a:latin typeface="Courier New" pitchFamily="34" charset="0"/>
                <a:ea typeface="Courier New" pitchFamily="34" charset="-122"/>
                <a:cs typeface="Courier New" pitchFamily="34" charset="-120"/>
              </a:rPr>
              <a:t># s_i of each -1 ball</a:t>
            </a:r>
            <a:endParaRPr lang="en-US" sz="1300" dirty="0"/>
          </a:p>
          <a:p>
            <a:pPr indent="0" marL="0">
              <a:lnSpc>
                <a:spcPct val="100000"/>
              </a:lnSpc>
              <a:buNone/>
            </a:pPr>
            <a:r>
              <a:rPr lang="en-US" sz="1300" dirty="0">
                <a:solidFill>
                  <a:schemeClr val="tx1"/>
                </a:solidFill>
                <a:latin typeface="Courier New" pitchFamily="34" charset="0"/>
                <a:ea typeface="Courier New" pitchFamily="34" charset="-122"/>
                <a:cs typeface="Courier New" pitchFamily="34" charset="-120"/>
              </a:rPr>
              <a:t>    lhs1 = G_Q2 @ G + ((H.T * prox_pos) @ H) / c1 + I</a:t>
            </a:r>
            <a:endParaRPr lang="en-US" sz="1300" dirty="0"/>
          </a:p>
          <a:p>
            <a:pPr indent="0" marL="0">
              <a:lnSpc>
                <a:spcPct val="100000"/>
              </a:lnSpc>
              <a:buNone/>
            </a:pPr>
            <a:r>
              <a:rPr lang="en-US" sz="1300" dirty="0">
                <a:solidFill>
                  <a:schemeClr val="tx1"/>
                </a:solidFill>
                <a:latin typeface="Courier New" pitchFamily="34" charset="0"/>
                <a:ea typeface="Courier New" pitchFamily="34" charset="-122"/>
                <a:cs typeface="Courier New" pitchFamily="34" charset="-120"/>
              </a:rPr>
              <a:t>    z1 = -np.linalg.solve(lhs1, G_Q2 @ (</a:t>
            </a:r>
            <a:r>
              <a:rPr lang="en-US" sz="1300" dirty="0">
                <a:solidFill>
                  <a:schemeClr val="accent4"/>
                </a:solidFill>
                <a:latin typeface="Courier New" pitchFamily="34" charset="0"/>
                <a:ea typeface="Courier New" pitchFamily="34" charset="-122"/>
                <a:cs typeface="Courier New" pitchFamily="34" charset="-120"/>
              </a:rPr>
              <a:t>1</a:t>
            </a:r>
            <a:r>
              <a:rPr lang="en-US" sz="1300" dirty="0">
                <a:solidFill>
                  <a:schemeClr val="tx1"/>
                </a:solidFill>
                <a:latin typeface="Courier New" pitchFamily="34" charset="0"/>
                <a:ea typeface="Courier New" pitchFamily="34" charset="-122"/>
                <a:cs typeface="Courier New" pitchFamily="34" charset="-120"/>
              </a:rPr>
              <a:t> + R_neg))  </a:t>
            </a:r>
            <a:r>
              <a:rPr lang="en-US" sz="1300" i="1" dirty="0">
                <a:solidFill>
                  <a:schemeClr val="accent6"/>
                </a:solidFill>
                <a:latin typeface="Courier New" pitchFamily="34" charset="0"/>
                <a:ea typeface="Courier New" pitchFamily="34" charset="-122"/>
                <a:cs typeface="Courier New" pitchFamily="34" charset="-120"/>
              </a:rPr>
              <a:t># [w1; b1]</a:t>
            </a:r>
            <a:endParaRPr lang="en-US" sz="1300" dirty="0"/>
          </a:p>
          <a:p>
            <a:pPr indent="0" marL="0">
              <a:lnSpc>
                <a:spcPct val="100000"/>
              </a:lnSpc>
              <a:buNone/>
            </a:pPr>
            <a:r>
              <a:rPr lang="en-US" sz="1300" dirty="0">
                <a:solidFill>
                  <a:schemeClr val="tx1"/>
                </a:solidFill>
                <a:latin typeface="Courier New" pitchFamily="34" charset="0"/>
                <a:ea typeface="Courier New" pitchFamily="34" charset="-122"/>
                <a:cs typeface="Courier New" pitchFamily="34" charset="-120"/>
              </a:rPr>
              <a:t>    H_Q1 = H.T * slack_pos      </a:t>
            </a:r>
            <a:r>
              <a:rPr lang="en-US" sz="1300" i="1" dirty="0">
                <a:solidFill>
                  <a:schemeClr val="accent6"/>
                </a:solidFill>
                <a:latin typeface="Courier New" pitchFamily="34" charset="0"/>
                <a:ea typeface="Courier New" pitchFamily="34" charset="-122"/>
                <a:cs typeface="Courier New" pitchFamily="34" charset="-120"/>
              </a:rPr>
              <a:t># s_i of each +1 ball</a:t>
            </a:r>
            <a:endParaRPr lang="en-US" sz="1300" dirty="0"/>
          </a:p>
          <a:p>
            <a:pPr indent="0" marL="0">
              <a:lnSpc>
                <a:spcPct val="100000"/>
              </a:lnSpc>
              <a:buNone/>
            </a:pPr>
            <a:r>
              <a:rPr lang="en-US" sz="1300" dirty="0">
                <a:solidFill>
                  <a:schemeClr val="tx1"/>
                </a:solidFill>
                <a:latin typeface="Courier New" pitchFamily="34" charset="0"/>
                <a:ea typeface="Courier New" pitchFamily="34" charset="-122"/>
                <a:cs typeface="Courier New" pitchFamily="34" charset="-120"/>
              </a:rPr>
              <a:t>    lhs2 = H_Q1 @ H + ((G.T * prox_neg) @ G) / c2 + I</a:t>
            </a:r>
            <a:endParaRPr lang="en-US" sz="1300" dirty="0"/>
          </a:p>
          <a:p>
            <a:pPr indent="0" marL="0">
              <a:lnSpc>
                <a:spcPct val="100000"/>
              </a:lnSpc>
              <a:buNone/>
            </a:pPr>
            <a:r>
              <a:rPr lang="en-US" sz="1300" dirty="0">
                <a:solidFill>
                  <a:schemeClr val="tx1"/>
                </a:solidFill>
                <a:latin typeface="Courier New" pitchFamily="34" charset="0"/>
                <a:ea typeface="Courier New" pitchFamily="34" charset="-122"/>
                <a:cs typeface="Courier New" pitchFamily="34" charset="-120"/>
              </a:rPr>
              <a:t>    z2 = np.linalg.solve(lhs2, H_Q1 @ (</a:t>
            </a:r>
            <a:r>
              <a:rPr lang="en-US" sz="1300" dirty="0">
                <a:solidFill>
                  <a:schemeClr val="accent4"/>
                </a:solidFill>
                <a:latin typeface="Courier New" pitchFamily="34" charset="0"/>
                <a:ea typeface="Courier New" pitchFamily="34" charset="-122"/>
                <a:cs typeface="Courier New" pitchFamily="34" charset="-120"/>
              </a:rPr>
              <a:t>1</a:t>
            </a:r>
            <a:r>
              <a:rPr lang="en-US" sz="1300" dirty="0">
                <a:solidFill>
                  <a:schemeClr val="tx1"/>
                </a:solidFill>
                <a:latin typeface="Courier New" pitchFamily="34" charset="0"/>
                <a:ea typeface="Courier New" pitchFamily="34" charset="-122"/>
                <a:cs typeface="Courier New" pitchFamily="34" charset="-120"/>
              </a:rPr>
              <a:t> + R_pos))   </a:t>
            </a:r>
            <a:r>
              <a:rPr lang="en-US" sz="1300" i="1" dirty="0">
                <a:solidFill>
                  <a:schemeClr val="accent6"/>
                </a:solidFill>
                <a:latin typeface="Courier New" pitchFamily="34" charset="0"/>
                <a:ea typeface="Courier New" pitchFamily="34" charset="-122"/>
                <a:cs typeface="Courier New" pitchFamily="34" charset="-120"/>
              </a:rPr>
              <a:t># [w2; b2]</a:t>
            </a:r>
            <a:endParaRPr lang="en-US" sz="1300" dirty="0"/>
          </a:p>
          <a:p>
            <a:pPr indent="0" marL="0">
              <a:lnSpc>
                <a:spcPct val="100000"/>
              </a:lnSpc>
              <a:buNone/>
            </a:pPr>
            <a:r>
              <a:rPr lang="en-US" sz="1300" dirty="0">
                <a:solidFill>
                  <a:schemeClr val="tx1"/>
                </a:solidFill>
                <a:latin typeface="Courier New" pitchFamily="34" charset="0"/>
                <a:ea typeface="Courier New" pitchFamily="34" charset="-122"/>
                <a:cs typeface="Courier New" pitchFamily="34" charset="-120"/>
              </a:rPr>
              <a:t>    </a:t>
            </a:r>
            <a:r>
              <a:rPr lang="en-US" sz="1300" b="1" dirty="0">
                <a:solidFill>
                  <a:schemeClr val="accent3"/>
                </a:solidFill>
                <a:latin typeface="Courier New" pitchFamily="34" charset="0"/>
                <a:ea typeface="Courier New" pitchFamily="34" charset="-122"/>
                <a:cs typeface="Courier New" pitchFamily="34" charset="-120"/>
              </a:rPr>
              <a:t>return</a:t>
            </a:r>
            <a:r>
              <a:rPr lang="en-US" sz="1300" dirty="0">
                <a:solidFill>
                  <a:schemeClr val="tx1"/>
                </a:solidFill>
                <a:latin typeface="Courier New" pitchFamily="34" charset="0"/>
                <a:ea typeface="Courier New" pitchFamily="34" charset="-122"/>
                <a:cs typeface="Courier New" pitchFamily="34" charset="-120"/>
              </a:rPr>
              <a:t> z1[:-</a:t>
            </a:r>
            <a:r>
              <a:rPr lang="en-US" sz="1300" dirty="0">
                <a:solidFill>
                  <a:schemeClr val="accent4"/>
                </a:solidFill>
                <a:latin typeface="Courier New" pitchFamily="34" charset="0"/>
                <a:ea typeface="Courier New" pitchFamily="34" charset="-122"/>
                <a:cs typeface="Courier New" pitchFamily="34" charset="-120"/>
              </a:rPr>
              <a:t>1</a:t>
            </a:r>
            <a:r>
              <a:rPr lang="en-US" sz="1300" dirty="0">
                <a:solidFill>
                  <a:schemeClr val="tx1"/>
                </a:solidFill>
                <a:latin typeface="Courier New" pitchFamily="34" charset="0"/>
                <a:ea typeface="Courier New" pitchFamily="34" charset="-122"/>
                <a:cs typeface="Courier New" pitchFamily="34" charset="-120"/>
              </a:rPr>
              <a:t>], z1[-</a:t>
            </a:r>
            <a:r>
              <a:rPr lang="en-US" sz="1300" dirty="0">
                <a:solidFill>
                  <a:schemeClr val="accent4"/>
                </a:solidFill>
                <a:latin typeface="Courier New" pitchFamily="34" charset="0"/>
                <a:ea typeface="Courier New" pitchFamily="34" charset="-122"/>
                <a:cs typeface="Courier New" pitchFamily="34" charset="-120"/>
              </a:rPr>
              <a:t>1</a:t>
            </a:r>
            <a:r>
              <a:rPr lang="en-US" sz="1300" dirty="0">
                <a:solidFill>
                  <a:schemeClr val="tx1"/>
                </a:solidFill>
                <a:latin typeface="Courier New" pitchFamily="34" charset="0"/>
                <a:ea typeface="Courier New" pitchFamily="34" charset="-122"/>
                <a:cs typeface="Courier New" pitchFamily="34" charset="-120"/>
              </a:rPr>
              <a:t>], z2[:-</a:t>
            </a:r>
            <a:r>
              <a:rPr lang="en-US" sz="1300" dirty="0">
                <a:solidFill>
                  <a:schemeClr val="accent4"/>
                </a:solidFill>
                <a:latin typeface="Courier New" pitchFamily="34" charset="0"/>
                <a:ea typeface="Courier New" pitchFamily="34" charset="-122"/>
                <a:cs typeface="Courier New" pitchFamily="34" charset="-120"/>
              </a:rPr>
              <a:t>1</a:t>
            </a:r>
            <a:r>
              <a:rPr lang="en-US" sz="1300" dirty="0">
                <a:solidFill>
                  <a:schemeClr val="tx1"/>
                </a:solidFill>
                <a:latin typeface="Courier New" pitchFamily="34" charset="0"/>
                <a:ea typeface="Courier New" pitchFamily="34" charset="-122"/>
                <a:cs typeface="Courier New" pitchFamily="34" charset="-120"/>
              </a:rPr>
              <a:t>], z2[-</a:t>
            </a:r>
            <a:r>
              <a:rPr lang="en-US" sz="1300" dirty="0">
                <a:solidFill>
                  <a:schemeClr val="accent4"/>
                </a:solidFill>
                <a:latin typeface="Courier New" pitchFamily="34" charset="0"/>
                <a:ea typeface="Courier New" pitchFamily="34" charset="-122"/>
                <a:cs typeface="Courier New" pitchFamily="34" charset="-120"/>
              </a:rPr>
              <a:t>1</a:t>
            </a:r>
            <a:r>
              <a:rPr lang="en-US" sz="1300" dirty="0">
                <a:solidFill>
                  <a:schemeClr val="tx1"/>
                </a:solidFill>
                <a:latin typeface="Courier New" pitchFamily="34" charset="0"/>
                <a:ea typeface="Courier New" pitchFamily="34" charset="-122"/>
                <a:cs typeface="Courier New" pitchFamily="34" charset="-120"/>
              </a:rPr>
              <a:t>]</a:t>
            </a:r>
            <a:endParaRPr lang="en-US" sz="1300" dirty="0"/>
          </a:p>
        </p:txBody>
      </p:sp>
      <p:sp>
        <p:nvSpPr>
          <p:cNvPr id="11" name="Text 9"/>
          <p:cNvSpPr txBox="1"/>
          <p:nvPr/>
        </p:nvSpPr>
        <p:spPr>
          <a:xfrm>
            <a:off x="548640" y="4477512"/>
            <a:ext cx="6949440" cy="457200"/>
          </a:xfrm>
          <a:prstGeom prst="rect">
            <a:avLst/>
          </a:prstGeom>
          <a:noFill/>
          <a:ln/>
        </p:spPr>
        <p:txBody>
          <a:bodyPr wrap="square" lIns="0" tIns="0" rIns="0" bIns="0" rtlCol="0" anchor="t"/>
          <a:lstStyle/>
          <a:p>
            <a:pPr indent="0" marL="0">
              <a:buNone/>
            </a:pPr>
            <a:r>
              <a:rPr lang="en-US" sz="1200" i="1" dirty="0">
                <a:solidFill>
                  <a:schemeClr val="accent6"/>
                </a:solidFill>
              </a:rPr>
              <a:t>prox_* and slack_* are per-ball weight vectors: the original code passes the class weights in both; a membership goes into slack_*.</a:t>
            </a:r>
            <a:endParaRPr lang="en-US" sz="1200" dirty="0"/>
          </a:p>
        </p:txBody>
      </p:sp>
      <p:sp>
        <p:nvSpPr>
          <p:cNvPr id="12" name="Text 10"/>
          <p:cNvSpPr txBox="1"/>
          <p:nvPr/>
        </p:nvSpPr>
        <p:spPr>
          <a:xfrm>
            <a:off x="7726680" y="1371600"/>
            <a:ext cx="3886200" cy="365760"/>
          </a:xfrm>
          <a:prstGeom prst="rect">
            <a:avLst/>
          </a:prstGeom>
          <a:noFill/>
          <a:ln/>
        </p:spPr>
        <p:txBody>
          <a:bodyPr wrap="square" lIns="0" tIns="0" rIns="0" bIns="0" rtlCol="0" anchor="t"/>
          <a:lstStyle/>
          <a:p>
            <a:pPr indent="0" marL="0">
              <a:buNone/>
            </a:pPr>
            <a:r>
              <a:rPr lang="en-US" sz="1800" b="1" dirty="0">
                <a:solidFill>
                  <a:schemeClr val="tx2"/>
                </a:solidFill>
              </a:rPr>
              <a:t>Line 1 with memberships</a:t>
            </a:r>
            <a:endParaRPr lang="en-US" sz="1800" dirty="0"/>
          </a:p>
        </p:txBody>
      </p:sp>
      <p:sp>
        <p:nvSpPr>
          <p:cNvPr id="13" name="Text 11"/>
          <p:cNvSpPr txBox="1"/>
          <p:nvPr/>
        </p:nvSpPr>
        <p:spPr>
          <a:xfrm>
            <a:off x="7726680" y="1783080"/>
            <a:ext cx="3886200" cy="731520"/>
          </a:xfrm>
          <a:prstGeom prst="rect">
            <a:avLst/>
          </a:prstGeom>
          <a:noFill/>
          <a:ln/>
        </p:spPr>
        <p:txBody>
          <a:bodyPr wrap="square" lIns="0" tIns="0" rIns="0" bIns="0" rtlCol="0" anchor="t"/>
          <a:lstStyle/>
          <a:p>
            <a:pPr indent="0" marL="0">
              <a:spcAft>
                <a:spcPts val="400"/>
              </a:spcAft>
              <a:buNone/>
            </a:pPr>
            <a:r>
              <a:rPr lang="en-US" sz="1500" dirty="0">
                <a:solidFill>
                  <a:schemeClr val="tx1"/>
                </a:solidFill>
                <a:latin typeface="Cambria" pitchFamily="34" charset="0"/>
                <a:ea typeface="Cambria" pitchFamily="34" charset="-122"/>
                <a:cs typeface="Cambria" pitchFamily="34" charset="-120"/>
              </a:rPr>
              <a:t>(G</a:t>
            </a:r>
            <a:r>
              <a:rPr lang="en-US" sz="1500" baseline="30000" dirty="0">
                <a:solidFill>
                  <a:schemeClr val="tx1"/>
                </a:solidFill>
                <a:latin typeface="Cambria" pitchFamily="34" charset="0"/>
                <a:ea typeface="Cambria" pitchFamily="34" charset="-122"/>
                <a:cs typeface="Cambria" pitchFamily="34" charset="-120"/>
              </a:rPr>
              <a:t>T</a:t>
            </a:r>
            <a:r>
              <a:rPr lang="en-US" sz="1500" dirty="0">
                <a:solidFill>
                  <a:schemeClr val="tx1"/>
                </a:solidFill>
                <a:latin typeface="Cambria" pitchFamily="34" charset="0"/>
                <a:ea typeface="Cambria" pitchFamily="34" charset="-122"/>
                <a:cs typeface="Cambria" pitchFamily="34" charset="-120"/>
              </a:rPr>
              <a:t>SG + (1/c</a:t>
            </a:r>
            <a:r>
              <a:rPr lang="en-US" sz="1500" baseline="-40000" dirty="0">
                <a:solidFill>
                  <a:schemeClr val="tx1"/>
                </a:solidFill>
                <a:latin typeface="Cambria" pitchFamily="34" charset="0"/>
                <a:ea typeface="Cambria" pitchFamily="34" charset="-122"/>
                <a:cs typeface="Cambria" pitchFamily="34" charset="-120"/>
              </a:rPr>
              <a:t>1</a:t>
            </a:r>
            <a:r>
              <a:rPr lang="en-US" sz="1500" dirty="0">
                <a:solidFill>
                  <a:schemeClr val="tx1"/>
                </a:solidFill>
                <a:latin typeface="Cambria" pitchFamily="34" charset="0"/>
                <a:ea typeface="Cambria" pitchFamily="34" charset="-122"/>
                <a:cs typeface="Cambria" pitchFamily="34" charset="-120"/>
              </a:rPr>
              <a:t>) H</a:t>
            </a:r>
            <a:r>
              <a:rPr lang="en-US" sz="1500" baseline="30000" dirty="0">
                <a:solidFill>
                  <a:schemeClr val="tx1"/>
                </a:solidFill>
                <a:latin typeface="Cambria" pitchFamily="34" charset="0"/>
                <a:ea typeface="Cambria" pitchFamily="34" charset="-122"/>
                <a:cs typeface="Cambria" pitchFamily="34" charset="-120"/>
              </a:rPr>
              <a:t>T</a:t>
            </a:r>
            <a:r>
              <a:rPr lang="en-US" sz="1500" dirty="0">
                <a:solidFill>
                  <a:schemeClr val="tx1"/>
                </a:solidFill>
                <a:latin typeface="Cambria" pitchFamily="34" charset="0"/>
                <a:ea typeface="Cambria" pitchFamily="34" charset="-122"/>
                <a:cs typeface="Cambria" pitchFamily="34" charset="-120"/>
              </a:rPr>
              <a:t>H + εI) z</a:t>
            </a:r>
            <a:r>
              <a:rPr lang="en-US" sz="1500" baseline="-40000" dirty="0">
                <a:solidFill>
                  <a:schemeClr val="tx1"/>
                </a:solidFill>
                <a:latin typeface="Cambria" pitchFamily="34" charset="0"/>
                <a:ea typeface="Cambria" pitchFamily="34" charset="-122"/>
                <a:cs typeface="Cambria" pitchFamily="34" charset="-120"/>
              </a:rPr>
              <a:t>1</a:t>
            </a:r>
            <a:r>
              <a:rPr lang="en-US" sz="1500" dirty="0">
                <a:solidFill>
                  <a:schemeClr val="tx1"/>
                </a:solidFill>
                <a:latin typeface="Cambria" pitchFamily="34" charset="0"/>
                <a:ea typeface="Cambria" pitchFamily="34" charset="-122"/>
                <a:cs typeface="Cambria" pitchFamily="34" charset="-120"/>
              </a:rPr>
              <a:t> = −G</a:t>
            </a:r>
            <a:r>
              <a:rPr lang="en-US" sz="1500" baseline="30000" dirty="0">
                <a:solidFill>
                  <a:schemeClr val="tx1"/>
                </a:solidFill>
                <a:latin typeface="Cambria" pitchFamily="34" charset="0"/>
                <a:ea typeface="Cambria" pitchFamily="34" charset="-122"/>
                <a:cs typeface="Cambria" pitchFamily="34" charset="-120"/>
              </a:rPr>
              <a:t>T</a:t>
            </a:r>
            <a:r>
              <a:rPr lang="en-US" sz="1500" dirty="0">
                <a:solidFill>
                  <a:schemeClr val="tx1"/>
                </a:solidFill>
                <a:latin typeface="Cambria" pitchFamily="34" charset="0"/>
                <a:ea typeface="Cambria" pitchFamily="34" charset="-122"/>
                <a:cs typeface="Cambria" pitchFamily="34" charset="-120"/>
              </a:rPr>
              <a:t>S(e + r</a:t>
            </a:r>
            <a:r>
              <a:rPr lang="en-US" sz="1500" baseline="30000" dirty="0">
                <a:solidFill>
                  <a:schemeClr val="tx1"/>
                </a:solidFill>
                <a:latin typeface="Cambria" pitchFamily="34" charset="0"/>
                <a:ea typeface="Cambria" pitchFamily="34" charset="-122"/>
                <a:cs typeface="Cambria" pitchFamily="34" charset="-120"/>
              </a:rPr>
              <a:t>−</a:t>
            </a:r>
            <a:r>
              <a:rPr lang="en-US" sz="1500" dirty="0">
                <a:solidFill>
                  <a:schemeClr val="tx1"/>
                </a:solidFill>
                <a:latin typeface="Cambria" pitchFamily="34" charset="0"/>
                <a:ea typeface="Cambria" pitchFamily="34" charset="-122"/>
                <a:cs typeface="Cambria" pitchFamily="34" charset="-120"/>
              </a:rPr>
              <a:t>)</a:t>
            </a:r>
            <a:endParaRPr lang="en-US" sz="1400" dirty="0"/>
          </a:p>
          <a:p>
            <a:pPr indent="0" marL="0">
              <a:spcAft>
                <a:spcPts val="400"/>
              </a:spcAft>
              <a:buNone/>
            </a:pPr>
            <a:r>
              <a:rPr lang="en-US" sz="1500" dirty="0">
                <a:solidFill>
                  <a:schemeClr val="tx1"/>
                </a:solidFill>
                <a:latin typeface="Cambria" pitchFamily="34" charset="0"/>
                <a:ea typeface="Cambria" pitchFamily="34" charset="-122"/>
                <a:cs typeface="Cambria" pitchFamily="34" charset="-120"/>
              </a:rPr>
              <a:t>S = diag(s</a:t>
            </a:r>
            <a:r>
              <a:rPr lang="en-US" sz="1500" baseline="-40000" dirty="0">
                <a:solidFill>
                  <a:schemeClr val="tx1"/>
                </a:solidFill>
                <a:latin typeface="Cambria" pitchFamily="34" charset="0"/>
                <a:ea typeface="Cambria" pitchFamily="34" charset="-122"/>
                <a:cs typeface="Cambria" pitchFamily="34" charset="-120"/>
              </a:rPr>
              <a:t>1</a:t>
            </a:r>
            <a:r>
              <a:rPr lang="en-US" sz="1500" dirty="0">
                <a:solidFill>
                  <a:schemeClr val="tx1"/>
                </a:solidFill>
                <a:latin typeface="Cambria" pitchFamily="34" charset="0"/>
                <a:ea typeface="Cambria" pitchFamily="34" charset="-122"/>
                <a:cs typeface="Cambria" pitchFamily="34" charset="-120"/>
              </a:rPr>
              <a:t>, …, s</a:t>
            </a:r>
            <a:r>
              <a:rPr lang="en-US" sz="1500" baseline="-40000" dirty="0">
                <a:solidFill>
                  <a:schemeClr val="tx1"/>
                </a:solidFill>
                <a:latin typeface="Cambria" pitchFamily="34" charset="0"/>
                <a:ea typeface="Cambria" pitchFamily="34" charset="-122"/>
                <a:cs typeface="Cambria" pitchFamily="34" charset="-120"/>
              </a:rPr>
              <a:t>m</a:t>
            </a:r>
            <a:r>
              <a:rPr lang="en-US" sz="1500" dirty="0">
                <a:solidFill>
                  <a:schemeClr val="tx1"/>
                </a:solidFill>
                <a:latin typeface="Cambria" pitchFamily="34" charset="0"/>
                <a:ea typeface="Cambria" pitchFamily="34" charset="-122"/>
                <a:cs typeface="Cambria" pitchFamily="34" charset="-120"/>
              </a:rPr>
              <a:t>)</a:t>
            </a:r>
            <a:endParaRPr lang="en-US" sz="1400" dirty="0"/>
          </a:p>
        </p:txBody>
      </p:sp>
      <p:sp>
        <p:nvSpPr>
          <p:cNvPr id="14" name="Text 12"/>
          <p:cNvSpPr txBox="1"/>
          <p:nvPr/>
        </p:nvSpPr>
        <p:spPr>
          <a:xfrm>
            <a:off x="7726680" y="2651760"/>
            <a:ext cx="3886200" cy="283464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A membership scales only the slack term: a ball with a small s</a:t>
            </a:r>
            <a:r>
              <a:rPr lang="en-US" sz="1400" baseline="-40000" dirty="0">
                <a:solidFill>
                  <a:schemeClr val="tx1"/>
                </a:solidFill>
              </a:rPr>
              <a:t>i</a:t>
            </a:r>
            <a:r>
              <a:rPr lang="en-US" sz="1400" dirty="0">
                <a:solidFill>
                  <a:schemeClr val="tx1"/>
                </a:solidFill>
              </a:rPr>
              <a:t> may sit on the wrong side of the other class’s line cheaply.</a:t>
            </a:r>
            <a:endParaRPr lang="en-US" sz="1400" dirty="0"/>
          </a:p>
          <a:p>
            <a:pPr marL="203200" indent="-203200">
              <a:spcAft>
                <a:spcPts val="800"/>
              </a:spcAft>
              <a:buSzPct val="100000"/>
              <a:buChar char="•"/>
            </a:pPr>
            <a:r>
              <a:rPr lang="en-US" sz="1400" dirty="0">
                <a:solidFill>
                  <a:schemeClr val="tx1"/>
                </a:solidFill>
              </a:rPr>
              <a:t>With every s</a:t>
            </a:r>
            <a:r>
              <a:rPr lang="en-US" sz="1400" baseline="-40000" dirty="0">
                <a:solidFill>
                  <a:schemeClr val="tx1"/>
                </a:solidFill>
              </a:rPr>
              <a:t>i</a:t>
            </a:r>
            <a:r>
              <a:rPr lang="en-US" sz="1400" dirty="0">
                <a:solidFill>
                  <a:schemeClr val="tx1"/>
                </a:solidFill>
              </a:rPr>
              <a:t> = 1 this is exactly the original GBLSTSVM; we checked that its predictions are unchanged.</a:t>
            </a:r>
            <a:endParaRPr lang="en-US" sz="1400" dirty="0"/>
          </a:p>
          <a:p>
            <a:pPr marL="203200" indent="-203200">
              <a:spcAft>
                <a:spcPts val="800"/>
              </a:spcAft>
              <a:buSzPct val="100000"/>
              <a:buChar char="•"/>
            </a:pPr>
            <a:r>
              <a:rPr lang="en-US" sz="1400" dirty="0">
                <a:solidFill>
                  <a:schemeClr val="tx1"/>
                </a:solidFill>
              </a:rPr>
              <a:t>Training on every point with radius 0 turns the same code into LSTSVM, so all models share one solver.</a:t>
            </a:r>
            <a:endParaRPr lang="en-US" sz="1400" dirty="0"/>
          </a:p>
        </p:txBody>
      </p:sp>
      <p:sp>
        <p:nvSpPr>
          <p:cNvPr id="15"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16"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17" name="Text 15"/>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One hook, one solver: every variant in this talk differs only in which balls go in and what weight they carry.</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METHOD</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Seven candidate memberships for a ball i</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057400"/>
                <a:gridCol w="3657600"/>
                <a:gridCol w="2788920"/>
                <a:gridCol w="2560320"/>
              </a:tblGrid>
              <a:tr h="384048">
                <a:tc>
                  <a:txBody>
                    <a:bodyPr/>
                    <a:lstStyle/>
                    <a:p>
                      <a:pPr indent="0" marL="0">
                        <a:buNone/>
                      </a:pP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Membership s_i of ball i</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Idea: the ball is doubtful when …</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Where it comes from</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r>
              <a:tr h="548640">
                <a:tc>
                  <a:txBody>
                    <a:bodyPr/>
                    <a:lstStyle/>
                    <a:p>
                      <a:pPr indent="0" marL="0">
                        <a:buNone/>
                      </a:pPr>
                      <a:r>
                        <a:rPr lang="en-US" sz="1300" b="1" dirty="0">
                          <a:solidFill>
                            <a:schemeClr val="tx1"/>
                          </a:solidFill>
                        </a:rPr>
                        <a:t>T1  Centre distance</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1 − d</a:t>
                      </a:r>
                      <a:r>
                        <a:rPr lang="en-US" sz="1300" baseline="-40000" dirty="0">
                          <a:solidFill>
                            <a:schemeClr val="tx1"/>
                          </a:solidFill>
                        </a:rPr>
                        <a:t>i</a:t>
                      </a:r>
                      <a:r>
                        <a:rPr lang="en-US" sz="1300" dirty="0">
                          <a:solidFill>
                            <a:schemeClr val="tx1"/>
                          </a:solidFill>
                        </a:rPr>
                        <a:t> / (max</a:t>
                      </a:r>
                      <a:r>
                        <a:rPr lang="en-US" sz="1300" baseline="-40000" dirty="0">
                          <a:solidFill>
                            <a:schemeClr val="tx1"/>
                          </a:solidFill>
                        </a:rPr>
                        <a:t>j</a:t>
                      </a:r>
                      <a:r>
                        <a:rPr lang="en-US" sz="1300" dirty="0">
                          <a:solidFill>
                            <a:schemeClr val="tx1"/>
                          </a:solidFill>
                        </a:rPr>
                        <a:t> d</a:t>
                      </a:r>
                      <a:r>
                        <a:rPr lang="en-US" sz="1300" baseline="-40000" dirty="0">
                          <a:solidFill>
                            <a:schemeClr val="tx1"/>
                          </a:solidFill>
                        </a:rPr>
                        <a:t>j</a:t>
                      </a:r>
                      <a:r>
                        <a:rPr lang="en-US" sz="1300" dirty="0">
                          <a:solidFill>
                            <a:schemeClr val="tx1"/>
                          </a:solidFill>
                        </a:rPr>
                        <a:t> + δ),  d</a:t>
                      </a:r>
                      <a:r>
                        <a:rPr lang="en-US" sz="1300" baseline="-40000" dirty="0">
                          <a:solidFill>
                            <a:schemeClr val="tx1"/>
                          </a:solidFill>
                        </a:rPr>
                        <a:t>i</a:t>
                      </a:r>
                      <a:r>
                        <a:rPr lang="en-US" sz="1300" dirty="0">
                          <a:solidFill>
                            <a:schemeClr val="tx1"/>
                          </a:solidFill>
                        </a:rPr>
                        <a:t> = distance to its class centre</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it lies far from its class centre</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FSVM [8]; on balls: GBFSVM [13]</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502920">
                <a:tc>
                  <a:txBody>
                    <a:bodyPr/>
                    <a:lstStyle/>
                    <a:p>
                      <a:pPr indent="0" marL="0">
                        <a:buNone/>
                      </a:pPr>
                      <a:r>
                        <a:rPr lang="en-US" sz="1300" b="1" dirty="0">
                          <a:solidFill>
                            <a:schemeClr val="tx1"/>
                          </a:solidFill>
                        </a:rPr>
                        <a:t>T2  Entropy</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1 − H(class shares among the k nearest balls)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its neighbourhood mixes both classes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EFSVM [9]</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548640">
                <a:tc>
                  <a:txBody>
                    <a:bodyPr/>
                    <a:lstStyle/>
                    <a:p>
                      <a:pPr indent="0" marL="0">
                        <a:buNone/>
                      </a:pPr>
                      <a:r>
                        <a:rPr lang="en-US" sz="1300" b="1" dirty="0">
                          <a:solidFill>
                            <a:schemeClr val="tx1"/>
                          </a:solidFill>
                        </a:rPr>
                        <a:t>T3  Pythagorean</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membership μ and non-membership ν, μ</a:t>
                      </a:r>
                      <a:r>
                        <a:rPr lang="en-US" sz="1300" baseline="30000" dirty="0">
                          <a:solidFill>
                            <a:schemeClr val="tx1"/>
                          </a:solidFill>
                        </a:rPr>
                        <a:t>2</a:t>
                      </a:r>
                      <a:r>
                        <a:rPr lang="en-US" sz="1300" dirty="0">
                          <a:solidFill>
                            <a:schemeClr val="tx1"/>
                          </a:solidFill>
                        </a:rPr>
                        <a:t> + ν</a:t>
                      </a:r>
                      <a:r>
                        <a:rPr lang="en-US" sz="1300" baseline="30000" dirty="0">
                          <a:solidFill>
                            <a:schemeClr val="tx1"/>
                          </a:solidFill>
                        </a:rPr>
                        <a:t>2</a:t>
                      </a:r>
                      <a:r>
                        <a:rPr lang="en-US" sz="1300" dirty="0">
                          <a:solidFill>
                            <a:schemeClr val="tx1"/>
                          </a:solidFill>
                        </a:rPr>
                        <a:t> ≤ 1</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it is impure or far from the centre</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IFTSVM [10], [12]; tested as GBFTSVM [15]</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548640">
                <a:tc>
                  <a:txBody>
                    <a:bodyPr/>
                    <a:lstStyle/>
                    <a:p>
                      <a:pPr indent="0" marL="0">
                        <a:buNone/>
                      </a:pPr>
                      <a:r>
                        <a:rPr lang="en-US" sz="1300" b="1" dirty="0">
                          <a:solidFill>
                            <a:schemeClr val="tx1"/>
                          </a:solidFill>
                        </a:rPr>
                        <a:t>T4  Overlap</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exp(−λ Σ</a:t>
                      </a:r>
                      <a:r>
                        <a:rPr lang="en-US" sz="1300" baseline="-40000" dirty="0">
                          <a:solidFill>
                            <a:schemeClr val="tx1"/>
                          </a:solidFill>
                        </a:rPr>
                        <a:t>j</a:t>
                      </a:r>
                      <a:r>
                        <a:rPr lang="en-US" sz="1300" dirty="0">
                          <a:solidFill>
                            <a:schemeClr val="tx1"/>
                          </a:solidFill>
                        </a:rPr>
                        <a:t> o</a:t>
                      </a:r>
                      <a:r>
                        <a:rPr lang="en-US" sz="1300" baseline="-40000" dirty="0">
                          <a:solidFill>
                            <a:schemeClr val="tx1"/>
                          </a:solidFill>
                        </a:rPr>
                        <a:t>ij</a:t>
                      </a:r>
                      <a:r>
                        <a:rPr lang="en-US" sz="1300" dirty="0">
                          <a:solidFill>
                            <a:schemeClr val="tx1"/>
                          </a:solidFill>
                        </a:rPr>
                        <a:t> / r</a:t>
                      </a:r>
                      <a:r>
                        <a:rPr lang="en-US" sz="1300" baseline="-40000" dirty="0">
                          <a:solidFill>
                            <a:schemeClr val="tx1"/>
                          </a:solidFill>
                        </a:rPr>
                        <a:t>i</a:t>
                      </a:r>
                      <a:r>
                        <a:rPr lang="en-US" sz="1300" dirty="0">
                          <a:solidFill>
                            <a:schemeClr val="tx1"/>
                          </a:solidFill>
                        </a:rPr>
                        <a:t>),  o</a:t>
                      </a:r>
                      <a:r>
                        <a:rPr lang="en-US" sz="1300" baseline="-40000" dirty="0">
                          <a:solidFill>
                            <a:schemeClr val="tx1"/>
                          </a:solidFill>
                        </a:rPr>
                        <a:t>ij</a:t>
                      </a:r>
                      <a:r>
                        <a:rPr lang="en-US" sz="1300" dirty="0">
                          <a:solidFill>
                            <a:schemeClr val="tx1"/>
                          </a:solidFill>
                        </a:rPr>
                        <a:t> = overlap with other-class ball j</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it overlaps balls of the other class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Ours (a similar OBRU weight exists in the lab suite [24])</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502920">
                <a:tc>
                  <a:txBody>
                    <a:bodyPr/>
                    <a:lstStyle/>
                    <a:p>
                      <a:pPr indent="0" marL="0">
                        <a:buNone/>
                      </a:pPr>
                      <a:r>
                        <a:rPr lang="en-US" sz="1300" b="1" dirty="0">
                          <a:solidFill>
                            <a:schemeClr val="tx1"/>
                          </a:solidFill>
                        </a:rPr>
                        <a:t>T5  Density</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(ρ</a:t>
                      </a:r>
                      <a:r>
                        <a:rPr lang="en-US" sz="1300" baseline="-40000" dirty="0">
                          <a:solidFill>
                            <a:schemeClr val="tx1"/>
                          </a:solidFill>
                        </a:rPr>
                        <a:t>i</a:t>
                      </a:r>
                      <a:r>
                        <a:rPr lang="en-US" sz="1300" dirty="0">
                          <a:solidFill>
                            <a:schemeClr val="tx1"/>
                          </a:solidFill>
                        </a:rPr>
                        <a:t> / max ρ)</a:t>
                      </a:r>
                      <a:r>
                        <a:rPr lang="en-US" sz="1300" baseline="30000" dirty="0">
                          <a:solidFill>
                            <a:schemeClr val="tx1"/>
                          </a:solidFill>
                        </a:rPr>
                        <a:t>γ</a:t>
                      </a:r>
                      <a:r>
                        <a:rPr lang="en-US" sz="1300" dirty="0">
                          <a:solidFill>
                            <a:schemeClr val="tx1"/>
                          </a:solidFill>
                        </a:rPr>
                        <a:t>,  ρ</a:t>
                      </a:r>
                      <a:r>
                        <a:rPr lang="en-US" sz="1300" baseline="-40000" dirty="0">
                          <a:solidFill>
                            <a:schemeClr val="tx1"/>
                          </a:solidFill>
                        </a:rPr>
                        <a:t>i</a:t>
                      </a:r>
                      <a:r>
                        <a:rPr lang="en-US" sz="1300" dirty="0">
                          <a:solidFill>
                            <a:schemeClr val="tx1"/>
                          </a:solidFill>
                        </a:rPr>
                        <a:t> = n</a:t>
                      </a:r>
                      <a:r>
                        <a:rPr lang="en-US" sz="1300" baseline="-40000" dirty="0">
                          <a:solidFill>
                            <a:schemeClr val="tx1"/>
                          </a:solidFill>
                        </a:rPr>
                        <a:t>i</a:t>
                      </a:r>
                      <a:r>
                        <a:rPr lang="en-US" sz="1300" dirty="0">
                          <a:solidFill>
                            <a:schemeClr val="tx1"/>
                          </a:solidFill>
                        </a:rPr>
                        <a:t> / r</a:t>
                      </a:r>
                      <a:r>
                        <a:rPr lang="en-US" sz="1300" baseline="-40000" dirty="0">
                          <a:solidFill>
                            <a:schemeClr val="tx1"/>
                          </a:solidFill>
                        </a:rPr>
                        <a:t>i</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it is sparse: few points in a big ball</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Ours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502920">
                <a:tc>
                  <a:txBody>
                    <a:bodyPr/>
                    <a:lstStyle/>
                    <a:p>
                      <a:pPr indent="0" marL="0">
                        <a:buNone/>
                      </a:pPr>
                      <a:r>
                        <a:rPr lang="en-US" sz="1300" b="1" dirty="0">
                          <a:solidFill>
                            <a:schemeClr val="tx1"/>
                          </a:solidFill>
                        </a:rPr>
                        <a:t>T6  Keep single points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not a weight: keep the balls GBLSTSVM deletes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deletion also removes correct border points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Ours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502920">
                <a:tc>
                  <a:txBody>
                    <a:bodyPr/>
                    <a:lstStyle/>
                    <a:p>
                      <a:pPr indent="0" marL="0">
                        <a:buNone/>
                      </a:pPr>
                      <a:r>
                        <a:rPr lang="en-US" sz="1300" b="1" dirty="0">
                          <a:solidFill>
                            <a:schemeClr val="tx1"/>
                          </a:solidFill>
                        </a:rPr>
                        <a:t>T7  Neighbour agreement</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(own-label share among the k nearest balls)</a:t>
                      </a:r>
                      <a:r>
                        <a:rPr lang="en-US" sz="1300" baseline="30000" dirty="0">
                          <a:solidFill>
                            <a:schemeClr val="tx1"/>
                          </a:solidFill>
                        </a:rPr>
                        <a:t>γ</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its neighbours carry the other label</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Fuzzy kNN [11], moved to balls: ours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bl>
          </a:graphicData>
        </a:graphic>
      </p:graphicFrame>
      <p:sp>
        <p:nvSpPr>
          <p:cNvPr id="5"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6"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7" name="Text 4"/>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T1–T3 come from the fuzzy SVM literature; T4–T7 are our proposals for balls (T7 adapts fuzzy kNN).</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EXPERIMENTS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Round 1: fuzzy weights on balls change almost nothing</a:t>
            </a:r>
            <a:endParaRPr lang="en-US" sz="2800" dirty="0"/>
          </a:p>
        </p:txBody>
      </p:sp>
      <p:sp>
        <p:nvSpPr>
          <p:cNvPr id="4" name="Text 2"/>
          <p:cNvSpPr txBox="1"/>
          <p:nvPr/>
        </p:nvSpPr>
        <p:spPr>
          <a:xfrm>
            <a:off x="548640" y="1325880"/>
            <a:ext cx="7315200" cy="274320"/>
          </a:xfrm>
          <a:prstGeom prst="rect">
            <a:avLst/>
          </a:prstGeom>
          <a:noFill/>
          <a:ln/>
        </p:spPr>
        <p:txBody>
          <a:bodyPr wrap="square" lIns="0" tIns="0" rIns="0" bIns="0" rtlCol="0" anchor="t"/>
          <a:lstStyle/>
          <a:p>
            <a:pPr indent="0" marL="0">
              <a:buNone/>
            </a:pPr>
            <a:r>
              <a:rPr lang="en-US" sz="1200" i="1" dirty="0">
                <a:solidFill>
                  <a:schemeClr val="accent6"/>
                </a:solidFill>
              </a:rPr>
              <a:t>Change in balanced accuracy vs GBLSTSVM, points (21 datasets × 5 splits)</a:t>
            </a:r>
            <a:endParaRPr lang="en-US" sz="1200" dirty="0"/>
          </a:p>
        </p:txBody>
      </p:sp>
      <p:graphicFrame>
        <p:nvGraphicFramePr>
          <p:cNvPr id="5" name="Chart 0" descr=""/>
          <p:cNvGraphicFramePr/>
          <p:nvPr/>
        </p:nvGraphicFramePr>
        <p:xfrm>
          <a:off x="548640" y="1600200"/>
          <a:ext cx="7315200" cy="3931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8138160" y="1600200"/>
            <a:ext cx="3474720" cy="3840480"/>
          </a:xfrm>
          <a:prstGeom prst="rect">
            <a:avLst/>
          </a:prstGeom>
          <a:noFill/>
          <a:ln/>
        </p:spPr>
        <p:txBody>
          <a:bodyPr wrap="square" lIns="0" tIns="0" rIns="0" bIns="0" rtlCol="0" anchor="t"/>
          <a:lstStyle/>
          <a:p>
            <a:pPr marL="203200" indent="-203200">
              <a:spcAft>
                <a:spcPts val="1000"/>
              </a:spcAft>
              <a:buSzPct val="100000"/>
              <a:buChar char="•"/>
            </a:pPr>
            <a:r>
              <a:rPr lang="en-US" sz="1500" b="1" dirty="0">
                <a:solidFill>
                  <a:schemeClr val="tx1"/>
                </a:solidFill>
              </a:rPr>
              <a:t>Gains are at most +0.8 points; </a:t>
            </a:r>
            <a:r>
              <a:rPr lang="en-US" sz="1500" dirty="0">
                <a:solidFill>
                  <a:schemeClr val="tx1"/>
                </a:solidFill>
              </a:rPr>
              <a:t>under 20% noise every weight is below GBLSTSVM.</a:t>
            </a:r>
            <a:endParaRPr lang="en-US" sz="1500" dirty="0"/>
          </a:p>
          <a:p>
            <a:pPr marL="203200" indent="-203200">
              <a:spcAft>
                <a:spcPts val="1000"/>
              </a:spcAft>
              <a:buSzPct val="100000"/>
              <a:buChar char="•"/>
            </a:pPr>
            <a:r>
              <a:rPr lang="en-US" sz="1500" b="1" dirty="0">
                <a:solidFill>
                  <a:schemeClr val="tx1"/>
                </a:solidFill>
              </a:rPr>
              <a:t>Only T2 at 0% noise </a:t>
            </a:r>
            <a:r>
              <a:rPr lang="en-US" sz="1500" dirty="0">
                <a:solidFill>
                  <a:schemeClr val="tx1"/>
                </a:solidFill>
              </a:rPr>
              <a:t>was significant, and it hurts under noise.</a:t>
            </a:r>
            <a:endParaRPr lang="en-US" sz="1500" dirty="0"/>
          </a:p>
          <a:p>
            <a:pPr marL="203200" indent="-203200">
              <a:spcAft>
                <a:spcPts val="1000"/>
              </a:spcAft>
              <a:buSzPct val="100000"/>
              <a:buChar char="•"/>
            </a:pPr>
            <a:r>
              <a:rPr lang="en-US" sz="1500" b="1" dirty="0">
                <a:solidFill>
                  <a:schemeClr val="tx1"/>
                </a:solidFill>
              </a:rPr>
              <a:t>LSTSVM, </a:t>
            </a:r>
            <a:r>
              <a:rPr lang="en-US" sz="1500" dirty="0">
                <a:solidFill>
                  <a:schemeClr val="tx1"/>
                </a:solidFill>
              </a:rPr>
              <a:t>trained on every point with no balls, is 4.2–7.3 points ahead.</a:t>
            </a:r>
            <a:endParaRPr lang="en-US" sz="1500" dirty="0"/>
          </a:p>
        </p:txBody>
      </p:sp>
      <p:sp>
        <p:nvSpPr>
          <p:cNvPr id="7"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8"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9" name="Text 6"/>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The weights are not the bottleneck: something else costs GBLSTSVM 4–7 points against plain LSTSVM.</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EXPERIMENTS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Why: deleting single-point balls is a hidden noise filter</a:t>
            </a:r>
            <a:endParaRPr lang="en-US" sz="2800" dirty="0"/>
          </a:p>
        </p:txBody>
      </p:sp>
      <p:sp>
        <p:nvSpPr>
          <p:cNvPr id="4" name="Text 2"/>
          <p:cNvSpPr txBox="1"/>
          <p:nvPr/>
        </p:nvSpPr>
        <p:spPr>
          <a:xfrm>
            <a:off x="548640" y="1325880"/>
            <a:ext cx="5760720" cy="274320"/>
          </a:xfrm>
          <a:prstGeom prst="rect">
            <a:avLst/>
          </a:prstGeom>
          <a:noFill/>
          <a:ln/>
        </p:spPr>
        <p:txBody>
          <a:bodyPr wrap="square" lIns="0" tIns="0" rIns="0" bIns="0" rtlCol="0" anchor="t"/>
          <a:lstStyle/>
          <a:p>
            <a:pPr indent="0" marL="0">
              <a:buNone/>
            </a:pPr>
            <a:r>
              <a:rPr lang="en-US" sz="1200" i="1" dirty="0">
                <a:solidFill>
                  <a:schemeClr val="accent6"/>
                </a:solidFill>
              </a:rPr>
              <a:t>Share of training points deleted by GBLSTSVM, % (21 datasets × 5 splits, k = 2, 4, 6)</a:t>
            </a:r>
            <a:endParaRPr lang="en-US" sz="1200" dirty="0"/>
          </a:p>
        </p:txBody>
      </p:sp>
      <p:graphicFrame>
        <p:nvGraphicFramePr>
          <p:cNvPr id="5" name="Chart 0" descr=""/>
          <p:cNvGraphicFramePr/>
          <p:nvPr/>
        </p:nvGraphicFramePr>
        <p:xfrm>
          <a:off x="548640" y="1600200"/>
          <a:ext cx="5760720" cy="3931920"/>
        </p:xfrm>
        <a:graphic xmlns:a="http://schemas.openxmlformats.org/drawingml/2006/main">
          <a:graphicData uri="http://schemas.openxmlformats.org/drawingml/2006/chart">
            <c:chart xmlns:c="http://schemas.openxmlformats.org/drawingml/2006/chart" r:id="rId1"/>
          </a:graphicData>
        </a:graphic>
      </p:graphicFrame>
      <p:sp>
        <p:nvSpPr>
          <p:cNvPr id="6" name="code-frame"/>
          <p:cNvSpPr/>
          <p:nvPr/>
        </p:nvSpPr>
        <p:spPr>
          <a:xfrm>
            <a:off x="6583680" y="1371600"/>
            <a:ext cx="5029200" cy="1152906"/>
          </a:xfrm>
          <a:prstGeom prst="roundRect">
            <a:avLst>
              <a:gd name="adj" fmla="val 6345"/>
            </a:avLst>
          </a:prstGeom>
          <a:solidFill>
            <a:schemeClr val="tx2"/>
          </a:solidFill>
          <a:ln w="9525">
            <a:solidFill>
              <a:schemeClr val="tx2"/>
            </a:solidFill>
            <a:prstDash val="solid"/>
          </a:ln>
        </p:spPr>
      </p:sp>
      <p:sp>
        <p:nvSpPr>
          <p:cNvPr id="7" name="code-dot"/>
          <p:cNvSpPr/>
          <p:nvPr/>
        </p:nvSpPr>
        <p:spPr>
          <a:xfrm>
            <a:off x="6729984" y="1490472"/>
            <a:ext cx="109728" cy="109728"/>
          </a:xfrm>
          <a:prstGeom prst="ellipse">
            <a:avLst/>
          </a:prstGeom>
          <a:solidFill>
            <a:schemeClr val="bg2">
              <a:alpha val="55000"/>
            </a:schemeClr>
          </a:solidFill>
          <a:ln w="12700">
            <a:solidFill>
              <a:schemeClr val="bg2">
                <a:alpha val="55000"/>
              </a:schemeClr>
            </a:solidFill>
            <a:prstDash val="solid"/>
          </a:ln>
        </p:spPr>
      </p:sp>
      <p:sp>
        <p:nvSpPr>
          <p:cNvPr id="8" name="code-dot"/>
          <p:cNvSpPr/>
          <p:nvPr/>
        </p:nvSpPr>
        <p:spPr>
          <a:xfrm>
            <a:off x="6912864" y="1490472"/>
            <a:ext cx="109728" cy="109728"/>
          </a:xfrm>
          <a:prstGeom prst="ellipse">
            <a:avLst/>
          </a:prstGeom>
          <a:solidFill>
            <a:schemeClr val="bg2">
              <a:alpha val="55000"/>
            </a:schemeClr>
          </a:solidFill>
          <a:ln w="12700">
            <a:solidFill>
              <a:schemeClr val="bg2">
                <a:alpha val="55000"/>
              </a:schemeClr>
            </a:solidFill>
            <a:prstDash val="solid"/>
          </a:ln>
        </p:spPr>
      </p:sp>
      <p:sp>
        <p:nvSpPr>
          <p:cNvPr id="9" name="code-dot"/>
          <p:cNvSpPr/>
          <p:nvPr/>
        </p:nvSpPr>
        <p:spPr>
          <a:xfrm>
            <a:off x="7095744" y="1490472"/>
            <a:ext cx="109728" cy="109728"/>
          </a:xfrm>
          <a:prstGeom prst="ellipse">
            <a:avLst/>
          </a:prstGeom>
          <a:solidFill>
            <a:schemeClr val="bg2">
              <a:alpha val="55000"/>
            </a:schemeClr>
          </a:solidFill>
          <a:ln w="12700">
            <a:solidFill>
              <a:schemeClr val="bg2">
                <a:alpha val="55000"/>
              </a:schemeClr>
            </a:solidFill>
            <a:prstDash val="solid"/>
          </a:ln>
        </p:spPr>
      </p:sp>
      <p:sp>
        <p:nvSpPr>
          <p:cNvPr id="10" name="Text 7"/>
          <p:cNvSpPr txBox="1"/>
          <p:nvPr/>
        </p:nvSpPr>
        <p:spPr>
          <a:xfrm>
            <a:off x="7333488" y="1408176"/>
            <a:ext cx="4114800" cy="27432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gen_ball.py</a:t>
            </a:r>
            <a:endParaRPr lang="en-US" sz="1100" dirty="0"/>
          </a:p>
        </p:txBody>
      </p:sp>
      <p:sp>
        <p:nvSpPr>
          <p:cNvPr id="11" name="code-body"/>
          <p:cNvSpPr/>
          <p:nvPr/>
        </p:nvSpPr>
        <p:spPr>
          <a:xfrm>
            <a:off x="6620256" y="1719072"/>
            <a:ext cx="4956048" cy="768858"/>
          </a:xfrm>
          <a:prstGeom prst="rect">
            <a:avLst/>
          </a:prstGeom>
          <a:solidFill>
            <a:schemeClr val="bg1"/>
          </a:solidFill>
          <a:ln w="12700">
            <a:solidFill>
              <a:schemeClr val="bg1"/>
            </a:solidFill>
            <a:prstDash val="solid"/>
          </a:ln>
        </p:spPr>
      </p:sp>
      <p:sp>
        <p:nvSpPr>
          <p:cNvPr id="12" name="code"/>
          <p:cNvSpPr txBox="1"/>
          <p:nvPr/>
        </p:nvSpPr>
        <p:spPr>
          <a:xfrm>
            <a:off x="6711696" y="1810512"/>
            <a:ext cx="4773168" cy="622554"/>
          </a:xfrm>
          <a:prstGeom prst="rect">
            <a:avLst/>
          </a:prstGeom>
          <a:noFill/>
          <a:ln/>
        </p:spPr>
        <p:txBody>
          <a:bodyPr wrap="square" lIns="0" tIns="0" rIns="0" bIns="0" rtlCol="0" anchor="t"/>
          <a:lstStyle/>
          <a:p>
            <a:pPr indent="0" marL="0">
              <a:lnSpc>
                <a:spcPct val="100000"/>
              </a:lnSpc>
              <a:buNone/>
            </a:pPr>
            <a:r>
              <a:rPr lang="en-US" sz="1100" dirty="0">
                <a:solidFill>
                  <a:schemeClr val="tx1"/>
                </a:solidFill>
                <a:latin typeface="Courier New" pitchFamily="34" charset="0"/>
                <a:ea typeface="Courier New" pitchFamily="34" charset="-122"/>
                <a:cs typeface="Courier New" pitchFamily="34" charset="-120"/>
              </a:rPr>
              <a:t>gb = GBList(data)</a:t>
            </a:r>
            <a:endParaRPr lang="en-US" sz="1100" dirty="0"/>
          </a:p>
          <a:p>
            <a:pPr indent="0" marL="0">
              <a:lnSpc>
                <a:spcPct val="100000"/>
              </a:lnSpc>
              <a:buNone/>
            </a:pPr>
            <a:r>
              <a:rPr lang="en-US" sz="1100" dirty="0">
                <a:solidFill>
                  <a:schemeClr val="tx1"/>
                </a:solidFill>
                <a:latin typeface="Courier New" pitchFamily="34" charset="0"/>
                <a:ea typeface="Courier New" pitchFamily="34" charset="-122"/>
                <a:cs typeface="Courier New" pitchFamily="34" charset="-120"/>
              </a:rPr>
              <a:t>gb.init_granular_balls(purity=</a:t>
            </a:r>
            <a:r>
              <a:rPr lang="en-US" sz="1100" dirty="0">
                <a:solidFill>
                  <a:schemeClr val="accent4"/>
                </a:solidFill>
                <a:latin typeface="Courier New" pitchFamily="34" charset="0"/>
                <a:ea typeface="Courier New" pitchFamily="34" charset="-122"/>
                <a:cs typeface="Courier New" pitchFamily="34" charset="-120"/>
              </a:rPr>
              <a:t>0.985</a:t>
            </a:r>
            <a:r>
              <a:rPr lang="en-US" sz="1100" dirty="0">
                <a:solidFill>
                  <a:schemeClr val="tx1"/>
                </a:solidFill>
                <a:latin typeface="Courier New" pitchFamily="34" charset="0"/>
                <a:ea typeface="Courier New" pitchFamily="34" charset="-122"/>
                <a:cs typeface="Courier New" pitchFamily="34" charset="-120"/>
              </a:rPr>
              <a:t>, k_clusters=k)</a:t>
            </a:r>
            <a:endParaRPr lang="en-US" sz="1100" dirty="0"/>
          </a:p>
          <a:p>
            <a:pPr indent="0" marL="0">
              <a:lnSpc>
                <a:spcPct val="100000"/>
              </a:lnSpc>
              <a:buNone/>
            </a:pPr>
            <a:r>
              <a:rPr lang="en-US" sz="1100" dirty="0">
                <a:solidFill>
                  <a:schemeClr val="tx1"/>
                </a:solidFill>
                <a:latin typeface="Courier New" pitchFamily="34" charset="0"/>
                <a:ea typeface="Courier New" pitchFamily="34" charset="-122"/>
                <a:cs typeface="Courier New" pitchFamily="34" charset="-120"/>
              </a:rPr>
              <a:t>gb.del_ball(num_data=</a:t>
            </a:r>
            <a:r>
              <a:rPr lang="en-US" sz="1100" dirty="0">
                <a:solidFill>
                  <a:schemeClr val="accent4"/>
                </a:solidFill>
                <a:latin typeface="Courier New" pitchFamily="34" charset="0"/>
                <a:ea typeface="Courier New" pitchFamily="34" charset="-122"/>
                <a:cs typeface="Courier New" pitchFamily="34" charset="-120"/>
              </a:rPr>
              <a:t>2</a:t>
            </a:r>
            <a:r>
              <a:rPr lang="en-US" sz="1100" dirty="0">
                <a:solidFill>
                  <a:schemeClr val="tx1"/>
                </a:solidFill>
                <a:latin typeface="Courier New" pitchFamily="34" charset="0"/>
                <a:ea typeface="Courier New" pitchFamily="34" charset="-122"/>
                <a:cs typeface="Courier New" pitchFamily="34" charset="-120"/>
              </a:rPr>
              <a:t>)    </a:t>
            </a:r>
            <a:r>
              <a:rPr lang="en-US" sz="1100" i="1" dirty="0">
                <a:solidFill>
                  <a:schemeClr val="accent6"/>
                </a:solidFill>
                <a:latin typeface="Courier New" pitchFamily="34" charset="0"/>
                <a:ea typeface="Courier New" pitchFamily="34" charset="-122"/>
                <a:cs typeface="Courier New" pitchFamily="34" charset="-120"/>
              </a:rPr>
              <a:t># drop balls with &lt; 2 points</a:t>
            </a:r>
            <a:endParaRPr lang="en-US" sz="1100" dirty="0"/>
          </a:p>
        </p:txBody>
      </p:sp>
      <p:sp>
        <p:nvSpPr>
          <p:cNvPr id="13" name="Text 10"/>
          <p:cNvSpPr txBox="1"/>
          <p:nvPr/>
        </p:nvSpPr>
        <p:spPr>
          <a:xfrm>
            <a:off x="6583680" y="2844546"/>
            <a:ext cx="5029200" cy="2377440"/>
          </a:xfrm>
          <a:prstGeom prst="rect">
            <a:avLst/>
          </a:prstGeom>
          <a:noFill/>
          <a:ln/>
        </p:spPr>
        <p:txBody>
          <a:bodyPr wrap="square" lIns="0" tIns="0" rIns="0" bIns="0" rtlCol="0" anchor="t"/>
          <a:lstStyle/>
          <a:p>
            <a:pPr marL="203200" indent="-203200">
              <a:spcAft>
                <a:spcPts val="1000"/>
              </a:spcAft>
              <a:buSzPct val="100000"/>
              <a:buChar char="•"/>
            </a:pPr>
            <a:r>
              <a:rPr lang="en-US" sz="1500" dirty="0">
                <a:solidFill>
                  <a:schemeClr val="tx1"/>
                </a:solidFill>
              </a:rPr>
              <a:t>A flipped label sits alone among the other class, so k-means isolates it in a one-point ball, and it is deleted.</a:t>
            </a:r>
            <a:endParaRPr lang="en-US" sz="1500" dirty="0"/>
          </a:p>
          <a:p>
            <a:pPr marL="203200" indent="-203200">
              <a:spcAft>
                <a:spcPts val="1000"/>
              </a:spcAft>
              <a:buSzPct val="100000"/>
              <a:buChar char="•"/>
            </a:pPr>
            <a:r>
              <a:rPr lang="en-US" sz="1500" dirty="0">
                <a:solidFill>
                  <a:schemeClr val="tx1"/>
                </a:solidFill>
              </a:rPr>
              <a:t>But correct points near the class border also end up alone: 52% of them go at 20% noise, and 65% of the minority class.</a:t>
            </a:r>
            <a:endParaRPr lang="en-US" sz="1500" dirty="0"/>
          </a:p>
        </p:txBody>
      </p:sp>
      <p:sp>
        <p:nvSpPr>
          <p:cNvPr id="14"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15"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16" name="Text 13"/>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Deletion removes most mislabelled points, but pays with half the correct ones, mostly at the class border.</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EXPERIMENTS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Which membership can tell a flipped label from a correct one?</a:t>
            </a:r>
            <a:endParaRPr lang="en-US" sz="2800" dirty="0"/>
          </a:p>
        </p:txBody>
      </p:sp>
      <p:sp>
        <p:nvSpPr>
          <p:cNvPr id="4" name="Text 2"/>
          <p:cNvSpPr txBox="1"/>
          <p:nvPr/>
        </p:nvSpPr>
        <p:spPr>
          <a:xfrm>
            <a:off x="548640" y="1325880"/>
            <a:ext cx="6766560" cy="274320"/>
          </a:xfrm>
          <a:prstGeom prst="rect">
            <a:avLst/>
          </a:prstGeom>
          <a:noFill/>
          <a:ln/>
        </p:spPr>
        <p:txBody>
          <a:bodyPr wrap="square" lIns="0" tIns="0" rIns="0" bIns="0" rtlCol="0" anchor="t"/>
          <a:lstStyle/>
          <a:p>
            <a:pPr indent="0" marL="0">
              <a:buNone/>
            </a:pPr>
            <a:r>
              <a:rPr lang="en-US" sz="1200" i="1" dirty="0">
                <a:solidFill>
                  <a:schemeClr val="accent6"/>
                </a:solidFill>
              </a:rPr>
              <a:t>ROC-AUC for spotting flipped labels at 20% noise (0.5 = coin toss)</a:t>
            </a:r>
            <a:endParaRPr lang="en-US" sz="1200" dirty="0"/>
          </a:p>
        </p:txBody>
      </p:sp>
      <p:graphicFrame>
        <p:nvGraphicFramePr>
          <p:cNvPr id="5" name="Chart 0" descr=""/>
          <p:cNvGraphicFramePr/>
          <p:nvPr/>
        </p:nvGraphicFramePr>
        <p:xfrm>
          <a:off x="548640" y="1600200"/>
          <a:ext cx="6766560" cy="3931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589520" y="1600200"/>
            <a:ext cx="4023360" cy="3840480"/>
          </a:xfrm>
          <a:prstGeom prst="rect">
            <a:avLst/>
          </a:prstGeom>
          <a:noFill/>
          <a:ln/>
        </p:spPr>
        <p:txBody>
          <a:bodyPr wrap="square" lIns="0" tIns="0" rIns="0" bIns="0" rtlCol="0" anchor="t"/>
          <a:lstStyle/>
          <a:p>
            <a:pPr marL="203200" indent="-203200">
              <a:spcAft>
                <a:spcPts val="1000"/>
              </a:spcAft>
              <a:buSzPct val="100000"/>
              <a:buChar char="•"/>
            </a:pPr>
            <a:r>
              <a:rPr lang="en-US" sz="1500" b="1" dirty="0">
                <a:solidFill>
                  <a:schemeClr val="tx1"/>
                </a:solidFill>
              </a:rPr>
              <a:t>ROC-AUC: </a:t>
            </a:r>
            <a:r>
              <a:rPr lang="en-US" sz="1500" dirty="0">
                <a:solidFill>
                  <a:schemeClr val="tx1"/>
                </a:solidFill>
              </a:rPr>
              <a:t>the chance that a random flipped point gets a lower weight than a random correct one.</a:t>
            </a:r>
            <a:endParaRPr lang="en-US" sz="1500" dirty="0"/>
          </a:p>
          <a:p>
            <a:pPr marL="203200" indent="-203200">
              <a:spcAft>
                <a:spcPts val="1000"/>
              </a:spcAft>
              <a:buSzPct val="100000"/>
              <a:buChar char="•"/>
            </a:pPr>
            <a:r>
              <a:rPr lang="en-US" sz="1500" b="1" dirty="0">
                <a:solidFill>
                  <a:schemeClr val="tx1"/>
                </a:solidFill>
              </a:rPr>
              <a:t>Entropy and density score below 0.5: </a:t>
            </a:r>
            <a:r>
              <a:rPr lang="en-US" sz="1500" dirty="0">
                <a:solidFill>
                  <a:schemeClr val="tx1"/>
                </a:solidFill>
              </a:rPr>
              <a:t>they trust flipped points more than correct ones.</a:t>
            </a:r>
            <a:endParaRPr lang="en-US" sz="1500" dirty="0"/>
          </a:p>
          <a:p>
            <a:pPr marL="203200" indent="-203200">
              <a:spcAft>
                <a:spcPts val="1000"/>
              </a:spcAft>
              <a:buSzPct val="100000"/>
              <a:buChar char="•"/>
            </a:pPr>
            <a:r>
              <a:rPr lang="en-US" sz="1500" b="1" dirty="0">
                <a:solidFill>
                  <a:schemeClr val="tx1"/>
                </a:solidFill>
              </a:rPr>
              <a:t>Neighbour agreement (T7) </a:t>
            </a:r>
            <a:r>
              <a:rPr lang="en-US" sz="1500" dirty="0">
                <a:solidFill>
                  <a:schemeClr val="tx1"/>
                </a:solidFill>
              </a:rPr>
              <a:t>reaches 0.82–0.89 across 10–30% noise, as good as kNN on points.</a:t>
            </a:r>
            <a:endParaRPr lang="en-US" sz="1500" dirty="0"/>
          </a:p>
        </p:txBody>
      </p:sp>
      <p:sp>
        <p:nvSpPr>
          <p:cNvPr id="7"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8"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9" name="Text 6"/>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A useful membership must be low for flipped labels; only neighbour agreement does that reliably.</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EXPERIMENTS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Round 2: keeping the single-point balls helps more than any weight</a:t>
            </a:r>
            <a:endParaRPr lang="en-US" sz="2800" dirty="0"/>
          </a:p>
        </p:txBody>
      </p:sp>
      <p:sp>
        <p:nvSpPr>
          <p:cNvPr id="4" name="Text 2"/>
          <p:cNvSpPr txBox="1"/>
          <p:nvPr/>
        </p:nvSpPr>
        <p:spPr>
          <a:xfrm>
            <a:off x="548640" y="1325880"/>
            <a:ext cx="7315200" cy="274320"/>
          </a:xfrm>
          <a:prstGeom prst="rect">
            <a:avLst/>
          </a:prstGeom>
          <a:noFill/>
          <a:ln/>
        </p:spPr>
        <p:txBody>
          <a:bodyPr wrap="square" lIns="0" tIns="0" rIns="0" bIns="0" rtlCol="0" anchor="t"/>
          <a:lstStyle/>
          <a:p>
            <a:pPr indent="0" marL="0">
              <a:buNone/>
            </a:pPr>
            <a:r>
              <a:rPr lang="en-US" sz="1200" i="1" dirty="0">
                <a:solidFill>
                  <a:schemeClr val="accent6"/>
                </a:solidFill>
              </a:rPr>
              <a:t>Change in balanced accuracy vs GBLSTSVM, points (21 datasets × 5 splits)</a:t>
            </a:r>
            <a:endParaRPr lang="en-US" sz="1200" dirty="0"/>
          </a:p>
        </p:txBody>
      </p:sp>
      <p:graphicFrame>
        <p:nvGraphicFramePr>
          <p:cNvPr id="5" name="Chart 0" descr=""/>
          <p:cNvGraphicFramePr/>
          <p:nvPr/>
        </p:nvGraphicFramePr>
        <p:xfrm>
          <a:off x="548640" y="1600200"/>
          <a:ext cx="7315200" cy="3931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8138160" y="1600200"/>
            <a:ext cx="3474720" cy="3840480"/>
          </a:xfrm>
          <a:prstGeom prst="rect">
            <a:avLst/>
          </a:prstGeom>
          <a:noFill/>
          <a:ln/>
        </p:spPr>
        <p:txBody>
          <a:bodyPr wrap="square" lIns="0" tIns="0" rIns="0" bIns="0" rtlCol="0" anchor="t"/>
          <a:lstStyle/>
          <a:p>
            <a:pPr marL="203200" indent="-203200">
              <a:spcAft>
                <a:spcPts val="1000"/>
              </a:spcAft>
              <a:buSzPct val="100000"/>
              <a:buChar char="•"/>
            </a:pPr>
            <a:r>
              <a:rPr lang="en-US" sz="1500" b="1" dirty="0">
                <a:solidFill>
                  <a:schemeClr val="tx1"/>
                </a:solidFill>
              </a:rPr>
              <a:t>Keeping single points: </a:t>
            </a:r>
            <a:r>
              <a:rPr lang="en-US" sz="1500" dirty="0">
                <a:solidFill>
                  <a:schemeClr val="tx1"/>
                </a:solidFill>
              </a:rPr>
              <a:t>+3.8 points on clean data.</a:t>
            </a:r>
            <a:endParaRPr lang="en-US" sz="1500" dirty="0"/>
          </a:p>
          <a:p>
            <a:pPr marL="203200" indent="-203200">
              <a:spcAft>
                <a:spcPts val="1000"/>
              </a:spcAft>
              <a:buSzPct val="100000"/>
              <a:buChar char="•"/>
            </a:pPr>
            <a:r>
              <a:rPr lang="en-US" sz="1500" b="1" dirty="0">
                <a:solidFill>
                  <a:schemeClr val="tx1"/>
                </a:solidFill>
              </a:rPr>
              <a:t>Fuzzy weights on top </a:t>
            </a:r>
            <a:r>
              <a:rPr lang="en-US" sz="1500" dirty="0">
                <a:solidFill>
                  <a:schemeClr val="tx1"/>
                </a:solidFill>
              </a:rPr>
              <a:t>add nothing more.</a:t>
            </a:r>
            <a:endParaRPr lang="en-US" sz="1500" dirty="0"/>
          </a:p>
          <a:p>
            <a:pPr marL="203200" indent="-203200">
              <a:spcAft>
                <a:spcPts val="1000"/>
              </a:spcAft>
              <a:buSzPct val="100000"/>
              <a:buChar char="•"/>
            </a:pPr>
            <a:r>
              <a:rPr lang="en-US" sz="1500" b="1" dirty="0">
                <a:solidFill>
                  <a:schemeClr val="tx1"/>
                </a:solidFill>
              </a:rPr>
              <a:t>The radius term </a:t>
            </a:r>
            <a:r>
              <a:rPr lang="en-US" sz="1500" dirty="0">
                <a:solidFill>
                  <a:schemeClr val="tx1"/>
                </a:solidFill>
              </a:rPr>
              <a:t>barely matters either: removing it changes little.</a:t>
            </a:r>
            <a:endParaRPr lang="en-US" sz="1500" dirty="0"/>
          </a:p>
          <a:p>
            <a:pPr marL="203200" indent="-203200">
              <a:spcAft>
                <a:spcPts val="1000"/>
              </a:spcAft>
              <a:buSzPct val="100000"/>
              <a:buChar char="•"/>
            </a:pPr>
            <a:r>
              <a:rPr lang="en-US" sz="1500" b="1" dirty="0">
                <a:solidFill>
                  <a:schemeClr val="tx1"/>
                </a:solidFill>
              </a:rPr>
              <a:t>But the gain fades with noise, </a:t>
            </a:r>
            <a:r>
              <a:rPr lang="en-US" sz="1500" dirty="0">
                <a:solidFill>
                  <a:schemeClr val="tx1"/>
                </a:solidFill>
              </a:rPr>
              <a:t>because the kept balls include the flipped labels.</a:t>
            </a:r>
            <a:endParaRPr lang="en-US" sz="1500" dirty="0"/>
          </a:p>
        </p:txBody>
      </p:sp>
      <p:sp>
        <p:nvSpPr>
          <p:cNvPr id="7"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8"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9" name="Text 6"/>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Keep every ball, then down-weight the ones whose neighbours disagree: that is keep + T7.</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EXPERIMENTS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T7: neighbour agreement in a dozen lines of code</a:t>
            </a:r>
            <a:endParaRPr lang="en-US" sz="2800" dirty="0"/>
          </a:p>
        </p:txBody>
      </p:sp>
      <p:sp>
        <p:nvSpPr>
          <p:cNvPr id="4" name="code-frame"/>
          <p:cNvSpPr/>
          <p:nvPr/>
        </p:nvSpPr>
        <p:spPr>
          <a:xfrm>
            <a:off x="548640" y="1371600"/>
            <a:ext cx="6400800" cy="2726436"/>
          </a:xfrm>
          <a:prstGeom prst="roundRect">
            <a:avLst>
              <a:gd name="adj" fmla="val 2683"/>
            </a:avLst>
          </a:prstGeom>
          <a:solidFill>
            <a:schemeClr val="tx2"/>
          </a:solidFill>
          <a:ln w="9525">
            <a:solidFill>
              <a:schemeClr val="tx2"/>
            </a:solidFill>
            <a:prstDash val="solid"/>
          </a:ln>
        </p:spPr>
      </p:sp>
      <p:sp>
        <p:nvSpPr>
          <p:cNvPr id="5" name="code-dot"/>
          <p:cNvSpPr/>
          <p:nvPr/>
        </p:nvSpPr>
        <p:spPr>
          <a:xfrm>
            <a:off x="694944" y="1490472"/>
            <a:ext cx="109728" cy="109728"/>
          </a:xfrm>
          <a:prstGeom prst="ellipse">
            <a:avLst/>
          </a:prstGeom>
          <a:solidFill>
            <a:schemeClr val="bg2">
              <a:alpha val="55000"/>
            </a:schemeClr>
          </a:solidFill>
          <a:ln w="12700">
            <a:solidFill>
              <a:schemeClr val="bg2">
                <a:alpha val="55000"/>
              </a:schemeClr>
            </a:solidFill>
            <a:prstDash val="solid"/>
          </a:ln>
        </p:spPr>
      </p:sp>
      <p:sp>
        <p:nvSpPr>
          <p:cNvPr id="6" name="code-dot"/>
          <p:cNvSpPr/>
          <p:nvPr/>
        </p:nvSpPr>
        <p:spPr>
          <a:xfrm>
            <a:off x="877824" y="1490472"/>
            <a:ext cx="109728" cy="109728"/>
          </a:xfrm>
          <a:prstGeom prst="ellipse">
            <a:avLst/>
          </a:prstGeom>
          <a:solidFill>
            <a:schemeClr val="bg2">
              <a:alpha val="55000"/>
            </a:schemeClr>
          </a:solidFill>
          <a:ln w="12700">
            <a:solidFill>
              <a:schemeClr val="bg2">
                <a:alpha val="55000"/>
              </a:schemeClr>
            </a:solidFill>
            <a:prstDash val="solid"/>
          </a:ln>
        </p:spPr>
      </p:sp>
      <p:sp>
        <p:nvSpPr>
          <p:cNvPr id="7" name="code-dot"/>
          <p:cNvSpPr/>
          <p:nvPr/>
        </p:nvSpPr>
        <p:spPr>
          <a:xfrm>
            <a:off x="1060704" y="1490472"/>
            <a:ext cx="109728" cy="109728"/>
          </a:xfrm>
          <a:prstGeom prst="ellipse">
            <a:avLst/>
          </a:prstGeom>
          <a:solidFill>
            <a:schemeClr val="bg2">
              <a:alpha val="55000"/>
            </a:schemeClr>
          </a:solidFill>
          <a:ln w="12700">
            <a:solidFill>
              <a:schemeClr val="bg2">
                <a:alpha val="55000"/>
              </a:schemeClr>
            </a:solidFill>
            <a:prstDash val="solid"/>
          </a:ln>
        </p:spPr>
      </p:sp>
      <p:sp>
        <p:nvSpPr>
          <p:cNvPr id="8" name="Text 6"/>
          <p:cNvSpPr txBox="1"/>
          <p:nvPr/>
        </p:nvSpPr>
        <p:spPr>
          <a:xfrm>
            <a:off x="1298448" y="1408176"/>
            <a:ext cx="5486400" cy="27432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fuzzy_membership.py (simplified)</a:t>
            </a:r>
            <a:endParaRPr lang="en-US" sz="1100" dirty="0"/>
          </a:p>
        </p:txBody>
      </p:sp>
      <p:sp>
        <p:nvSpPr>
          <p:cNvPr id="9" name="code-body"/>
          <p:cNvSpPr/>
          <p:nvPr/>
        </p:nvSpPr>
        <p:spPr>
          <a:xfrm>
            <a:off x="585216" y="1719072"/>
            <a:ext cx="6327648" cy="2342388"/>
          </a:xfrm>
          <a:prstGeom prst="rect">
            <a:avLst/>
          </a:prstGeom>
          <a:solidFill>
            <a:schemeClr val="bg1"/>
          </a:solidFill>
          <a:ln w="12700">
            <a:solidFill>
              <a:schemeClr val="bg1"/>
            </a:solidFill>
            <a:prstDash val="solid"/>
          </a:ln>
        </p:spPr>
      </p:sp>
      <p:sp>
        <p:nvSpPr>
          <p:cNvPr id="10" name="code"/>
          <p:cNvSpPr txBox="1"/>
          <p:nvPr/>
        </p:nvSpPr>
        <p:spPr>
          <a:xfrm>
            <a:off x="676656" y="1810512"/>
            <a:ext cx="6144768" cy="2196084"/>
          </a:xfrm>
          <a:prstGeom prst="rect">
            <a:avLst/>
          </a:prstGeom>
          <a:noFill/>
          <a:ln/>
        </p:spPr>
        <p:txBody>
          <a:bodyPr wrap="square" lIns="0" tIns="0" rIns="0" bIns="0" rtlCol="0" anchor="t"/>
          <a:lstStyle/>
          <a:p>
            <a:pPr indent="0" marL="0">
              <a:lnSpc>
                <a:spcPct val="100000"/>
              </a:lnSpc>
              <a:buNone/>
            </a:pPr>
            <a:r>
              <a:rPr lang="en-US" sz="1150" b="1" dirty="0">
                <a:solidFill>
                  <a:schemeClr val="accent3"/>
                </a:solidFill>
                <a:latin typeface="Courier New" pitchFamily="34" charset="0"/>
                <a:ea typeface="Courier New" pitchFamily="34" charset="-122"/>
                <a:cs typeface="Courier New" pitchFamily="34" charset="-120"/>
              </a:rPr>
              <a:t>def</a:t>
            </a: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tx2"/>
                </a:solidFill>
                <a:latin typeface="Courier New" pitchFamily="34" charset="0"/>
                <a:ea typeface="Courier New" pitchFamily="34" charset="-122"/>
                <a:cs typeface="Courier New" pitchFamily="34" charset="-120"/>
              </a:rPr>
              <a:t>membership_agreement</a:t>
            </a:r>
            <a:r>
              <a:rPr lang="en-US" sz="1150" dirty="0">
                <a:solidFill>
                  <a:schemeClr val="tx1"/>
                </a:solidFill>
                <a:latin typeface="Courier New" pitchFamily="34" charset="0"/>
                <a:ea typeface="Courier New" pitchFamily="34" charset="-122"/>
                <a:cs typeface="Courier New" pitchFamily="34" charset="-120"/>
              </a:rPr>
              <a:t>(centers, radii, labels, counts,</a:t>
            </a:r>
            <a:endParaRPr lang="en-US" sz="1150" dirty="0"/>
          </a:p>
          <a:p>
            <a:pPr indent="0" marL="0">
              <a:lnSpc>
                <a:spcPct val="100000"/>
              </a:lnSpc>
              <a:buNone/>
            </a:pPr>
            <a:r>
              <a:rPr lang="en-US" sz="1150" dirty="0">
                <a:solidFill>
                  <a:schemeClr val="tx1"/>
                </a:solidFill>
                <a:latin typeface="Courier New" pitchFamily="34" charset="0"/>
                <a:ea typeface="Courier New" pitchFamily="34" charset="-122"/>
                <a:cs typeface="Courier New" pitchFamily="34" charset="-120"/>
              </a:rPr>
              <a:t>                         param=(</a:t>
            </a:r>
            <a:r>
              <a:rPr lang="en-US" sz="1150" dirty="0">
                <a:solidFill>
                  <a:schemeClr val="accent4"/>
                </a:solidFill>
                <a:latin typeface="Courier New" pitchFamily="34" charset="0"/>
                <a:ea typeface="Courier New" pitchFamily="34" charset="-122"/>
                <a:cs typeface="Courier New" pitchFamily="34" charset="-120"/>
              </a:rPr>
              <a:t>10</a:t>
            </a:r>
            <a:r>
              <a:rPr lang="en-US" sz="1150" dirty="0">
                <a:solidFill>
                  <a:schemeClr val="tx1"/>
                </a:solidFill>
                <a:latin typeface="Courier New" pitchFamily="34" charset="0"/>
                <a:ea typeface="Courier New" pitchFamily="34" charset="-122"/>
                <a:cs typeface="Courier New" pitchFamily="34" charset="-120"/>
              </a:rPr>
              <a:t>, </a:t>
            </a:r>
            <a:r>
              <a:rPr lang="en-US" sz="1150" dirty="0">
                <a:solidFill>
                  <a:schemeClr val="accent4"/>
                </a:solidFill>
                <a:latin typeface="Courier New" pitchFamily="34" charset="0"/>
                <a:ea typeface="Courier New" pitchFamily="34" charset="-122"/>
                <a:cs typeface="Courier New" pitchFamily="34" charset="-120"/>
              </a:rPr>
              <a:t>1.0</a:t>
            </a:r>
            <a:r>
              <a:rPr lang="en-US" sz="1150" dirty="0">
                <a:solidFill>
                  <a:schemeClr val="tx1"/>
                </a:solidFill>
                <a:latin typeface="Courier New" pitchFamily="34" charset="0"/>
                <a:ea typeface="Courier New" pitchFamily="34" charset="-122"/>
                <a:cs typeface="Courier New" pitchFamily="34" charset="-120"/>
              </a:rPr>
              <a:t>), floor=</a:t>
            </a:r>
            <a:r>
              <a:rPr lang="en-US" sz="1150" dirty="0">
                <a:solidFill>
                  <a:schemeClr val="accent4"/>
                </a:solidFill>
                <a:latin typeface="Courier New" pitchFamily="34" charset="0"/>
                <a:ea typeface="Courier New" pitchFamily="34" charset="-122"/>
                <a:cs typeface="Courier New" pitchFamily="34" charset="-120"/>
              </a:rPr>
              <a:t>1e-3</a:t>
            </a:r>
            <a:r>
              <a:rPr lang="en-US" sz="1150" dirty="0">
                <a:solidFill>
                  <a:schemeClr val="tx1"/>
                </a:solidFill>
                <a:latin typeface="Courier New" pitchFamily="34" charset="0"/>
                <a:ea typeface="Courier New" pitchFamily="34" charset="-122"/>
                <a:cs typeface="Courier New" pitchFamily="34" charset="-120"/>
              </a:rPr>
              <a:t>):</a:t>
            </a:r>
            <a:endParaRPr lang="en-US" sz="1150" dirty="0"/>
          </a:p>
          <a:p>
            <a:pPr indent="0" marL="0">
              <a:lnSpc>
                <a:spcPct val="100000"/>
              </a:lnSpc>
              <a:buNone/>
            </a:pPr>
            <a:r>
              <a:rPr lang="en-US" sz="1150" dirty="0">
                <a:solidFill>
                  <a:schemeClr val="tx1"/>
                </a:solidFill>
                <a:latin typeface="Courier New" pitchFamily="34" charset="0"/>
                <a:ea typeface="Courier New" pitchFamily="34" charset="-122"/>
                <a:cs typeface="Courier New" pitchFamily="34" charset="-120"/>
              </a:rPr>
              <a:t>    </a:t>
            </a:r>
            <a:r>
              <a:rPr lang="en-US" sz="1150" dirty="0">
                <a:solidFill>
                  <a:schemeClr val="accent2"/>
                </a:solidFill>
                <a:latin typeface="Courier New" pitchFamily="34" charset="0"/>
                <a:ea typeface="Courier New" pitchFamily="34" charset="-122"/>
                <a:cs typeface="Courier New" pitchFamily="34" charset="-120"/>
              </a:rPr>
              <a:t>"""T7: share of ball i's own label among its k nearest balls."""</a:t>
            </a:r>
            <a:endParaRPr lang="en-US" sz="1150" dirty="0"/>
          </a:p>
          <a:p>
            <a:pPr indent="0" marL="0">
              <a:lnSpc>
                <a:spcPct val="100000"/>
              </a:lnSpc>
              <a:buNone/>
            </a:pPr>
            <a:r>
              <a:rPr lang="en-US" sz="1150" dirty="0">
                <a:solidFill>
                  <a:schemeClr val="tx1"/>
                </a:solidFill>
                <a:latin typeface="Courier New" pitchFamily="34" charset="0"/>
                <a:ea typeface="Courier New" pitchFamily="34" charset="-122"/>
                <a:cs typeface="Courier New" pitchFamily="34" charset="-120"/>
              </a:rPr>
              <a:t>    k_nn, gamma = param</a:t>
            </a:r>
            <a:endParaRPr lang="en-US" sz="1150" dirty="0"/>
          </a:p>
          <a:p>
            <a:pPr indent="0" marL="0">
              <a:lnSpc>
                <a:spcPct val="100000"/>
              </a:lnSpc>
              <a:buNone/>
            </a:pPr>
            <a:r>
              <a:rPr lang="en-US" sz="1150" dirty="0">
                <a:solidFill>
                  <a:schemeClr val="tx1"/>
                </a:solidFill>
                <a:latin typeface="Courier New" pitchFamily="34" charset="0"/>
                <a:ea typeface="Courier New" pitchFamily="34" charset="-122"/>
                <a:cs typeface="Courier New" pitchFamily="34" charset="-120"/>
              </a:rPr>
              <a:t>    k_nn = min(int(k_nn), len(radii) - </a:t>
            </a:r>
            <a:r>
              <a:rPr lang="en-US" sz="1150" dirty="0">
                <a:solidFill>
                  <a:schemeClr val="accent4"/>
                </a:solidFill>
                <a:latin typeface="Courier New" pitchFamily="34" charset="0"/>
                <a:ea typeface="Courier New" pitchFamily="34" charset="-122"/>
                <a:cs typeface="Courier New" pitchFamily="34" charset="-120"/>
              </a:rPr>
              <a:t>1</a:t>
            </a:r>
            <a:r>
              <a:rPr lang="en-US" sz="1150" dirty="0">
                <a:solidFill>
                  <a:schemeClr val="tx1"/>
                </a:solidFill>
                <a:latin typeface="Courier New" pitchFamily="34" charset="0"/>
                <a:ea typeface="Courier New" pitchFamily="34" charset="-122"/>
                <a:cs typeface="Courier New" pitchFamily="34" charset="-120"/>
              </a:rPr>
              <a:t>)</a:t>
            </a:r>
            <a:endParaRPr lang="en-US" sz="1150" dirty="0"/>
          </a:p>
          <a:p>
            <a:pPr indent="0" marL="0">
              <a:lnSpc>
                <a:spcPct val="100000"/>
              </a:lnSpc>
              <a:buNone/>
            </a:pPr>
            <a:r>
              <a:rPr lang="en-US" sz="1150" dirty="0">
                <a:solidFill>
                  <a:schemeClr val="tx1"/>
                </a:solidFill>
                <a:latin typeface="Courier New" pitchFamily="34" charset="0"/>
                <a:ea typeface="Courier New" pitchFamily="34" charset="-122"/>
                <a:cs typeface="Courier New" pitchFamily="34" charset="-120"/>
              </a:rPr>
              <a:t>    dist = pairwise_distances(centers)</a:t>
            </a:r>
            <a:endParaRPr lang="en-US" sz="1150" dirty="0"/>
          </a:p>
          <a:p>
            <a:pPr indent="0" marL="0">
              <a:lnSpc>
                <a:spcPct val="100000"/>
              </a:lnSpc>
              <a:buNone/>
            </a:pPr>
            <a:r>
              <a:rPr lang="en-US" sz="1150" dirty="0">
                <a:solidFill>
                  <a:schemeClr val="tx1"/>
                </a:solidFill>
                <a:latin typeface="Courier New" pitchFamily="34" charset="0"/>
                <a:ea typeface="Courier New" pitchFamily="34" charset="-122"/>
                <a:cs typeface="Courier New" pitchFamily="34" charset="-120"/>
              </a:rPr>
              <a:t>    np.fill_diagonal(dist, np.inf)</a:t>
            </a:r>
            <a:endParaRPr lang="en-US" sz="1150" dirty="0"/>
          </a:p>
          <a:p>
            <a:pPr indent="0" marL="0">
              <a:lnSpc>
                <a:spcPct val="100000"/>
              </a:lnSpc>
              <a:buNone/>
            </a:pPr>
            <a:r>
              <a:rPr lang="en-US" sz="1150" dirty="0">
                <a:solidFill>
                  <a:schemeClr val="tx1"/>
                </a:solidFill>
                <a:latin typeface="Courier New" pitchFamily="34" charset="0"/>
                <a:ea typeface="Courier New" pitchFamily="34" charset="-122"/>
                <a:cs typeface="Courier New" pitchFamily="34" charset="-120"/>
              </a:rPr>
              <a:t>    nn = np.argpartition(dist, k_nn - </a:t>
            </a:r>
            <a:r>
              <a:rPr lang="en-US" sz="1150" dirty="0">
                <a:solidFill>
                  <a:schemeClr val="accent4"/>
                </a:solidFill>
                <a:latin typeface="Courier New" pitchFamily="34" charset="0"/>
                <a:ea typeface="Courier New" pitchFamily="34" charset="-122"/>
                <a:cs typeface="Courier New" pitchFamily="34" charset="-120"/>
              </a:rPr>
              <a:t>1</a:t>
            </a:r>
            <a:r>
              <a:rPr lang="en-US" sz="1150" dirty="0">
                <a:solidFill>
                  <a:schemeClr val="tx1"/>
                </a:solidFill>
                <a:latin typeface="Courier New" pitchFamily="34" charset="0"/>
                <a:ea typeface="Courier New" pitchFamily="34" charset="-122"/>
                <a:cs typeface="Courier New" pitchFamily="34" charset="-120"/>
              </a:rPr>
              <a:t>, axis=</a:t>
            </a:r>
            <a:r>
              <a:rPr lang="en-US" sz="1150" dirty="0">
                <a:solidFill>
                  <a:schemeClr val="accent4"/>
                </a:solidFill>
                <a:latin typeface="Courier New" pitchFamily="34" charset="0"/>
                <a:ea typeface="Courier New" pitchFamily="34" charset="-122"/>
                <a:cs typeface="Courier New" pitchFamily="34" charset="-120"/>
              </a:rPr>
              <a:t>1</a:t>
            </a:r>
            <a:r>
              <a:rPr lang="en-US" sz="1150" dirty="0">
                <a:solidFill>
                  <a:schemeClr val="tx1"/>
                </a:solidFill>
                <a:latin typeface="Courier New" pitchFamily="34" charset="0"/>
                <a:ea typeface="Courier New" pitchFamily="34" charset="-122"/>
                <a:cs typeface="Courier New" pitchFamily="34" charset="-120"/>
              </a:rPr>
              <a:t>)[:, :k_nn]</a:t>
            </a:r>
            <a:endParaRPr lang="en-US" sz="1150" dirty="0"/>
          </a:p>
          <a:p>
            <a:pPr indent="0" marL="0">
              <a:lnSpc>
                <a:spcPct val="100000"/>
              </a:lnSpc>
              <a:buNone/>
            </a:pPr>
            <a:r>
              <a:rPr lang="en-US" sz="1150" dirty="0">
                <a:solidFill>
                  <a:schemeClr val="tx1"/>
                </a:solidFill>
                <a:latin typeface="Courier New" pitchFamily="34" charset="0"/>
                <a:ea typeface="Courier New" pitchFamily="34" charset="-122"/>
                <a:cs typeface="Courier New" pitchFamily="34" charset="-120"/>
              </a:rPr>
              <a:t>    w = counts[nn]                  </a:t>
            </a:r>
            <a:r>
              <a:rPr lang="en-US" sz="1150" i="1" dirty="0">
                <a:solidFill>
                  <a:schemeClr val="accent6"/>
                </a:solidFill>
                <a:latin typeface="Courier New" pitchFamily="34" charset="0"/>
                <a:ea typeface="Courier New" pitchFamily="34" charset="-122"/>
                <a:cs typeface="Courier New" pitchFamily="34" charset="-120"/>
              </a:rPr>
              <a:t># bigger balls count more</a:t>
            </a:r>
            <a:endParaRPr lang="en-US" sz="1150" dirty="0"/>
          </a:p>
          <a:p>
            <a:pPr indent="0" marL="0">
              <a:lnSpc>
                <a:spcPct val="100000"/>
              </a:lnSpc>
              <a:buNone/>
            </a:pPr>
            <a:r>
              <a:rPr lang="en-US" sz="1150" dirty="0">
                <a:solidFill>
                  <a:schemeClr val="tx1"/>
                </a:solidFill>
                <a:latin typeface="Courier New" pitchFamily="34" charset="0"/>
                <a:ea typeface="Courier New" pitchFamily="34" charset="-122"/>
                <a:cs typeface="Courier New" pitchFamily="34" charset="-120"/>
              </a:rPr>
              <a:t>    same = labels[nn] == labels[:, </a:t>
            </a:r>
            <a:r>
              <a:rPr lang="en-US" sz="1150" b="1" dirty="0">
                <a:solidFill>
                  <a:schemeClr val="accent3"/>
                </a:solidFill>
                <a:latin typeface="Courier New" pitchFamily="34" charset="0"/>
                <a:ea typeface="Courier New" pitchFamily="34" charset="-122"/>
                <a:cs typeface="Courier New" pitchFamily="34" charset="-120"/>
              </a:rPr>
              <a:t>None</a:t>
            </a:r>
            <a:r>
              <a:rPr lang="en-US" sz="1150" dirty="0">
                <a:solidFill>
                  <a:schemeClr val="tx1"/>
                </a:solidFill>
                <a:latin typeface="Courier New" pitchFamily="34" charset="0"/>
                <a:ea typeface="Courier New" pitchFamily="34" charset="-122"/>
                <a:cs typeface="Courier New" pitchFamily="34" charset="-120"/>
              </a:rPr>
              <a:t>]</a:t>
            </a:r>
            <a:endParaRPr lang="en-US" sz="1150" dirty="0"/>
          </a:p>
          <a:p>
            <a:pPr indent="0" marL="0">
              <a:lnSpc>
                <a:spcPct val="100000"/>
              </a:lnSpc>
              <a:buNone/>
            </a:pPr>
            <a:r>
              <a:rPr lang="en-US" sz="1150" dirty="0">
                <a:solidFill>
                  <a:schemeClr val="tx1"/>
                </a:solidFill>
                <a:latin typeface="Courier New" pitchFamily="34" charset="0"/>
                <a:ea typeface="Courier New" pitchFamily="34" charset="-122"/>
                <a:cs typeface="Courier New" pitchFamily="34" charset="-120"/>
              </a:rPr>
              <a:t>    agree = np.sum(w * same, axis=</a:t>
            </a:r>
            <a:r>
              <a:rPr lang="en-US" sz="1150" dirty="0">
                <a:solidFill>
                  <a:schemeClr val="accent4"/>
                </a:solidFill>
                <a:latin typeface="Courier New" pitchFamily="34" charset="0"/>
                <a:ea typeface="Courier New" pitchFamily="34" charset="-122"/>
                <a:cs typeface="Courier New" pitchFamily="34" charset="-120"/>
              </a:rPr>
              <a:t>1</a:t>
            </a:r>
            <a:r>
              <a:rPr lang="en-US" sz="1150" dirty="0">
                <a:solidFill>
                  <a:schemeClr val="tx1"/>
                </a:solidFill>
                <a:latin typeface="Courier New" pitchFamily="34" charset="0"/>
                <a:ea typeface="Courier New" pitchFamily="34" charset="-122"/>
                <a:cs typeface="Courier New" pitchFamily="34" charset="-120"/>
              </a:rPr>
              <a:t>) / (np.sum(w, axis=</a:t>
            </a:r>
            <a:r>
              <a:rPr lang="en-US" sz="1150" dirty="0">
                <a:solidFill>
                  <a:schemeClr val="accent4"/>
                </a:solidFill>
                <a:latin typeface="Courier New" pitchFamily="34" charset="0"/>
                <a:ea typeface="Courier New" pitchFamily="34" charset="-122"/>
                <a:cs typeface="Courier New" pitchFamily="34" charset="-120"/>
              </a:rPr>
              <a:t>1</a:t>
            </a:r>
            <a:r>
              <a:rPr lang="en-US" sz="1150" dirty="0">
                <a:solidFill>
                  <a:schemeClr val="tx1"/>
                </a:solidFill>
                <a:latin typeface="Courier New" pitchFamily="34" charset="0"/>
                <a:ea typeface="Courier New" pitchFamily="34" charset="-122"/>
                <a:cs typeface="Courier New" pitchFamily="34" charset="-120"/>
              </a:rPr>
              <a:t>) + EPS)</a:t>
            </a:r>
            <a:endParaRPr lang="en-US" sz="1150" dirty="0"/>
          </a:p>
          <a:p>
            <a:pPr indent="0" marL="0">
              <a:lnSpc>
                <a:spcPct val="100000"/>
              </a:lnSpc>
              <a:buNone/>
            </a:pPr>
            <a:r>
              <a:rPr lang="en-US" sz="1150" dirty="0">
                <a:solidFill>
                  <a:schemeClr val="tx1"/>
                </a:solidFill>
                <a:latin typeface="Courier New" pitchFamily="34" charset="0"/>
                <a:ea typeface="Courier New" pitchFamily="34" charset="-122"/>
                <a:cs typeface="Courier New" pitchFamily="34" charset="-120"/>
              </a:rPr>
              <a:t>    </a:t>
            </a:r>
            <a:r>
              <a:rPr lang="en-US" sz="1150" b="1" dirty="0">
                <a:solidFill>
                  <a:schemeClr val="accent3"/>
                </a:solidFill>
                <a:latin typeface="Courier New" pitchFamily="34" charset="0"/>
                <a:ea typeface="Courier New" pitchFamily="34" charset="-122"/>
                <a:cs typeface="Courier New" pitchFamily="34" charset="-120"/>
              </a:rPr>
              <a:t>return</a:t>
            </a:r>
            <a:r>
              <a:rPr lang="en-US" sz="1150" dirty="0">
                <a:solidFill>
                  <a:schemeClr val="tx1"/>
                </a:solidFill>
                <a:latin typeface="Courier New" pitchFamily="34" charset="0"/>
                <a:ea typeface="Courier New" pitchFamily="34" charset="-122"/>
                <a:cs typeface="Courier New" pitchFamily="34" charset="-120"/>
              </a:rPr>
              <a:t> np.clip(agree ** gamma, floor, </a:t>
            </a:r>
            <a:r>
              <a:rPr lang="en-US" sz="1150" dirty="0">
                <a:solidFill>
                  <a:schemeClr val="accent4"/>
                </a:solidFill>
                <a:latin typeface="Courier New" pitchFamily="34" charset="0"/>
                <a:ea typeface="Courier New" pitchFamily="34" charset="-122"/>
                <a:cs typeface="Courier New" pitchFamily="34" charset="-120"/>
              </a:rPr>
              <a:t>1.0</a:t>
            </a:r>
            <a:r>
              <a:rPr lang="en-US" sz="1150" dirty="0">
                <a:solidFill>
                  <a:schemeClr val="tx1"/>
                </a:solidFill>
                <a:latin typeface="Courier New" pitchFamily="34" charset="0"/>
                <a:ea typeface="Courier New" pitchFamily="34" charset="-122"/>
                <a:cs typeface="Courier New" pitchFamily="34" charset="-120"/>
              </a:rPr>
              <a:t>)</a:t>
            </a:r>
            <a:endParaRPr lang="en-US" sz="1150" dirty="0"/>
          </a:p>
        </p:txBody>
      </p:sp>
      <p:sp>
        <p:nvSpPr>
          <p:cNvPr id="11" name="Text 9"/>
          <p:cNvSpPr txBox="1"/>
          <p:nvPr/>
        </p:nvSpPr>
        <p:spPr>
          <a:xfrm>
            <a:off x="548640" y="4207764"/>
            <a:ext cx="6400800" cy="457200"/>
          </a:xfrm>
          <a:prstGeom prst="rect">
            <a:avLst/>
          </a:prstGeom>
          <a:noFill/>
          <a:ln/>
        </p:spPr>
        <p:txBody>
          <a:bodyPr wrap="square" lIns="0" tIns="0" rIns="0" bIns="0" rtlCol="0" anchor="t"/>
          <a:lstStyle/>
          <a:p>
            <a:pPr indent="0" marL="0">
              <a:buNone/>
            </a:pPr>
            <a:r>
              <a:rPr lang="en-US" sz="1200" i="1" dirty="0">
                <a:solidFill>
                  <a:schemeClr val="accent6"/>
                </a:solidFill>
              </a:rPr>
              <a:t>Above 5,000 balls the nearest neighbours come from a k-d tree instead of the full distance matrix.</a:t>
            </a:r>
            <a:endParaRPr lang="en-US" sz="1200" dirty="0"/>
          </a:p>
        </p:txBody>
      </p:sp>
      <p:sp>
        <p:nvSpPr>
          <p:cNvPr id="12" name="Text 10"/>
          <p:cNvSpPr txBox="1"/>
          <p:nvPr/>
        </p:nvSpPr>
        <p:spPr>
          <a:xfrm>
            <a:off x="7223760" y="1417320"/>
            <a:ext cx="4389120" cy="457200"/>
          </a:xfrm>
          <a:prstGeom prst="rect">
            <a:avLst/>
          </a:prstGeom>
          <a:noFill/>
          <a:ln/>
        </p:spPr>
        <p:txBody>
          <a:bodyPr wrap="square" lIns="0" tIns="0" rIns="0" bIns="0" rtlCol="0" anchor="t"/>
          <a:lstStyle/>
          <a:p>
            <a:pPr indent="0" marL="0">
              <a:buNone/>
            </a:pPr>
            <a:r>
              <a:rPr lang="en-US" sz="1600" dirty="0">
                <a:solidFill>
                  <a:schemeClr val="tx1"/>
                </a:solidFill>
                <a:latin typeface="Cambria" pitchFamily="34" charset="0"/>
                <a:ea typeface="Cambria" pitchFamily="34" charset="-122"/>
                <a:cs typeface="Cambria" pitchFamily="34" charset="-120"/>
              </a:rPr>
              <a:t>s</a:t>
            </a:r>
            <a:r>
              <a:rPr lang="en-US" sz="1600" baseline="-40000" dirty="0">
                <a:solidFill>
                  <a:schemeClr val="tx1"/>
                </a:solidFill>
                <a:latin typeface="Cambria" pitchFamily="34" charset="0"/>
                <a:ea typeface="Cambria" pitchFamily="34" charset="-122"/>
                <a:cs typeface="Cambria" pitchFamily="34" charset="-120"/>
              </a:rPr>
              <a:t>i</a:t>
            </a:r>
            <a:r>
              <a:rPr lang="en-US" sz="1600" dirty="0">
                <a:solidFill>
                  <a:schemeClr val="tx1"/>
                </a:solidFill>
                <a:latin typeface="Cambria" pitchFamily="34" charset="0"/>
                <a:ea typeface="Cambria" pitchFamily="34" charset="-122"/>
                <a:cs typeface="Cambria" pitchFamily="34" charset="-120"/>
              </a:rPr>
              <a:t> = a</a:t>
            </a:r>
            <a:r>
              <a:rPr lang="en-US" sz="1600" baseline="-40000" dirty="0">
                <a:solidFill>
                  <a:schemeClr val="tx1"/>
                </a:solidFill>
                <a:latin typeface="Cambria" pitchFamily="34" charset="0"/>
                <a:ea typeface="Cambria" pitchFamily="34" charset="-122"/>
                <a:cs typeface="Cambria" pitchFamily="34" charset="-120"/>
              </a:rPr>
              <a:t>i</a:t>
            </a:r>
            <a:r>
              <a:rPr lang="en-US" sz="1600" baseline="30000" dirty="0">
                <a:solidFill>
                  <a:schemeClr val="tx1"/>
                </a:solidFill>
                <a:latin typeface="Cambria" pitchFamily="34" charset="0"/>
                <a:ea typeface="Cambria" pitchFamily="34" charset="-122"/>
                <a:cs typeface="Cambria" pitchFamily="34" charset="-120"/>
              </a:rPr>
              <a:t>γ</a:t>
            </a:r>
            <a:r>
              <a:rPr lang="en-US" sz="1600" dirty="0">
                <a:solidFill>
                  <a:schemeClr val="tx1"/>
                </a:solidFill>
                <a:latin typeface="Cambria" pitchFamily="34" charset="0"/>
                <a:ea typeface="Cambria" pitchFamily="34" charset="-122"/>
                <a:cs typeface="Cambria" pitchFamily="34" charset="-120"/>
              </a:rPr>
              <a:t> ,    a</a:t>
            </a:r>
            <a:r>
              <a:rPr lang="en-US" sz="1600" baseline="-40000" dirty="0">
                <a:solidFill>
                  <a:schemeClr val="tx1"/>
                </a:solidFill>
                <a:latin typeface="Cambria" pitchFamily="34" charset="0"/>
                <a:ea typeface="Cambria" pitchFamily="34" charset="-122"/>
                <a:cs typeface="Cambria" pitchFamily="34" charset="-120"/>
              </a:rPr>
              <a:t>i</a:t>
            </a:r>
            <a:r>
              <a:rPr lang="en-US" sz="1600" dirty="0">
                <a:solidFill>
                  <a:schemeClr val="tx1"/>
                </a:solidFill>
                <a:latin typeface="Cambria" pitchFamily="34" charset="0"/>
                <a:ea typeface="Cambria" pitchFamily="34" charset="-122"/>
                <a:cs typeface="Cambria" pitchFamily="34" charset="-120"/>
              </a:rPr>
              <a:t> = Σ</a:t>
            </a:r>
            <a:r>
              <a:rPr lang="en-US" sz="1600" baseline="-40000" dirty="0">
                <a:solidFill>
                  <a:schemeClr val="tx1"/>
                </a:solidFill>
                <a:latin typeface="Cambria" pitchFamily="34" charset="0"/>
                <a:ea typeface="Cambria" pitchFamily="34" charset="-122"/>
                <a:cs typeface="Cambria" pitchFamily="34" charset="-120"/>
              </a:rPr>
              <a:t>j∈kNN(i)</a:t>
            </a:r>
            <a:r>
              <a:rPr lang="en-US" sz="1600" dirty="0">
                <a:solidFill>
                  <a:schemeClr val="tx1"/>
                </a:solidFill>
                <a:latin typeface="Cambria" pitchFamily="34" charset="0"/>
                <a:ea typeface="Cambria" pitchFamily="34" charset="-122"/>
                <a:cs typeface="Cambria" pitchFamily="34" charset="-120"/>
              </a:rPr>
              <a:t> n</a:t>
            </a:r>
            <a:r>
              <a:rPr lang="en-US" sz="1600" baseline="-40000" dirty="0">
                <a:solidFill>
                  <a:schemeClr val="tx1"/>
                </a:solidFill>
                <a:latin typeface="Cambria" pitchFamily="34" charset="0"/>
                <a:ea typeface="Cambria" pitchFamily="34" charset="-122"/>
                <a:cs typeface="Cambria" pitchFamily="34" charset="-120"/>
              </a:rPr>
              <a:t>j</a:t>
            </a:r>
            <a:r>
              <a:rPr lang="en-US" sz="1600" dirty="0">
                <a:solidFill>
                  <a:schemeClr val="tx1"/>
                </a:solidFill>
                <a:latin typeface="Cambria" pitchFamily="34" charset="0"/>
                <a:ea typeface="Cambria" pitchFamily="34" charset="-122"/>
                <a:cs typeface="Cambria" pitchFamily="34" charset="-120"/>
              </a:rPr>
              <a:t> [y</a:t>
            </a:r>
            <a:r>
              <a:rPr lang="en-US" sz="1600" baseline="-40000" dirty="0">
                <a:solidFill>
                  <a:schemeClr val="tx1"/>
                </a:solidFill>
                <a:latin typeface="Cambria" pitchFamily="34" charset="0"/>
                <a:ea typeface="Cambria" pitchFamily="34" charset="-122"/>
                <a:cs typeface="Cambria" pitchFamily="34" charset="-120"/>
              </a:rPr>
              <a:t>j</a:t>
            </a:r>
            <a:r>
              <a:rPr lang="en-US" sz="1600" dirty="0">
                <a:solidFill>
                  <a:schemeClr val="tx1"/>
                </a:solidFill>
                <a:latin typeface="Cambria" pitchFamily="34" charset="0"/>
                <a:ea typeface="Cambria" pitchFamily="34" charset="-122"/>
                <a:cs typeface="Cambria" pitchFamily="34" charset="-120"/>
              </a:rPr>
              <a:t> = y</a:t>
            </a:r>
            <a:r>
              <a:rPr lang="en-US" sz="1600" baseline="-40000" dirty="0">
                <a:solidFill>
                  <a:schemeClr val="tx1"/>
                </a:solidFill>
                <a:latin typeface="Cambria" pitchFamily="34" charset="0"/>
                <a:ea typeface="Cambria" pitchFamily="34" charset="-122"/>
                <a:cs typeface="Cambria" pitchFamily="34" charset="-120"/>
              </a:rPr>
              <a:t>i</a:t>
            </a:r>
            <a:r>
              <a:rPr lang="en-US" sz="1600" dirty="0">
                <a:solidFill>
                  <a:schemeClr val="tx1"/>
                </a:solidFill>
                <a:latin typeface="Cambria" pitchFamily="34" charset="0"/>
                <a:ea typeface="Cambria" pitchFamily="34" charset="-122"/>
                <a:cs typeface="Cambria" pitchFamily="34" charset="-120"/>
              </a:rPr>
              <a:t>] / Σ</a:t>
            </a:r>
            <a:r>
              <a:rPr lang="en-US" sz="1600" baseline="-40000" dirty="0">
                <a:solidFill>
                  <a:schemeClr val="tx1"/>
                </a:solidFill>
                <a:latin typeface="Cambria" pitchFamily="34" charset="0"/>
                <a:ea typeface="Cambria" pitchFamily="34" charset="-122"/>
                <a:cs typeface="Cambria" pitchFamily="34" charset="-120"/>
              </a:rPr>
              <a:t>j∈kNN(i)</a:t>
            </a:r>
            <a:r>
              <a:rPr lang="en-US" sz="1600" dirty="0">
                <a:solidFill>
                  <a:schemeClr val="tx1"/>
                </a:solidFill>
                <a:latin typeface="Cambria" pitchFamily="34" charset="0"/>
                <a:ea typeface="Cambria" pitchFamily="34" charset="-122"/>
                <a:cs typeface="Cambria" pitchFamily="34" charset="-120"/>
              </a:rPr>
              <a:t> n</a:t>
            </a:r>
            <a:r>
              <a:rPr lang="en-US" sz="1600" baseline="-40000" dirty="0">
                <a:solidFill>
                  <a:schemeClr val="tx1"/>
                </a:solidFill>
                <a:latin typeface="Cambria" pitchFamily="34" charset="0"/>
                <a:ea typeface="Cambria" pitchFamily="34" charset="-122"/>
                <a:cs typeface="Cambria" pitchFamily="34" charset="-120"/>
              </a:rPr>
              <a:t>j</a:t>
            </a:r>
            <a:endParaRPr lang="en-US" sz="1400" dirty="0"/>
          </a:p>
        </p:txBody>
      </p:sp>
      <p:sp>
        <p:nvSpPr>
          <p:cNvPr id="13" name="Text 11"/>
          <p:cNvSpPr txBox="1"/>
          <p:nvPr/>
        </p:nvSpPr>
        <p:spPr>
          <a:xfrm>
            <a:off x="7223760" y="2011680"/>
            <a:ext cx="4389120" cy="3520440"/>
          </a:xfrm>
          <a:prstGeom prst="rect">
            <a:avLst/>
          </a:prstGeom>
          <a:noFill/>
          <a:ln/>
        </p:spPr>
        <p:txBody>
          <a:bodyPr wrap="square" lIns="0" tIns="0" rIns="0" bIns="0" rtlCol="0" anchor="t"/>
          <a:lstStyle/>
          <a:p>
            <a:pPr marL="203200" indent="-203200">
              <a:spcAft>
                <a:spcPts val="800"/>
              </a:spcAft>
              <a:buSzPct val="100000"/>
              <a:buChar char="•"/>
            </a:pPr>
            <a:r>
              <a:rPr lang="en-US" sz="1400" b="1" dirty="0">
                <a:solidFill>
                  <a:schemeClr val="tx1"/>
                </a:solidFill>
              </a:rPr>
              <a:t>a</a:t>
            </a:r>
            <a:r>
              <a:rPr lang="en-US" sz="1400" b="1" baseline="-40000" dirty="0">
                <a:solidFill>
                  <a:schemeClr val="tx1"/>
                </a:solidFill>
              </a:rPr>
              <a:t>i</a:t>
            </a:r>
            <a:r>
              <a:rPr lang="en-US" sz="1400" b="1" dirty="0">
                <a:solidFill>
                  <a:schemeClr val="tx1"/>
                </a:solidFill>
              </a:rPr>
              <a:t> </a:t>
            </a:r>
            <a:r>
              <a:rPr lang="en-US" sz="1400" dirty="0">
                <a:solidFill>
                  <a:schemeClr val="tx1"/>
                </a:solidFill>
              </a:rPr>
              <a:t>is the share of the k nearest balls that carry ball i’s label, each counted by its number of points n</a:t>
            </a:r>
            <a:r>
              <a:rPr lang="en-US" sz="1400" baseline="-40000" dirty="0">
                <a:solidFill>
                  <a:schemeClr val="tx1"/>
                </a:solidFill>
              </a:rPr>
              <a:t>j</a:t>
            </a:r>
            <a:r>
              <a:rPr lang="en-US" sz="1400" dirty="0">
                <a:solidFill>
                  <a:schemeClr val="tx1"/>
                </a:solidFill>
              </a:rPr>
              <a:t>.</a:t>
            </a:r>
            <a:endParaRPr lang="en-US" sz="1400" dirty="0"/>
          </a:p>
          <a:p>
            <a:pPr marL="203200" indent="-203200">
              <a:spcAft>
                <a:spcPts val="800"/>
              </a:spcAft>
              <a:buSzPct val="100000"/>
              <a:buChar char="•"/>
            </a:pPr>
            <a:r>
              <a:rPr lang="en-US" sz="1400" b="1" dirty="0">
                <a:solidFill>
                  <a:schemeClr val="tx1"/>
                </a:solidFill>
              </a:rPr>
              <a:t>γ &gt; 1 </a:t>
            </a:r>
            <a:r>
              <a:rPr lang="en-US" sz="1400" dirty="0">
                <a:solidFill>
                  <a:schemeClr val="tx1"/>
                </a:solidFill>
              </a:rPr>
              <a:t>punishes disagreement harder; a floor of 0.001 keeps every ball in the model.</a:t>
            </a:r>
            <a:endParaRPr lang="en-US" sz="1400" dirty="0"/>
          </a:p>
          <a:p>
            <a:pPr marL="203200" indent="-203200">
              <a:spcAft>
                <a:spcPts val="800"/>
              </a:spcAft>
              <a:buSzPct val="100000"/>
              <a:buChar char="•"/>
            </a:pPr>
            <a:r>
              <a:rPr lang="en-US" sz="1400" b="1" dirty="0">
                <a:solidFill>
                  <a:schemeClr val="tx1"/>
                </a:solidFill>
              </a:rPr>
              <a:t>Cost: </a:t>
            </a:r>
            <a:r>
              <a:rPr lang="en-US" sz="1400" dirty="0">
                <a:solidFill>
                  <a:schemeClr val="tx1"/>
                </a:solidFill>
              </a:rPr>
              <a:t>one nearest-neighbour search over the balls; no extra model to train.</a:t>
            </a:r>
            <a:endParaRPr lang="en-US" sz="1400" dirty="0"/>
          </a:p>
          <a:p>
            <a:pPr marL="203200" indent="-203200">
              <a:spcAft>
                <a:spcPts val="800"/>
              </a:spcAft>
              <a:buSzPct val="100000"/>
              <a:buChar char="•"/>
            </a:pPr>
            <a:r>
              <a:rPr lang="en-US" sz="1400" b="1" dirty="0">
                <a:solidFill>
                  <a:schemeClr val="tx1"/>
                </a:solidFill>
              </a:rPr>
              <a:t>With every point as its own ball, </a:t>
            </a:r>
            <a:r>
              <a:rPr lang="en-US" sz="1400" dirty="0">
                <a:solidFill>
                  <a:schemeClr val="tx1"/>
                </a:solidFill>
              </a:rPr>
              <a:t>T7 is the fuzzy-kNN membership [11], our strongest baseline.</a:t>
            </a:r>
            <a:endParaRPr lang="en-US" sz="1400" dirty="0"/>
          </a:p>
          <a:p>
            <a:pPr marL="203200" indent="-203200">
              <a:spcAft>
                <a:spcPts val="800"/>
              </a:spcAft>
              <a:buSzPct val="100000"/>
              <a:buChar char="•"/>
            </a:pPr>
            <a:r>
              <a:rPr lang="en-US" sz="1400" b="1" dirty="0">
                <a:solidFill>
                  <a:schemeClr val="tx1"/>
                </a:solidFill>
              </a:rPr>
              <a:t>Tuned by CV: </a:t>
            </a:r>
            <a:r>
              <a:rPr lang="en-US" sz="1400" dirty="0">
                <a:solidFill>
                  <a:schemeClr val="tx1"/>
                </a:solidFill>
              </a:rPr>
              <a:t>k ∈ {5, 10}, γ ∈ {1, 3}.</a:t>
            </a:r>
            <a:endParaRPr lang="en-US" sz="1400" dirty="0"/>
          </a:p>
        </p:txBody>
      </p:sp>
      <p:sp>
        <p:nvSpPr>
          <p:cNvPr id="14"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15"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16" name="Text 14"/>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T7 is cheap, needs no extra model, and is the only ball membership that tracks flipped labels.</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EXPERIMENTS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Why agreement works where entropy fails</a:t>
            </a:r>
            <a:endParaRPr lang="en-US" sz="2800" dirty="0"/>
          </a:p>
        </p:txBody>
      </p:sp>
      <p:pic>
        <p:nvPicPr>
          <p:cNvPr id="4" name="Image 0" descr="Two toy panels. Entropy trusts a flipped point inside a pure region and distrusts a correct border point; agreement gives the flipped point weight 0 and the border point 0.6.">    </p:cNvPr>
          <p:cNvPicPr>
            <a:picLocks noChangeAspect="1"/>
          </p:cNvPicPr>
          <p:nvPr/>
        </p:nvPicPr>
        <p:blipFill>
          <a:blip r:embed="rId1"/>
          <a:stretch>
            <a:fillRect/>
          </a:stretch>
        </p:blipFill>
        <p:spPr>
          <a:xfrm>
            <a:off x="868680" y="1325880"/>
            <a:ext cx="10424160" cy="3486341"/>
          </a:xfrm>
          <a:prstGeom prst="rect">
            <a:avLst/>
          </a:prstGeom>
        </p:spPr>
      </p:pic>
      <p:sp>
        <p:nvSpPr>
          <p:cNvPr id="5" name="Text 2"/>
          <p:cNvSpPr txBox="1"/>
          <p:nvPr/>
        </p:nvSpPr>
        <p:spPr>
          <a:xfrm>
            <a:off x="548640" y="4892040"/>
            <a:ext cx="5394960" cy="731520"/>
          </a:xfrm>
          <a:prstGeom prst="rect">
            <a:avLst/>
          </a:prstGeom>
          <a:noFill/>
          <a:ln/>
        </p:spPr>
        <p:txBody>
          <a:bodyPr wrap="square" lIns="0" tIns="0" rIns="0" bIns="0" rtlCol="0" anchor="t"/>
          <a:lstStyle/>
          <a:p>
            <a:pPr indent="0" marL="0">
              <a:buNone/>
            </a:pPr>
            <a:r>
              <a:rPr lang="en-US" sz="1400" b="1" dirty="0">
                <a:solidFill>
                  <a:schemeClr val="tx1"/>
                </a:solidFill>
              </a:rPr>
              <a:t>Entropy (T2) </a:t>
            </a:r>
            <a:r>
              <a:rPr lang="en-US" sz="1400" dirty="0">
                <a:solidFill>
                  <a:schemeClr val="tx1"/>
                </a:solidFill>
              </a:rPr>
              <a:t>asks whether the neighbourhood is mixed. A flipped point inside a pure region looks safe (weight 1.0); a correct border point looks doubtful (0.1).</a:t>
            </a:r>
            <a:endParaRPr lang="en-US" sz="1400" dirty="0"/>
          </a:p>
        </p:txBody>
      </p:sp>
      <p:sp>
        <p:nvSpPr>
          <p:cNvPr id="6" name="Text 3"/>
          <p:cNvSpPr txBox="1"/>
          <p:nvPr/>
        </p:nvSpPr>
        <p:spPr>
          <a:xfrm>
            <a:off x="6217920" y="4892040"/>
            <a:ext cx="5394960" cy="731520"/>
          </a:xfrm>
          <a:prstGeom prst="rect">
            <a:avLst/>
          </a:prstGeom>
          <a:noFill/>
          <a:ln/>
        </p:spPr>
        <p:txBody>
          <a:bodyPr wrap="square" lIns="0" tIns="0" rIns="0" bIns="0" rtlCol="0" anchor="t"/>
          <a:lstStyle/>
          <a:p>
            <a:pPr indent="0" marL="0">
              <a:buNone/>
            </a:pPr>
            <a:r>
              <a:rPr lang="en-US" sz="1400" b="1" dirty="0">
                <a:solidFill>
                  <a:schemeClr val="tx1"/>
                </a:solidFill>
              </a:rPr>
              <a:t>Agreement (T7) </a:t>
            </a:r>
            <a:r>
              <a:rPr lang="en-US" sz="1400" dirty="0">
                <a:solidFill>
                  <a:schemeClr val="tx1"/>
                </a:solidFill>
              </a:rPr>
              <a:t>asks whether the neighbours share my label. The flipped point gets weight 0; the correct border point keeps 0.6.</a:t>
            </a:r>
            <a:endParaRPr lang="en-US" sz="1400" dirty="0"/>
          </a:p>
        </p:txBody>
      </p:sp>
      <p:sp>
        <p:nvSpPr>
          <p:cNvPr id="7"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8"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9" name="Text 6"/>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Entropy measures how mixed a region is, not whether a label fits it; that is why it trusts flipped points.</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RESULTS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Main result: keep + T7 beats GBLSTSVM at every noise level</a:t>
            </a:r>
            <a:endParaRPr lang="en-US" sz="2800" dirty="0"/>
          </a:p>
        </p:txBody>
      </p:sp>
      <p:sp>
        <p:nvSpPr>
          <p:cNvPr id="4" name="Text 2"/>
          <p:cNvSpPr txBox="1"/>
          <p:nvPr/>
        </p:nvSpPr>
        <p:spPr>
          <a:xfrm>
            <a:off x="548640" y="1325880"/>
            <a:ext cx="6583680" cy="274320"/>
          </a:xfrm>
          <a:prstGeom prst="rect">
            <a:avLst/>
          </a:prstGeom>
          <a:noFill/>
          <a:ln/>
        </p:spPr>
        <p:txBody>
          <a:bodyPr wrap="square" lIns="0" tIns="0" rIns="0" bIns="0" rtlCol="0" anchor="t"/>
          <a:lstStyle/>
          <a:p>
            <a:pPr indent="0" marL="0">
              <a:buNone/>
            </a:pPr>
            <a:r>
              <a:rPr lang="en-US" sz="1200" i="1" dirty="0">
                <a:solidFill>
                  <a:schemeClr val="accent6"/>
                </a:solidFill>
              </a:rPr>
              <a:t>Balanced accuracy, % (linear models, 21 datasets × 10 splits)</a:t>
            </a:r>
            <a:endParaRPr lang="en-US" sz="1200" dirty="0"/>
          </a:p>
        </p:txBody>
      </p:sp>
      <p:graphicFrame>
        <p:nvGraphicFramePr>
          <p:cNvPr id="5" name="Chart 0" descr=""/>
          <p:cNvGraphicFramePr/>
          <p:nvPr/>
        </p:nvGraphicFramePr>
        <p:xfrm>
          <a:off x="548640" y="1600200"/>
          <a:ext cx="658368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360920" y="1371600"/>
          <a:ext cx="4251960" cy="914400"/>
        </p:xfrm>
        <a:graphic>
          <a:graphicData uri="http://schemas.openxmlformats.org/drawingml/2006/table">
            <a:tbl>
              <a:tblPr/>
              <a:tblGrid>
                <a:gridCol w="777240"/>
                <a:gridCol w="1600200"/>
                <a:gridCol w="960120"/>
                <a:gridCol w="914400"/>
              </a:tblGrid>
              <a:tr h="384048">
                <a:tc>
                  <a:txBody>
                    <a:bodyPr/>
                    <a:lstStyle/>
                    <a:p>
                      <a:pPr algn="ctr" indent="0" marL="0">
                        <a:buNone/>
                      </a:pPr>
                      <a:r>
                        <a:rPr lang="en-US" sz="1400" b="1" dirty="0">
                          <a:solidFill>
                            <a:schemeClr val="bg1"/>
                          </a:solidFill>
                        </a:rPr>
                        <a:t>Noise</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Keep + T7 vs GBLSTSVM</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Holm p</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Wins</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r>
              <a:tr h="384048">
                <a:tc>
                  <a:txBody>
                    <a:bodyPr/>
                    <a:lstStyle/>
                    <a:p>
                      <a:pPr algn="ctr" indent="0" marL="0">
                        <a:buNone/>
                      </a:pPr>
                      <a:r>
                        <a:rPr lang="en-US" sz="1400" dirty="0">
                          <a:solidFill>
                            <a:schemeClr val="tx1"/>
                          </a:solidFill>
                        </a:rPr>
                        <a:t>0%</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400" b="1" dirty="0">
                          <a:solidFill>
                            <a:schemeClr val="accent1"/>
                          </a:solidFill>
                        </a:rPr>
                        <a:t>+3.3</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400" dirty="0">
                          <a:solidFill>
                            <a:schemeClr val="tx1"/>
                          </a:solidFill>
                        </a:rPr>
                        <a:t>0.002</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400" dirty="0">
                          <a:solidFill>
                            <a:schemeClr val="tx1"/>
                          </a:solidFill>
                        </a:rPr>
                        <a:t>19/21</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84048">
                <a:tc>
                  <a:txBody>
                    <a:bodyPr/>
                    <a:lstStyle/>
                    <a:p>
                      <a:pPr algn="ctr" indent="0" marL="0">
                        <a:buNone/>
                      </a:pPr>
                      <a:r>
                        <a:rPr lang="en-US" sz="1400" dirty="0">
                          <a:solidFill>
                            <a:schemeClr val="tx1"/>
                          </a:solidFill>
                        </a:rPr>
                        <a:t>10%</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400" b="1" dirty="0">
                          <a:solidFill>
                            <a:schemeClr val="accent1"/>
                          </a:solidFill>
                        </a:rPr>
                        <a:t>+2.6</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400" dirty="0">
                          <a:solidFill>
                            <a:schemeClr val="tx1"/>
                          </a:solidFill>
                        </a:rPr>
                        <a:t>0.138</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400" dirty="0">
                          <a:solidFill>
                            <a:schemeClr val="tx1"/>
                          </a:solidFill>
                        </a:rPr>
                        <a:t>14/21</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84048">
                <a:tc>
                  <a:txBody>
                    <a:bodyPr/>
                    <a:lstStyle/>
                    <a:p>
                      <a:pPr algn="ctr" indent="0" marL="0">
                        <a:buNone/>
                      </a:pPr>
                      <a:r>
                        <a:rPr lang="en-US" sz="1400" dirty="0">
                          <a:solidFill>
                            <a:schemeClr val="tx1"/>
                          </a:solidFill>
                        </a:rPr>
                        <a:t>20%</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400" b="1" dirty="0">
                          <a:solidFill>
                            <a:schemeClr val="accent1"/>
                          </a:solidFill>
                        </a:rPr>
                        <a:t>+2.9</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400" dirty="0">
                          <a:solidFill>
                            <a:schemeClr val="tx1"/>
                          </a:solidFill>
                        </a:rPr>
                        <a:t>0.034</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400" dirty="0">
                          <a:solidFill>
                            <a:schemeClr val="tx1"/>
                          </a:solidFill>
                        </a:rPr>
                        <a:t>16/21</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84048">
                <a:tc>
                  <a:txBody>
                    <a:bodyPr/>
                    <a:lstStyle/>
                    <a:p>
                      <a:pPr algn="ctr" indent="0" marL="0">
                        <a:buNone/>
                      </a:pPr>
                      <a:r>
                        <a:rPr lang="en-US" sz="1400" dirty="0">
                          <a:solidFill>
                            <a:schemeClr val="tx1"/>
                          </a:solidFill>
                        </a:rPr>
                        <a:t>30%</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400" b="1" dirty="0">
                          <a:solidFill>
                            <a:schemeClr val="accent1"/>
                          </a:solidFill>
                        </a:rPr>
                        <a:t>+4.9</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400" dirty="0">
                          <a:solidFill>
                            <a:schemeClr val="tx1"/>
                          </a:solidFill>
                        </a:rPr>
                        <a:t>&lt; 0.001</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400" dirty="0">
                          <a:solidFill>
                            <a:schemeClr val="tx1"/>
                          </a:solidFill>
                        </a:rPr>
                        <a:t>18/21</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bl>
          </a:graphicData>
        </a:graphic>
      </p:graphicFrame>
      <p:sp>
        <p:nvSpPr>
          <p:cNvPr id="7" name="Text 3"/>
          <p:cNvSpPr txBox="1"/>
          <p:nvPr/>
        </p:nvSpPr>
        <p:spPr>
          <a:xfrm>
            <a:off x="7360920" y="3520440"/>
            <a:ext cx="4251960" cy="20116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Plain LSTSVM is 1.8–4.0 points ahead up to 20% noise; at 30% they tie (−0.2).</a:t>
            </a:r>
            <a:endParaRPr lang="en-US" sz="1400" dirty="0"/>
          </a:p>
          <a:p>
            <a:pPr marL="203200" indent="-203200">
              <a:spcAft>
                <a:spcPts val="800"/>
              </a:spcAft>
              <a:buSzPct val="100000"/>
              <a:buChar char="•"/>
            </a:pPr>
            <a:r>
              <a:rPr lang="en-US" sz="1400" dirty="0">
                <a:solidFill>
                  <a:schemeClr val="tx1"/>
                </a:solidFill>
              </a:rPr>
              <a:t>Fuzzy-kNN LSTSVM on every point stays best, by 2.1–3.4 points.</a:t>
            </a:r>
            <a:endParaRPr lang="en-US" sz="1400" dirty="0"/>
          </a:p>
        </p:txBody>
      </p:sp>
      <p:sp>
        <p:nvSpPr>
          <p:cNvPr id="8"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9"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10" name="Text 6"/>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Keep + T7 closes most of the gap to LSTSVM and closes it fully at 30% noise; balls help only under heavy noise.</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RESULTS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Ranking at 30% noise: keep + T7 joins the top group</a:t>
            </a:r>
            <a:endParaRPr lang="en-US" sz="2800" dirty="0"/>
          </a:p>
        </p:txBody>
      </p:sp>
      <p:pic>
        <p:nvPicPr>
          <p:cNvPr id="4" name="Image 0" descr="Critical difference diagram for linear models at 30% label noise. Average ranks: FKNN-LSTSVM 1.71, Keep+T7 3.10, LSTSVM 3.10, ADPGBG 4.52, GB-keep 4.62, GBLSTSVM 5.33, GBFTSVM 5.62. Critical difference 1.97.">    </p:cNvPr>
          <p:cNvPicPr>
            <a:picLocks noChangeAspect="1"/>
          </p:cNvPicPr>
          <p:nvPr/>
        </p:nvPicPr>
        <p:blipFill>
          <a:blip r:embed="rId1"/>
          <a:stretch>
            <a:fillRect/>
          </a:stretch>
        </p:blipFill>
        <p:spPr>
          <a:xfrm>
            <a:off x="1051560" y="1371600"/>
            <a:ext cx="10058400" cy="3276352"/>
          </a:xfrm>
          <a:prstGeom prst="rect">
            <a:avLst/>
          </a:prstGeom>
        </p:spPr>
      </p:pic>
      <p:sp>
        <p:nvSpPr>
          <p:cNvPr id="5" name="Text 2"/>
          <p:cNvSpPr txBox="1"/>
          <p:nvPr/>
        </p:nvSpPr>
        <p:spPr>
          <a:xfrm>
            <a:off x="548640" y="4709160"/>
            <a:ext cx="11064240" cy="8686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Average rank over 21 datasets, 1 = best. Methods joined by a thick bar are not significantly different (Nemenyi test, α = 0.05) [17].</a:t>
            </a:r>
            <a:endParaRPr lang="en-US" sz="1500" dirty="0"/>
          </a:p>
          <a:p>
            <a:pPr marL="203200" indent="-203200">
              <a:spcAft>
                <a:spcPts val="800"/>
              </a:spcAft>
              <a:buSzPct val="100000"/>
              <a:buChar char="•"/>
            </a:pPr>
            <a:r>
              <a:rPr lang="en-US" sz="1500" dirty="0">
                <a:solidFill>
                  <a:schemeClr val="tx1"/>
                </a:solidFill>
              </a:rPr>
              <a:t>Keep + T7 ties LSTSVM in rank and is significantly ahead of GBLSTSVM and GBFTSVM; only fuzzy-kNN LSTSVM ranks higher.</a:t>
            </a:r>
            <a:endParaRPr lang="en-US" sz="1500" dirty="0"/>
          </a:p>
        </p:txBody>
      </p:sp>
      <p:sp>
        <p:nvSpPr>
          <p:cNvPr id="6"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7"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8" name="Text 5"/>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Ball models without our fix (GBLSTSVM, GBFTSVM) sit at the bottom of the ranking under heavy noise.</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RESULTS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With a kernel the gain shrinks; a better ball builder adds little</a:t>
            </a:r>
            <a:endParaRPr lang="en-US" sz="2800" dirty="0"/>
          </a:p>
        </p:txBody>
      </p:sp>
      <p:sp>
        <p:nvSpPr>
          <p:cNvPr id="4" name="Text 2"/>
          <p:cNvSpPr txBox="1"/>
          <p:nvPr/>
        </p:nvSpPr>
        <p:spPr>
          <a:xfrm>
            <a:off x="548640" y="1325880"/>
            <a:ext cx="6035040" cy="274320"/>
          </a:xfrm>
          <a:prstGeom prst="rect">
            <a:avLst/>
          </a:prstGeom>
          <a:noFill/>
          <a:ln/>
        </p:spPr>
        <p:txBody>
          <a:bodyPr wrap="square" lIns="0" tIns="0" rIns="0" bIns="0" rtlCol="0" anchor="t"/>
          <a:lstStyle/>
          <a:p>
            <a:pPr indent="0" marL="0">
              <a:buNone/>
            </a:pPr>
            <a:r>
              <a:rPr lang="en-US" sz="1200" i="1" dirty="0">
                <a:solidFill>
                  <a:schemeClr val="accent6"/>
                </a:solidFill>
              </a:rPr>
              <a:t>Balanced accuracy, % (RBF kernel models, 21 datasets × 10 splits)</a:t>
            </a:r>
            <a:endParaRPr lang="en-US" sz="1200" dirty="0"/>
          </a:p>
        </p:txBody>
      </p:sp>
      <p:graphicFrame>
        <p:nvGraphicFramePr>
          <p:cNvPr id="5" name="Chart 0" descr=""/>
          <p:cNvGraphicFramePr/>
          <p:nvPr/>
        </p:nvGraphicFramePr>
        <p:xfrm>
          <a:off x="548640" y="1600200"/>
          <a:ext cx="6035040" cy="3931920"/>
        </p:xfrm>
        <a:graphic xmlns:a="http://schemas.openxmlformats.org/drawingml/2006/main">
          <a:graphicData uri="http://schemas.openxmlformats.org/drawingml/2006/chart">
            <c:chart xmlns:c="http://schemas.openxmlformats.org/drawingml/2006/chart" r:id="rId1"/>
          </a:graphicData>
        </a:graphic>
      </p:graphicFrame>
      <p:sp>
        <p:nvSpPr>
          <p:cNvPr id="6" name="adpgbg-card"/>
          <p:cNvSpPr/>
          <p:nvPr/>
        </p:nvSpPr>
        <p:spPr>
          <a:xfrm>
            <a:off x="6858000" y="1371600"/>
            <a:ext cx="4754880" cy="4160520"/>
          </a:xfrm>
          <a:prstGeom prst="roundRect">
            <a:avLst>
              <a:gd name="adj" fmla="val 2198"/>
            </a:avLst>
          </a:prstGeom>
          <a:solidFill>
            <a:schemeClr val="bg2"/>
          </a:solidFill>
          <a:ln w="9525">
            <a:solidFill>
              <a:schemeClr val="bg2"/>
            </a:solidFill>
            <a:prstDash val="solid"/>
          </a:ln>
        </p:spPr>
      </p:sp>
      <p:sp>
        <p:nvSpPr>
          <p:cNvPr id="7" name="Text 4"/>
          <p:cNvSpPr txBox="1"/>
          <p:nvPr/>
        </p:nvSpPr>
        <p:spPr>
          <a:xfrm>
            <a:off x="7086600" y="1481328"/>
            <a:ext cx="4389120" cy="365760"/>
          </a:xfrm>
          <a:prstGeom prst="rect">
            <a:avLst/>
          </a:prstGeom>
          <a:noFill/>
          <a:ln/>
        </p:spPr>
        <p:txBody>
          <a:bodyPr wrap="square" lIns="0" tIns="0" rIns="0" bIns="0" rtlCol="0" anchor="t"/>
          <a:lstStyle/>
          <a:p>
            <a:pPr indent="0" marL="0">
              <a:buNone/>
            </a:pPr>
            <a:r>
              <a:rPr lang="en-US" sz="1700" b="1" dirty="0">
                <a:solidFill>
                  <a:schemeClr val="tx2"/>
                </a:solidFill>
              </a:rPr>
              <a:t>ADPGBG balls [7] (round 5)</a:t>
            </a:r>
            <a:endParaRPr lang="en-US" sz="1700" dirty="0"/>
          </a:p>
        </p:txBody>
      </p:sp>
      <p:sp>
        <p:nvSpPr>
          <p:cNvPr id="8" name="Text 5"/>
          <p:cNvSpPr txBox="1"/>
          <p:nvPr/>
        </p:nvSpPr>
        <p:spPr>
          <a:xfrm>
            <a:off x="7086600" y="1874520"/>
            <a:ext cx="4343400" cy="868680"/>
          </a:xfrm>
          <a:prstGeom prst="rect">
            <a:avLst/>
          </a:prstGeom>
          <a:noFill/>
          <a:ln/>
        </p:spPr>
        <p:txBody>
          <a:bodyPr wrap="square" lIns="0" tIns="0" rIns="0" bIns="0" rtlCol="0" anchor="t"/>
          <a:lstStyle/>
          <a:p>
            <a:pPr indent="0" marL="0">
              <a:buNone/>
            </a:pPr>
            <a:r>
              <a:rPr lang="en-US" sz="1400" dirty="0">
                <a:solidFill>
                  <a:schemeClr val="tx1"/>
                </a:solidFill>
              </a:rPr>
              <a:t>Grows each ball up to the nearest point of the other class, so border points stay in; ported from the lab MATLAB suite [24].</a:t>
            </a:r>
            <a:endParaRPr lang="en-US" sz="1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086600" y="2834640"/>
          <a:ext cx="4343400" cy="914400"/>
        </p:xfrm>
        <a:graphic>
          <a:graphicData uri="http://schemas.openxmlformats.org/drawingml/2006/table">
            <a:tbl>
              <a:tblPr/>
              <a:tblGrid>
                <a:gridCol w="1600200"/>
                <a:gridCol w="685800"/>
                <a:gridCol w="685800"/>
                <a:gridCol w="685800"/>
                <a:gridCol w="685800"/>
              </a:tblGrid>
              <a:tr h="365760">
                <a:tc>
                  <a:txBody>
                    <a:bodyPr/>
                    <a:lstStyle/>
                    <a:p>
                      <a:pPr algn="ctr" indent="0" marL="0">
                        <a:buNone/>
                      </a:pPr>
                      <a:r>
                        <a:rPr lang="en-US" sz="1300" b="1" dirty="0">
                          <a:solidFill>
                            <a:schemeClr val="bg1"/>
                          </a:solidFill>
                        </a:rPr>
                        <a:t>Linear, BA %</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10%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20%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30%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r>
              <a:tr h="365760">
                <a:tc>
                  <a:txBody>
                    <a:bodyPr/>
                    <a:lstStyle/>
                    <a:p>
                      <a:pPr algn="ctr" indent="0" marL="0">
                        <a:buNone/>
                      </a:pPr>
                      <a:r>
                        <a:rPr lang="en-US" sz="1300" dirty="0">
                          <a:solidFill>
                            <a:schemeClr val="tx1"/>
                          </a:solidFill>
                        </a:rPr>
                        <a:t>GBLSTSVM</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73.5</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73.3</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71.0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64.0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65760">
                <a:tc>
                  <a:txBody>
                    <a:bodyPr/>
                    <a:lstStyle/>
                    <a:p>
                      <a:pPr algn="ctr" indent="0" marL="0">
                        <a:buNone/>
                      </a:pPr>
                      <a:r>
                        <a:rPr lang="en-US" sz="1300" dirty="0">
                          <a:solidFill>
                            <a:schemeClr val="tx1"/>
                          </a:solidFill>
                        </a:rPr>
                        <a:t>ADPGBG balls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76.0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75.9</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71.6</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65.5</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65760">
                <a:tc>
                  <a:txBody>
                    <a:bodyPr/>
                    <a:lstStyle/>
                    <a:p>
                      <a:pPr algn="ctr" indent="0" marL="0">
                        <a:buNone/>
                      </a:pPr>
                      <a:r>
                        <a:rPr lang="en-US" sz="1300" dirty="0">
                          <a:solidFill>
                            <a:schemeClr val="tx1"/>
                          </a:solidFill>
                        </a:rPr>
                        <a:t>Keep single points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76.7</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75.6</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73.3</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66.3</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65760">
                <a:tc>
                  <a:txBody>
                    <a:bodyPr/>
                    <a:lstStyle/>
                    <a:p>
                      <a:pPr algn="ctr" indent="0" marL="0">
                        <a:buNone/>
                      </a:pPr>
                      <a:r>
                        <a:rPr lang="en-US" sz="1300" b="1" dirty="0">
                          <a:solidFill>
                            <a:schemeClr val="tx1"/>
                          </a:solidFill>
                        </a:rPr>
                        <a:t>Keep + T7</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b="1" dirty="0">
                          <a:solidFill>
                            <a:schemeClr val="accent1"/>
                          </a:solidFill>
                        </a:rPr>
                        <a:t>76.8</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b="1" dirty="0">
                          <a:solidFill>
                            <a:schemeClr val="accent1"/>
                          </a:solidFill>
                        </a:rPr>
                        <a:t>75.9</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b="1" dirty="0">
                          <a:solidFill>
                            <a:schemeClr val="accent1"/>
                          </a:solidFill>
                        </a:rPr>
                        <a:t>73.9</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b="1" dirty="0">
                          <a:solidFill>
                            <a:schemeClr val="accent1"/>
                          </a:solidFill>
                        </a:rPr>
                        <a:t>68.9</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bl>
          </a:graphicData>
        </a:graphic>
      </p:graphicFrame>
      <p:sp>
        <p:nvSpPr>
          <p:cNvPr id="10"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11"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12" name="Text 8"/>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Kernel keep + T7 gains +2.1 on clean data and about nothing under noise; ADPGBG ≈ keeping single points.</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RESULTS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Speed: balls train fast, but so does a reduced-kernel LSTSVM</a:t>
            </a:r>
            <a:endParaRPr lang="en-US" sz="2800" dirty="0"/>
          </a:p>
        </p:txBody>
      </p:sp>
      <p:sp>
        <p:nvSpPr>
          <p:cNvPr id="4" name="Text 2"/>
          <p:cNvSpPr txBox="1"/>
          <p:nvPr/>
        </p:nvSpPr>
        <p:spPr>
          <a:xfrm>
            <a:off x="548640" y="1325880"/>
            <a:ext cx="6400800" cy="274320"/>
          </a:xfrm>
          <a:prstGeom prst="rect">
            <a:avLst/>
          </a:prstGeom>
          <a:noFill/>
          <a:ln/>
        </p:spPr>
        <p:txBody>
          <a:bodyPr wrap="square" lIns="0" tIns="0" rIns="0" bIns="0" rtlCol="0" anchor="t"/>
          <a:lstStyle/>
          <a:p>
            <a:pPr indent="0" marL="0">
              <a:buNone/>
            </a:pPr>
            <a:r>
              <a:rPr lang="en-US" sz="1200" i="1" dirty="0">
                <a:solidFill>
                  <a:schemeClr val="accent6"/>
                </a:solidFill>
              </a:rPr>
              <a:t>Training time, seconds, log scale (NDC data, clean labels, RBF kernel)</a:t>
            </a:r>
            <a:endParaRPr lang="en-US" sz="1200" dirty="0"/>
          </a:p>
        </p:txBody>
      </p:sp>
      <p:graphicFrame>
        <p:nvGraphicFramePr>
          <p:cNvPr id="5" name="Chart 0" descr=""/>
          <p:cNvGraphicFramePr/>
          <p:nvPr/>
        </p:nvGraphicFramePr>
        <p:xfrm>
          <a:off x="548640" y="1600200"/>
          <a:ext cx="6400800" cy="3931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223760" y="1371600"/>
            <a:ext cx="4389120" cy="365760"/>
          </a:xfrm>
          <a:prstGeom prst="rect">
            <a:avLst/>
          </a:prstGeom>
          <a:noFill/>
          <a:ln/>
        </p:spPr>
        <p:txBody>
          <a:bodyPr wrap="square" lIns="0" tIns="0" rIns="0" bIns="0" rtlCol="0" anchor="t"/>
          <a:lstStyle/>
          <a:p>
            <a:pPr indent="0" marL="0">
              <a:buNone/>
            </a:pPr>
            <a:r>
              <a:rPr lang="en-US" sz="1700" b="1" dirty="0">
                <a:solidFill>
                  <a:schemeClr val="tx2"/>
                </a:solidFill>
              </a:rPr>
              <a:t>Under 20% label noise</a:t>
            </a:r>
            <a:endParaRPr lang="en-US" sz="17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223760" y="1783080"/>
          <a:ext cx="4389120" cy="914400"/>
        </p:xfrm>
        <a:graphic>
          <a:graphicData uri="http://schemas.openxmlformats.org/drawingml/2006/table">
            <a:tbl>
              <a:tblPr/>
              <a:tblGrid>
                <a:gridCol w="822960"/>
                <a:gridCol w="1691640"/>
                <a:gridCol w="1874520"/>
              </a:tblGrid>
              <a:tr h="384048">
                <a:tc>
                  <a:txBody>
                    <a:bodyPr/>
                    <a:lstStyle/>
                    <a:p>
                      <a:pPr algn="ctr" indent="0" marL="0">
                        <a:buNone/>
                      </a:pPr>
                      <a:r>
                        <a:rPr lang="en-US" sz="1300" b="1" dirty="0">
                          <a:solidFill>
                            <a:schemeClr val="bg1"/>
                          </a:solidFill>
                        </a:rPr>
                        <a:t>Points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Kernel GBLSTSVM</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Reduced-kernel fuzzy-kNN</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r>
              <a:tr h="384048">
                <a:tc>
                  <a:txBody>
                    <a:bodyPr/>
                    <a:lstStyle/>
                    <a:p>
                      <a:pPr algn="ctr" indent="0" marL="0">
                        <a:buNone/>
                      </a:pPr>
                      <a:r>
                        <a:rPr lang="en-US" sz="1300" dirty="0">
                          <a:solidFill>
                            <a:schemeClr val="tx1"/>
                          </a:solidFill>
                        </a:rPr>
                        <a:t>14k</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6.5 s · 97.0%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65.3 s · 97.6%</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84048">
                <a:tc>
                  <a:txBody>
                    <a:bodyPr/>
                    <a:lstStyle/>
                    <a:p>
                      <a:pPr algn="ctr" indent="0" marL="0">
                        <a:buNone/>
                      </a:pPr>
                      <a:r>
                        <a:rPr lang="en-US" sz="1300" dirty="0">
                          <a:solidFill>
                            <a:schemeClr val="tx1"/>
                          </a:solidFill>
                        </a:rPr>
                        <a:t>28k</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15.4 s · 96.6%</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118.4 s · 96.7%</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84048">
                <a:tc>
                  <a:txBody>
                    <a:bodyPr/>
                    <a:lstStyle/>
                    <a:p>
                      <a:pPr algn="ctr" indent="0" marL="0">
                        <a:buNone/>
                      </a:pPr>
                      <a:r>
                        <a:rPr lang="en-US" sz="1300" dirty="0">
                          <a:solidFill>
                            <a:schemeClr val="tx1"/>
                          </a:solidFill>
                        </a:rPr>
                        <a:t>70k</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97.2 s · 97.6%</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263.4 s · 98.2%</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bl>
          </a:graphicData>
        </a:graphic>
      </p:graphicFrame>
      <p:sp>
        <p:nvSpPr>
          <p:cNvPr id="8" name="Text 4"/>
          <p:cNvSpPr txBox="1"/>
          <p:nvPr/>
        </p:nvSpPr>
        <p:spPr>
          <a:xfrm>
            <a:off x="7223760" y="3520440"/>
            <a:ext cx="4389120" cy="20116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Full kernel LSTSVM needs the whole n × n kernel: 60 s at 10.5k points, and about 73 GB of memory at 70k.</a:t>
            </a:r>
            <a:endParaRPr lang="en-US" sz="1400" dirty="0"/>
          </a:p>
          <a:p>
            <a:pPr marL="203200" indent="-203200">
              <a:spcAft>
                <a:spcPts val="800"/>
              </a:spcAft>
              <a:buSzPct val="100000"/>
              <a:buChar char="•"/>
            </a:pPr>
            <a:r>
              <a:rPr lang="en-US" sz="1400" dirty="0">
                <a:solidFill>
                  <a:schemeClr val="tx1"/>
                </a:solidFill>
              </a:rPr>
              <a:t>Reduced-kernel LSTSVM [19] also trains in seconds (36 s vs 5 s at 70k) and is 0.8–3.0 points more accurate on clean data.</a:t>
            </a:r>
            <a:endParaRPr lang="en-US" sz="1400" dirty="0"/>
          </a:p>
        </p:txBody>
      </p:sp>
      <p:sp>
        <p:nvSpPr>
          <p:cNvPr id="9"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10"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11" name="Text 7"/>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Under 20% noise and from 28k points, kernel GBLSTSVM trains 2.7–7.7× faster than the best model, within 0.6 points.</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PUBLISHED BASELINE</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The closest published model: GBFTSVM</a:t>
            </a:r>
            <a:endParaRPr lang="en-US" sz="2800" dirty="0"/>
          </a:p>
        </p:txBody>
      </p:sp>
      <p:sp>
        <p:nvSpPr>
          <p:cNvPr id="4" name="Text 2"/>
          <p:cNvSpPr txBox="1"/>
          <p:nvPr/>
        </p:nvSpPr>
        <p:spPr>
          <a:xfrm>
            <a:off x="548640" y="1371600"/>
            <a:ext cx="4846320" cy="1325880"/>
          </a:xfrm>
          <a:prstGeom prst="rect">
            <a:avLst/>
          </a:prstGeom>
          <a:noFill/>
          <a:ln/>
        </p:spPr>
        <p:txBody>
          <a:bodyPr wrap="square" lIns="0" tIns="0" rIns="0" bIns="0" rtlCol="0" anchor="t"/>
          <a:lstStyle/>
          <a:p>
            <a:pPr marL="203200" indent="-203200">
              <a:spcAft>
                <a:spcPts val="800"/>
              </a:spcAft>
              <a:buSzPct val="100000"/>
              <a:buChar char="•"/>
            </a:pPr>
            <a:r>
              <a:rPr lang="en-US" sz="1500" b="1" dirty="0">
                <a:solidFill>
                  <a:schemeClr val="tx1"/>
                </a:solidFill>
              </a:rPr>
              <a:t>GBFTSVM [15]: </a:t>
            </a:r>
            <a:r>
              <a:rPr lang="en-US" sz="1500" dirty="0">
                <a:solidFill>
                  <a:schemeClr val="tx1"/>
                </a:solidFill>
              </a:rPr>
              <a:t>a twin SVM (hinge loss, solved as a QP) on granular balls, with a Pythagorean fuzzy score per ball [12].</a:t>
            </a:r>
            <a:endParaRPr lang="en-US" sz="1500" dirty="0"/>
          </a:p>
          <a:p>
            <a:pPr marL="203200" indent="-203200">
              <a:spcAft>
                <a:spcPts val="800"/>
              </a:spcAft>
              <a:buSzPct val="100000"/>
              <a:buChar char="•"/>
            </a:pPr>
            <a:r>
              <a:rPr lang="en-US" sz="1500" b="1" dirty="0">
                <a:solidFill>
                  <a:schemeClr val="tx1"/>
                </a:solidFill>
              </a:rPr>
              <a:t>Without the scores </a:t>
            </a:r>
            <a:r>
              <a:rPr lang="en-US" sz="1500" dirty="0">
                <a:solidFill>
                  <a:schemeClr val="tx1"/>
                </a:solidFill>
              </a:rPr>
              <a:t>it is GBTWSVM [14], the authors’ earlier model.</a:t>
            </a:r>
            <a:endParaRPr lang="en-US" sz="1500" dirty="0"/>
          </a:p>
        </p:txBody>
      </p:sp>
      <p:sp>
        <p:nvSpPr>
          <p:cNvPr id="5" name="pfs-card"/>
          <p:cNvSpPr/>
          <p:nvPr/>
        </p:nvSpPr>
        <p:spPr>
          <a:xfrm>
            <a:off x="548640" y="2743200"/>
            <a:ext cx="4846320" cy="2788920"/>
          </a:xfrm>
          <a:prstGeom prst="roundRect">
            <a:avLst>
              <a:gd name="adj" fmla="val 3279"/>
            </a:avLst>
          </a:prstGeom>
          <a:solidFill>
            <a:schemeClr val="bg2"/>
          </a:solidFill>
          <a:ln w="9525">
            <a:solidFill>
              <a:schemeClr val="bg2"/>
            </a:solidFill>
            <a:prstDash val="solid"/>
          </a:ln>
        </p:spPr>
      </p:sp>
      <p:sp>
        <p:nvSpPr>
          <p:cNvPr id="6" name="Text 4"/>
          <p:cNvSpPr txBox="1"/>
          <p:nvPr/>
        </p:nvSpPr>
        <p:spPr>
          <a:xfrm>
            <a:off x="749808" y="2880360"/>
            <a:ext cx="4526280" cy="1554480"/>
          </a:xfrm>
          <a:prstGeom prst="rect">
            <a:avLst/>
          </a:prstGeom>
          <a:noFill/>
          <a:ln/>
        </p:spPr>
        <p:txBody>
          <a:bodyPr wrap="square" lIns="0" tIns="0" rIns="0" bIns="0" rtlCol="0" anchor="t"/>
          <a:lstStyle/>
          <a:p>
            <a:pPr indent="0" marL="0">
              <a:spcAft>
                <a:spcPts val="600"/>
              </a:spcAft>
              <a:buNone/>
            </a:pPr>
            <a:r>
              <a:rPr lang="en-US" sz="1500" dirty="0">
                <a:solidFill>
                  <a:schemeClr val="tx1"/>
                </a:solidFill>
                <a:latin typeface="Cambria" pitchFamily="34" charset="0"/>
                <a:ea typeface="Cambria" pitchFamily="34" charset="-122"/>
                <a:cs typeface="Cambria" pitchFamily="34" charset="-120"/>
              </a:rPr>
              <a:t>μ</a:t>
            </a:r>
            <a:r>
              <a:rPr lang="en-US" sz="1500" baseline="-40000" dirty="0">
                <a:solidFill>
                  <a:schemeClr val="tx1"/>
                </a:solidFill>
                <a:latin typeface="Cambria" pitchFamily="34" charset="0"/>
                <a:ea typeface="Cambria" pitchFamily="34" charset="-122"/>
                <a:cs typeface="Cambria" pitchFamily="34" charset="-120"/>
              </a:rPr>
              <a:t>i</a:t>
            </a:r>
            <a:r>
              <a:rPr lang="en-US" sz="1500" dirty="0">
                <a:solidFill>
                  <a:schemeClr val="tx1"/>
                </a:solidFill>
                <a:latin typeface="Cambria" pitchFamily="34" charset="0"/>
                <a:ea typeface="Cambria" pitchFamily="34" charset="-122"/>
                <a:cs typeface="Cambria" pitchFamily="34" charset="-120"/>
              </a:rPr>
              <a:t> = 1 − ‖c</a:t>
            </a:r>
            <a:r>
              <a:rPr lang="en-US" sz="1500" baseline="-40000" dirty="0">
                <a:solidFill>
                  <a:schemeClr val="tx1"/>
                </a:solidFill>
                <a:latin typeface="Cambria" pitchFamily="34" charset="0"/>
                <a:ea typeface="Cambria" pitchFamily="34" charset="-122"/>
                <a:cs typeface="Cambria" pitchFamily="34" charset="-120"/>
              </a:rPr>
              <a:t>i</a:t>
            </a:r>
            <a:r>
              <a:rPr lang="en-US" sz="1500" dirty="0">
                <a:solidFill>
                  <a:schemeClr val="tx1"/>
                </a:solidFill>
                <a:latin typeface="Cambria" pitchFamily="34" charset="0"/>
                <a:ea typeface="Cambria" pitchFamily="34" charset="-122"/>
                <a:cs typeface="Cambria" pitchFamily="34" charset="-120"/>
              </a:rPr>
              <a:t> − C‖ / (R + ε)      (centre distance = T1)</a:t>
            </a:r>
            <a:endParaRPr lang="en-US" sz="1400" dirty="0"/>
          </a:p>
          <a:p>
            <a:pPr indent="0" marL="0">
              <a:spcAft>
                <a:spcPts val="600"/>
              </a:spcAft>
              <a:buNone/>
            </a:pPr>
            <a:r>
              <a:rPr lang="en-US" sz="1500" dirty="0">
                <a:solidFill>
                  <a:schemeClr val="tx1"/>
                </a:solidFill>
                <a:latin typeface="Cambria" pitchFamily="34" charset="0"/>
                <a:ea typeface="Cambria" pitchFamily="34" charset="-122"/>
                <a:cs typeface="Cambria" pitchFamily="34" charset="-120"/>
              </a:rPr>
              <a:t>ν</a:t>
            </a:r>
            <a:r>
              <a:rPr lang="en-US" sz="1500" baseline="-40000" dirty="0">
                <a:solidFill>
                  <a:schemeClr val="tx1"/>
                </a:solidFill>
                <a:latin typeface="Cambria" pitchFamily="34" charset="0"/>
                <a:ea typeface="Cambria" pitchFamily="34" charset="-122"/>
                <a:cs typeface="Cambria" pitchFamily="34" charset="-120"/>
              </a:rPr>
              <a:t>i</a:t>
            </a:r>
            <a:r>
              <a:rPr lang="en-US" sz="1500" baseline="30000" dirty="0">
                <a:solidFill>
                  <a:schemeClr val="tx1"/>
                </a:solidFill>
                <a:latin typeface="Cambria" pitchFamily="34" charset="0"/>
                <a:ea typeface="Cambria" pitchFamily="34" charset="-122"/>
                <a:cs typeface="Cambria" pitchFamily="34" charset="-120"/>
              </a:rPr>
              <a:t>2</a:t>
            </a:r>
            <a:r>
              <a:rPr lang="en-US" sz="1500" dirty="0">
                <a:solidFill>
                  <a:schemeClr val="tx1"/>
                </a:solidFill>
                <a:latin typeface="Cambria" pitchFamily="34" charset="0"/>
                <a:ea typeface="Cambria" pitchFamily="34" charset="-122"/>
                <a:cs typeface="Cambria" pitchFamily="34" charset="-120"/>
              </a:rPr>
              <a:t> = (1 − μ</a:t>
            </a:r>
            <a:r>
              <a:rPr lang="en-US" sz="1500" baseline="-40000" dirty="0">
                <a:solidFill>
                  <a:schemeClr val="tx1"/>
                </a:solidFill>
                <a:latin typeface="Cambria" pitchFamily="34" charset="0"/>
                <a:ea typeface="Cambria" pitchFamily="34" charset="-122"/>
                <a:cs typeface="Cambria" pitchFamily="34" charset="-120"/>
              </a:rPr>
              <a:t>i</a:t>
            </a:r>
            <a:r>
              <a:rPr lang="en-US" sz="1500" baseline="30000" dirty="0">
                <a:solidFill>
                  <a:schemeClr val="tx1"/>
                </a:solidFill>
                <a:latin typeface="Cambria" pitchFamily="34" charset="0"/>
                <a:ea typeface="Cambria" pitchFamily="34" charset="-122"/>
                <a:cs typeface="Cambria" pitchFamily="34" charset="-120"/>
              </a:rPr>
              <a:t>2</a:t>
            </a:r>
            <a:r>
              <a:rPr lang="en-US" sz="1500" dirty="0">
                <a:solidFill>
                  <a:schemeClr val="tx1"/>
                </a:solidFill>
                <a:latin typeface="Cambria" pitchFamily="34" charset="0"/>
                <a:ea typeface="Cambria" pitchFamily="34" charset="-122"/>
                <a:cs typeface="Cambria" pitchFamily="34" charset="-120"/>
              </a:rPr>
              <a:t>)(1 − purity</a:t>
            </a:r>
            <a:r>
              <a:rPr lang="en-US" sz="1500" baseline="-40000" dirty="0">
                <a:solidFill>
                  <a:schemeClr val="tx1"/>
                </a:solidFill>
                <a:latin typeface="Cambria" pitchFamily="34" charset="0"/>
                <a:ea typeface="Cambria" pitchFamily="34" charset="-122"/>
                <a:cs typeface="Cambria" pitchFamily="34" charset="-120"/>
              </a:rPr>
              <a:t>i</a:t>
            </a:r>
            <a:r>
              <a:rPr lang="en-US" sz="1500" dirty="0">
                <a:solidFill>
                  <a:schemeClr val="tx1"/>
                </a:solidFill>
                <a:latin typeface="Cambria" pitchFamily="34" charset="0"/>
                <a:ea typeface="Cambria" pitchFamily="34" charset="-122"/>
                <a:cs typeface="Cambria" pitchFamily="34" charset="-120"/>
              </a:rPr>
              <a:t>)</a:t>
            </a:r>
            <a:endParaRPr lang="en-US" sz="1400" dirty="0"/>
          </a:p>
          <a:p>
            <a:pPr indent="0" marL="0">
              <a:spcAft>
                <a:spcPts val="600"/>
              </a:spcAft>
              <a:buNone/>
            </a:pPr>
            <a:r>
              <a:rPr lang="en-US" sz="1500" dirty="0">
                <a:solidFill>
                  <a:schemeClr val="tx1"/>
                </a:solidFill>
                <a:latin typeface="Cambria" pitchFamily="34" charset="0"/>
                <a:ea typeface="Cambria" pitchFamily="34" charset="-122"/>
                <a:cs typeface="Cambria" pitchFamily="34" charset="-120"/>
              </a:rPr>
              <a:t>θ</a:t>
            </a:r>
            <a:r>
              <a:rPr lang="en-US" sz="1500" baseline="-40000" dirty="0">
                <a:solidFill>
                  <a:schemeClr val="tx1"/>
                </a:solidFill>
                <a:latin typeface="Cambria" pitchFamily="34" charset="0"/>
                <a:ea typeface="Cambria" pitchFamily="34" charset="-122"/>
                <a:cs typeface="Cambria" pitchFamily="34" charset="-120"/>
              </a:rPr>
              <a:t>i</a:t>
            </a:r>
            <a:r>
              <a:rPr lang="en-US" sz="1500" dirty="0">
                <a:solidFill>
                  <a:schemeClr val="tx1"/>
                </a:solidFill>
                <a:latin typeface="Cambria" pitchFamily="34" charset="0"/>
                <a:ea typeface="Cambria" pitchFamily="34" charset="-122"/>
                <a:cs typeface="Cambria" pitchFamily="34" charset="-120"/>
              </a:rPr>
              <a:t> = √((1 − ν</a:t>
            </a:r>
            <a:r>
              <a:rPr lang="en-US" sz="1500" baseline="-40000" dirty="0">
                <a:solidFill>
                  <a:schemeClr val="tx1"/>
                </a:solidFill>
                <a:latin typeface="Cambria" pitchFamily="34" charset="0"/>
                <a:ea typeface="Cambria" pitchFamily="34" charset="-122"/>
                <a:cs typeface="Cambria" pitchFamily="34" charset="-120"/>
              </a:rPr>
              <a:t>i</a:t>
            </a:r>
            <a:r>
              <a:rPr lang="en-US" sz="1500" baseline="30000" dirty="0">
                <a:solidFill>
                  <a:schemeClr val="tx1"/>
                </a:solidFill>
                <a:latin typeface="Cambria" pitchFamily="34" charset="0"/>
                <a:ea typeface="Cambria" pitchFamily="34" charset="-122"/>
                <a:cs typeface="Cambria" pitchFamily="34" charset="-120"/>
              </a:rPr>
              <a:t>2</a:t>
            </a:r>
            <a:r>
              <a:rPr lang="en-US" sz="1500" dirty="0">
                <a:solidFill>
                  <a:schemeClr val="tx1"/>
                </a:solidFill>
                <a:latin typeface="Cambria" pitchFamily="34" charset="0"/>
                <a:ea typeface="Cambria" pitchFamily="34" charset="-122"/>
                <a:cs typeface="Cambria" pitchFamily="34" charset="-120"/>
              </a:rPr>
              <a:t>) / (2 − μ</a:t>
            </a:r>
            <a:r>
              <a:rPr lang="en-US" sz="1500" baseline="-40000" dirty="0">
                <a:solidFill>
                  <a:schemeClr val="tx1"/>
                </a:solidFill>
                <a:latin typeface="Cambria" pitchFamily="34" charset="0"/>
                <a:ea typeface="Cambria" pitchFamily="34" charset="-122"/>
                <a:cs typeface="Cambria" pitchFamily="34" charset="-120"/>
              </a:rPr>
              <a:t>i</a:t>
            </a:r>
            <a:r>
              <a:rPr lang="en-US" sz="1500" baseline="30000" dirty="0">
                <a:solidFill>
                  <a:schemeClr val="tx1"/>
                </a:solidFill>
                <a:latin typeface="Cambria" pitchFamily="34" charset="0"/>
                <a:ea typeface="Cambria" pitchFamily="34" charset="-122"/>
                <a:cs typeface="Cambria" pitchFamily="34" charset="-120"/>
              </a:rPr>
              <a:t>2</a:t>
            </a:r>
            <a:r>
              <a:rPr lang="en-US" sz="1500" dirty="0">
                <a:solidFill>
                  <a:schemeClr val="tx1"/>
                </a:solidFill>
                <a:latin typeface="Cambria" pitchFamily="34" charset="0"/>
                <a:ea typeface="Cambria" pitchFamily="34" charset="-122"/>
                <a:cs typeface="Cambria" pitchFamily="34" charset="-120"/>
              </a:rPr>
              <a:t> − ν</a:t>
            </a:r>
            <a:r>
              <a:rPr lang="en-US" sz="1500" baseline="-40000" dirty="0">
                <a:solidFill>
                  <a:schemeClr val="tx1"/>
                </a:solidFill>
                <a:latin typeface="Cambria" pitchFamily="34" charset="0"/>
                <a:ea typeface="Cambria" pitchFamily="34" charset="-122"/>
                <a:cs typeface="Cambria" pitchFamily="34" charset="-120"/>
              </a:rPr>
              <a:t>i</a:t>
            </a:r>
            <a:r>
              <a:rPr lang="en-US" sz="1500" baseline="30000" dirty="0">
                <a:solidFill>
                  <a:schemeClr val="tx1"/>
                </a:solidFill>
                <a:latin typeface="Cambria" pitchFamily="34" charset="0"/>
                <a:ea typeface="Cambria" pitchFamily="34" charset="-122"/>
                <a:cs typeface="Cambria" pitchFamily="34" charset="-120"/>
              </a:rPr>
              <a:t>2</a:t>
            </a:r>
            <a:r>
              <a:rPr lang="en-US" sz="1500" dirty="0">
                <a:solidFill>
                  <a:schemeClr val="tx1"/>
                </a:solidFill>
                <a:latin typeface="Cambria" pitchFamily="34" charset="0"/>
                <a:ea typeface="Cambria" pitchFamily="34" charset="-122"/>
                <a:cs typeface="Cambria" pitchFamily="34" charset="-120"/>
              </a:rPr>
              <a:t>))</a:t>
            </a:r>
            <a:endParaRPr lang="en-US" sz="1400" dirty="0"/>
          </a:p>
          <a:p>
            <a:pPr indent="0" marL="0">
              <a:spcAft>
                <a:spcPts val="600"/>
              </a:spcAft>
              <a:buNone/>
            </a:pPr>
            <a:r>
              <a:rPr lang="en-US" sz="1500" dirty="0">
                <a:solidFill>
                  <a:schemeClr val="tx1"/>
                </a:solidFill>
                <a:latin typeface="Cambria" pitchFamily="34" charset="0"/>
                <a:ea typeface="Cambria" pitchFamily="34" charset="-122"/>
                <a:cs typeface="Cambria" pitchFamily="34" charset="-120"/>
              </a:rPr>
              <a:t>s</a:t>
            </a:r>
            <a:r>
              <a:rPr lang="en-US" sz="1500" baseline="-40000" dirty="0">
                <a:solidFill>
                  <a:schemeClr val="tx1"/>
                </a:solidFill>
                <a:latin typeface="Cambria" pitchFamily="34" charset="0"/>
                <a:ea typeface="Cambria" pitchFamily="34" charset="-122"/>
                <a:cs typeface="Cambria" pitchFamily="34" charset="-120"/>
              </a:rPr>
              <a:t>i</a:t>
            </a:r>
            <a:r>
              <a:rPr lang="en-US" sz="1500" dirty="0">
                <a:solidFill>
                  <a:schemeClr val="tx1"/>
                </a:solidFill>
                <a:latin typeface="Cambria" pitchFamily="34" charset="0"/>
                <a:ea typeface="Cambria" pitchFamily="34" charset="-122"/>
                <a:cs typeface="Cambria" pitchFamily="34" charset="-120"/>
              </a:rPr>
              <a:t> = μ</a:t>
            </a:r>
            <a:r>
              <a:rPr lang="en-US" sz="1500" baseline="-40000" dirty="0">
                <a:solidFill>
                  <a:schemeClr val="tx1"/>
                </a:solidFill>
                <a:latin typeface="Cambria" pitchFamily="34" charset="0"/>
                <a:ea typeface="Cambria" pitchFamily="34" charset="-122"/>
                <a:cs typeface="Cambria" pitchFamily="34" charset="-120"/>
              </a:rPr>
              <a:t>i</a:t>
            </a:r>
            <a:r>
              <a:rPr lang="en-US" sz="1500" dirty="0">
                <a:solidFill>
                  <a:schemeClr val="tx1"/>
                </a:solidFill>
                <a:latin typeface="Cambria" pitchFamily="34" charset="0"/>
                <a:ea typeface="Cambria" pitchFamily="34" charset="-122"/>
                <a:cs typeface="Cambria" pitchFamily="34" charset="-120"/>
              </a:rPr>
              <a:t>  if ball i is pure,  else  θ</a:t>
            </a:r>
            <a:r>
              <a:rPr lang="en-US" sz="1500" baseline="-40000" dirty="0">
                <a:solidFill>
                  <a:schemeClr val="tx1"/>
                </a:solidFill>
                <a:latin typeface="Cambria" pitchFamily="34" charset="0"/>
                <a:ea typeface="Cambria" pitchFamily="34" charset="-122"/>
                <a:cs typeface="Cambria" pitchFamily="34" charset="-120"/>
              </a:rPr>
              <a:t>i</a:t>
            </a:r>
            <a:endParaRPr lang="en-US" sz="1400" dirty="0"/>
          </a:p>
        </p:txBody>
      </p:sp>
      <p:sp>
        <p:nvSpPr>
          <p:cNvPr id="7" name="Text 5"/>
          <p:cNvSpPr txBox="1"/>
          <p:nvPr/>
        </p:nvSpPr>
        <p:spPr>
          <a:xfrm>
            <a:off x="749808" y="4526280"/>
            <a:ext cx="4526280" cy="914400"/>
          </a:xfrm>
          <a:prstGeom prst="rect">
            <a:avLst/>
          </a:prstGeom>
          <a:noFill/>
          <a:ln/>
        </p:spPr>
        <p:txBody>
          <a:bodyPr wrap="square" lIns="0" tIns="0" rIns="0" bIns="0" rtlCol="0" anchor="t"/>
          <a:lstStyle/>
          <a:p>
            <a:pPr indent="0" marL="0">
              <a:buNone/>
            </a:pPr>
            <a:r>
              <a:rPr lang="en-US" sz="1500" b="1" dirty="0">
                <a:solidFill>
                  <a:schemeClr val="accent4"/>
                </a:solidFill>
              </a:rPr>
              <a:t>On a pure ball the score is just the centre distance, and with k-means balls at least 99% of balls are pure.</a:t>
            </a:r>
            <a:endParaRPr lang="en-US" sz="1500" dirty="0"/>
          </a:p>
        </p:txBody>
      </p:sp>
      <p:sp>
        <p:nvSpPr>
          <p:cNvPr id="8" name="code-frame"/>
          <p:cNvSpPr/>
          <p:nvPr/>
        </p:nvSpPr>
        <p:spPr>
          <a:xfrm>
            <a:off x="5623560" y="1371600"/>
            <a:ext cx="5989320" cy="2906268"/>
          </a:xfrm>
          <a:prstGeom prst="roundRect">
            <a:avLst>
              <a:gd name="adj" fmla="val 2517"/>
            </a:avLst>
          </a:prstGeom>
          <a:solidFill>
            <a:schemeClr val="tx2"/>
          </a:solidFill>
          <a:ln w="9525">
            <a:solidFill>
              <a:schemeClr val="tx2"/>
            </a:solidFill>
            <a:prstDash val="solid"/>
          </a:ln>
        </p:spPr>
      </p:sp>
      <p:sp>
        <p:nvSpPr>
          <p:cNvPr id="9" name="code-dot"/>
          <p:cNvSpPr/>
          <p:nvPr/>
        </p:nvSpPr>
        <p:spPr>
          <a:xfrm>
            <a:off x="5769864" y="1490472"/>
            <a:ext cx="109728" cy="109728"/>
          </a:xfrm>
          <a:prstGeom prst="ellipse">
            <a:avLst/>
          </a:prstGeom>
          <a:solidFill>
            <a:schemeClr val="bg2">
              <a:alpha val="55000"/>
            </a:schemeClr>
          </a:solidFill>
          <a:ln w="12700">
            <a:solidFill>
              <a:schemeClr val="bg2">
                <a:alpha val="55000"/>
              </a:schemeClr>
            </a:solidFill>
            <a:prstDash val="solid"/>
          </a:ln>
        </p:spPr>
      </p:sp>
      <p:sp>
        <p:nvSpPr>
          <p:cNvPr id="10" name="code-dot"/>
          <p:cNvSpPr/>
          <p:nvPr/>
        </p:nvSpPr>
        <p:spPr>
          <a:xfrm>
            <a:off x="5952744" y="1490472"/>
            <a:ext cx="109728" cy="109728"/>
          </a:xfrm>
          <a:prstGeom prst="ellipse">
            <a:avLst/>
          </a:prstGeom>
          <a:solidFill>
            <a:schemeClr val="bg2">
              <a:alpha val="55000"/>
            </a:schemeClr>
          </a:solidFill>
          <a:ln w="12700">
            <a:solidFill>
              <a:schemeClr val="bg2">
                <a:alpha val="55000"/>
              </a:schemeClr>
            </a:solidFill>
            <a:prstDash val="solid"/>
          </a:ln>
        </p:spPr>
      </p:sp>
      <p:sp>
        <p:nvSpPr>
          <p:cNvPr id="11" name="code-dot"/>
          <p:cNvSpPr/>
          <p:nvPr/>
        </p:nvSpPr>
        <p:spPr>
          <a:xfrm>
            <a:off x="6135624" y="1490472"/>
            <a:ext cx="109728" cy="109728"/>
          </a:xfrm>
          <a:prstGeom prst="ellipse">
            <a:avLst/>
          </a:prstGeom>
          <a:solidFill>
            <a:schemeClr val="bg2">
              <a:alpha val="55000"/>
            </a:schemeClr>
          </a:solidFill>
          <a:ln w="12700">
            <a:solidFill>
              <a:schemeClr val="bg2">
                <a:alpha val="55000"/>
              </a:schemeClr>
            </a:solidFill>
            <a:prstDash val="solid"/>
          </a:ln>
        </p:spPr>
      </p:sp>
      <p:sp>
        <p:nvSpPr>
          <p:cNvPr id="12" name="Text 10"/>
          <p:cNvSpPr txBox="1"/>
          <p:nvPr/>
        </p:nvSpPr>
        <p:spPr>
          <a:xfrm>
            <a:off x="6373368" y="1408176"/>
            <a:ext cx="5074920" cy="274320"/>
          </a:xfrm>
          <a:prstGeom prst="rect">
            <a:avLst/>
          </a:prstGeom>
          <a:noFill/>
          <a:ln/>
        </p:spPr>
        <p:txBody>
          <a:bodyPr wrap="square" lIns="0" tIns="0" rIns="0" bIns="0" rtlCol="0" anchor="ctr"/>
          <a:lstStyle/>
          <a:p>
            <a:pPr indent="0" marL="0">
              <a:buNone/>
            </a:pPr>
            <a:r>
              <a:rPr lang="en-US" sz="1100" dirty="0">
                <a:solidFill>
                  <a:schemeClr val="bg2"/>
                </a:solidFill>
                <a:latin typeface="Courier New" pitchFamily="34" charset="0"/>
                <a:ea typeface="Courier New" pitchFamily="34" charset="-122"/>
                <a:cs typeface="Courier New" pitchFamily="34" charset="-120"/>
              </a:rPr>
              <a:t>gbftsvm.py (our implementation)</a:t>
            </a:r>
            <a:endParaRPr lang="en-US" sz="1100" dirty="0"/>
          </a:p>
        </p:txBody>
      </p:sp>
      <p:sp>
        <p:nvSpPr>
          <p:cNvPr id="13" name="code-body"/>
          <p:cNvSpPr/>
          <p:nvPr/>
        </p:nvSpPr>
        <p:spPr>
          <a:xfrm>
            <a:off x="5660136" y="1719072"/>
            <a:ext cx="5916168" cy="2522220"/>
          </a:xfrm>
          <a:prstGeom prst="rect">
            <a:avLst/>
          </a:prstGeom>
          <a:solidFill>
            <a:schemeClr val="bg1"/>
          </a:solidFill>
          <a:ln w="12700">
            <a:solidFill>
              <a:schemeClr val="bg1"/>
            </a:solidFill>
            <a:prstDash val="solid"/>
          </a:ln>
        </p:spPr>
      </p:sp>
      <p:sp>
        <p:nvSpPr>
          <p:cNvPr id="14" name="code"/>
          <p:cNvSpPr txBox="1"/>
          <p:nvPr/>
        </p:nvSpPr>
        <p:spPr>
          <a:xfrm>
            <a:off x="5751576" y="1810512"/>
            <a:ext cx="5733288" cy="2375916"/>
          </a:xfrm>
          <a:prstGeom prst="rect">
            <a:avLst/>
          </a:prstGeom>
          <a:noFill/>
          <a:ln/>
        </p:spPr>
        <p:txBody>
          <a:bodyPr wrap="square" lIns="0" tIns="0" rIns="0" bIns="0" rtlCol="0" anchor="t"/>
          <a:lstStyle/>
          <a:p>
            <a:pPr indent="0" marL="0">
              <a:lnSpc>
                <a:spcPct val="100000"/>
              </a:lnSpc>
              <a:buNone/>
            </a:pPr>
            <a:r>
              <a:rPr lang="en-US" sz="1250" b="1" dirty="0">
                <a:solidFill>
                  <a:schemeClr val="accent3"/>
                </a:solidFill>
                <a:latin typeface="Courier New" pitchFamily="34" charset="0"/>
                <a:ea typeface="Courier New" pitchFamily="34" charset="-122"/>
                <a:cs typeface="Courier New" pitchFamily="34" charset="-120"/>
              </a:rPr>
              <a:t>def</a:t>
            </a:r>
            <a:r>
              <a:rPr lang="en-US" sz="1250" dirty="0">
                <a:solidFill>
                  <a:schemeClr val="tx1"/>
                </a:solidFill>
                <a:latin typeface="Courier New" pitchFamily="34" charset="0"/>
                <a:ea typeface="Courier New" pitchFamily="34" charset="-122"/>
                <a:cs typeface="Courier New" pitchFamily="34" charset="-120"/>
              </a:rPr>
              <a:t> </a:t>
            </a:r>
            <a:r>
              <a:rPr lang="en-US" sz="1250" b="1" dirty="0">
                <a:solidFill>
                  <a:schemeClr val="tx2"/>
                </a:solidFill>
                <a:latin typeface="Courier New" pitchFamily="34" charset="0"/>
                <a:ea typeface="Courier New" pitchFamily="34" charset="-122"/>
                <a:cs typeface="Courier New" pitchFamily="34" charset="-120"/>
              </a:rPr>
              <a:t>pythagorean_scores</a:t>
            </a:r>
            <a:r>
              <a:rPr lang="en-US" sz="1250" dirty="0">
                <a:solidFill>
                  <a:schemeClr val="tx1"/>
                </a:solidFill>
                <a:latin typeface="Courier New" pitchFamily="34" charset="0"/>
                <a:ea typeface="Courier New" pitchFamily="34" charset="-122"/>
                <a:cs typeface="Courier New" pitchFamily="34" charset="-120"/>
              </a:rPr>
              <a:t>(centers, labels, purity, eps=</a:t>
            </a:r>
            <a:r>
              <a:rPr lang="en-US" sz="1250" dirty="0">
                <a:solidFill>
                  <a:schemeClr val="accent4"/>
                </a:solidFill>
                <a:latin typeface="Courier New" pitchFamily="34" charset="0"/>
                <a:ea typeface="Courier New" pitchFamily="34" charset="-122"/>
                <a:cs typeface="Courier New" pitchFamily="34" charset="-120"/>
              </a:rPr>
              <a:t>1e-4</a:t>
            </a:r>
            <a:r>
              <a:rPr lang="en-US" sz="1250" dirty="0">
                <a:solidFill>
                  <a:schemeClr val="tx1"/>
                </a:solidFill>
                <a:latin typeface="Courier New" pitchFamily="34" charset="0"/>
                <a:ea typeface="Courier New" pitchFamily="34" charset="-122"/>
                <a:cs typeface="Courier New" pitchFamily="34" charset="-120"/>
              </a:rPr>
              <a:t>):</a:t>
            </a:r>
            <a:endParaRPr lang="en-US" sz="1250" dirty="0"/>
          </a:p>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    scores = np.ones(len(labels))</a:t>
            </a:r>
            <a:endParaRPr lang="en-US" sz="1250" dirty="0"/>
          </a:p>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    </a:t>
            </a:r>
            <a:r>
              <a:rPr lang="en-US" sz="1250" b="1" dirty="0">
                <a:solidFill>
                  <a:schemeClr val="accent3"/>
                </a:solidFill>
                <a:latin typeface="Courier New" pitchFamily="34" charset="0"/>
                <a:ea typeface="Courier New" pitchFamily="34" charset="-122"/>
                <a:cs typeface="Courier New" pitchFamily="34" charset="-120"/>
              </a:rPr>
              <a:t>for</a:t>
            </a:r>
            <a:r>
              <a:rPr lang="en-US" sz="1250" dirty="0">
                <a:solidFill>
                  <a:schemeClr val="tx1"/>
                </a:solidFill>
                <a:latin typeface="Courier New" pitchFamily="34" charset="0"/>
                <a:ea typeface="Courier New" pitchFamily="34" charset="-122"/>
                <a:cs typeface="Courier New" pitchFamily="34" charset="-120"/>
              </a:rPr>
              <a:t> cls </a:t>
            </a:r>
            <a:r>
              <a:rPr lang="en-US" sz="1250" b="1" dirty="0">
                <a:solidFill>
                  <a:schemeClr val="accent3"/>
                </a:solidFill>
                <a:latin typeface="Courier New" pitchFamily="34" charset="0"/>
                <a:ea typeface="Courier New" pitchFamily="34" charset="-122"/>
                <a:cs typeface="Courier New" pitchFamily="34" charset="-120"/>
              </a:rPr>
              <a:t>in</a:t>
            </a:r>
            <a:r>
              <a:rPr lang="en-US" sz="1250" dirty="0">
                <a:solidFill>
                  <a:schemeClr val="tx1"/>
                </a:solidFill>
                <a:latin typeface="Courier New" pitchFamily="34" charset="0"/>
                <a:ea typeface="Courier New" pitchFamily="34" charset="-122"/>
                <a:cs typeface="Courier New" pitchFamily="34" charset="-120"/>
              </a:rPr>
              <a:t> np.unique(labels):</a:t>
            </a:r>
            <a:endParaRPr lang="en-US" sz="1250" dirty="0"/>
          </a:p>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        m = labels == cls</a:t>
            </a:r>
            <a:endParaRPr lang="en-US" sz="1250" dirty="0"/>
          </a:p>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        c = centers[m]</a:t>
            </a:r>
            <a:endParaRPr lang="en-US" sz="1250" dirty="0"/>
          </a:p>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        dist = np.linalg.norm(c - c.mean(axis=</a:t>
            </a:r>
            <a:r>
              <a:rPr lang="en-US" sz="1250" dirty="0">
                <a:solidFill>
                  <a:schemeClr val="accent4"/>
                </a:solidFill>
                <a:latin typeface="Courier New" pitchFamily="34" charset="0"/>
                <a:ea typeface="Courier New" pitchFamily="34" charset="-122"/>
                <a:cs typeface="Courier New" pitchFamily="34" charset="-120"/>
              </a:rPr>
              <a:t>0</a:t>
            </a:r>
            <a:r>
              <a:rPr lang="en-US" sz="1250" dirty="0">
                <a:solidFill>
                  <a:schemeClr val="tx1"/>
                </a:solidFill>
                <a:latin typeface="Courier New" pitchFamily="34" charset="0"/>
                <a:ea typeface="Courier New" pitchFamily="34" charset="-122"/>
                <a:cs typeface="Courier New" pitchFamily="34" charset="-120"/>
              </a:rPr>
              <a:t>), axis=</a:t>
            </a:r>
            <a:r>
              <a:rPr lang="en-US" sz="1250" dirty="0">
                <a:solidFill>
                  <a:schemeClr val="accent4"/>
                </a:solidFill>
                <a:latin typeface="Courier New" pitchFamily="34" charset="0"/>
                <a:ea typeface="Courier New" pitchFamily="34" charset="-122"/>
                <a:cs typeface="Courier New" pitchFamily="34" charset="-120"/>
              </a:rPr>
              <a:t>1</a:t>
            </a:r>
            <a:r>
              <a:rPr lang="en-US" sz="1250" dirty="0">
                <a:solidFill>
                  <a:schemeClr val="tx1"/>
                </a:solidFill>
                <a:latin typeface="Courier New" pitchFamily="34" charset="0"/>
                <a:ea typeface="Courier New" pitchFamily="34" charset="-122"/>
                <a:cs typeface="Courier New" pitchFamily="34" charset="-120"/>
              </a:rPr>
              <a:t>)</a:t>
            </a:r>
            <a:endParaRPr lang="en-US" sz="1250" dirty="0"/>
          </a:p>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        mu = </a:t>
            </a:r>
            <a:r>
              <a:rPr lang="en-US" sz="1250" dirty="0">
                <a:solidFill>
                  <a:schemeClr val="accent4"/>
                </a:solidFill>
                <a:latin typeface="Courier New" pitchFamily="34" charset="0"/>
                <a:ea typeface="Courier New" pitchFamily="34" charset="-122"/>
                <a:cs typeface="Courier New" pitchFamily="34" charset="-120"/>
              </a:rPr>
              <a:t>1.0</a:t>
            </a:r>
            <a:r>
              <a:rPr lang="en-US" sz="1250" dirty="0">
                <a:solidFill>
                  <a:schemeClr val="tx1"/>
                </a:solidFill>
                <a:latin typeface="Courier New" pitchFamily="34" charset="0"/>
                <a:ea typeface="Courier New" pitchFamily="34" charset="-122"/>
                <a:cs typeface="Courier New" pitchFamily="34" charset="-120"/>
              </a:rPr>
              <a:t> - dist / (dist.max() + eps)      </a:t>
            </a:r>
            <a:r>
              <a:rPr lang="en-US" sz="1250" i="1" dirty="0">
                <a:solidFill>
                  <a:schemeClr val="accent6"/>
                </a:solidFill>
                <a:latin typeface="Courier New" pitchFamily="34" charset="0"/>
                <a:ea typeface="Courier New" pitchFamily="34" charset="-122"/>
                <a:cs typeface="Courier New" pitchFamily="34" charset="-120"/>
              </a:rPr>
              <a:t># = T1</a:t>
            </a:r>
            <a:endParaRPr lang="en-US" sz="1250" dirty="0"/>
          </a:p>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        nu2 = (</a:t>
            </a:r>
            <a:r>
              <a:rPr lang="en-US" sz="1250" dirty="0">
                <a:solidFill>
                  <a:schemeClr val="accent4"/>
                </a:solidFill>
                <a:latin typeface="Courier New" pitchFamily="34" charset="0"/>
                <a:ea typeface="Courier New" pitchFamily="34" charset="-122"/>
                <a:cs typeface="Courier New" pitchFamily="34" charset="-120"/>
              </a:rPr>
              <a:t>1.0</a:t>
            </a:r>
            <a:r>
              <a:rPr lang="en-US" sz="1250" dirty="0">
                <a:solidFill>
                  <a:schemeClr val="tx1"/>
                </a:solidFill>
                <a:latin typeface="Courier New" pitchFamily="34" charset="0"/>
                <a:ea typeface="Courier New" pitchFamily="34" charset="-122"/>
                <a:cs typeface="Courier New" pitchFamily="34" charset="-120"/>
              </a:rPr>
              <a:t> - mu ** </a:t>
            </a:r>
            <a:r>
              <a:rPr lang="en-US" sz="1250" dirty="0">
                <a:solidFill>
                  <a:schemeClr val="accent4"/>
                </a:solidFill>
                <a:latin typeface="Courier New" pitchFamily="34" charset="0"/>
                <a:ea typeface="Courier New" pitchFamily="34" charset="-122"/>
                <a:cs typeface="Courier New" pitchFamily="34" charset="-120"/>
              </a:rPr>
              <a:t>2</a:t>
            </a:r>
            <a:r>
              <a:rPr lang="en-US" sz="1250" dirty="0">
                <a:solidFill>
                  <a:schemeClr val="tx1"/>
                </a:solidFill>
                <a:latin typeface="Courier New" pitchFamily="34" charset="0"/>
                <a:ea typeface="Courier New" pitchFamily="34" charset="-122"/>
                <a:cs typeface="Courier New" pitchFamily="34" charset="-120"/>
              </a:rPr>
              <a:t>) * (</a:t>
            </a:r>
            <a:r>
              <a:rPr lang="en-US" sz="1250" dirty="0">
                <a:solidFill>
                  <a:schemeClr val="accent4"/>
                </a:solidFill>
                <a:latin typeface="Courier New" pitchFamily="34" charset="0"/>
                <a:ea typeface="Courier New" pitchFamily="34" charset="-122"/>
                <a:cs typeface="Courier New" pitchFamily="34" charset="-120"/>
              </a:rPr>
              <a:t>1.0</a:t>
            </a:r>
            <a:r>
              <a:rPr lang="en-US" sz="1250" dirty="0">
                <a:solidFill>
                  <a:schemeClr val="tx1"/>
                </a:solidFill>
                <a:latin typeface="Courier New" pitchFamily="34" charset="0"/>
                <a:ea typeface="Courier New" pitchFamily="34" charset="-122"/>
                <a:cs typeface="Courier New" pitchFamily="34" charset="-120"/>
              </a:rPr>
              <a:t> - purity[m])</a:t>
            </a:r>
            <a:endParaRPr lang="en-US" sz="1250" dirty="0"/>
          </a:p>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        theta = np.sqrt((</a:t>
            </a:r>
            <a:r>
              <a:rPr lang="en-US" sz="1250" dirty="0">
                <a:solidFill>
                  <a:schemeClr val="accent4"/>
                </a:solidFill>
                <a:latin typeface="Courier New" pitchFamily="34" charset="0"/>
                <a:ea typeface="Courier New" pitchFamily="34" charset="-122"/>
                <a:cs typeface="Courier New" pitchFamily="34" charset="-120"/>
              </a:rPr>
              <a:t>1.0</a:t>
            </a:r>
            <a:r>
              <a:rPr lang="en-US" sz="1250" dirty="0">
                <a:solidFill>
                  <a:schemeClr val="tx1"/>
                </a:solidFill>
                <a:latin typeface="Courier New" pitchFamily="34" charset="0"/>
                <a:ea typeface="Courier New" pitchFamily="34" charset="-122"/>
                <a:cs typeface="Courier New" pitchFamily="34" charset="-120"/>
              </a:rPr>
              <a:t> - nu2) / (</a:t>
            </a:r>
            <a:r>
              <a:rPr lang="en-US" sz="1250" dirty="0">
                <a:solidFill>
                  <a:schemeClr val="accent4"/>
                </a:solidFill>
                <a:latin typeface="Courier New" pitchFamily="34" charset="0"/>
                <a:ea typeface="Courier New" pitchFamily="34" charset="-122"/>
                <a:cs typeface="Courier New" pitchFamily="34" charset="-120"/>
              </a:rPr>
              <a:t>2.0</a:t>
            </a:r>
            <a:r>
              <a:rPr lang="en-US" sz="1250" dirty="0">
                <a:solidFill>
                  <a:schemeClr val="tx1"/>
                </a:solidFill>
                <a:latin typeface="Courier New" pitchFamily="34" charset="0"/>
                <a:ea typeface="Courier New" pitchFamily="34" charset="-122"/>
                <a:cs typeface="Courier New" pitchFamily="34" charset="-120"/>
              </a:rPr>
              <a:t> - mu**</a:t>
            </a:r>
            <a:r>
              <a:rPr lang="en-US" sz="1250" dirty="0">
                <a:solidFill>
                  <a:schemeClr val="accent4"/>
                </a:solidFill>
                <a:latin typeface="Courier New" pitchFamily="34" charset="0"/>
                <a:ea typeface="Courier New" pitchFamily="34" charset="-122"/>
                <a:cs typeface="Courier New" pitchFamily="34" charset="-120"/>
              </a:rPr>
              <a:t>2</a:t>
            </a:r>
            <a:r>
              <a:rPr lang="en-US" sz="1250" dirty="0">
                <a:solidFill>
                  <a:schemeClr val="tx1"/>
                </a:solidFill>
                <a:latin typeface="Courier New" pitchFamily="34" charset="0"/>
                <a:ea typeface="Courier New" pitchFamily="34" charset="-122"/>
                <a:cs typeface="Courier New" pitchFamily="34" charset="-120"/>
              </a:rPr>
              <a:t> - nu2))</a:t>
            </a:r>
            <a:endParaRPr lang="en-US" sz="1250" dirty="0"/>
          </a:p>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        pure = purity[m] &gt;= </a:t>
            </a:r>
            <a:r>
              <a:rPr lang="en-US" sz="1250" dirty="0">
                <a:solidFill>
                  <a:schemeClr val="accent4"/>
                </a:solidFill>
                <a:latin typeface="Courier New" pitchFamily="34" charset="0"/>
                <a:ea typeface="Courier New" pitchFamily="34" charset="-122"/>
                <a:cs typeface="Courier New" pitchFamily="34" charset="-120"/>
              </a:rPr>
              <a:t>1.0</a:t>
            </a:r>
            <a:r>
              <a:rPr lang="en-US" sz="1250" dirty="0">
                <a:solidFill>
                  <a:schemeClr val="tx1"/>
                </a:solidFill>
                <a:latin typeface="Courier New" pitchFamily="34" charset="0"/>
                <a:ea typeface="Courier New" pitchFamily="34" charset="-122"/>
                <a:cs typeface="Courier New" pitchFamily="34" charset="-120"/>
              </a:rPr>
              <a:t> - </a:t>
            </a:r>
            <a:r>
              <a:rPr lang="en-US" sz="1250" dirty="0">
                <a:solidFill>
                  <a:schemeClr val="accent4"/>
                </a:solidFill>
                <a:latin typeface="Courier New" pitchFamily="34" charset="0"/>
                <a:ea typeface="Courier New" pitchFamily="34" charset="-122"/>
                <a:cs typeface="Courier New" pitchFamily="34" charset="-120"/>
              </a:rPr>
              <a:t>1e-12</a:t>
            </a:r>
            <a:endParaRPr lang="en-US" sz="1250" dirty="0"/>
          </a:p>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        scores[m] = np.where(pure, mu, theta)</a:t>
            </a:r>
            <a:endParaRPr lang="en-US" sz="1250" dirty="0"/>
          </a:p>
          <a:p>
            <a:pPr indent="0" marL="0">
              <a:lnSpc>
                <a:spcPct val="100000"/>
              </a:lnSpc>
              <a:buNone/>
            </a:pPr>
            <a:r>
              <a:rPr lang="en-US" sz="1250" dirty="0">
                <a:solidFill>
                  <a:schemeClr val="tx1"/>
                </a:solidFill>
                <a:latin typeface="Courier New" pitchFamily="34" charset="0"/>
                <a:ea typeface="Courier New" pitchFamily="34" charset="-122"/>
                <a:cs typeface="Courier New" pitchFamily="34" charset="-120"/>
              </a:rPr>
              <a:t>    </a:t>
            </a:r>
            <a:r>
              <a:rPr lang="en-US" sz="1250" b="1" dirty="0">
                <a:solidFill>
                  <a:schemeClr val="accent3"/>
                </a:solidFill>
                <a:latin typeface="Courier New" pitchFamily="34" charset="0"/>
                <a:ea typeface="Courier New" pitchFamily="34" charset="-122"/>
                <a:cs typeface="Courier New" pitchFamily="34" charset="-120"/>
              </a:rPr>
              <a:t>return</a:t>
            </a:r>
            <a:r>
              <a:rPr lang="en-US" sz="1250" dirty="0">
                <a:solidFill>
                  <a:schemeClr val="tx1"/>
                </a:solidFill>
                <a:latin typeface="Courier New" pitchFamily="34" charset="0"/>
                <a:ea typeface="Courier New" pitchFamily="34" charset="-122"/>
                <a:cs typeface="Courier New" pitchFamily="34" charset="-120"/>
              </a:rPr>
              <a:t> scores</a:t>
            </a:r>
            <a:endParaRPr lang="en-US" sz="1250" dirty="0"/>
          </a:p>
        </p:txBody>
      </p:sp>
      <p:sp>
        <p:nvSpPr>
          <p:cNvPr id="15" name="solver-card"/>
          <p:cNvSpPr/>
          <p:nvPr/>
        </p:nvSpPr>
        <p:spPr>
          <a:xfrm>
            <a:off x="5623560" y="4434840"/>
            <a:ext cx="5989320" cy="1097280"/>
          </a:xfrm>
          <a:prstGeom prst="roundRect">
            <a:avLst>
              <a:gd name="adj" fmla="val 8333"/>
            </a:avLst>
          </a:prstGeom>
          <a:solidFill>
            <a:schemeClr val="bg2"/>
          </a:solidFill>
          <a:ln w="9525">
            <a:solidFill>
              <a:schemeClr val="bg2"/>
            </a:solidFill>
            <a:prstDash val="solid"/>
          </a:ln>
        </p:spPr>
      </p:sp>
      <p:sp>
        <p:nvSpPr>
          <p:cNvPr id="16" name="Text 14"/>
          <p:cNvSpPr txBox="1"/>
          <p:nvPr/>
        </p:nvSpPr>
        <p:spPr>
          <a:xfrm>
            <a:off x="5806440" y="4462272"/>
            <a:ext cx="5669280" cy="1042416"/>
          </a:xfrm>
          <a:prstGeom prst="rect">
            <a:avLst/>
          </a:prstGeom>
          <a:noFill/>
          <a:ln/>
        </p:spPr>
        <p:txBody>
          <a:bodyPr wrap="square" lIns="0" tIns="0" rIns="0" bIns="0" rtlCol="0" anchor="ctr"/>
          <a:lstStyle/>
          <a:p>
            <a:pPr indent="0" marL="0">
              <a:buNone/>
            </a:pPr>
            <a:r>
              <a:rPr lang="en-US" sz="1300" b="1" dirty="0">
                <a:solidFill>
                  <a:schemeClr val="tx1"/>
                </a:solidFill>
              </a:rPr>
              <a:t>Solver. </a:t>
            </a:r>
            <a:r>
              <a:rPr lang="en-US" sz="1300" dirty="0">
                <a:solidFill>
                  <a:schemeClr val="tx1"/>
                </a:solidFill>
              </a:rPr>
              <a:t>The paper uses L-BFGS-B, which stopped far from the optimum on some of our data (on ger the lines were 100% off). We solve the same dual exactly with LIBLINEAR’s dual coordinate descent [20, 21], checked against an independent solver.</a:t>
            </a:r>
            <a:endParaRPr lang="en-US" sz="1300" dirty="0"/>
          </a:p>
        </p:txBody>
      </p:sp>
      <p:sp>
        <p:nvSpPr>
          <p:cNvPr id="17"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18"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19" name="Text 17"/>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We re-implemented GBFTSVM from its paper and ran it on our 21 datasets with the same fair protocol.</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PUBLISHED BASELINE</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GBFTSVM is no better than GBLSTSVM; keep + T7 beats both</a:t>
            </a:r>
            <a:endParaRPr lang="en-US" sz="2800" dirty="0"/>
          </a:p>
        </p:txBody>
      </p:sp>
      <p:sp>
        <p:nvSpPr>
          <p:cNvPr id="4" name="Text 2"/>
          <p:cNvSpPr txBox="1"/>
          <p:nvPr/>
        </p:nvSpPr>
        <p:spPr>
          <a:xfrm>
            <a:off x="548640" y="1325880"/>
            <a:ext cx="5394960" cy="274320"/>
          </a:xfrm>
          <a:prstGeom prst="rect">
            <a:avLst/>
          </a:prstGeom>
          <a:noFill/>
          <a:ln/>
        </p:spPr>
        <p:txBody>
          <a:bodyPr wrap="square" lIns="0" tIns="0" rIns="0" bIns="0" rtlCol="0" anchor="t"/>
          <a:lstStyle/>
          <a:p>
            <a:pPr indent="0" marL="0">
              <a:buNone/>
            </a:pPr>
            <a:r>
              <a:rPr lang="en-US" sz="1200" i="1" dirty="0">
                <a:solidFill>
                  <a:schemeClr val="accent6"/>
                </a:solidFill>
              </a:rPr>
              <a:t>Balanced accuracy, % (21 datasets × 10 splits)</a:t>
            </a:r>
            <a:endParaRPr lang="en-US" sz="1200" dirty="0"/>
          </a:p>
        </p:txBody>
      </p:sp>
      <p:graphicFrame>
        <p:nvGraphicFramePr>
          <p:cNvPr id="5" name="Chart 0" descr=""/>
          <p:cNvGraphicFramePr/>
          <p:nvPr/>
        </p:nvGraphicFramePr>
        <p:xfrm>
          <a:off x="548640" y="1600200"/>
          <a:ext cx="539496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217920" y="1371600"/>
          <a:ext cx="5394960" cy="914400"/>
        </p:xfrm>
        <a:graphic>
          <a:graphicData uri="http://schemas.openxmlformats.org/drawingml/2006/table">
            <a:tbl>
              <a:tblPr/>
              <a:tblGrid>
                <a:gridCol w="2651760"/>
                <a:gridCol w="685800"/>
                <a:gridCol w="685800"/>
                <a:gridCol w="685800"/>
                <a:gridCol w="685800"/>
              </a:tblGrid>
              <a:tr h="384048">
                <a:tc>
                  <a:txBody>
                    <a:bodyPr/>
                    <a:lstStyle/>
                    <a:p>
                      <a:pPr algn="ctr" indent="0" marL="0">
                        <a:buNone/>
                      </a:pPr>
                      <a:r>
                        <a:rPr lang="en-US" sz="1300" b="1" dirty="0">
                          <a:solidFill>
                            <a:schemeClr val="bg1"/>
                          </a:solidFill>
                        </a:rPr>
                        <a:t>Balanced accuracy, %</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10%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20%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30%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r>
              <a:tr h="384048">
                <a:tc>
                  <a:txBody>
                    <a:bodyPr/>
                    <a:lstStyle/>
                    <a:p>
                      <a:pPr algn="ctr" indent="0" marL="0">
                        <a:buNone/>
                      </a:pPr>
                      <a:r>
                        <a:rPr lang="en-US" sz="1300" dirty="0">
                          <a:solidFill>
                            <a:schemeClr val="tx1"/>
                          </a:solidFill>
                        </a:rPr>
                        <a:t>GBTWSVM (no fuzzy score) [14]</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71.6</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72.3</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69.5</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63.4</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84048">
                <a:tc>
                  <a:txBody>
                    <a:bodyPr/>
                    <a:lstStyle/>
                    <a:p>
                      <a:pPr algn="ctr" indent="0" marL="0">
                        <a:buNone/>
                      </a:pPr>
                      <a:r>
                        <a:rPr lang="en-US" sz="1300" dirty="0">
                          <a:solidFill>
                            <a:schemeClr val="tx1"/>
                          </a:solidFill>
                        </a:rPr>
                        <a:t>GBFTSVM [15]</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71.7</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72.2</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68.3</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64.2</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84048">
                <a:tc>
                  <a:txBody>
                    <a:bodyPr/>
                    <a:lstStyle/>
                    <a:p>
                      <a:pPr algn="ctr" indent="0" marL="0">
                        <a:buNone/>
                      </a:pPr>
                      <a:r>
                        <a:rPr lang="en-US" sz="1300" dirty="0">
                          <a:solidFill>
                            <a:schemeClr val="tx1"/>
                          </a:solidFill>
                        </a:rPr>
                        <a:t>GBFTSVM + keep single points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76.2</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75.5</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72.3</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66.0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84048">
                <a:tc>
                  <a:txBody>
                    <a:bodyPr/>
                    <a:lstStyle/>
                    <a:p>
                      <a:pPr algn="ctr" indent="0" marL="0">
                        <a:buNone/>
                      </a:pPr>
                      <a:r>
                        <a:rPr lang="en-US" sz="1300" dirty="0">
                          <a:solidFill>
                            <a:schemeClr val="tx1"/>
                          </a:solidFill>
                        </a:rPr>
                        <a:t>GBFTSVM on ADPGBG balls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74.4</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75.5</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71.9</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65.0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84048">
                <a:tc>
                  <a:txBody>
                    <a:bodyPr/>
                    <a:lstStyle/>
                    <a:p>
                      <a:pPr algn="ctr" indent="0" marL="0">
                        <a:buNone/>
                      </a:pPr>
                      <a:r>
                        <a:rPr lang="en-US" sz="1300" dirty="0">
                          <a:solidFill>
                            <a:schemeClr val="tx1"/>
                          </a:solidFill>
                        </a:rPr>
                        <a:t>GBLSTSVM [5]</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73.5</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73.3</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71.0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64.0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84048">
                <a:tc>
                  <a:txBody>
                    <a:bodyPr/>
                    <a:lstStyle/>
                    <a:p>
                      <a:pPr algn="ctr" indent="0" marL="0">
                        <a:buNone/>
                      </a:pPr>
                      <a:r>
                        <a:rPr lang="en-US" sz="1300" b="1" dirty="0">
                          <a:solidFill>
                            <a:schemeClr val="tx1"/>
                          </a:solidFill>
                        </a:rPr>
                        <a:t>Keep + T7 (ours)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b="1" dirty="0">
                          <a:solidFill>
                            <a:schemeClr val="accent1"/>
                          </a:solidFill>
                        </a:rPr>
                        <a:t>76.8</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b="1" dirty="0">
                          <a:solidFill>
                            <a:schemeClr val="accent1"/>
                          </a:solidFill>
                        </a:rPr>
                        <a:t>75.9</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b="1" dirty="0">
                          <a:solidFill>
                            <a:schemeClr val="accent1"/>
                          </a:solidFill>
                        </a:rPr>
                        <a:t>73.9</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b="1" dirty="0">
                          <a:solidFill>
                            <a:schemeClr val="accent1"/>
                          </a:solidFill>
                        </a:rPr>
                        <a:t>68.9</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bl>
          </a:graphicData>
        </a:graphic>
      </p:graphicFrame>
      <p:sp>
        <p:nvSpPr>
          <p:cNvPr id="7" name="Text 3"/>
          <p:cNvSpPr txBox="1"/>
          <p:nvPr/>
        </p:nvSpPr>
        <p:spPr>
          <a:xfrm>
            <a:off x="6217920" y="4206240"/>
            <a:ext cx="5394960" cy="132588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chemeClr val="tx1"/>
                </a:solidFill>
              </a:rPr>
              <a:t>The fuzzy score adds nothing: GBFTSVM and GBTWSVM differ by 0.1–1.2 points, never significantly.</a:t>
            </a:r>
            <a:endParaRPr lang="en-US" sz="1400" dirty="0"/>
          </a:p>
          <a:p>
            <a:pPr marL="203200" indent="-203200">
              <a:spcAft>
                <a:spcPts val="600"/>
              </a:spcAft>
              <a:buSzPct val="100000"/>
              <a:buChar char="•"/>
            </a:pPr>
            <a:r>
              <a:rPr lang="en-US" sz="1400" dirty="0">
                <a:solidFill>
                  <a:schemeClr val="tx1"/>
                </a:solidFill>
              </a:rPr>
              <a:t>Keeping single points lifts GBFTSVM by 1.8–4.5 points: the deletion finding carries over.</a:t>
            </a:r>
            <a:endParaRPr lang="en-US" sz="1400" dirty="0"/>
          </a:p>
        </p:txBody>
      </p:sp>
      <p:sp>
        <p:nvSpPr>
          <p:cNvPr id="8"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9"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10" name="Text 6"/>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Keep + T7 beats GBFTSVM by 3.7–5.6 points at every noise level (Holm p ≤ 0.005).</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PUBLISHED BASELINE</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Protocol matters: tuning on the test set adds 9–15 points</a:t>
            </a:r>
            <a:endParaRPr lang="en-US" sz="2800" dirty="0"/>
          </a:p>
        </p:txBody>
      </p:sp>
      <p:sp>
        <p:nvSpPr>
          <p:cNvPr id="4" name="Text 2"/>
          <p:cNvSpPr txBox="1"/>
          <p:nvPr/>
        </p:nvSpPr>
        <p:spPr>
          <a:xfrm>
            <a:off x="548640" y="1325880"/>
            <a:ext cx="5212080" cy="274320"/>
          </a:xfrm>
          <a:prstGeom prst="rect">
            <a:avLst/>
          </a:prstGeom>
          <a:noFill/>
          <a:ln/>
        </p:spPr>
        <p:txBody>
          <a:bodyPr wrap="square" lIns="0" tIns="0" rIns="0" bIns="0" rtlCol="0" anchor="t"/>
          <a:lstStyle/>
          <a:p>
            <a:pPr indent="0" marL="0">
              <a:buNone/>
            </a:pPr>
            <a:r>
              <a:rPr lang="en-US" sz="1200" i="1" dirty="0">
                <a:solidFill>
                  <a:schemeClr val="accent6"/>
                </a:solidFill>
              </a:rPr>
              <a:t>Points gained by tuning on the test set instead of by CV</a:t>
            </a:r>
            <a:endParaRPr lang="en-US" sz="1200" dirty="0"/>
          </a:p>
        </p:txBody>
      </p:sp>
      <p:graphicFrame>
        <p:nvGraphicFramePr>
          <p:cNvPr id="5" name="Chart 0" descr=""/>
          <p:cNvGraphicFramePr/>
          <p:nvPr/>
        </p:nvGraphicFramePr>
        <p:xfrm>
          <a:off x="548640" y="1600200"/>
          <a:ext cx="5212080" cy="39319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035040" y="1371600"/>
            <a:ext cx="5577840" cy="320040"/>
          </a:xfrm>
          <a:prstGeom prst="rect">
            <a:avLst/>
          </a:prstGeom>
          <a:noFill/>
          <a:ln/>
        </p:spPr>
        <p:txBody>
          <a:bodyPr wrap="square" lIns="0" tIns="0" rIns="0" bIns="0" rtlCol="0" anchor="t"/>
          <a:lstStyle/>
          <a:p>
            <a:pPr indent="0" marL="0">
              <a:buNone/>
            </a:pPr>
            <a:r>
              <a:rPr lang="en-US" sz="1400" b="1" dirty="0">
                <a:solidFill>
                  <a:schemeClr val="tx2"/>
                </a:solidFill>
              </a:rPr>
              <a:t>Accuracy on clean data, % (6 datasets in both studies)</a:t>
            </a:r>
            <a:endParaRPr lang="en-US" sz="1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035040" y="1737360"/>
          <a:ext cx="5577840" cy="914400"/>
        </p:xfrm>
        <a:graphic>
          <a:graphicData uri="http://schemas.openxmlformats.org/drawingml/2006/table">
            <a:tbl>
              <a:tblPr/>
              <a:tblGrid>
                <a:gridCol w="1325880"/>
                <a:gridCol w="1325880"/>
                <a:gridCol w="1554480"/>
                <a:gridCol w="1371600"/>
              </a:tblGrid>
              <a:tr h="347472">
                <a:tc>
                  <a:txBody>
                    <a:bodyPr/>
                    <a:lstStyle/>
                    <a:p>
                      <a:pPr algn="ctr" indent="0" marL="0">
                        <a:buNone/>
                      </a:pPr>
                      <a:r>
                        <a:rPr lang="en-US" sz="1300" b="1" dirty="0">
                          <a:solidFill>
                            <a:schemeClr val="bg1"/>
                          </a:solidFill>
                        </a:rPr>
                        <a:t>Dataset</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GBFTSVM paper</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Ours, tuned on test</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Ours, fair CV</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r>
              <a:tr h="347472">
                <a:tc>
                  <a:txBody>
                    <a:bodyPr/>
                    <a:lstStyle/>
                    <a:p>
                      <a:pPr algn="ctr" indent="0" marL="0">
                        <a:buNone/>
                      </a:pPr>
                      <a:r>
                        <a:rPr lang="en-US" sz="1300" dirty="0">
                          <a:solidFill>
                            <a:schemeClr val="tx1"/>
                          </a:solidFill>
                        </a:rPr>
                        <a:t>sonar</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97.0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77.9</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72.2</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47472">
                <a:tc>
                  <a:txBody>
                    <a:bodyPr/>
                    <a:lstStyle/>
                    <a:p>
                      <a:pPr algn="ctr" indent="0" marL="0">
                        <a:buNone/>
                      </a:pPr>
                      <a:r>
                        <a:rPr lang="en-US" sz="1300" dirty="0">
                          <a:solidFill>
                            <a:schemeClr val="tx1"/>
                          </a:solidFill>
                        </a:rPr>
                        <a:t>heart-stat</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95.0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85.6</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73.0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47472">
                <a:tc>
                  <a:txBody>
                    <a:bodyPr/>
                    <a:lstStyle/>
                    <a:p>
                      <a:pPr algn="ctr" indent="0" marL="0">
                        <a:buNone/>
                      </a:pPr>
                      <a:r>
                        <a:rPr lang="en-US" sz="1300" dirty="0">
                          <a:solidFill>
                            <a:schemeClr val="tx1"/>
                          </a:solidFill>
                        </a:rPr>
                        <a:t>iono</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97.0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83.5</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81.0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47472">
                <a:tc>
                  <a:txBody>
                    <a:bodyPr/>
                    <a:lstStyle/>
                    <a:p>
                      <a:pPr algn="ctr" indent="0" marL="0">
                        <a:buNone/>
                      </a:pPr>
                      <a:r>
                        <a:rPr lang="en-US" sz="1300" dirty="0">
                          <a:solidFill>
                            <a:schemeClr val="tx1"/>
                          </a:solidFill>
                        </a:rPr>
                        <a:t>wdbc</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99.0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89.1</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82.0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47472">
                <a:tc>
                  <a:txBody>
                    <a:bodyPr/>
                    <a:lstStyle/>
                    <a:p>
                      <a:pPr algn="ctr" indent="0" marL="0">
                        <a:buNone/>
                      </a:pPr>
                      <a:r>
                        <a:rPr lang="en-US" sz="1300" dirty="0">
                          <a:solidFill>
                            <a:schemeClr val="tx1"/>
                          </a:solidFill>
                        </a:rPr>
                        <a:t>pima</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84.0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78.5</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74.7</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47472">
                <a:tc>
                  <a:txBody>
                    <a:bodyPr/>
                    <a:lstStyle/>
                    <a:p>
                      <a:pPr algn="ctr" indent="0" marL="0">
                        <a:buNone/>
                      </a:pPr>
                      <a:r>
                        <a:rPr lang="en-US" sz="1300" dirty="0">
                          <a:solidFill>
                            <a:schemeClr val="tx1"/>
                          </a:solidFill>
                        </a:rPr>
                        <a:t>ger</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83.0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73.9</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61.0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47472">
                <a:tc>
                  <a:txBody>
                    <a:bodyPr/>
                    <a:lstStyle/>
                    <a:p>
                      <a:pPr algn="ctr" indent="0" marL="0">
                        <a:buNone/>
                      </a:pPr>
                      <a:r>
                        <a:rPr lang="en-US" sz="1300" b="1" dirty="0">
                          <a:solidFill>
                            <a:schemeClr val="tx1"/>
                          </a:solidFill>
                        </a:rPr>
                        <a:t>Mean</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b="1" dirty="0">
                          <a:solidFill>
                            <a:schemeClr val="tx1"/>
                          </a:solidFill>
                        </a:rPr>
                        <a:t>92.5</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b="1" dirty="0">
                          <a:solidFill>
                            <a:schemeClr val="tx1"/>
                          </a:solidFill>
                        </a:rPr>
                        <a:t>81.4</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b="1" dirty="0">
                          <a:solidFill>
                            <a:schemeClr val="tx1"/>
                          </a:solidFill>
                        </a:rPr>
                        <a:t>74.0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bl>
          </a:graphicData>
        </a:graphic>
      </p:graphicFrame>
      <p:sp>
        <p:nvSpPr>
          <p:cNvPr id="8" name="Text 4"/>
          <p:cNvSpPr txBox="1"/>
          <p:nvPr/>
        </p:nvSpPr>
        <p:spPr>
          <a:xfrm>
            <a:off x="6035040" y="4663440"/>
            <a:ext cx="5577840" cy="822960"/>
          </a:xfrm>
          <a:prstGeom prst="rect">
            <a:avLst/>
          </a:prstGeom>
          <a:noFill/>
          <a:ln/>
        </p:spPr>
        <p:txBody>
          <a:bodyPr wrap="square" lIns="0" tIns="0" rIns="0" bIns="0" rtlCol="0" anchor="t"/>
          <a:lstStyle/>
          <a:p>
            <a:pPr indent="0" marL="0">
              <a:buNone/>
            </a:pPr>
            <a:r>
              <a:rPr lang="en-US" sz="1300" i="1" dirty="0">
                <a:solidFill>
                  <a:schemeClr val="accent6"/>
                </a:solidFill>
              </a:rPr>
              <a:t>Part of the remaining gap may come from the paper’s larger training folds (10-fold CV) and its own ball builder.</a:t>
            </a:r>
            <a:endParaRPr lang="en-US" sz="1300" dirty="0"/>
          </a:p>
        </p:txBody>
      </p:sp>
      <p:sp>
        <p:nvSpPr>
          <p:cNvPr id="9"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10"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11" name="Text 7"/>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Published gains of fuzzy granular-ball models can be artefacts of tuning on the test set; fair CV is essential.</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CONCLUSION</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What we found</a:t>
            </a:r>
            <a:endParaRPr lang="en-US" sz="2800" dirty="0"/>
          </a:p>
        </p:txBody>
      </p:sp>
      <p:sp>
        <p:nvSpPr>
          <p:cNvPr id="4" name="badge"/>
          <p:cNvSpPr/>
          <p:nvPr/>
        </p:nvSpPr>
        <p:spPr>
          <a:xfrm>
            <a:off x="548640" y="1463040"/>
            <a:ext cx="502920" cy="502920"/>
          </a:xfrm>
          <a:prstGeom prst="ellipse">
            <a:avLst/>
          </a:prstGeom>
          <a:solidFill>
            <a:schemeClr val="tx2"/>
          </a:solidFill>
          <a:ln w="12700">
            <a:solidFill>
              <a:schemeClr val="tx2"/>
            </a:solidFill>
            <a:prstDash val="solid"/>
          </a:ln>
        </p:spPr>
      </p:sp>
      <p:sp>
        <p:nvSpPr>
          <p:cNvPr id="5" name="Text 3"/>
          <p:cNvSpPr txBox="1"/>
          <p:nvPr/>
        </p:nvSpPr>
        <p:spPr>
          <a:xfrm>
            <a:off x="548640" y="14630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234440" y="1371600"/>
            <a:ext cx="9235440" cy="731520"/>
          </a:xfrm>
          <a:prstGeom prst="rect">
            <a:avLst/>
          </a:prstGeom>
          <a:noFill/>
          <a:ln/>
        </p:spPr>
        <p:txBody>
          <a:bodyPr wrap="square" lIns="0" tIns="0" rIns="0" bIns="0" rtlCol="0" anchor="ctr"/>
          <a:lstStyle/>
          <a:p>
            <a:pPr indent="0" marL="0">
              <a:buNone/>
            </a:pPr>
            <a:r>
              <a:rPr lang="en-US" sz="1600" dirty="0">
                <a:solidFill>
                  <a:schemeClr val="tx1"/>
                </a:solidFill>
              </a:rPr>
              <a:t>Fuzzy weights on balls do not help: T1, T2, T4, T5 and GBFTSVM’s Pythagorean score gain at most 0.8 points and lose up to 2.4 under noise.</a:t>
            </a:r>
            <a:endParaRPr lang="en-US" sz="1600" dirty="0"/>
          </a:p>
        </p:txBody>
      </p:sp>
      <p:sp>
        <p:nvSpPr>
          <p:cNvPr id="7" name="q-tag"/>
          <p:cNvSpPr/>
          <p:nvPr/>
        </p:nvSpPr>
        <p:spPr>
          <a:xfrm>
            <a:off x="10698480" y="1536192"/>
            <a:ext cx="914400" cy="384048"/>
          </a:xfrm>
          <a:prstGeom prst="roundRect">
            <a:avLst>
              <a:gd name="adj" fmla="val 47619"/>
            </a:avLst>
          </a:prstGeom>
          <a:solidFill>
            <a:schemeClr val="accent1"/>
          </a:solidFill>
          <a:ln w="9525">
            <a:solidFill>
              <a:schemeClr val="accent1"/>
            </a:solidFill>
            <a:prstDash val="solid"/>
          </a:ln>
        </p:spPr>
      </p:sp>
      <p:sp>
        <p:nvSpPr>
          <p:cNvPr id="8" name="Text 6"/>
          <p:cNvSpPr txBox="1"/>
          <p:nvPr/>
        </p:nvSpPr>
        <p:spPr>
          <a:xfrm>
            <a:off x="10698480" y="1536192"/>
            <a:ext cx="914400" cy="384048"/>
          </a:xfrm>
          <a:prstGeom prst="rect">
            <a:avLst/>
          </a:prstGeom>
          <a:noFill/>
          <a:ln/>
        </p:spPr>
        <p:txBody>
          <a:bodyPr wrap="square" lIns="0" tIns="0" rIns="0" bIns="0" rtlCol="0" anchor="ctr"/>
          <a:lstStyle/>
          <a:p>
            <a:pPr algn="ctr" indent="0" marL="0">
              <a:buNone/>
            </a:pPr>
            <a:r>
              <a:rPr lang="en-US" sz="1300" b="1" dirty="0">
                <a:solidFill>
                  <a:schemeClr val="bg1"/>
                </a:solidFill>
              </a:rPr>
              <a:t>Q1</a:t>
            </a:r>
            <a:endParaRPr lang="en-US" sz="1300" dirty="0"/>
          </a:p>
        </p:txBody>
      </p:sp>
      <p:sp>
        <p:nvSpPr>
          <p:cNvPr id="9" name="badge"/>
          <p:cNvSpPr/>
          <p:nvPr/>
        </p:nvSpPr>
        <p:spPr>
          <a:xfrm>
            <a:off x="548640" y="2313432"/>
            <a:ext cx="502920" cy="502920"/>
          </a:xfrm>
          <a:prstGeom prst="ellipse">
            <a:avLst/>
          </a:prstGeom>
          <a:solidFill>
            <a:schemeClr val="tx2"/>
          </a:solidFill>
          <a:ln w="12700">
            <a:solidFill>
              <a:schemeClr val="tx2"/>
            </a:solidFill>
            <a:prstDash val="solid"/>
          </a:ln>
        </p:spPr>
      </p:sp>
      <p:sp>
        <p:nvSpPr>
          <p:cNvPr id="10" name="Text 8"/>
          <p:cNvSpPr txBox="1"/>
          <p:nvPr/>
        </p:nvSpPr>
        <p:spPr>
          <a:xfrm>
            <a:off x="548640" y="2313432"/>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1" name="Text 9"/>
          <p:cNvSpPr txBox="1"/>
          <p:nvPr/>
        </p:nvSpPr>
        <p:spPr>
          <a:xfrm>
            <a:off x="1234440" y="2221992"/>
            <a:ext cx="9235440" cy="731520"/>
          </a:xfrm>
          <a:prstGeom prst="rect">
            <a:avLst/>
          </a:prstGeom>
          <a:noFill/>
          <a:ln/>
        </p:spPr>
        <p:txBody>
          <a:bodyPr wrap="square" lIns="0" tIns="0" rIns="0" bIns="0" rtlCol="0" anchor="ctr"/>
          <a:lstStyle/>
          <a:p>
            <a:pPr indent="0" marL="0">
              <a:buNone/>
            </a:pPr>
            <a:r>
              <a:rPr lang="en-US" sz="1600" dirty="0">
                <a:solidFill>
                  <a:schemeClr val="tx1"/>
                </a:solidFill>
              </a:rPr>
              <a:t>GBLSTSVM’s weak spot is deletion: dropping single-point balls removes 85% of flipped labels but also 52% of correct points (20% noise).</a:t>
            </a:r>
            <a:endParaRPr lang="en-US" sz="1600" dirty="0"/>
          </a:p>
        </p:txBody>
      </p:sp>
      <p:sp>
        <p:nvSpPr>
          <p:cNvPr id="12" name="q-tag"/>
          <p:cNvSpPr/>
          <p:nvPr/>
        </p:nvSpPr>
        <p:spPr>
          <a:xfrm>
            <a:off x="10698480" y="2386584"/>
            <a:ext cx="914400" cy="384048"/>
          </a:xfrm>
          <a:prstGeom prst="roundRect">
            <a:avLst>
              <a:gd name="adj" fmla="val 47619"/>
            </a:avLst>
          </a:prstGeom>
          <a:solidFill>
            <a:schemeClr val="accent1"/>
          </a:solidFill>
          <a:ln w="9525">
            <a:solidFill>
              <a:schemeClr val="accent1"/>
            </a:solidFill>
            <a:prstDash val="solid"/>
          </a:ln>
        </p:spPr>
      </p:sp>
      <p:sp>
        <p:nvSpPr>
          <p:cNvPr id="13" name="Text 11"/>
          <p:cNvSpPr txBox="1"/>
          <p:nvPr/>
        </p:nvSpPr>
        <p:spPr>
          <a:xfrm>
            <a:off x="10698480" y="2386584"/>
            <a:ext cx="914400" cy="384048"/>
          </a:xfrm>
          <a:prstGeom prst="rect">
            <a:avLst/>
          </a:prstGeom>
          <a:noFill/>
          <a:ln/>
        </p:spPr>
        <p:txBody>
          <a:bodyPr wrap="square" lIns="0" tIns="0" rIns="0" bIns="0" rtlCol="0" anchor="ctr"/>
          <a:lstStyle/>
          <a:p>
            <a:pPr algn="ctr" indent="0" marL="0">
              <a:buNone/>
            </a:pPr>
            <a:r>
              <a:rPr lang="en-US" sz="1300" b="1" dirty="0">
                <a:solidFill>
                  <a:schemeClr val="bg1"/>
                </a:solidFill>
              </a:rPr>
              <a:t>Q2</a:t>
            </a:r>
            <a:endParaRPr lang="en-US" sz="1300" dirty="0"/>
          </a:p>
        </p:txBody>
      </p:sp>
      <p:sp>
        <p:nvSpPr>
          <p:cNvPr id="14" name="badge"/>
          <p:cNvSpPr/>
          <p:nvPr/>
        </p:nvSpPr>
        <p:spPr>
          <a:xfrm>
            <a:off x="548640" y="3163824"/>
            <a:ext cx="502920" cy="502920"/>
          </a:xfrm>
          <a:prstGeom prst="ellipse">
            <a:avLst/>
          </a:prstGeom>
          <a:solidFill>
            <a:schemeClr val="tx2"/>
          </a:solidFill>
          <a:ln w="12700">
            <a:solidFill>
              <a:schemeClr val="tx2"/>
            </a:solidFill>
            <a:prstDash val="solid"/>
          </a:ln>
        </p:spPr>
      </p:sp>
      <p:sp>
        <p:nvSpPr>
          <p:cNvPr id="15" name="Text 13"/>
          <p:cNvSpPr txBox="1"/>
          <p:nvPr/>
        </p:nvSpPr>
        <p:spPr>
          <a:xfrm>
            <a:off x="548640" y="3163824"/>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Text 14"/>
          <p:cNvSpPr txBox="1"/>
          <p:nvPr/>
        </p:nvSpPr>
        <p:spPr>
          <a:xfrm>
            <a:off x="1234440" y="3072384"/>
            <a:ext cx="9235440" cy="731520"/>
          </a:xfrm>
          <a:prstGeom prst="rect">
            <a:avLst/>
          </a:prstGeom>
          <a:noFill/>
          <a:ln/>
        </p:spPr>
        <p:txBody>
          <a:bodyPr wrap="square" lIns="0" tIns="0" rIns="0" bIns="0" rtlCol="0" anchor="ctr"/>
          <a:lstStyle/>
          <a:p>
            <a:pPr indent="0" marL="0">
              <a:buNone/>
            </a:pPr>
            <a:r>
              <a:rPr lang="en-US" sz="1600" dirty="0">
                <a:solidFill>
                  <a:schemeClr val="tx1"/>
                </a:solidFill>
              </a:rPr>
              <a:t>Entropy and density memberships flag flipped labels worse than chance (ROC-AUC 0.25–0.39); neighbour agreement T7 reaches 0.82–0.89.</a:t>
            </a:r>
            <a:endParaRPr lang="en-US" sz="1600" dirty="0"/>
          </a:p>
        </p:txBody>
      </p:sp>
      <p:sp>
        <p:nvSpPr>
          <p:cNvPr id="17" name="q-tag"/>
          <p:cNvSpPr/>
          <p:nvPr/>
        </p:nvSpPr>
        <p:spPr>
          <a:xfrm>
            <a:off x="10698480" y="3236976"/>
            <a:ext cx="914400" cy="384048"/>
          </a:xfrm>
          <a:prstGeom prst="roundRect">
            <a:avLst>
              <a:gd name="adj" fmla="val 47619"/>
            </a:avLst>
          </a:prstGeom>
          <a:solidFill>
            <a:schemeClr val="accent1"/>
          </a:solidFill>
          <a:ln w="9525">
            <a:solidFill>
              <a:schemeClr val="accent1"/>
            </a:solidFill>
            <a:prstDash val="solid"/>
          </a:ln>
        </p:spPr>
      </p:sp>
      <p:sp>
        <p:nvSpPr>
          <p:cNvPr id="18" name="Text 16"/>
          <p:cNvSpPr txBox="1"/>
          <p:nvPr/>
        </p:nvSpPr>
        <p:spPr>
          <a:xfrm>
            <a:off x="10698480" y="3236976"/>
            <a:ext cx="914400" cy="384048"/>
          </a:xfrm>
          <a:prstGeom prst="rect">
            <a:avLst/>
          </a:prstGeom>
          <a:noFill/>
          <a:ln/>
        </p:spPr>
        <p:txBody>
          <a:bodyPr wrap="square" lIns="0" tIns="0" rIns="0" bIns="0" rtlCol="0" anchor="ctr"/>
          <a:lstStyle/>
          <a:p>
            <a:pPr algn="ctr" indent="0" marL="0">
              <a:buNone/>
            </a:pPr>
            <a:r>
              <a:rPr lang="en-US" sz="1300" b="1" dirty="0">
                <a:solidFill>
                  <a:schemeClr val="bg1"/>
                </a:solidFill>
              </a:rPr>
              <a:t>Q2</a:t>
            </a:r>
            <a:endParaRPr lang="en-US" sz="1300" dirty="0"/>
          </a:p>
        </p:txBody>
      </p:sp>
      <p:sp>
        <p:nvSpPr>
          <p:cNvPr id="19" name="badge"/>
          <p:cNvSpPr/>
          <p:nvPr/>
        </p:nvSpPr>
        <p:spPr>
          <a:xfrm>
            <a:off x="548640" y="4014216"/>
            <a:ext cx="502920" cy="502920"/>
          </a:xfrm>
          <a:prstGeom prst="ellipse">
            <a:avLst/>
          </a:prstGeom>
          <a:solidFill>
            <a:schemeClr val="tx2"/>
          </a:solidFill>
          <a:ln w="12700">
            <a:solidFill>
              <a:schemeClr val="tx2"/>
            </a:solidFill>
            <a:prstDash val="solid"/>
          </a:ln>
        </p:spPr>
      </p:sp>
      <p:sp>
        <p:nvSpPr>
          <p:cNvPr id="20" name="Text 18"/>
          <p:cNvSpPr txBox="1"/>
          <p:nvPr/>
        </p:nvSpPr>
        <p:spPr>
          <a:xfrm>
            <a:off x="548640" y="4014216"/>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1" name="Text 19"/>
          <p:cNvSpPr txBox="1"/>
          <p:nvPr/>
        </p:nvSpPr>
        <p:spPr>
          <a:xfrm>
            <a:off x="1234440" y="3922776"/>
            <a:ext cx="9235440" cy="731520"/>
          </a:xfrm>
          <a:prstGeom prst="rect">
            <a:avLst/>
          </a:prstGeom>
          <a:noFill/>
          <a:ln/>
        </p:spPr>
        <p:txBody>
          <a:bodyPr wrap="square" lIns="0" tIns="0" rIns="0" bIns="0" rtlCol="0" anchor="ctr"/>
          <a:lstStyle/>
          <a:p>
            <a:pPr indent="0" marL="0">
              <a:buNone/>
            </a:pPr>
            <a:r>
              <a:rPr lang="en-US" sz="1600" dirty="0">
                <a:solidFill>
                  <a:schemeClr val="tx1"/>
                </a:solidFill>
              </a:rPr>
              <a:t>Keep + T7 beats GBLSTSVM by 2.6–4.9 points and ties LSTSVM at 30% noise; fuzzy-kNN LSTSVM on all points is still the best model.</a:t>
            </a:r>
            <a:endParaRPr lang="en-US" sz="1600" dirty="0"/>
          </a:p>
        </p:txBody>
      </p:sp>
      <p:sp>
        <p:nvSpPr>
          <p:cNvPr id="22" name="q-tag"/>
          <p:cNvSpPr/>
          <p:nvPr/>
        </p:nvSpPr>
        <p:spPr>
          <a:xfrm>
            <a:off x="10698480" y="4087368"/>
            <a:ext cx="914400" cy="384048"/>
          </a:xfrm>
          <a:prstGeom prst="roundRect">
            <a:avLst>
              <a:gd name="adj" fmla="val 47619"/>
            </a:avLst>
          </a:prstGeom>
          <a:solidFill>
            <a:schemeClr val="accent1"/>
          </a:solidFill>
          <a:ln w="9525">
            <a:solidFill>
              <a:schemeClr val="accent1"/>
            </a:solidFill>
            <a:prstDash val="solid"/>
          </a:ln>
        </p:spPr>
      </p:sp>
      <p:sp>
        <p:nvSpPr>
          <p:cNvPr id="23" name="Text 21"/>
          <p:cNvSpPr txBox="1"/>
          <p:nvPr/>
        </p:nvSpPr>
        <p:spPr>
          <a:xfrm>
            <a:off x="10698480" y="4087368"/>
            <a:ext cx="914400" cy="384048"/>
          </a:xfrm>
          <a:prstGeom prst="rect">
            <a:avLst/>
          </a:prstGeom>
          <a:noFill/>
          <a:ln/>
        </p:spPr>
        <p:txBody>
          <a:bodyPr wrap="square" lIns="0" tIns="0" rIns="0" bIns="0" rtlCol="0" anchor="ctr"/>
          <a:lstStyle/>
          <a:p>
            <a:pPr algn="ctr" indent="0" marL="0">
              <a:buNone/>
            </a:pPr>
            <a:r>
              <a:rPr lang="en-US" sz="1300" b="1" dirty="0">
                <a:solidFill>
                  <a:schemeClr val="bg1"/>
                </a:solidFill>
              </a:rPr>
              <a:t>Q3</a:t>
            </a:r>
            <a:endParaRPr lang="en-US" sz="1300" dirty="0"/>
          </a:p>
        </p:txBody>
      </p:sp>
      <p:sp>
        <p:nvSpPr>
          <p:cNvPr id="24" name="badge"/>
          <p:cNvSpPr/>
          <p:nvPr/>
        </p:nvSpPr>
        <p:spPr>
          <a:xfrm>
            <a:off x="548640" y="4864608"/>
            <a:ext cx="502920" cy="502920"/>
          </a:xfrm>
          <a:prstGeom prst="ellipse">
            <a:avLst/>
          </a:prstGeom>
          <a:solidFill>
            <a:schemeClr val="tx2"/>
          </a:solidFill>
          <a:ln w="12700">
            <a:solidFill>
              <a:schemeClr val="tx2"/>
            </a:solidFill>
            <a:prstDash val="solid"/>
          </a:ln>
        </p:spPr>
      </p:sp>
      <p:sp>
        <p:nvSpPr>
          <p:cNvPr id="25" name="Text 23"/>
          <p:cNvSpPr txBox="1"/>
          <p:nvPr/>
        </p:nvSpPr>
        <p:spPr>
          <a:xfrm>
            <a:off x="548640" y="486460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6" name="Text 24"/>
          <p:cNvSpPr txBox="1"/>
          <p:nvPr/>
        </p:nvSpPr>
        <p:spPr>
          <a:xfrm>
            <a:off x="1234440" y="4773168"/>
            <a:ext cx="9235440" cy="731520"/>
          </a:xfrm>
          <a:prstGeom prst="rect">
            <a:avLst/>
          </a:prstGeom>
          <a:noFill/>
          <a:ln/>
        </p:spPr>
        <p:txBody>
          <a:bodyPr wrap="square" lIns="0" tIns="0" rIns="0" bIns="0" rtlCol="0" anchor="ctr"/>
          <a:lstStyle/>
          <a:p>
            <a:pPr indent="0" marL="0">
              <a:buNone/>
            </a:pPr>
            <a:r>
              <a:rPr lang="en-US" sz="1600" dirty="0">
                <a:solidFill>
                  <a:schemeClr val="tx1"/>
                </a:solidFill>
              </a:rPr>
              <a:t>Keep + T7 beats the published GBFTSVM by 3.7–5.6 points; tuning on the test set inflates scores by 9–15 points.</a:t>
            </a:r>
            <a:endParaRPr lang="en-US" sz="1600" dirty="0"/>
          </a:p>
        </p:txBody>
      </p:sp>
      <p:sp>
        <p:nvSpPr>
          <p:cNvPr id="27" name="q-tag"/>
          <p:cNvSpPr/>
          <p:nvPr/>
        </p:nvSpPr>
        <p:spPr>
          <a:xfrm>
            <a:off x="10698480" y="4937760"/>
            <a:ext cx="914400" cy="384048"/>
          </a:xfrm>
          <a:prstGeom prst="roundRect">
            <a:avLst>
              <a:gd name="adj" fmla="val 47619"/>
            </a:avLst>
          </a:prstGeom>
          <a:solidFill>
            <a:schemeClr val="accent1"/>
          </a:solidFill>
          <a:ln w="9525">
            <a:solidFill>
              <a:schemeClr val="accent1"/>
            </a:solidFill>
            <a:prstDash val="solid"/>
          </a:ln>
        </p:spPr>
      </p:sp>
      <p:sp>
        <p:nvSpPr>
          <p:cNvPr id="28" name="Text 26"/>
          <p:cNvSpPr txBox="1"/>
          <p:nvPr/>
        </p:nvSpPr>
        <p:spPr>
          <a:xfrm>
            <a:off x="10698480" y="4937760"/>
            <a:ext cx="914400" cy="384048"/>
          </a:xfrm>
          <a:prstGeom prst="rect">
            <a:avLst/>
          </a:prstGeom>
          <a:noFill/>
          <a:ln/>
        </p:spPr>
        <p:txBody>
          <a:bodyPr wrap="square" lIns="0" tIns="0" rIns="0" bIns="0" rtlCol="0" anchor="ctr"/>
          <a:lstStyle/>
          <a:p>
            <a:pPr algn="ctr" indent="0" marL="0">
              <a:buNone/>
            </a:pPr>
            <a:r>
              <a:rPr lang="en-US" sz="1300" b="1" dirty="0">
                <a:solidFill>
                  <a:schemeClr val="bg1"/>
                </a:solidFill>
              </a:rPr>
              <a:t>Q4</a:t>
            </a:r>
            <a:endParaRPr lang="en-US" sz="1300" dirty="0"/>
          </a:p>
        </p:txBody>
      </p:sp>
      <p:sp>
        <p:nvSpPr>
          <p:cNvPr id="29"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30"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31" name="Text 29"/>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Answer to the research question: the membership matters less than which balls exist; T7 on all balls is the fix.</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CONCLUSION</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Contribution and paper plan</a:t>
            </a:r>
            <a:endParaRPr lang="en-US" sz="2800" dirty="0"/>
          </a:p>
        </p:txBody>
      </p:sp>
      <p:sp>
        <p:nvSpPr>
          <p:cNvPr id="4" name="contrib-card"/>
          <p:cNvSpPr/>
          <p:nvPr/>
        </p:nvSpPr>
        <p:spPr>
          <a:xfrm>
            <a:off x="548640" y="1371600"/>
            <a:ext cx="5715000" cy="4160520"/>
          </a:xfrm>
          <a:prstGeom prst="roundRect">
            <a:avLst>
              <a:gd name="adj" fmla="val 2198"/>
            </a:avLst>
          </a:prstGeom>
          <a:solidFill>
            <a:schemeClr val="bg2"/>
          </a:solidFill>
          <a:ln w="9525">
            <a:solidFill>
              <a:schemeClr val="bg2"/>
            </a:solidFill>
            <a:prstDash val="solid"/>
          </a:ln>
        </p:spPr>
      </p:sp>
      <p:sp>
        <p:nvSpPr>
          <p:cNvPr id="5" name="Text 3"/>
          <p:cNvSpPr txBox="1"/>
          <p:nvPr/>
        </p:nvSpPr>
        <p:spPr>
          <a:xfrm>
            <a:off x="777240" y="1481328"/>
            <a:ext cx="5303520" cy="320040"/>
          </a:xfrm>
          <a:prstGeom prst="rect">
            <a:avLst/>
          </a:prstGeom>
          <a:noFill/>
          <a:ln/>
        </p:spPr>
        <p:txBody>
          <a:bodyPr wrap="square" lIns="0" tIns="0" rIns="0" bIns="0" rtlCol="0" anchor="t"/>
          <a:lstStyle/>
          <a:p>
            <a:pPr indent="0" marL="0">
              <a:buNone/>
            </a:pPr>
            <a:r>
              <a:rPr lang="en-US" sz="1400" b="1" dirty="0">
                <a:solidFill>
                  <a:schemeClr val="accent6"/>
                </a:solidFill>
              </a:rPr>
              <a:t>Working title</a:t>
            </a:r>
            <a:endParaRPr lang="en-US" sz="1400" dirty="0"/>
          </a:p>
        </p:txBody>
      </p:sp>
      <p:sp>
        <p:nvSpPr>
          <p:cNvPr id="6" name="Text 4"/>
          <p:cNvSpPr txBox="1"/>
          <p:nvPr/>
        </p:nvSpPr>
        <p:spPr>
          <a:xfrm>
            <a:off x="777240" y="1810512"/>
            <a:ext cx="5303520" cy="868680"/>
          </a:xfrm>
          <a:prstGeom prst="rect">
            <a:avLst/>
          </a:prstGeom>
          <a:noFill/>
          <a:ln/>
        </p:spPr>
        <p:txBody>
          <a:bodyPr wrap="square" lIns="0" tIns="0" rIns="0" bIns="0" rtlCol="0" anchor="t"/>
          <a:lstStyle/>
          <a:p>
            <a:pPr indent="0" marL="0">
              <a:buNone/>
            </a:pPr>
            <a:r>
              <a:rPr lang="en-US" sz="1600" i="1" dirty="0">
                <a:solidFill>
                  <a:schemeClr val="tx2"/>
                </a:solidFill>
                <a:latin typeface="Cambria" pitchFamily="34" charset="0"/>
                <a:ea typeface="Cambria" pitchFamily="34" charset="-122"/>
                <a:cs typeface="Cambria" pitchFamily="34" charset="-120"/>
              </a:rPr>
              <a:t>“Where do granular balls help least squares twin SVMs? A controlled study of ball deletion, fuzzy memberships and kernel speed”</a:t>
            </a:r>
            <a:endParaRPr lang="en-US" sz="1600" dirty="0"/>
          </a:p>
        </p:txBody>
      </p:sp>
      <p:sp>
        <p:nvSpPr>
          <p:cNvPr id="7" name="Text 5"/>
          <p:cNvSpPr txBox="1"/>
          <p:nvPr/>
        </p:nvSpPr>
        <p:spPr>
          <a:xfrm>
            <a:off x="777240" y="2788920"/>
            <a:ext cx="5303520" cy="265176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A leak-free benchmark of granular-ball twin SVMs under 0–30% label noise.</a:t>
            </a:r>
            <a:endParaRPr lang="en-US" sz="1500" dirty="0"/>
          </a:p>
          <a:p>
            <a:pPr marL="203200" indent="-203200">
              <a:spcAft>
                <a:spcPts val="800"/>
              </a:spcAft>
              <a:buSzPct val="100000"/>
              <a:buChar char="•"/>
            </a:pPr>
            <a:r>
              <a:rPr lang="en-US" sz="1500" dirty="0">
                <a:solidFill>
                  <a:schemeClr val="tx1"/>
                </a:solidFill>
              </a:rPr>
              <a:t>Ball deletion shown to be a hidden noise filter, with its cost measured.</a:t>
            </a:r>
            <a:endParaRPr lang="en-US" sz="1500" dirty="0"/>
          </a:p>
          <a:p>
            <a:pPr marL="203200" indent="-203200">
              <a:spcAft>
                <a:spcPts val="800"/>
              </a:spcAft>
              <a:buSzPct val="100000"/>
              <a:buChar char="•"/>
            </a:pPr>
            <a:r>
              <a:rPr lang="en-US" sz="1500" dirty="0">
                <a:solidFill>
                  <a:schemeClr val="tx1"/>
                </a:solidFill>
              </a:rPr>
              <a:t>Memberships tested as noise detectors: why entropy and density fail.</a:t>
            </a:r>
            <a:endParaRPr lang="en-US" sz="1500" dirty="0"/>
          </a:p>
          <a:p>
            <a:pPr marL="203200" indent="-203200">
              <a:spcAft>
                <a:spcPts val="800"/>
              </a:spcAft>
              <a:buSzPct val="100000"/>
              <a:buChar char="•"/>
            </a:pPr>
            <a:r>
              <a:rPr lang="en-US" sz="1500" dirty="0">
                <a:solidFill>
                  <a:schemeClr val="tx1"/>
                </a:solidFill>
              </a:rPr>
              <a:t>A simple fix, keep + T7, that works for GBLSTSVM and GBFTSVM.</a:t>
            </a:r>
            <a:endParaRPr lang="en-US" sz="1500" dirty="0"/>
          </a:p>
          <a:p>
            <a:pPr marL="203200" indent="-203200">
              <a:spcAft>
                <a:spcPts val="800"/>
              </a:spcAft>
              <a:buSzPct val="100000"/>
              <a:buChar char="•"/>
            </a:pPr>
            <a:r>
              <a:rPr lang="en-US" sz="1500" dirty="0">
                <a:solidFill>
                  <a:schemeClr val="tx1"/>
                </a:solidFill>
              </a:rPr>
              <a:t>A fair re-evaluation of GBFTSVM with an exact solver.</a:t>
            </a:r>
            <a:endParaRPr lang="en-US" sz="1500" dirty="0"/>
          </a:p>
        </p:txBody>
      </p:sp>
      <p:sp>
        <p:nvSpPr>
          <p:cNvPr id="8" name="outline-card"/>
          <p:cNvSpPr/>
          <p:nvPr/>
        </p:nvSpPr>
        <p:spPr>
          <a:xfrm>
            <a:off x="6492240" y="1371600"/>
            <a:ext cx="5120640" cy="4160520"/>
          </a:xfrm>
          <a:prstGeom prst="roundRect">
            <a:avLst>
              <a:gd name="adj" fmla="val 2198"/>
            </a:avLst>
          </a:prstGeom>
          <a:solidFill>
            <a:schemeClr val="bg2"/>
          </a:solidFill>
          <a:ln w="9525">
            <a:solidFill>
              <a:schemeClr val="bg2"/>
            </a:solidFill>
            <a:prstDash val="solid"/>
          </a:ln>
        </p:spPr>
      </p:sp>
      <p:sp>
        <p:nvSpPr>
          <p:cNvPr id="9" name="Text 7"/>
          <p:cNvSpPr txBox="1"/>
          <p:nvPr/>
        </p:nvSpPr>
        <p:spPr>
          <a:xfrm>
            <a:off x="6720840" y="1481328"/>
            <a:ext cx="4663440" cy="320040"/>
          </a:xfrm>
          <a:prstGeom prst="rect">
            <a:avLst/>
          </a:prstGeom>
          <a:noFill/>
          <a:ln/>
        </p:spPr>
        <p:txBody>
          <a:bodyPr wrap="square" lIns="0" tIns="0" rIns="0" bIns="0" rtlCol="0" anchor="t"/>
          <a:lstStyle/>
          <a:p>
            <a:pPr indent="0" marL="0">
              <a:buNone/>
            </a:pPr>
            <a:r>
              <a:rPr lang="en-US" sz="1400" b="1" dirty="0">
                <a:solidFill>
                  <a:schemeClr val="accent6"/>
                </a:solidFill>
              </a:rPr>
              <a:t>Paper outline (analysis paper)</a:t>
            </a:r>
            <a:endParaRPr lang="en-US" sz="1400" dirty="0"/>
          </a:p>
        </p:txBody>
      </p:sp>
      <p:sp>
        <p:nvSpPr>
          <p:cNvPr id="10" name="Text 8"/>
          <p:cNvSpPr txBox="1"/>
          <p:nvPr/>
        </p:nvSpPr>
        <p:spPr>
          <a:xfrm>
            <a:off x="6720840" y="1828800"/>
            <a:ext cx="4663440" cy="306324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1.  Introduction</a:t>
            </a:r>
            <a:endParaRPr lang="en-US" sz="1500" dirty="0"/>
          </a:p>
          <a:p>
            <a:pPr indent="0" marL="0">
              <a:spcAft>
                <a:spcPts val="400"/>
              </a:spcAft>
              <a:buNone/>
            </a:pPr>
            <a:r>
              <a:rPr lang="en-US" sz="1500" dirty="0">
                <a:solidFill>
                  <a:schemeClr val="tx1"/>
                </a:solidFill>
              </a:rPr>
              <a:t>2.  Background: LSTSVM, granular balls, fuzzy SVMs</a:t>
            </a:r>
            <a:endParaRPr lang="en-US" sz="1500" dirty="0"/>
          </a:p>
          <a:p>
            <a:pPr indent="0" marL="0">
              <a:spcAft>
                <a:spcPts val="400"/>
              </a:spcAft>
              <a:buNone/>
            </a:pPr>
            <a:r>
              <a:rPr lang="en-US" sz="1500" dirty="0">
                <a:solidFill>
                  <a:schemeClr val="tx1"/>
                </a:solidFill>
              </a:rPr>
              <a:t>3.  Protocol: data, noise, CV, statistics</a:t>
            </a:r>
            <a:endParaRPr lang="en-US" sz="1500" dirty="0"/>
          </a:p>
          <a:p>
            <a:pPr indent="0" marL="0">
              <a:spcAft>
                <a:spcPts val="400"/>
              </a:spcAft>
              <a:buNone/>
            </a:pPr>
            <a:r>
              <a:rPr lang="en-US" sz="1500" dirty="0">
                <a:solidFill>
                  <a:schemeClr val="tx1"/>
                </a:solidFill>
              </a:rPr>
              <a:t>4.  Where the accuracy goes: deletion</a:t>
            </a:r>
            <a:endParaRPr lang="en-US" sz="1500" dirty="0"/>
          </a:p>
          <a:p>
            <a:pPr indent="0" marL="0">
              <a:spcAft>
                <a:spcPts val="400"/>
              </a:spcAft>
              <a:buNone/>
            </a:pPr>
            <a:r>
              <a:rPr lang="en-US" sz="1500" dirty="0">
                <a:solidFill>
                  <a:schemeClr val="tx1"/>
                </a:solidFill>
              </a:rPr>
              <a:t>5.  Memberships as noise detectors</a:t>
            </a:r>
            <a:endParaRPr lang="en-US" sz="1500" dirty="0"/>
          </a:p>
          <a:p>
            <a:pPr indent="0" marL="0">
              <a:spcAft>
                <a:spcPts val="400"/>
              </a:spcAft>
              <a:buNone/>
            </a:pPr>
            <a:r>
              <a:rPr lang="en-US" sz="1500" dirty="0">
                <a:solidFill>
                  <a:schemeClr val="tx1"/>
                </a:solidFill>
              </a:rPr>
              <a:t>6.  The fix: keep + T7, linear and kernel</a:t>
            </a:r>
            <a:endParaRPr lang="en-US" sz="1500" dirty="0"/>
          </a:p>
          <a:p>
            <a:pPr indent="0" marL="0">
              <a:spcAft>
                <a:spcPts val="400"/>
              </a:spcAft>
              <a:buNone/>
            </a:pPr>
            <a:r>
              <a:rPr lang="en-US" sz="1500" dirty="0">
                <a:solidFill>
                  <a:schemeClr val="tx1"/>
                </a:solidFill>
              </a:rPr>
              <a:t>7.  Ball builders: k-means vs ADPGBG</a:t>
            </a:r>
            <a:endParaRPr lang="en-US" sz="1500" dirty="0"/>
          </a:p>
          <a:p>
            <a:pPr indent="0" marL="0">
              <a:spcAft>
                <a:spcPts val="400"/>
              </a:spcAft>
              <a:buNone/>
            </a:pPr>
            <a:r>
              <a:rPr lang="en-US" sz="1500" dirty="0">
                <a:solidFill>
                  <a:schemeClr val="tx1"/>
                </a:solidFill>
              </a:rPr>
              <a:t>8.  Scalability</a:t>
            </a:r>
            <a:endParaRPr lang="en-US" sz="1500" dirty="0"/>
          </a:p>
          <a:p>
            <a:pPr indent="0" marL="0">
              <a:spcAft>
                <a:spcPts val="400"/>
              </a:spcAft>
              <a:buNone/>
            </a:pPr>
            <a:r>
              <a:rPr lang="en-US" sz="1500" dirty="0">
                <a:solidFill>
                  <a:schemeClr val="tx1"/>
                </a:solidFill>
              </a:rPr>
              <a:t>9.  Published baseline and protocol</a:t>
            </a:r>
            <a:endParaRPr lang="en-US" sz="1500" dirty="0"/>
          </a:p>
          <a:p>
            <a:pPr indent="0" marL="0">
              <a:spcAft>
                <a:spcPts val="400"/>
              </a:spcAft>
              <a:buNone/>
            </a:pPr>
            <a:r>
              <a:rPr lang="en-US" sz="1500" dirty="0">
                <a:solidFill>
                  <a:schemeClr val="tx1"/>
                </a:solidFill>
              </a:rPr>
              <a:t>10.  Discussion and conclusion</a:t>
            </a:r>
            <a:endParaRPr lang="en-US" sz="1500" dirty="0"/>
          </a:p>
        </p:txBody>
      </p:sp>
      <p:sp>
        <p:nvSpPr>
          <p:cNvPr id="11" name="status-chip"/>
          <p:cNvSpPr/>
          <p:nvPr/>
        </p:nvSpPr>
        <p:spPr>
          <a:xfrm>
            <a:off x="6720840" y="4983480"/>
            <a:ext cx="1463040" cy="384048"/>
          </a:xfrm>
          <a:prstGeom prst="roundRect">
            <a:avLst>
              <a:gd name="adj" fmla="val 47619"/>
            </a:avLst>
          </a:prstGeom>
          <a:solidFill>
            <a:schemeClr val="accent1"/>
          </a:solidFill>
          <a:ln w="9525">
            <a:solidFill>
              <a:schemeClr val="accent1"/>
            </a:solidFill>
            <a:prstDash val="solid"/>
          </a:ln>
        </p:spPr>
      </p:sp>
      <p:sp>
        <p:nvSpPr>
          <p:cNvPr id="12" name="Text 10"/>
          <p:cNvSpPr txBox="1"/>
          <p:nvPr/>
        </p:nvSpPr>
        <p:spPr>
          <a:xfrm>
            <a:off x="6720840" y="4983480"/>
            <a:ext cx="1463040" cy="384048"/>
          </a:xfrm>
          <a:prstGeom prst="rect">
            <a:avLst/>
          </a:prstGeom>
          <a:noFill/>
          <a:ln/>
        </p:spPr>
        <p:txBody>
          <a:bodyPr wrap="square" lIns="0" tIns="0" rIns="0" bIns="0" rtlCol="0" anchor="ctr"/>
          <a:lstStyle/>
          <a:p>
            <a:pPr algn="ctr" indent="0" marL="0">
              <a:buNone/>
            </a:pPr>
            <a:r>
              <a:rPr lang="en-US" sz="1200" b="1" dirty="0">
                <a:solidFill>
                  <a:schemeClr val="bg1"/>
                </a:solidFill>
              </a:rPr>
              <a:t>Experiments</a:t>
            </a:r>
            <a:endParaRPr lang="en-US" sz="1200" dirty="0"/>
          </a:p>
        </p:txBody>
      </p:sp>
      <p:sp>
        <p:nvSpPr>
          <p:cNvPr id="13" name="status-chip"/>
          <p:cNvSpPr/>
          <p:nvPr/>
        </p:nvSpPr>
        <p:spPr>
          <a:xfrm>
            <a:off x="8293608" y="4983480"/>
            <a:ext cx="1463040" cy="384048"/>
          </a:xfrm>
          <a:prstGeom prst="roundRect">
            <a:avLst>
              <a:gd name="adj" fmla="val 47619"/>
            </a:avLst>
          </a:prstGeom>
          <a:solidFill>
            <a:schemeClr val="accent1"/>
          </a:solidFill>
          <a:ln w="9525">
            <a:solidFill>
              <a:schemeClr val="accent1"/>
            </a:solidFill>
            <a:prstDash val="solid"/>
          </a:ln>
        </p:spPr>
      </p:sp>
      <p:sp>
        <p:nvSpPr>
          <p:cNvPr id="14" name="Text 12"/>
          <p:cNvSpPr txBox="1"/>
          <p:nvPr/>
        </p:nvSpPr>
        <p:spPr>
          <a:xfrm>
            <a:off x="8293608" y="4983480"/>
            <a:ext cx="1463040" cy="384048"/>
          </a:xfrm>
          <a:prstGeom prst="rect">
            <a:avLst/>
          </a:prstGeom>
          <a:noFill/>
          <a:ln/>
        </p:spPr>
        <p:txBody>
          <a:bodyPr wrap="square" lIns="0" tIns="0" rIns="0" bIns="0" rtlCol="0" anchor="ctr"/>
          <a:lstStyle/>
          <a:p>
            <a:pPr algn="ctr" indent="0" marL="0">
              <a:buNone/>
            </a:pPr>
            <a:r>
              <a:rPr lang="en-US" sz="1200" b="1" dirty="0">
                <a:solidFill>
                  <a:schemeClr val="bg1"/>
                </a:solidFill>
              </a:rPr>
              <a:t>Tables, figures</a:t>
            </a:r>
            <a:endParaRPr lang="en-US" sz="1200" dirty="0"/>
          </a:p>
        </p:txBody>
      </p:sp>
      <p:sp>
        <p:nvSpPr>
          <p:cNvPr id="15" name="status-chip"/>
          <p:cNvSpPr/>
          <p:nvPr/>
        </p:nvSpPr>
        <p:spPr>
          <a:xfrm>
            <a:off x="9866376" y="4983480"/>
            <a:ext cx="1463040" cy="384048"/>
          </a:xfrm>
          <a:prstGeom prst="roundRect">
            <a:avLst>
              <a:gd name="adj" fmla="val 47619"/>
            </a:avLst>
          </a:prstGeom>
          <a:solidFill>
            <a:schemeClr val="accent6"/>
          </a:solidFill>
          <a:ln w="9525">
            <a:solidFill>
              <a:schemeClr val="accent6"/>
            </a:solidFill>
            <a:prstDash val="solid"/>
          </a:ln>
        </p:spPr>
      </p:sp>
      <p:sp>
        <p:nvSpPr>
          <p:cNvPr id="16" name="Text 14"/>
          <p:cNvSpPr txBox="1"/>
          <p:nvPr/>
        </p:nvSpPr>
        <p:spPr>
          <a:xfrm>
            <a:off x="9866376" y="4983480"/>
            <a:ext cx="1463040" cy="384048"/>
          </a:xfrm>
          <a:prstGeom prst="rect">
            <a:avLst/>
          </a:prstGeom>
          <a:noFill/>
          <a:ln/>
        </p:spPr>
        <p:txBody>
          <a:bodyPr wrap="square" lIns="0" tIns="0" rIns="0" bIns="0" rtlCol="0" anchor="ctr"/>
          <a:lstStyle/>
          <a:p>
            <a:pPr algn="ctr" indent="0" marL="0">
              <a:buNone/>
            </a:pPr>
            <a:r>
              <a:rPr lang="en-US" sz="1200" b="1" dirty="0">
                <a:solidFill>
                  <a:schemeClr val="bg1"/>
                </a:solidFill>
              </a:rPr>
              <a:t>Writing: next</a:t>
            </a:r>
            <a:endParaRPr lang="en-US" sz="1200" dirty="0"/>
          </a:p>
        </p:txBody>
      </p:sp>
      <p:sp>
        <p:nvSpPr>
          <p:cNvPr id="17"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18"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19" name="Text 17"/>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Framing chosen: an analysis paper with keep + T7 as the proposed fix; all tables and statistics are ready.</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CONCLUSION</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Next steps (proposed)</a:t>
            </a:r>
            <a:endParaRPr lang="en-US" sz="2800" dirty="0"/>
          </a:p>
        </p:txBody>
      </p:sp>
      <p:sp>
        <p:nvSpPr>
          <p:cNvPr id="4" name="timeline"/>
          <p:cNvSpPr/>
          <p:nvPr/>
        </p:nvSpPr>
        <p:spPr>
          <a:xfrm>
            <a:off x="914400" y="1965960"/>
            <a:ext cx="10332720" cy="0"/>
          </a:xfrm>
          <a:prstGeom prst="line">
            <a:avLst/>
          </a:prstGeom>
          <a:noFill/>
          <a:ln w="38100">
            <a:solidFill>
              <a:srgbClr val="DCE5E4"/>
            </a:solidFill>
            <a:prstDash val="solid"/>
          </a:ln>
        </p:spPr>
      </p:sp>
      <p:sp>
        <p:nvSpPr>
          <p:cNvPr id="5" name="badge"/>
          <p:cNvSpPr/>
          <p:nvPr/>
        </p:nvSpPr>
        <p:spPr>
          <a:xfrm>
            <a:off x="1298448" y="1691640"/>
            <a:ext cx="548640" cy="548640"/>
          </a:xfrm>
          <a:prstGeom prst="ellipse">
            <a:avLst/>
          </a:prstGeom>
          <a:solidFill>
            <a:schemeClr val="accent1"/>
          </a:solidFill>
          <a:ln w="12700">
            <a:solidFill>
              <a:schemeClr val="accent1"/>
            </a:solidFill>
            <a:prstDash val="solid"/>
          </a:ln>
        </p:spPr>
      </p:sp>
      <p:sp>
        <p:nvSpPr>
          <p:cNvPr id="6" name="Text 4"/>
          <p:cNvSpPr txBox="1"/>
          <p:nvPr/>
        </p:nvSpPr>
        <p:spPr>
          <a:xfrm>
            <a:off x="1298448" y="16916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next-card"/>
          <p:cNvSpPr/>
          <p:nvPr/>
        </p:nvSpPr>
        <p:spPr>
          <a:xfrm>
            <a:off x="548640" y="2514600"/>
            <a:ext cx="2057400" cy="2971800"/>
          </a:xfrm>
          <a:prstGeom prst="roundRect">
            <a:avLst>
              <a:gd name="adj" fmla="val 4444"/>
            </a:avLst>
          </a:prstGeom>
          <a:solidFill>
            <a:schemeClr val="bg2"/>
          </a:solidFill>
          <a:ln w="9525">
            <a:solidFill>
              <a:schemeClr val="bg2"/>
            </a:solidFill>
            <a:prstDash val="solid"/>
          </a:ln>
        </p:spPr>
      </p:sp>
      <p:sp>
        <p:nvSpPr>
          <p:cNvPr id="8" name="Text 6"/>
          <p:cNvSpPr txBox="1"/>
          <p:nvPr/>
        </p:nvSpPr>
        <p:spPr>
          <a:xfrm>
            <a:off x="713232" y="2651760"/>
            <a:ext cx="1737360" cy="777240"/>
          </a:xfrm>
          <a:prstGeom prst="rect">
            <a:avLst/>
          </a:prstGeom>
          <a:noFill/>
          <a:ln/>
        </p:spPr>
        <p:txBody>
          <a:bodyPr wrap="square" lIns="0" tIns="0" rIns="0" bIns="0" rtlCol="0" anchor="t"/>
          <a:lstStyle/>
          <a:p>
            <a:pPr indent="0" marL="0">
              <a:buNone/>
            </a:pPr>
            <a:r>
              <a:rPr lang="en-US" sz="1700" b="1" dirty="0">
                <a:solidFill>
                  <a:schemeClr val="tx2"/>
                </a:solidFill>
              </a:rPr>
              <a:t>Write the draft</a:t>
            </a:r>
            <a:endParaRPr lang="en-US" sz="1700" dirty="0"/>
          </a:p>
        </p:txBody>
      </p:sp>
      <p:sp>
        <p:nvSpPr>
          <p:cNvPr id="9" name="Text 7"/>
          <p:cNvSpPr txBox="1"/>
          <p:nvPr/>
        </p:nvSpPr>
        <p:spPr>
          <a:xfrm>
            <a:off x="713232" y="3474720"/>
            <a:ext cx="1737360" cy="1920240"/>
          </a:xfrm>
          <a:prstGeom prst="rect">
            <a:avLst/>
          </a:prstGeom>
          <a:noFill/>
          <a:ln/>
        </p:spPr>
        <p:txBody>
          <a:bodyPr wrap="square" lIns="0" tIns="0" rIns="0" bIns="0" rtlCol="0" anchor="t"/>
          <a:lstStyle/>
          <a:p>
            <a:pPr indent="0" marL="0">
              <a:buNone/>
            </a:pPr>
            <a:r>
              <a:rPr lang="en-US" sz="1500" dirty="0">
                <a:solidFill>
                  <a:schemeClr val="tx1"/>
                </a:solidFill>
              </a:rPr>
              <a:t>Sections 1–6 first, from the existing tables and figures.</a:t>
            </a:r>
            <a:endParaRPr lang="en-US" sz="1500" dirty="0"/>
          </a:p>
        </p:txBody>
      </p:sp>
      <p:sp>
        <p:nvSpPr>
          <p:cNvPr id="10" name="badge"/>
          <p:cNvSpPr/>
          <p:nvPr/>
        </p:nvSpPr>
        <p:spPr>
          <a:xfrm>
            <a:off x="3538728" y="1691640"/>
            <a:ext cx="548640" cy="548640"/>
          </a:xfrm>
          <a:prstGeom prst="ellipse">
            <a:avLst/>
          </a:prstGeom>
          <a:solidFill>
            <a:schemeClr val="tx2"/>
          </a:solidFill>
          <a:ln w="12700">
            <a:solidFill>
              <a:schemeClr val="tx2"/>
            </a:solidFill>
            <a:prstDash val="solid"/>
          </a:ln>
        </p:spPr>
      </p:sp>
      <p:sp>
        <p:nvSpPr>
          <p:cNvPr id="11" name="Text 9"/>
          <p:cNvSpPr txBox="1"/>
          <p:nvPr/>
        </p:nvSpPr>
        <p:spPr>
          <a:xfrm>
            <a:off x="3538728" y="16916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next-card"/>
          <p:cNvSpPr/>
          <p:nvPr/>
        </p:nvSpPr>
        <p:spPr>
          <a:xfrm>
            <a:off x="2788920" y="2514600"/>
            <a:ext cx="2057400" cy="2971800"/>
          </a:xfrm>
          <a:prstGeom prst="roundRect">
            <a:avLst>
              <a:gd name="adj" fmla="val 4444"/>
            </a:avLst>
          </a:prstGeom>
          <a:solidFill>
            <a:schemeClr val="bg2"/>
          </a:solidFill>
          <a:ln w="9525">
            <a:solidFill>
              <a:schemeClr val="bg2"/>
            </a:solidFill>
            <a:prstDash val="solid"/>
          </a:ln>
        </p:spPr>
      </p:sp>
      <p:sp>
        <p:nvSpPr>
          <p:cNvPr id="13" name="Text 11"/>
          <p:cNvSpPr txBox="1"/>
          <p:nvPr/>
        </p:nvSpPr>
        <p:spPr>
          <a:xfrm>
            <a:off x="2953512" y="2651760"/>
            <a:ext cx="1737360" cy="777240"/>
          </a:xfrm>
          <a:prstGeom prst="rect">
            <a:avLst/>
          </a:prstGeom>
          <a:noFill/>
          <a:ln/>
        </p:spPr>
        <p:txBody>
          <a:bodyPr wrap="square" lIns="0" tIns="0" rIns="0" bIns="0" rtlCol="0" anchor="t"/>
          <a:lstStyle/>
          <a:p>
            <a:pPr indent="0" marL="0">
              <a:buNone/>
            </a:pPr>
            <a:r>
              <a:rPr lang="en-US" sz="1700" b="1" dirty="0">
                <a:solidFill>
                  <a:schemeClr val="tx2"/>
                </a:solidFill>
              </a:rPr>
              <a:t>Close literature gaps</a:t>
            </a:r>
            <a:endParaRPr lang="en-US" sz="1700" dirty="0"/>
          </a:p>
        </p:txBody>
      </p:sp>
      <p:sp>
        <p:nvSpPr>
          <p:cNvPr id="14" name="Text 12"/>
          <p:cNvSpPr txBox="1"/>
          <p:nvPr/>
        </p:nvSpPr>
        <p:spPr>
          <a:xfrm>
            <a:off x="2953512" y="3474720"/>
            <a:ext cx="1737360" cy="1920240"/>
          </a:xfrm>
          <a:prstGeom prst="rect">
            <a:avLst/>
          </a:prstGeom>
          <a:noFill/>
          <a:ln/>
        </p:spPr>
        <p:txBody>
          <a:bodyPr wrap="square" lIns="0" tIns="0" rIns="0" bIns="0" rtlCol="0" anchor="t"/>
          <a:lstStyle/>
          <a:p>
            <a:pPr indent="0" marL="0">
              <a:buNone/>
            </a:pPr>
            <a:r>
              <a:rPr lang="en-US" sz="1500" dirty="0">
                <a:solidFill>
                  <a:schemeClr val="tx1"/>
                </a:solidFill>
              </a:rPr>
              <a:t>Read the ADPGBG paper in full to confirm our port; add GBTSVM [6] as another baseline.</a:t>
            </a:r>
            <a:endParaRPr lang="en-US" sz="1500" dirty="0"/>
          </a:p>
        </p:txBody>
      </p:sp>
      <p:sp>
        <p:nvSpPr>
          <p:cNvPr id="15" name="badge"/>
          <p:cNvSpPr/>
          <p:nvPr/>
        </p:nvSpPr>
        <p:spPr>
          <a:xfrm>
            <a:off x="5779008" y="1691640"/>
            <a:ext cx="548640" cy="548640"/>
          </a:xfrm>
          <a:prstGeom prst="ellipse">
            <a:avLst/>
          </a:prstGeom>
          <a:solidFill>
            <a:schemeClr val="tx2"/>
          </a:solidFill>
          <a:ln w="12700">
            <a:solidFill>
              <a:schemeClr val="tx2"/>
            </a:solidFill>
            <a:prstDash val="solid"/>
          </a:ln>
        </p:spPr>
      </p:sp>
      <p:sp>
        <p:nvSpPr>
          <p:cNvPr id="16" name="Text 14"/>
          <p:cNvSpPr txBox="1"/>
          <p:nvPr/>
        </p:nvSpPr>
        <p:spPr>
          <a:xfrm>
            <a:off x="5779008" y="16916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next-card"/>
          <p:cNvSpPr/>
          <p:nvPr/>
        </p:nvSpPr>
        <p:spPr>
          <a:xfrm>
            <a:off x="5029200" y="2514600"/>
            <a:ext cx="2057400" cy="2971800"/>
          </a:xfrm>
          <a:prstGeom prst="roundRect">
            <a:avLst>
              <a:gd name="adj" fmla="val 4444"/>
            </a:avLst>
          </a:prstGeom>
          <a:solidFill>
            <a:schemeClr val="bg2"/>
          </a:solidFill>
          <a:ln w="9525">
            <a:solidFill>
              <a:schemeClr val="bg2"/>
            </a:solidFill>
            <a:prstDash val="solid"/>
          </a:ln>
        </p:spPr>
      </p:sp>
      <p:sp>
        <p:nvSpPr>
          <p:cNvPr id="18" name="Text 16"/>
          <p:cNvSpPr txBox="1"/>
          <p:nvPr/>
        </p:nvSpPr>
        <p:spPr>
          <a:xfrm>
            <a:off x="5193792" y="2651760"/>
            <a:ext cx="1737360" cy="777240"/>
          </a:xfrm>
          <a:prstGeom prst="rect">
            <a:avLst/>
          </a:prstGeom>
          <a:noFill/>
          <a:ln/>
        </p:spPr>
        <p:txBody>
          <a:bodyPr wrap="square" lIns="0" tIns="0" rIns="0" bIns="0" rtlCol="0" anchor="t"/>
          <a:lstStyle/>
          <a:p>
            <a:pPr indent="0" marL="0">
              <a:buNone/>
            </a:pPr>
            <a:r>
              <a:rPr lang="en-US" sz="1700" b="1" dirty="0">
                <a:solidFill>
                  <a:schemeClr val="tx2"/>
                </a:solidFill>
              </a:rPr>
              <a:t>Harder noise</a:t>
            </a:r>
            <a:endParaRPr lang="en-US" sz="1700" dirty="0"/>
          </a:p>
        </p:txBody>
      </p:sp>
      <p:sp>
        <p:nvSpPr>
          <p:cNvPr id="19" name="Text 17"/>
          <p:cNvSpPr txBox="1"/>
          <p:nvPr/>
        </p:nvSpPr>
        <p:spPr>
          <a:xfrm>
            <a:off x="5193792" y="3474720"/>
            <a:ext cx="1737360" cy="1920240"/>
          </a:xfrm>
          <a:prstGeom prst="rect">
            <a:avLst/>
          </a:prstGeom>
          <a:noFill/>
          <a:ln/>
        </p:spPr>
        <p:txBody>
          <a:bodyPr wrap="square" lIns="0" tIns="0" rIns="0" bIns="0" rtlCol="0" anchor="t"/>
          <a:lstStyle/>
          <a:p>
            <a:pPr indent="0" marL="0">
              <a:buNone/>
            </a:pPr>
            <a:r>
              <a:rPr lang="en-US" sz="1500" dirty="0">
                <a:solidFill>
                  <a:schemeClr val="tx1"/>
                </a:solidFill>
              </a:rPr>
              <a:t>Label noise that targets the class border, where neighbour agreement is weakest.</a:t>
            </a:r>
            <a:endParaRPr lang="en-US" sz="1500" dirty="0"/>
          </a:p>
        </p:txBody>
      </p:sp>
      <p:sp>
        <p:nvSpPr>
          <p:cNvPr id="20" name="badge"/>
          <p:cNvSpPr/>
          <p:nvPr/>
        </p:nvSpPr>
        <p:spPr>
          <a:xfrm>
            <a:off x="8019288" y="1691640"/>
            <a:ext cx="548640" cy="548640"/>
          </a:xfrm>
          <a:prstGeom prst="ellipse">
            <a:avLst/>
          </a:prstGeom>
          <a:solidFill>
            <a:schemeClr val="tx2"/>
          </a:solidFill>
          <a:ln w="12700">
            <a:solidFill>
              <a:schemeClr val="tx2"/>
            </a:solidFill>
            <a:prstDash val="solid"/>
          </a:ln>
        </p:spPr>
      </p:sp>
      <p:sp>
        <p:nvSpPr>
          <p:cNvPr id="21" name="Text 19"/>
          <p:cNvSpPr txBox="1"/>
          <p:nvPr/>
        </p:nvSpPr>
        <p:spPr>
          <a:xfrm>
            <a:off x="8019288" y="16916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2" name="next-card"/>
          <p:cNvSpPr/>
          <p:nvPr/>
        </p:nvSpPr>
        <p:spPr>
          <a:xfrm>
            <a:off x="7269480" y="2514600"/>
            <a:ext cx="2057400" cy="2971800"/>
          </a:xfrm>
          <a:prstGeom prst="roundRect">
            <a:avLst>
              <a:gd name="adj" fmla="val 4444"/>
            </a:avLst>
          </a:prstGeom>
          <a:solidFill>
            <a:schemeClr val="bg2"/>
          </a:solidFill>
          <a:ln w="9525">
            <a:solidFill>
              <a:schemeClr val="bg2"/>
            </a:solidFill>
            <a:prstDash val="solid"/>
          </a:ln>
        </p:spPr>
      </p:sp>
      <p:sp>
        <p:nvSpPr>
          <p:cNvPr id="23" name="Text 21"/>
          <p:cNvSpPr txBox="1"/>
          <p:nvPr/>
        </p:nvSpPr>
        <p:spPr>
          <a:xfrm>
            <a:off x="7434072" y="2651760"/>
            <a:ext cx="1737360" cy="777240"/>
          </a:xfrm>
          <a:prstGeom prst="rect">
            <a:avLst/>
          </a:prstGeom>
          <a:noFill/>
          <a:ln/>
        </p:spPr>
        <p:txBody>
          <a:bodyPr wrap="square" lIns="0" tIns="0" rIns="0" bIns="0" rtlCol="0" anchor="t"/>
          <a:lstStyle/>
          <a:p>
            <a:pPr indent="0" marL="0">
              <a:buNone/>
            </a:pPr>
            <a:r>
              <a:rPr lang="en-US" sz="1700" b="1" dirty="0">
                <a:solidFill>
                  <a:schemeClr val="tx2"/>
                </a:solidFill>
              </a:rPr>
              <a:t>Bigger and multi-class data</a:t>
            </a:r>
            <a:endParaRPr lang="en-US" sz="1700" dirty="0"/>
          </a:p>
        </p:txBody>
      </p:sp>
      <p:sp>
        <p:nvSpPr>
          <p:cNvPr id="24" name="Text 22"/>
          <p:cNvSpPr txBox="1"/>
          <p:nvPr/>
        </p:nvSpPr>
        <p:spPr>
          <a:xfrm>
            <a:off x="7434072" y="3474720"/>
            <a:ext cx="1737360" cy="1920240"/>
          </a:xfrm>
          <a:prstGeom prst="rect">
            <a:avLst/>
          </a:prstGeom>
          <a:noFill/>
          <a:ln/>
        </p:spPr>
        <p:txBody>
          <a:bodyPr wrap="square" lIns="0" tIns="0" rIns="0" bIns="0" rtlCol="0" anchor="t"/>
          <a:lstStyle/>
          <a:p>
            <a:pPr indent="0" marL="0">
              <a:buNone/>
            </a:pPr>
            <a:r>
              <a:rPr lang="en-US" sz="1500" dirty="0">
                <a:solidFill>
                  <a:schemeClr val="tx1"/>
                </a:solidFill>
              </a:rPr>
              <a:t>Test keep + T7 and the speed niche beyond binary benchmarks.</a:t>
            </a:r>
            <a:endParaRPr lang="en-US" sz="1500" dirty="0"/>
          </a:p>
        </p:txBody>
      </p:sp>
      <p:sp>
        <p:nvSpPr>
          <p:cNvPr id="25" name="badge"/>
          <p:cNvSpPr/>
          <p:nvPr/>
        </p:nvSpPr>
        <p:spPr>
          <a:xfrm>
            <a:off x="10259568" y="1691640"/>
            <a:ext cx="548640" cy="548640"/>
          </a:xfrm>
          <a:prstGeom prst="ellipse">
            <a:avLst/>
          </a:prstGeom>
          <a:solidFill>
            <a:schemeClr val="tx2"/>
          </a:solidFill>
          <a:ln w="12700">
            <a:solidFill>
              <a:schemeClr val="tx2"/>
            </a:solidFill>
            <a:prstDash val="solid"/>
          </a:ln>
        </p:spPr>
      </p:sp>
      <p:sp>
        <p:nvSpPr>
          <p:cNvPr id="26" name="Text 24"/>
          <p:cNvSpPr txBox="1"/>
          <p:nvPr/>
        </p:nvSpPr>
        <p:spPr>
          <a:xfrm>
            <a:off x="10259568" y="16916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7" name="next-card"/>
          <p:cNvSpPr/>
          <p:nvPr/>
        </p:nvSpPr>
        <p:spPr>
          <a:xfrm>
            <a:off x="9509760" y="2514600"/>
            <a:ext cx="2057400" cy="2971800"/>
          </a:xfrm>
          <a:prstGeom prst="roundRect">
            <a:avLst>
              <a:gd name="adj" fmla="val 4444"/>
            </a:avLst>
          </a:prstGeom>
          <a:solidFill>
            <a:schemeClr val="bg2"/>
          </a:solidFill>
          <a:ln w="9525">
            <a:solidFill>
              <a:schemeClr val="bg2"/>
            </a:solidFill>
            <a:prstDash val="solid"/>
          </a:ln>
        </p:spPr>
      </p:sp>
      <p:sp>
        <p:nvSpPr>
          <p:cNvPr id="28" name="Text 26"/>
          <p:cNvSpPr txBox="1"/>
          <p:nvPr/>
        </p:nvSpPr>
        <p:spPr>
          <a:xfrm>
            <a:off x="9674352" y="2651760"/>
            <a:ext cx="1737360" cy="777240"/>
          </a:xfrm>
          <a:prstGeom prst="rect">
            <a:avLst/>
          </a:prstGeom>
          <a:noFill/>
          <a:ln/>
        </p:spPr>
        <p:txBody>
          <a:bodyPr wrap="square" lIns="0" tIns="0" rIns="0" bIns="0" rtlCol="0" anchor="t"/>
          <a:lstStyle/>
          <a:p>
            <a:pPr indent="0" marL="0">
              <a:buNone/>
            </a:pPr>
            <a:r>
              <a:rPr lang="en-US" sz="1700" b="1" dirty="0">
                <a:solidFill>
                  <a:schemeClr val="tx2"/>
                </a:solidFill>
              </a:rPr>
              <a:t>Choose venue, release code</a:t>
            </a:r>
            <a:endParaRPr lang="en-US" sz="1700" dirty="0"/>
          </a:p>
        </p:txBody>
      </p:sp>
      <p:sp>
        <p:nvSpPr>
          <p:cNvPr id="29" name="Text 27"/>
          <p:cNvSpPr txBox="1"/>
          <p:nvPr/>
        </p:nvSpPr>
        <p:spPr>
          <a:xfrm>
            <a:off x="9674352" y="3474720"/>
            <a:ext cx="1737360" cy="1920240"/>
          </a:xfrm>
          <a:prstGeom prst="rect">
            <a:avLst/>
          </a:prstGeom>
          <a:noFill/>
          <a:ln/>
        </p:spPr>
        <p:txBody>
          <a:bodyPr wrap="square" lIns="0" tIns="0" rIns="0" bIns="0" rtlCol="0" anchor="t"/>
          <a:lstStyle/>
          <a:p>
            <a:pPr indent="0" marL="0">
              <a:buNone/>
            </a:pPr>
            <a:r>
              <a:rPr lang="en-US" sz="1500" dirty="0">
                <a:solidFill>
                  <a:schemeClr val="tx1"/>
                </a:solidFill>
              </a:rPr>
              <a:t>Pick the journal together; code and results are already on GitHub.</a:t>
            </a:r>
            <a:endParaRPr lang="en-US" sz="1500" dirty="0"/>
          </a:p>
        </p:txBody>
      </p:sp>
      <p:sp>
        <p:nvSpPr>
          <p:cNvPr id="30" name="Text 28"/>
          <p:cNvSpPr txBox="1"/>
          <p:nvPr/>
        </p:nvSpPr>
        <p:spPr>
          <a:xfrm>
            <a:off x="548640" y="1371600"/>
            <a:ext cx="914400" cy="274320"/>
          </a:xfrm>
          <a:prstGeom prst="rect">
            <a:avLst/>
          </a:prstGeom>
          <a:noFill/>
          <a:ln/>
        </p:spPr>
        <p:txBody>
          <a:bodyPr wrap="square" lIns="0" tIns="0" rIns="0" bIns="0" rtlCol="0" anchor="t"/>
          <a:lstStyle/>
          <a:p>
            <a:pPr indent="0" marL="0">
              <a:buNone/>
            </a:pPr>
            <a:r>
              <a:rPr lang="en-US" sz="1200" b="1" dirty="0">
                <a:solidFill>
                  <a:schemeClr val="accent6"/>
                </a:solidFill>
              </a:rPr>
              <a:t>Now</a:t>
            </a:r>
            <a:endParaRPr lang="en-US" sz="1200" dirty="0"/>
          </a:p>
        </p:txBody>
      </p:sp>
      <p:sp>
        <p:nvSpPr>
          <p:cNvPr id="31" name="Text 29"/>
          <p:cNvSpPr txBox="1"/>
          <p:nvPr/>
        </p:nvSpPr>
        <p:spPr>
          <a:xfrm>
            <a:off x="9326880" y="1371600"/>
            <a:ext cx="2286000" cy="274320"/>
          </a:xfrm>
          <a:prstGeom prst="rect">
            <a:avLst/>
          </a:prstGeom>
          <a:noFill/>
          <a:ln/>
        </p:spPr>
        <p:txBody>
          <a:bodyPr wrap="square" lIns="0" tIns="0" rIns="0" bIns="0" rtlCol="0" anchor="t"/>
          <a:lstStyle/>
          <a:p>
            <a:pPr algn="r" indent="0" marL="0">
              <a:buNone/>
            </a:pPr>
            <a:r>
              <a:rPr lang="en-US" sz="1200" b="1" dirty="0">
                <a:solidFill>
                  <a:schemeClr val="accent6"/>
                </a:solidFill>
              </a:rPr>
              <a:t>Before the endsem</a:t>
            </a:r>
            <a:endParaRPr lang="en-US" sz="1200" dirty="0"/>
          </a:p>
        </p:txBody>
      </p:sp>
      <p:sp>
        <p:nvSpPr>
          <p:cNvPr id="32" name="takeaway"/>
          <p:cNvSpPr/>
          <p:nvPr/>
        </p:nvSpPr>
        <p:spPr>
          <a:xfrm>
            <a:off x="548640" y="5669280"/>
            <a:ext cx="11064240" cy="566928"/>
          </a:xfrm>
          <a:prstGeom prst="roundRect">
            <a:avLst>
              <a:gd name="adj" fmla="val 16129"/>
            </a:avLst>
          </a:prstGeom>
          <a:solidFill>
            <a:schemeClr val="bg2"/>
          </a:solidFill>
          <a:ln w="9525">
            <a:solidFill>
              <a:schemeClr val="bg2"/>
            </a:solidFill>
            <a:prstDash val="solid"/>
          </a:ln>
        </p:spPr>
      </p:sp>
      <p:sp>
        <p:nvSpPr>
          <p:cNvPr id="33" name="takeaway-ball"/>
          <p:cNvSpPr/>
          <p:nvPr/>
        </p:nvSpPr>
        <p:spPr>
          <a:xfrm>
            <a:off x="749808" y="5843016"/>
            <a:ext cx="219456" cy="219456"/>
          </a:xfrm>
          <a:prstGeom prst="ellipse">
            <a:avLst/>
          </a:prstGeom>
          <a:solidFill>
            <a:schemeClr val="accent1"/>
          </a:solidFill>
          <a:ln w="12700">
            <a:solidFill>
              <a:schemeClr val="accent1"/>
            </a:solidFill>
            <a:prstDash val="solid"/>
          </a:ln>
        </p:spPr>
      </p:sp>
      <p:sp>
        <p:nvSpPr>
          <p:cNvPr id="34" name="Text 32"/>
          <p:cNvSpPr txBox="1"/>
          <p:nvPr/>
        </p:nvSpPr>
        <p:spPr>
          <a:xfrm>
            <a:off x="1143000" y="5669280"/>
            <a:ext cx="10332720" cy="566928"/>
          </a:xfrm>
          <a:prstGeom prst="rect">
            <a:avLst/>
          </a:prstGeom>
          <a:noFill/>
          <a:ln/>
        </p:spPr>
        <p:txBody>
          <a:bodyPr wrap="square" lIns="0" tIns="0" rIns="0" bIns="0" rtlCol="0" anchor="ctr"/>
          <a:lstStyle/>
          <a:p>
            <a:pPr indent="0" marL="0">
              <a:buNone/>
            </a:pPr>
            <a:r>
              <a:rPr lang="en-US" sz="1500" b="1" dirty="0">
                <a:solidFill>
                  <a:schemeClr val="tx2"/>
                </a:solidFill>
              </a:rPr>
              <a:t>The experiments are done; the next phase is writing, plus two robustness checks a reviewer is likely to ask for.</a:t>
            </a:r>
            <a:endParaRPr lang="en-US" sz="15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REFERENCES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References (1 of 2)</a:t>
            </a:r>
            <a:endParaRPr lang="en-US" sz="2800" dirty="0"/>
          </a:p>
        </p:txBody>
      </p:sp>
      <p:sp>
        <p:nvSpPr>
          <p:cNvPr id="4" name="Text 2"/>
          <p:cNvSpPr txBox="1"/>
          <p:nvPr/>
        </p:nvSpPr>
        <p:spPr>
          <a:xfrm>
            <a:off x="548640" y="1371600"/>
            <a:ext cx="11064240" cy="489204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[1]  C. Cortes, V. Vapnik. Support-vector networks. Machine Learning 20(3):273–297, 1995.</a:t>
            </a:r>
            <a:endParaRPr lang="en-US" sz="1300" dirty="0"/>
          </a:p>
          <a:p>
            <a:pPr indent="0" marL="0">
              <a:spcAft>
                <a:spcPts val="600"/>
              </a:spcAft>
              <a:buNone/>
            </a:pPr>
            <a:r>
              <a:rPr lang="en-US" sz="1300" dirty="0">
                <a:solidFill>
                  <a:schemeClr val="tx1"/>
                </a:solidFill>
              </a:rPr>
              <a:t>[2]  Jayadeva, R. Khemchandani, S. Chandra. Twin support vector machines for pattern classification. IEEE Trans. Pattern Analysis and Machine Intelligence 29(5):905–910, 2007.</a:t>
            </a:r>
            <a:endParaRPr lang="en-US" sz="1300" dirty="0"/>
          </a:p>
          <a:p>
            <a:pPr indent="0" marL="0">
              <a:spcAft>
                <a:spcPts val="600"/>
              </a:spcAft>
              <a:buNone/>
            </a:pPr>
            <a:r>
              <a:rPr lang="en-US" sz="1300" dirty="0">
                <a:solidFill>
                  <a:schemeClr val="tx1"/>
                </a:solidFill>
              </a:rPr>
              <a:t>[3]  M. A. Kumar, M. Gopal. Least squares twin support vector machines for pattern classification. Expert Systems with Applications 36(4):7535–7543, 2009.</a:t>
            </a:r>
            <a:endParaRPr lang="en-US" sz="1300" dirty="0"/>
          </a:p>
          <a:p>
            <a:pPr indent="0" marL="0">
              <a:spcAft>
                <a:spcPts val="600"/>
              </a:spcAft>
              <a:buNone/>
            </a:pPr>
            <a:r>
              <a:rPr lang="en-US" sz="1300" dirty="0">
                <a:solidFill>
                  <a:schemeClr val="tx1"/>
                </a:solidFill>
              </a:rPr>
              <a:t>[4]  S. Xia, Y. Liu, X. Ding, G. Wang, H. Yu, Y. Luo. Granular ball computing classifiers for efficient, scalable and robust learning. Information Sciences 483:136–152, 2019.</a:t>
            </a:r>
            <a:endParaRPr lang="en-US" sz="1300" dirty="0"/>
          </a:p>
          <a:p>
            <a:pPr indent="0" marL="0">
              <a:spcAft>
                <a:spcPts val="600"/>
              </a:spcAft>
              <a:buNone/>
            </a:pPr>
            <a:r>
              <a:rPr lang="en-US" sz="1300" dirty="0">
                <a:solidFill>
                  <a:schemeClr val="tx1"/>
                </a:solidFill>
              </a:rPr>
              <a:t>[5]  M. Tanveer, R. K. Sharma, A. Quadir, M. Sajid. Enhancing robustness and efficiency of least square twin SVM via granular computing. Pattern Recognition, 112021, 2025. (GBLSTSVM)</a:t>
            </a:r>
            <a:endParaRPr lang="en-US" sz="1300" dirty="0"/>
          </a:p>
          <a:p>
            <a:pPr indent="0" marL="0">
              <a:spcAft>
                <a:spcPts val="600"/>
              </a:spcAft>
              <a:buNone/>
            </a:pPr>
            <a:r>
              <a:rPr lang="en-US" sz="1300" dirty="0">
                <a:solidFill>
                  <a:schemeClr val="tx1"/>
                </a:solidFill>
              </a:rPr>
              <a:t>[6]  A. Quadir, M. Sajid, M. Tanveer. Granular ball twin support vector machine. IEEE Trans. Neural Networks and Learning Systems, 2025. (GBTSVM)</a:t>
            </a:r>
            <a:endParaRPr lang="en-US" sz="1300" dirty="0"/>
          </a:p>
          <a:p>
            <a:pPr indent="0" marL="0">
              <a:spcAft>
                <a:spcPts val="600"/>
              </a:spcAft>
              <a:buNone/>
            </a:pPr>
            <a:r>
              <a:rPr lang="en-US" sz="1300" dirty="0">
                <a:solidFill>
                  <a:schemeClr val="tx1"/>
                </a:solidFill>
              </a:rPr>
              <a:t>[7]  W. Liao, Q. Zhang, Q. Xie, M. Gao, P. Jin. A new adaptive and effective granular ball generation method for classification. Int. J. Machine Learning and Cybernetics 16:3501–3520, 2025. (ADPGBG)</a:t>
            </a:r>
            <a:endParaRPr lang="en-US" sz="1300" dirty="0"/>
          </a:p>
          <a:p>
            <a:pPr indent="0" marL="0">
              <a:spcAft>
                <a:spcPts val="600"/>
              </a:spcAft>
              <a:buNone/>
            </a:pPr>
            <a:r>
              <a:rPr lang="en-US" sz="1300" dirty="0">
                <a:solidFill>
                  <a:schemeClr val="tx1"/>
                </a:solidFill>
              </a:rPr>
              <a:t>[8]  C.-F. Lin, S.-D. Wang. Fuzzy support vector machines. IEEE Trans. Neural Networks 13(2):464–471, 2002.</a:t>
            </a:r>
            <a:endParaRPr lang="en-US" sz="1300" dirty="0"/>
          </a:p>
          <a:p>
            <a:pPr indent="0" marL="0">
              <a:spcAft>
                <a:spcPts val="600"/>
              </a:spcAft>
              <a:buNone/>
            </a:pPr>
            <a:r>
              <a:rPr lang="en-US" sz="1300" dirty="0">
                <a:solidFill>
                  <a:schemeClr val="tx1"/>
                </a:solidFill>
              </a:rPr>
              <a:t>[9]  Q. Fan, Z. Wang, D. Li, D. Gao, H. Zha. Entropy-based fuzzy support vector machine for imbalanced datasets. Knowledge-Based Systems 115:87–99, 2017.</a:t>
            </a:r>
            <a:endParaRPr lang="en-US" sz="1300" dirty="0"/>
          </a:p>
          <a:p>
            <a:pPr indent="0" marL="0">
              <a:spcAft>
                <a:spcPts val="600"/>
              </a:spcAft>
              <a:buNone/>
            </a:pPr>
            <a:r>
              <a:rPr lang="en-US" sz="1300" dirty="0">
                <a:solidFill>
                  <a:schemeClr val="tx1"/>
                </a:solidFill>
              </a:rPr>
              <a:t>[10]  S. Rezvani, X. Wang, F. Pourpanah. Intuitionistic fuzzy twin support vector machines. IEEE Trans. Fuzzy Systems 27(11):2140–2151, 2019.</a:t>
            </a:r>
            <a:endParaRPr lang="en-US" sz="1300" dirty="0"/>
          </a:p>
          <a:p>
            <a:pPr indent="0" marL="0">
              <a:spcAft>
                <a:spcPts val="600"/>
              </a:spcAft>
              <a:buNone/>
            </a:pPr>
            <a:r>
              <a:rPr lang="en-US" sz="1300" dirty="0">
                <a:solidFill>
                  <a:schemeClr val="tx1"/>
                </a:solidFill>
              </a:rPr>
              <a:t>[11]  J. M. Keller, M. R. Gray, J. A. Givens. A fuzzy K-nearest neighbor algorithm. IEEE Trans. Systems, Man, and Cybernetics 15(4):580–585, 1985.</a:t>
            </a:r>
            <a:endParaRPr lang="en-US" sz="1300" dirty="0"/>
          </a:p>
          <a:p>
            <a:pPr indent="0" marL="0">
              <a:spcAft>
                <a:spcPts val="600"/>
              </a:spcAft>
              <a:buNone/>
            </a:pPr>
            <a:r>
              <a:rPr lang="en-US" sz="1300" dirty="0">
                <a:solidFill>
                  <a:schemeClr val="tx1"/>
                </a:solidFill>
              </a:rPr>
              <a:t>[12]  R. R. Yager. Pythagorean membership grades in multicriteria decision making. IEEE Trans. Fuzzy Systems 22(4):958–965, 2014.</a:t>
            </a:r>
            <a:endParaRPr lang="en-US" sz="13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REFERENCES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References (2 of 2)</a:t>
            </a:r>
            <a:endParaRPr lang="en-US" sz="2800" dirty="0"/>
          </a:p>
        </p:txBody>
      </p:sp>
      <p:sp>
        <p:nvSpPr>
          <p:cNvPr id="4" name="Text 2"/>
          <p:cNvSpPr txBox="1"/>
          <p:nvPr/>
        </p:nvSpPr>
        <p:spPr>
          <a:xfrm>
            <a:off x="548640" y="1371600"/>
            <a:ext cx="11064240" cy="4892040"/>
          </a:xfrm>
          <a:prstGeom prst="rect">
            <a:avLst/>
          </a:prstGeom>
          <a:noFill/>
          <a:ln/>
        </p:spPr>
        <p:txBody>
          <a:bodyPr wrap="square" lIns="0" tIns="0" rIns="0" bIns="0" rtlCol="0" anchor="t"/>
          <a:lstStyle/>
          <a:p>
            <a:pPr indent="0" marL="0">
              <a:spcAft>
                <a:spcPts val="600"/>
              </a:spcAft>
              <a:buNone/>
            </a:pPr>
            <a:r>
              <a:rPr lang="en-US" sz="1300" dirty="0">
                <a:solidFill>
                  <a:schemeClr val="tx1"/>
                </a:solidFill>
              </a:rPr>
              <a:t>[13]  Y. Xue, Y. Shao, H. Xia. GBFSVM: a robust classification learning method. Scientific Journal of Intelligent Systems Research 4(1):238–245, 2022.</a:t>
            </a:r>
            <a:endParaRPr lang="en-US" sz="1300" dirty="0"/>
          </a:p>
          <a:p>
            <a:pPr indent="0" marL="0">
              <a:spcAft>
                <a:spcPts val="600"/>
              </a:spcAft>
              <a:buNone/>
            </a:pPr>
            <a:r>
              <a:rPr lang="en-US" sz="1300" dirty="0">
                <a:solidFill>
                  <a:schemeClr val="tx1"/>
                </a:solidFill>
              </a:rPr>
              <a:t>[14]  L. Zhao, Z. Zhang, W. Liu, G. Lang. GBTWSVM: granular-ball twin support vector machine. Int. Joint Conf. on Rough Sets (IJCRS), 2024.</a:t>
            </a:r>
            <a:endParaRPr lang="en-US" sz="1300" dirty="0"/>
          </a:p>
          <a:p>
            <a:pPr indent="0" marL="0">
              <a:spcAft>
                <a:spcPts val="600"/>
              </a:spcAft>
              <a:buNone/>
            </a:pPr>
            <a:r>
              <a:rPr lang="en-US" sz="1300" dirty="0">
                <a:solidFill>
                  <a:schemeClr val="tx1"/>
                </a:solidFill>
              </a:rPr>
              <a:t>[15]  L. Zhao, W. Ding, D. Miao, G. Lang. Granular-balls based fuzzy twin support vector machine for classification. arXiv:2408.00699, 2024. (GBFTSVM)</a:t>
            </a:r>
            <a:endParaRPr lang="en-US" sz="1300" dirty="0"/>
          </a:p>
          <a:p>
            <a:pPr indent="0" marL="0">
              <a:spcAft>
                <a:spcPts val="600"/>
              </a:spcAft>
              <a:buNone/>
            </a:pPr>
            <a:r>
              <a:rPr lang="en-US" sz="1300" dirty="0">
                <a:solidFill>
                  <a:schemeClr val="tx1"/>
                </a:solidFill>
              </a:rPr>
              <a:t>[16]  B. Frénay, M. Verleysen. Classification in the presence of label noise: a survey. IEEE Trans. Neural Networks and Learning Systems 25(5):845–869, 2014.</a:t>
            </a:r>
            <a:endParaRPr lang="en-US" sz="1300" dirty="0"/>
          </a:p>
          <a:p>
            <a:pPr indent="0" marL="0">
              <a:spcAft>
                <a:spcPts val="600"/>
              </a:spcAft>
              <a:buNone/>
            </a:pPr>
            <a:r>
              <a:rPr lang="en-US" sz="1300" dirty="0">
                <a:solidFill>
                  <a:schemeClr val="tx1"/>
                </a:solidFill>
              </a:rPr>
              <a:t>[17]  J. Demšar. Statistical comparisons of classifiers over multiple data sets. J. Machine Learning Research 7:1–30, 2006.</a:t>
            </a:r>
            <a:endParaRPr lang="en-US" sz="1300" dirty="0"/>
          </a:p>
          <a:p>
            <a:pPr indent="0" marL="0">
              <a:spcAft>
                <a:spcPts val="600"/>
              </a:spcAft>
              <a:buNone/>
            </a:pPr>
            <a:r>
              <a:rPr lang="en-US" sz="1300" dirty="0">
                <a:solidFill>
                  <a:schemeClr val="tx1"/>
                </a:solidFill>
              </a:rPr>
              <a:t>[18]  S. Holm. A simple sequentially rejective multiple test procedure. Scandinavian J. Statistics 6(2):65–70, 1979.</a:t>
            </a:r>
            <a:endParaRPr lang="en-US" sz="1300" dirty="0"/>
          </a:p>
          <a:p>
            <a:pPr indent="0" marL="0">
              <a:spcAft>
                <a:spcPts val="600"/>
              </a:spcAft>
              <a:buNone/>
            </a:pPr>
            <a:r>
              <a:rPr lang="en-US" sz="1300" dirty="0">
                <a:solidFill>
                  <a:schemeClr val="tx1"/>
                </a:solidFill>
              </a:rPr>
              <a:t>[19]  Y.-J. Lee, O. L. Mangasarian. RSVM: Reduced support vector machines. Proc. SIAM Int. Conf. on Data Mining, 2001.</a:t>
            </a:r>
            <a:endParaRPr lang="en-US" sz="1300" dirty="0"/>
          </a:p>
          <a:p>
            <a:pPr indent="0" marL="0">
              <a:spcAft>
                <a:spcPts val="600"/>
              </a:spcAft>
              <a:buNone/>
            </a:pPr>
            <a:r>
              <a:rPr lang="en-US" sz="1300" dirty="0">
                <a:solidFill>
                  <a:schemeClr val="tx1"/>
                </a:solidFill>
              </a:rPr>
              <a:t>[20]  R.-E. Fan, K.-W. Chang, C.-J. Hsieh, X.-R. Wang, C.-J. Lin. LIBLINEAR: a library for large linear classification. J. Machine Learning Research 9:1871–1874, 2008.</a:t>
            </a:r>
            <a:endParaRPr lang="en-US" sz="1300" dirty="0"/>
          </a:p>
          <a:p>
            <a:pPr indent="0" marL="0">
              <a:spcAft>
                <a:spcPts val="600"/>
              </a:spcAft>
              <a:buNone/>
            </a:pPr>
            <a:r>
              <a:rPr lang="en-US" sz="1300" dirty="0">
                <a:solidFill>
                  <a:schemeClr val="tx1"/>
                </a:solidFill>
              </a:rPr>
              <a:t>[21]  C.-J. Hsieh, K.-W. Chang, C.-J. Lin, S. S. Keerthi, S. Sundararajan. A dual coordinate descent method for large-scale linear SVM. Proc. ICML, 2008.</a:t>
            </a:r>
            <a:endParaRPr lang="en-US" sz="1300" dirty="0"/>
          </a:p>
          <a:p>
            <a:pPr indent="0" marL="0">
              <a:spcAft>
                <a:spcPts val="600"/>
              </a:spcAft>
              <a:buNone/>
            </a:pPr>
            <a:r>
              <a:rPr lang="en-US" sz="1300" dirty="0">
                <a:solidFill>
                  <a:schemeClr val="tx1"/>
                </a:solidFill>
              </a:rPr>
              <a:t>[22]  M. Kelly, R. Longjohn, K. Nottingham. The UCI Machine Learning Repository. https://archive.ics.uci.edu, 2023.</a:t>
            </a:r>
            <a:endParaRPr lang="en-US" sz="1300" dirty="0"/>
          </a:p>
          <a:p>
            <a:pPr indent="0" marL="0">
              <a:spcAft>
                <a:spcPts val="600"/>
              </a:spcAft>
              <a:buNone/>
            </a:pPr>
            <a:r>
              <a:rPr lang="en-US" sz="1300" dirty="0">
                <a:solidFill>
                  <a:schemeClr val="tx1"/>
                </a:solidFill>
              </a:rPr>
              <a:t>[23]  J. Alcalá-Fdez et al. KEEL data-mining software tool: data set repository, integration of algorithms and experimental analysis framework. J. Multiple-Valued Logic and Soft Computing 17(2–3):255–287, 2011.</a:t>
            </a:r>
            <a:endParaRPr lang="en-US" sz="1300" dirty="0"/>
          </a:p>
          <a:p>
            <a:pPr indent="0" marL="0">
              <a:spcAft>
                <a:spcPts val="600"/>
              </a:spcAft>
              <a:buNone/>
            </a:pPr>
            <a:r>
              <a:rPr lang="en-US" sz="1300" dirty="0">
                <a:solidFill>
                  <a:schemeClr val="tx1"/>
                </a:solidFill>
              </a:rPr>
              <a:t>[24]  G. Jindal. GBLSTSVM MATLAB research suite (SOP research code, unpublished): CW, CR, CBCM, Topo and OBRU weights; ADPGBG port.</a:t>
            </a:r>
            <a:endParaRPr lang="en-US" sz="13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731520" y="1325880"/>
            <a:ext cx="7589520" cy="2377440"/>
          </a:xfrm>
          <a:prstGeom prst="rect">
            <a:avLst/>
          </a:prstGeom>
          <a:noFill/>
          <a:ln/>
        </p:spPr>
        <p:txBody>
          <a:bodyPr wrap="square" rtlCol="0" anchor="b"/>
          <a:lstStyle/>
          <a:p>
            <a:pPr algn="l" indent="0" marL="0">
              <a:buNone/>
            </a:pPr>
            <a:r>
              <a:rPr lang="en-US" sz="4000" b="1" dirty="0">
                <a:solidFill>
                  <a:schemeClr val="bg1"/>
                </a:solidFill>
              </a:rPr>
              <a:t>Thank you. Questions?</a:t>
            </a:r>
            <a:endParaRPr lang="en-US" sz="4000" dirty="0"/>
          </a:p>
        </p:txBody>
      </p:sp>
      <p:sp>
        <p:nvSpPr>
          <p:cNvPr id="3" name="Text 0"/>
          <p:cNvSpPr/>
          <p:nvPr>
            <p:ph idx="101" type="body" hasCustomPrompt="1"/>
          </p:nvPr>
        </p:nvSpPr>
        <p:spPr>
          <a:xfrm>
            <a:off x="731520" y="3931920"/>
            <a:ext cx="7589520" cy="1737360"/>
          </a:xfrm>
          <a:prstGeom prst="rect">
            <a:avLst/>
          </a:prstGeom>
          <a:noFill/>
          <a:ln/>
        </p:spPr>
        <p:txBody>
          <a:bodyPr wrap="square" rtlCol="0" anchor="t"/>
          <a:lstStyle/>
          <a:p>
            <a:pPr algn="l" indent="0" marL="0">
              <a:buNone/>
            </a:pPr>
            <a:r>
              <a:rPr lang="en-US" sz="1800" dirty="0">
                <a:solidFill>
                  <a:schemeClr val="bg2"/>
                </a:solidFill>
              </a:rPr>
              <a:t>Code, results and tables: github.com/Jayagna/GBLSTSVM</a:t>
            </a:r>
            <a:endParaRPr lang="en-US" sz="1800" dirty="0"/>
          </a:p>
          <a:p>
            <a:pPr algn="l" indent="0" marL="0">
              <a:spcBef>
                <a:spcPts val="1400"/>
              </a:spcBef>
              <a:buNone/>
            </a:pPr>
            <a:r>
              <a:rPr lang="en-US" sz="1500" dirty="0">
                <a:solidFill>
                  <a:schemeClr val="bg2"/>
                </a:solidFill>
              </a:rPr>
              <a:t>Appendix: datasets, dead ends and tuning grids</a:t>
            </a:r>
            <a:endParaRPr lang="en-US" sz="1800" dirty="0"/>
          </a:p>
        </p:txBody>
      </p:sp>
      <p:sp>
        <p:nvSpPr>
          <p:cNvPr id="4" name="ball-motif"/>
          <p:cNvSpPr/>
          <p:nvPr/>
        </p:nvSpPr>
        <p:spPr>
          <a:xfrm>
            <a:off x="8732520" y="960120"/>
            <a:ext cx="1325880" cy="1325880"/>
          </a:xfrm>
          <a:prstGeom prst="ellipse">
            <a:avLst/>
          </a:prstGeom>
          <a:solidFill>
            <a:schemeClr val="accent1">
              <a:alpha val="75000"/>
            </a:schemeClr>
          </a:solidFill>
          <a:ln w="12700">
            <a:solidFill>
              <a:schemeClr val="bg1"/>
            </a:solidFill>
            <a:prstDash val="solid"/>
          </a:ln>
        </p:spPr>
      </p:sp>
      <p:sp>
        <p:nvSpPr>
          <p:cNvPr id="5" name="ball-motif"/>
          <p:cNvSpPr/>
          <p:nvPr/>
        </p:nvSpPr>
        <p:spPr>
          <a:xfrm>
            <a:off x="10012680" y="640080"/>
            <a:ext cx="777240" cy="777240"/>
          </a:xfrm>
          <a:prstGeom prst="ellipse">
            <a:avLst/>
          </a:prstGeom>
          <a:solidFill>
            <a:schemeClr val="accent1">
              <a:alpha val="75000"/>
            </a:schemeClr>
          </a:solidFill>
          <a:ln w="12700">
            <a:solidFill>
              <a:schemeClr val="bg1"/>
            </a:solidFill>
            <a:prstDash val="solid"/>
          </a:ln>
        </p:spPr>
      </p:sp>
      <p:sp>
        <p:nvSpPr>
          <p:cNvPr id="6" name="ball-motif"/>
          <p:cNvSpPr/>
          <p:nvPr/>
        </p:nvSpPr>
        <p:spPr>
          <a:xfrm>
            <a:off x="9006840" y="2468880"/>
            <a:ext cx="868680" cy="868680"/>
          </a:xfrm>
          <a:prstGeom prst="ellipse">
            <a:avLst/>
          </a:prstGeom>
          <a:solidFill>
            <a:schemeClr val="accent1">
              <a:alpha val="75000"/>
            </a:schemeClr>
          </a:solidFill>
          <a:ln w="12700">
            <a:solidFill>
              <a:schemeClr val="bg1"/>
            </a:solidFill>
            <a:prstDash val="solid"/>
          </a:ln>
        </p:spPr>
      </p:sp>
      <p:sp>
        <p:nvSpPr>
          <p:cNvPr id="7" name="ball-motif"/>
          <p:cNvSpPr/>
          <p:nvPr/>
        </p:nvSpPr>
        <p:spPr>
          <a:xfrm>
            <a:off x="10058400" y="1691640"/>
            <a:ext cx="502920" cy="502920"/>
          </a:xfrm>
          <a:prstGeom prst="ellipse">
            <a:avLst/>
          </a:prstGeom>
          <a:solidFill>
            <a:schemeClr val="accent1">
              <a:alpha val="75000"/>
            </a:schemeClr>
          </a:solidFill>
          <a:ln w="12700">
            <a:solidFill>
              <a:schemeClr val="bg1"/>
            </a:solidFill>
            <a:prstDash val="solid"/>
          </a:ln>
        </p:spPr>
      </p:sp>
      <p:sp>
        <p:nvSpPr>
          <p:cNvPr id="8" name="ball-motif"/>
          <p:cNvSpPr/>
          <p:nvPr/>
        </p:nvSpPr>
        <p:spPr>
          <a:xfrm>
            <a:off x="9829800" y="2697480"/>
            <a:ext cx="292608" cy="292608"/>
          </a:xfrm>
          <a:prstGeom prst="ellipse">
            <a:avLst/>
          </a:prstGeom>
          <a:solidFill>
            <a:schemeClr val="accent1">
              <a:alpha val="75000"/>
            </a:schemeClr>
          </a:solidFill>
          <a:ln w="12700">
            <a:solidFill>
              <a:schemeClr val="bg1"/>
            </a:solidFill>
            <a:prstDash val="solid"/>
          </a:ln>
        </p:spPr>
      </p:sp>
      <p:sp>
        <p:nvSpPr>
          <p:cNvPr id="9" name="ball-motif"/>
          <p:cNvSpPr/>
          <p:nvPr/>
        </p:nvSpPr>
        <p:spPr>
          <a:xfrm>
            <a:off x="10469880" y="3246120"/>
            <a:ext cx="1188720" cy="1188720"/>
          </a:xfrm>
          <a:prstGeom prst="ellipse">
            <a:avLst/>
          </a:prstGeom>
          <a:solidFill>
            <a:schemeClr val="accent5">
              <a:alpha val="75000"/>
            </a:schemeClr>
          </a:solidFill>
          <a:ln w="12700">
            <a:solidFill>
              <a:schemeClr val="bg1"/>
            </a:solidFill>
            <a:prstDash val="solid"/>
          </a:ln>
        </p:spPr>
      </p:sp>
      <p:sp>
        <p:nvSpPr>
          <p:cNvPr id="10" name="ball-motif"/>
          <p:cNvSpPr/>
          <p:nvPr/>
        </p:nvSpPr>
        <p:spPr>
          <a:xfrm>
            <a:off x="9372600" y="4160520"/>
            <a:ext cx="960120" cy="960120"/>
          </a:xfrm>
          <a:prstGeom prst="ellipse">
            <a:avLst/>
          </a:prstGeom>
          <a:solidFill>
            <a:schemeClr val="accent5">
              <a:alpha val="75000"/>
            </a:schemeClr>
          </a:solidFill>
          <a:ln w="12700">
            <a:solidFill>
              <a:schemeClr val="bg1"/>
            </a:solidFill>
            <a:prstDash val="solid"/>
          </a:ln>
        </p:spPr>
      </p:sp>
      <p:sp>
        <p:nvSpPr>
          <p:cNvPr id="11" name="ball-motif"/>
          <p:cNvSpPr/>
          <p:nvPr/>
        </p:nvSpPr>
        <p:spPr>
          <a:xfrm>
            <a:off x="10835640" y="4709160"/>
            <a:ext cx="731520" cy="731520"/>
          </a:xfrm>
          <a:prstGeom prst="ellipse">
            <a:avLst/>
          </a:prstGeom>
          <a:solidFill>
            <a:schemeClr val="accent5">
              <a:alpha val="75000"/>
            </a:schemeClr>
          </a:solidFill>
          <a:ln w="12700">
            <a:solidFill>
              <a:schemeClr val="bg1"/>
            </a:solidFill>
            <a:prstDash val="solid"/>
          </a:ln>
        </p:spPr>
      </p:sp>
      <p:sp>
        <p:nvSpPr>
          <p:cNvPr id="12" name="ball-motif"/>
          <p:cNvSpPr/>
          <p:nvPr/>
        </p:nvSpPr>
        <p:spPr>
          <a:xfrm>
            <a:off x="10241280" y="4572000"/>
            <a:ext cx="347472" cy="347472"/>
          </a:xfrm>
          <a:prstGeom prst="ellipse">
            <a:avLst/>
          </a:prstGeom>
          <a:solidFill>
            <a:schemeClr val="accent5">
              <a:alpha val="75000"/>
            </a:schemeClr>
          </a:solidFill>
          <a:ln w="12700">
            <a:solidFill>
              <a:schemeClr val="bg1"/>
            </a:solidFill>
            <a:prstDash val="solid"/>
          </a:ln>
        </p:spPr>
      </p:sp>
      <p:sp>
        <p:nvSpPr>
          <p:cNvPr id="13" name="ball-motif"/>
          <p:cNvSpPr/>
          <p:nvPr/>
        </p:nvSpPr>
        <p:spPr>
          <a:xfrm>
            <a:off x="11292840" y="2697480"/>
            <a:ext cx="457200" cy="457200"/>
          </a:xfrm>
          <a:prstGeom prst="ellipse">
            <a:avLst/>
          </a:prstGeom>
          <a:solidFill>
            <a:schemeClr val="accent5">
              <a:alpha val="75000"/>
            </a:schemeClr>
          </a:solidFill>
          <a:ln w="12700">
            <a:solidFill>
              <a:schemeClr val="bg1"/>
            </a:solidFill>
            <a:prstDash val="solid"/>
          </a:ln>
        </p:spPr>
      </p:sp>
      <p:sp>
        <p:nvSpPr>
          <p:cNvPr id="14" name="plane-1"/>
          <p:cNvSpPr/>
          <p:nvPr/>
        </p:nvSpPr>
        <p:spPr>
          <a:xfrm flipV="1">
            <a:off x="8366760" y="502920"/>
            <a:ext cx="2834640" cy="3383280"/>
          </a:xfrm>
          <a:prstGeom prst="line">
            <a:avLst/>
          </a:prstGeom>
          <a:noFill/>
          <a:ln w="31750">
            <a:solidFill>
              <a:schemeClr val="accent1"/>
            </a:solidFill>
            <a:prstDash val="solid"/>
          </a:ln>
        </p:spPr>
      </p:sp>
      <p:sp>
        <p:nvSpPr>
          <p:cNvPr id="15" name="plane-2"/>
          <p:cNvSpPr/>
          <p:nvPr/>
        </p:nvSpPr>
        <p:spPr>
          <a:xfrm flipV="1">
            <a:off x="9098280" y="2514600"/>
            <a:ext cx="2788920" cy="3566160"/>
          </a:xfrm>
          <a:prstGeom prst="line">
            <a:avLst/>
          </a:prstGeom>
          <a:noFill/>
          <a:ln w="31750">
            <a:solidFill>
              <a:schemeClr val="accent5"/>
            </a:solidFill>
            <a:prstDash val="solid"/>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APPENDIX</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Appendix A: the 21 datasets</a:t>
            </a:r>
            <a:endParaRPr lang="en-US" sz="28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394960" cy="914400"/>
        </p:xfrm>
        <a:graphic>
          <a:graphicData uri="http://schemas.openxmlformats.org/drawingml/2006/table">
            <a:tbl>
              <a:tblPr/>
              <a:tblGrid>
                <a:gridCol w="2377440"/>
                <a:gridCol w="914400"/>
                <a:gridCol w="1005840"/>
                <a:gridCol w="1097280"/>
              </a:tblGrid>
              <a:tr h="338328">
                <a:tc>
                  <a:txBody>
                    <a:bodyPr/>
                    <a:lstStyle/>
                    <a:p>
                      <a:pPr algn="ctr" indent="0" marL="0">
                        <a:buNone/>
                      </a:pPr>
                      <a:r>
                        <a:rPr lang="en-US" sz="1300" b="1" dirty="0">
                          <a:solidFill>
                            <a:schemeClr val="bg1"/>
                          </a:solidFill>
                        </a:rPr>
                        <a:t>Dataset</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Points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Features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Imbalance</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r>
              <a:tr h="338328">
                <a:tc>
                  <a:txBody>
                    <a:bodyPr/>
                    <a:lstStyle/>
                    <a:p>
                      <a:pPr algn="ctr" indent="0" marL="0">
                        <a:buNone/>
                      </a:pPr>
                      <a:r>
                        <a:rPr lang="en-US" sz="1300" dirty="0">
                          <a:solidFill>
                            <a:schemeClr val="tx1"/>
                          </a:solidFill>
                        </a:rPr>
                        <a:t>sonar</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208</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60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1.1</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38328">
                <a:tc>
                  <a:txBody>
                    <a:bodyPr/>
                    <a:lstStyle/>
                    <a:p>
                      <a:pPr algn="ctr" indent="0" marL="0">
                        <a:buNone/>
                      </a:pPr>
                      <a:r>
                        <a:rPr lang="en-US" sz="1300" dirty="0">
                          <a:solidFill>
                            <a:schemeClr val="tx1"/>
                          </a:solidFill>
                        </a:rPr>
                        <a:t>cleve</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297</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13</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1.2</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38328">
                <a:tc>
                  <a:txBody>
                    <a:bodyPr/>
                    <a:lstStyle/>
                    <a:p>
                      <a:pPr algn="ctr" indent="0" marL="0">
                        <a:buNone/>
                      </a:pPr>
                      <a:r>
                        <a:rPr lang="en-US" sz="1300" dirty="0">
                          <a:solidFill>
                            <a:schemeClr val="tx1"/>
                          </a:solidFill>
                        </a:rPr>
                        <a:t>heart-stat</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270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13</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1.2</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38328">
                <a:tc>
                  <a:txBody>
                    <a:bodyPr/>
                    <a:lstStyle/>
                    <a:p>
                      <a:pPr algn="ctr" indent="0" marL="0">
                        <a:buNone/>
                      </a:pPr>
                      <a:r>
                        <a:rPr lang="en-US" sz="1300" dirty="0">
                          <a:solidFill>
                            <a:schemeClr val="tx1"/>
                          </a:solidFill>
                        </a:rPr>
                        <a:t>bupa (liver)</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345</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6</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1.4</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38328">
                <a:tc>
                  <a:txBody>
                    <a:bodyPr/>
                    <a:lstStyle/>
                    <a:p>
                      <a:pPr algn="ctr" indent="0" marL="0">
                        <a:buNone/>
                      </a:pPr>
                      <a:r>
                        <a:rPr lang="en-US" sz="1300" dirty="0">
                          <a:solidFill>
                            <a:schemeClr val="tx1"/>
                          </a:solidFill>
                        </a:rPr>
                        <a:t>iono</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351</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33</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1.8</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38328">
                <a:tc>
                  <a:txBody>
                    <a:bodyPr/>
                    <a:lstStyle/>
                    <a:p>
                      <a:pPr algn="ctr" indent="0" marL="0">
                        <a:buNone/>
                      </a:pPr>
                      <a:r>
                        <a:rPr lang="en-US" sz="1300" dirty="0">
                          <a:solidFill>
                            <a:schemeClr val="tx1"/>
                          </a:solidFill>
                        </a:rPr>
                        <a:t>wdbc</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569</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30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1.7</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38328">
                <a:tc>
                  <a:txBody>
                    <a:bodyPr/>
                    <a:lstStyle/>
                    <a:p>
                      <a:pPr algn="ctr" indent="0" marL="0">
                        <a:buNone/>
                      </a:pPr>
                      <a:r>
                        <a:rPr lang="en-US" sz="1300" dirty="0">
                          <a:solidFill>
                            <a:schemeClr val="tx1"/>
                          </a:solidFill>
                        </a:rPr>
                        <a:t>pima</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768</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8</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1.9</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38328">
                <a:tc>
                  <a:txBody>
                    <a:bodyPr/>
                    <a:lstStyle/>
                    <a:p>
                      <a:pPr algn="ctr" indent="0" marL="0">
                        <a:buNone/>
                      </a:pPr>
                      <a:r>
                        <a:rPr lang="en-US" sz="1300" dirty="0">
                          <a:solidFill>
                            <a:schemeClr val="tx1"/>
                          </a:solidFill>
                        </a:rPr>
                        <a:t>ger</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1000</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24</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2.3</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38328">
                <a:tc>
                  <a:txBody>
                    <a:bodyPr/>
                    <a:lstStyle/>
                    <a:p>
                      <a:pPr algn="ctr" indent="0" marL="0">
                        <a:buNone/>
                      </a:pPr>
                      <a:r>
                        <a:rPr lang="en-US" sz="1300" dirty="0">
                          <a:solidFill>
                            <a:schemeClr val="tx1"/>
                          </a:solidFill>
                        </a:rPr>
                        <a:t>haberman</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306</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3</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2.8</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38328">
                <a:tc>
                  <a:txBody>
                    <a:bodyPr/>
                    <a:lstStyle/>
                    <a:p>
                      <a:pPr algn="ctr" indent="0" marL="0">
                        <a:buNone/>
                      </a:pPr>
                      <a:r>
                        <a:rPr lang="en-US" sz="1300" dirty="0">
                          <a:solidFill>
                            <a:schemeClr val="tx1"/>
                          </a:solidFill>
                        </a:rPr>
                        <a:t>transfusion</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748</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4</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3.2</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38328">
                <a:tc>
                  <a:txBody>
                    <a:bodyPr/>
                    <a:lstStyle/>
                    <a:p>
                      <a:pPr algn="ctr" indent="0" marL="0">
                        <a:buNone/>
                      </a:pPr>
                      <a:r>
                        <a:rPr lang="en-US" sz="1300" dirty="0">
                          <a:solidFill>
                            <a:schemeClr val="tx1"/>
                          </a:solidFill>
                        </a:rPr>
                        <a:t>vehicle2</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846</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18</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2.9</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bl>
          </a:graphicData>
        </a:graphic>
      </p:graphicFrame>
      <p:graphicFrame>
        <p:nvGraphicFramePr>
          <p:cNvPr id="65" name="Table 1"/>
          <p:cNvGraphicFramePr>
            <a:graphicFrameLocks noGrp="1"/>
          </p:cNvGraphicFramePr>
          <p:nvPr>
            <p:extLst>
              <p:ext uri="{D42A27DB-BD31-4B8C-83A1-F6EECF244321}">
                <p14:modId xmlns:p14="http://schemas.microsoft.com/office/powerpoint/2010/main" val="1579011935"/>
              </p:ext>
            </p:extLst>
          </p:nvPr>
        </p:nvGraphicFramePr>
        <p:xfrm>
          <a:off x="6217920" y="1371600"/>
          <a:ext cx="5394960" cy="914400"/>
        </p:xfrm>
        <a:graphic>
          <a:graphicData uri="http://schemas.openxmlformats.org/drawingml/2006/table">
            <a:tbl>
              <a:tblPr/>
              <a:tblGrid>
                <a:gridCol w="2377440"/>
                <a:gridCol w="914400"/>
                <a:gridCol w="1005840"/>
                <a:gridCol w="1097280"/>
              </a:tblGrid>
              <a:tr h="338328">
                <a:tc>
                  <a:txBody>
                    <a:bodyPr/>
                    <a:lstStyle/>
                    <a:p>
                      <a:pPr algn="ctr" indent="0" marL="0">
                        <a:buNone/>
                      </a:pPr>
                      <a:r>
                        <a:rPr lang="en-US" sz="1300" b="1" dirty="0">
                          <a:solidFill>
                            <a:schemeClr val="bg1"/>
                          </a:solidFill>
                        </a:rPr>
                        <a:t>Dataset</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Points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Features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Imbalance</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r>
              <a:tr h="338328">
                <a:tc>
                  <a:txBody>
                    <a:bodyPr/>
                    <a:lstStyle/>
                    <a:p>
                      <a:pPr algn="ctr" indent="0" marL="0">
                        <a:buNone/>
                      </a:pPr>
                      <a:r>
                        <a:rPr lang="en-US" sz="1300" dirty="0">
                          <a:solidFill>
                            <a:schemeClr val="tx1"/>
                          </a:solidFill>
                        </a:rPr>
                        <a:t>wpbc</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194</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33</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3.2</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38328">
                <a:tc>
                  <a:txBody>
                    <a:bodyPr/>
                    <a:lstStyle/>
                    <a:p>
                      <a:pPr algn="ctr" indent="0" marL="0">
                        <a:buNone/>
                      </a:pPr>
                      <a:r>
                        <a:rPr lang="en-US" sz="1300" dirty="0">
                          <a:solidFill>
                            <a:schemeClr val="tx1"/>
                          </a:solidFill>
                        </a:rPr>
                        <a:t>new-thyroid1</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215</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5</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5.1</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38328">
                <a:tc>
                  <a:txBody>
                    <a:bodyPr/>
                    <a:lstStyle/>
                    <a:p>
                      <a:pPr algn="ctr" indent="0" marL="0">
                        <a:buNone/>
                      </a:pPr>
                      <a:r>
                        <a:rPr lang="en-US" sz="1300" dirty="0">
                          <a:solidFill>
                            <a:schemeClr val="tx1"/>
                          </a:solidFill>
                        </a:rPr>
                        <a:t>ecoli2</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336</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8.6</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38328">
                <a:tc>
                  <a:txBody>
                    <a:bodyPr/>
                    <a:lstStyle/>
                    <a:p>
                      <a:pPr algn="ctr" indent="0" marL="0">
                        <a:buNone/>
                      </a:pPr>
                      <a:r>
                        <a:rPr lang="en-US" sz="1300" dirty="0">
                          <a:solidFill>
                            <a:schemeClr val="tx1"/>
                          </a:solidFill>
                        </a:rPr>
                        <a:t>yeast3</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1484</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8</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8.1</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38328">
                <a:tc>
                  <a:txBody>
                    <a:bodyPr/>
                    <a:lstStyle/>
                    <a:p>
                      <a:pPr algn="ctr" indent="0" marL="0">
                        <a:buNone/>
                      </a:pPr>
                      <a:r>
                        <a:rPr lang="en-US" sz="1300" dirty="0">
                          <a:solidFill>
                            <a:schemeClr val="tx1"/>
                          </a:solidFill>
                        </a:rPr>
                        <a:t>yeast-2_vs_4</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514</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8</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9.1</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38328">
                <a:tc>
                  <a:txBody>
                    <a:bodyPr/>
                    <a:lstStyle/>
                    <a:p>
                      <a:pPr algn="ctr" indent="0" marL="0">
                        <a:buNone/>
                      </a:pPr>
                      <a:r>
                        <a:rPr lang="en-US" sz="1300" dirty="0">
                          <a:solidFill>
                            <a:schemeClr val="tx1"/>
                          </a:solidFill>
                        </a:rPr>
                        <a:t>yeast-0-5-6-7-9_vs_4</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528</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8</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9.4</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38328">
                <a:tc>
                  <a:txBody>
                    <a:bodyPr/>
                    <a:lstStyle/>
                    <a:p>
                      <a:pPr algn="ctr" indent="0" marL="0">
                        <a:buNone/>
                      </a:pPr>
                      <a:r>
                        <a:rPr lang="en-US" sz="1300" dirty="0">
                          <a:solidFill>
                            <a:schemeClr val="tx1"/>
                          </a:solidFill>
                        </a:rPr>
                        <a:t>ecoli4</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336</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15.8</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38328">
                <a:tc>
                  <a:txBody>
                    <a:bodyPr/>
                    <a:lstStyle/>
                    <a:p>
                      <a:pPr algn="ctr" indent="0" marL="0">
                        <a:buNone/>
                      </a:pPr>
                      <a:r>
                        <a:rPr lang="en-US" sz="1300" dirty="0">
                          <a:solidFill>
                            <a:schemeClr val="tx1"/>
                          </a:solidFill>
                        </a:rPr>
                        <a:t>glass4</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214</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9</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15.5</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38328">
                <a:tc>
                  <a:txBody>
                    <a:bodyPr/>
                    <a:lstStyle/>
                    <a:p>
                      <a:pPr algn="ctr" indent="0" marL="0">
                        <a:buNone/>
                      </a:pPr>
                      <a:r>
                        <a:rPr lang="en-US" sz="1300" dirty="0">
                          <a:solidFill>
                            <a:schemeClr val="tx1"/>
                          </a:solidFill>
                        </a:rPr>
                        <a:t>abalone9-18</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731</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7</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16.4</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338328">
                <a:tc>
                  <a:txBody>
                    <a:bodyPr/>
                    <a:lstStyle/>
                    <a:p>
                      <a:pPr algn="ctr" indent="0" marL="0">
                        <a:buNone/>
                      </a:pPr>
                      <a:r>
                        <a:rPr lang="en-US" sz="1300" dirty="0">
                          <a:solidFill>
                            <a:schemeClr val="tx1"/>
                          </a:solidFill>
                        </a:rPr>
                        <a:t>yeast1vs7</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459</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8</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algn="ctr" indent="0" marL="0">
                        <a:buNone/>
                      </a:pPr>
                      <a:r>
                        <a:rPr lang="en-US" sz="1300" dirty="0">
                          <a:solidFill>
                            <a:schemeClr val="tx1"/>
                          </a:solidFill>
                        </a:rPr>
                        <a:t>14.3</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bl>
          </a:graphicData>
        </a:graphic>
      </p:graphicFrame>
      <p:sp>
        <p:nvSpPr>
          <p:cNvPr id="6" name="Text 2"/>
          <p:cNvSpPr txBox="1"/>
          <p:nvPr/>
        </p:nvSpPr>
        <p:spPr>
          <a:xfrm>
            <a:off x="548640" y="5623560"/>
            <a:ext cx="11064240" cy="548640"/>
          </a:xfrm>
          <a:prstGeom prst="rect">
            <a:avLst/>
          </a:prstGeom>
          <a:noFill/>
          <a:ln/>
        </p:spPr>
        <p:txBody>
          <a:bodyPr wrap="square" lIns="0" tIns="0" rIns="0" bIns="0" rtlCol="0" anchor="t"/>
          <a:lstStyle/>
          <a:p>
            <a:pPr indent="0" marL="0">
              <a:buNone/>
            </a:pPr>
            <a:r>
              <a:rPr lang="en-US" sz="1300" dirty="0">
                <a:solidFill>
                  <a:schemeClr val="accent6"/>
                </a:solidFill>
              </a:rPr>
              <a:t>Imbalance = majority / minority class size. Sources: UCI [22] and KEEL [23], as used in the LSTSVM benchmark collection shipped with the GBLSTSVM code.</a:t>
            </a:r>
            <a:endParaRPr lang="en-US" sz="13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APPENDIX</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Appendix B: dead ends and what they taught us</a:t>
            </a:r>
            <a:endParaRPr lang="en-US" sz="2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291840"/>
                <a:gridCol w="4206240"/>
                <a:gridCol w="3566160"/>
              </a:tblGrid>
              <a:tr h="475488">
                <a:tc>
                  <a:txBody>
                    <a:bodyPr/>
                    <a:lstStyle/>
                    <a:p>
                      <a:pPr indent="0" marL="0">
                        <a:buNone/>
                      </a:pPr>
                      <a:r>
                        <a:rPr lang="en-US" sz="1300" b="1" dirty="0">
                          <a:solidFill>
                            <a:schemeClr val="bg1"/>
                          </a:solidFill>
                        </a:rPr>
                        <a:t>Idea</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What happened</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Lesson</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r>
              <a:tr h="475488">
                <a:tc>
                  <a:txBody>
                    <a:bodyPr/>
                    <a:lstStyle/>
                    <a:p>
                      <a:pPr indent="0" marL="0">
                        <a:buNone/>
                      </a:pPr>
                      <a:r>
                        <a:rPr lang="en-US" sz="1300" dirty="0">
                          <a:solidFill>
                            <a:schemeClr val="tx1"/>
                          </a:solidFill>
                        </a:rPr>
                        <a:t>Ball purity as membership</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Purity is about 1 for almost every k-means ball</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It carries no information</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475488">
                <a:tc>
                  <a:txBody>
                    <a:bodyPr/>
                    <a:lstStyle/>
                    <a:p>
                      <a:pPr indent="0" marL="0">
                        <a:buNone/>
                      </a:pPr>
                      <a:r>
                        <a:rPr lang="en-US" sz="1300" dirty="0">
                          <a:solidFill>
                            <a:schemeClr val="tx1"/>
                          </a:solidFill>
                        </a:rPr>
                        <a:t>T1, T4, T5 on GBLSTSVM’s balls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At most +0.5 points; down to −2.4 at 20% noise</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A weight cannot undo deletion</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475488">
                <a:tc>
                  <a:txBody>
                    <a:bodyPr/>
                    <a:lstStyle/>
                    <a:p>
                      <a:pPr indent="0" marL="0">
                        <a:buNone/>
                      </a:pPr>
                      <a:r>
                        <a:rPr lang="en-US" sz="1300" dirty="0">
                          <a:solidFill>
                            <a:schemeClr val="tx1"/>
                          </a:solidFill>
                        </a:rPr>
                        <a:t>Ball-based weights on every point (round 3)</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0.2–0.9 points below LSTSVM, never significant</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Point models need point-level weights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475488">
                <a:tc>
                  <a:txBody>
                    <a:bodyPr/>
                    <a:lstStyle/>
                    <a:p>
                      <a:pPr indent="0" marL="0">
                        <a:buNone/>
                      </a:pPr>
                      <a:r>
                        <a:rPr lang="en-US" sz="1300" dirty="0">
                          <a:solidFill>
                            <a:schemeClr val="tx1"/>
                          </a:solidFill>
                        </a:rPr>
                        <a:t>ADPGBG balls (round 5)</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About equal to keeping single points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A better builder alone is not enough</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475488">
                <a:tc>
                  <a:txBody>
                    <a:bodyPr/>
                    <a:lstStyle/>
                    <a:p>
                      <a:pPr indent="0" marL="0">
                        <a:buNone/>
                      </a:pPr>
                      <a:r>
                        <a:rPr lang="en-US" sz="1300" dirty="0">
                          <a:solidFill>
                            <a:schemeClr val="tx1"/>
                          </a:solidFill>
                        </a:rPr>
                        <a:t>Kernel keep + T7 under noise</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No significant gain over kernel GBLSTSVM at 20–30% noise</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The gain is mostly a linear-model effect</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475488">
                <a:tc>
                  <a:txBody>
                    <a:bodyPr/>
                    <a:lstStyle/>
                    <a:p>
                      <a:pPr indent="0" marL="0">
                        <a:buNone/>
                      </a:pPr>
                      <a:r>
                        <a:rPr lang="en-US" sz="1300" dirty="0">
                          <a:solidFill>
                            <a:schemeClr val="tx1"/>
                          </a:solidFill>
                        </a:rPr>
                        <a:t>Ball-based weights for speed</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Building balls 0.3–0.9 s vs point kNN 0.1–0.7 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No speed gain for weights</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475488">
                <a:tc>
                  <a:txBody>
                    <a:bodyPr/>
                    <a:lstStyle/>
                    <a:p>
                      <a:pPr indent="0" marL="0">
                        <a:buNone/>
                      </a:pPr>
                      <a:r>
                        <a:rPr lang="en-US" sz="1300" dirty="0">
                          <a:solidFill>
                            <a:schemeClr val="tx1"/>
                          </a:solidFill>
                        </a:rPr>
                        <a:t>L-BFGS-B for GBFTSVM’s dual</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Stopped far from the optimum on some data</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300" dirty="0">
                          <a:solidFill>
                            <a:schemeClr val="tx1"/>
                          </a:solidFill>
                        </a:rPr>
                        <a:t>Use an exact dual solver</a:t>
                      </a:r>
                      <a:endParaRPr lang="en-US" sz="13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274320"/>
            <a:ext cx="9144000" cy="292608"/>
          </a:xfrm>
          <a:prstGeom prst="rect">
            <a:avLst/>
          </a:prstGeom>
          <a:noFill/>
          <a:ln/>
        </p:spPr>
        <p:txBody>
          <a:bodyPr wrap="square" rtlCol="0" anchor="ctr"/>
          <a:lstStyle/>
          <a:p>
            <a:pPr algn="l" indent="0" marL="0">
              <a:buNone/>
            </a:pPr>
            <a:r>
              <a:rPr lang="en-US" sz="1200" b="1" dirty="0">
                <a:solidFill>
                  <a:schemeClr val="accent6"/>
                </a:solidFill>
              </a:rPr>
              <a:t>APPENDIX</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nchor="t"/>
          <a:lstStyle/>
          <a:p>
            <a:pPr algn="l" indent="0" marL="0">
              <a:buNone/>
            </a:pPr>
            <a:r>
              <a:rPr lang="en-US" sz="2800" b="1" dirty="0">
                <a:solidFill>
                  <a:schemeClr val="tx2"/>
                </a:solidFill>
              </a:rPr>
              <a:t>Appendix C: settings chosen by 5-fold cross-validation</a:t>
            </a:r>
            <a:endParaRPr lang="en-US" sz="2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566160"/>
                <a:gridCol w="7498080"/>
              </a:tblGrid>
              <a:tr h="548640">
                <a:tc>
                  <a:txBody>
                    <a:bodyPr/>
                    <a:lstStyle/>
                    <a:p>
                      <a:pPr indent="0" marL="0">
                        <a:buNone/>
                      </a:pPr>
                      <a:r>
                        <a:rPr lang="en-US" sz="1400" b="1" dirty="0">
                          <a:solidFill>
                            <a:schemeClr val="bg1"/>
                          </a:solidFill>
                        </a:rPr>
                        <a:t>Model</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Settings searched (all by CV on the training part)</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solidFill>
                      <a:schemeClr val="tx2"/>
                    </a:solidFill>
                  </a:tcPr>
                </a:tc>
              </a:tr>
              <a:tr h="548640">
                <a:tc>
                  <a:txBody>
                    <a:bodyPr/>
                    <a:lstStyle/>
                    <a:p>
                      <a:pPr indent="0" marL="0">
                        <a:buNone/>
                      </a:pPr>
                      <a:r>
                        <a:rPr lang="en-US" sz="1400" dirty="0">
                          <a:solidFill>
                            <a:schemeClr val="tx1"/>
                          </a:solidFill>
                        </a:rPr>
                        <a:t>GBLSTSVM and every variant, LSTSVM</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c1, c2 ∈ {0.001, 0.01, …, 1000} (7 × 7); class weighting on/off; k ∈ {2, …, 6} k-means splits</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548640">
                <a:tc>
                  <a:txBody>
                    <a:bodyPr/>
                    <a:lstStyle/>
                    <a:p>
                      <a:pPr indent="0" marL="0">
                        <a:buNone/>
                      </a:pPr>
                      <a:r>
                        <a:rPr lang="en-US" sz="1400" dirty="0">
                          <a:solidFill>
                            <a:schemeClr val="tx1"/>
                          </a:solidFill>
                        </a:rPr>
                        <a:t>T2 entropy · T4 overlap · T5 density</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k ∈ {5, 10} · λ ∈ {0.5, 1, 2, 4} · γ ∈ {0.25, 0.5, 1}</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548640">
                <a:tc>
                  <a:txBody>
                    <a:bodyPr/>
                    <a:lstStyle/>
                    <a:p>
                      <a:pPr indent="0" marL="0">
                        <a:buNone/>
                      </a:pPr>
                      <a:r>
                        <a:rPr lang="en-US" sz="1400" dirty="0">
                          <a:solidFill>
                            <a:schemeClr val="tx1"/>
                          </a:solidFill>
                        </a:rPr>
                        <a:t>T7 agreement, fuzzy-kNN LSTSVM</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k ∈ {5, 10} nearest balls or points; γ ∈ {1, 3}</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548640">
                <a:tc>
                  <a:txBody>
                    <a:bodyPr/>
                    <a:lstStyle/>
                    <a:p>
                      <a:pPr indent="0" marL="0">
                        <a:buNone/>
                      </a:pPr>
                      <a:r>
                        <a:rPr lang="en-US" sz="1400" dirty="0">
                          <a:solidFill>
                            <a:schemeClr val="tx1"/>
                          </a:solidFill>
                        </a:rPr>
                        <a:t>GBTWSVM, GBFTSVM</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C</a:t>
                      </a:r>
                      <a:r>
                        <a:rPr lang="en-US" sz="1400" baseline="-40000" dirty="0">
                          <a:solidFill>
                            <a:schemeClr val="tx1"/>
                          </a:solidFill>
                        </a:rPr>
                        <a:t>1</a:t>
                      </a:r>
                      <a:r>
                        <a:rPr lang="en-US" sz="1400" dirty="0">
                          <a:solidFill>
                            <a:schemeClr val="tx1"/>
                          </a:solidFill>
                        </a:rPr>
                        <a:t> = C</a:t>
                      </a:r>
                      <a:r>
                        <a:rPr lang="en-US" sz="1400" baseline="-40000" dirty="0">
                          <a:solidFill>
                            <a:schemeClr val="tx1"/>
                          </a:solidFill>
                        </a:rPr>
                        <a:t>3</a:t>
                      </a:r>
                      <a:r>
                        <a:rPr lang="en-US" sz="1400" dirty="0">
                          <a:solidFill>
                            <a:schemeClr val="tx1"/>
                          </a:solidFill>
                        </a:rPr>
                        <a:t>, C</a:t>
                      </a:r>
                      <a:r>
                        <a:rPr lang="en-US" sz="1400" baseline="-40000" dirty="0">
                          <a:solidFill>
                            <a:schemeClr val="tx1"/>
                          </a:solidFill>
                        </a:rPr>
                        <a:t>2</a:t>
                      </a:r>
                      <a:r>
                        <a:rPr lang="en-US" sz="1400" dirty="0">
                          <a:solidFill>
                            <a:schemeClr val="tx1"/>
                          </a:solidFill>
                        </a:rPr>
                        <a:t> = C</a:t>
                      </a:r>
                      <a:r>
                        <a:rPr lang="en-US" sz="1400" baseline="-40000" dirty="0">
                          <a:solidFill>
                            <a:schemeClr val="tx1"/>
                          </a:solidFill>
                        </a:rPr>
                        <a:t>4</a:t>
                      </a:r>
                      <a:r>
                        <a:rPr lang="en-US" sz="1400" dirty="0">
                          <a:solidFill>
                            <a:schemeClr val="tx1"/>
                          </a:solidFill>
                        </a:rPr>
                        <a:t> ∈ {2</a:t>
                      </a:r>
                      <a:r>
                        <a:rPr lang="en-US" sz="1400" baseline="30000" dirty="0">
                          <a:solidFill>
                            <a:schemeClr val="tx1"/>
                          </a:solidFill>
                        </a:rPr>
                        <a:t>−5</a:t>
                      </a:r>
                      <a:r>
                        <a:rPr lang="en-US" sz="1400" dirty="0">
                          <a:solidFill>
                            <a:schemeClr val="tx1"/>
                          </a:solidFill>
                        </a:rPr>
                        <a:t>, …, 2</a:t>
                      </a:r>
                      <a:r>
                        <a:rPr lang="en-US" sz="1400" baseline="30000" dirty="0">
                          <a:solidFill>
                            <a:schemeClr val="tx1"/>
                          </a:solidFill>
                        </a:rPr>
                        <a:t>5</a:t>
                      </a:r>
                      <a:r>
                        <a:rPr lang="en-US" sz="1400" dirty="0">
                          <a:solidFill>
                            <a:schemeClr val="tx1"/>
                          </a:solidFill>
                        </a:rPr>
                        <a:t>}, the paper’s grid; same k and class weighting as GBLSTSVM</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548640">
                <a:tc>
                  <a:txBody>
                    <a:bodyPr/>
                    <a:lstStyle/>
                    <a:p>
                      <a:pPr indent="0" marL="0">
                        <a:buNone/>
                      </a:pPr>
                      <a:r>
                        <a:rPr lang="en-US" sz="1400" dirty="0">
                          <a:solidFill>
                            <a:schemeClr val="tx1"/>
                          </a:solidFill>
                        </a:rPr>
                        <a:t>Kernel models</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RBF width γ = g / d, g ∈ {0.25, 1, 4}; same c grid</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r h="548640">
                <a:tc>
                  <a:txBody>
                    <a:bodyPr/>
                    <a:lstStyle/>
                    <a:p>
                      <a:pPr indent="0" marL="0">
                        <a:buNone/>
                      </a:pPr>
                      <a:r>
                        <a:rPr lang="en-US" sz="1400" dirty="0">
                          <a:solidFill>
                            <a:schemeClr val="tx1"/>
                          </a:solidFill>
                        </a:rPr>
                        <a:t>Selection score</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c>
                  <a:txBody>
                    <a:bodyPr/>
                    <a:lstStyle/>
                    <a:p>
                      <a:pPr indent="0" marL="0">
                        <a:buNone/>
                      </a:pPr>
                      <a:r>
                        <a:rPr lang="en-US" sz="1400" dirty="0">
                          <a:solidFill>
                            <a:schemeClr val="tx1"/>
                          </a:solidFill>
                        </a:rPr>
                        <a:t>Mean balanced accuracy over the 5 folds; the test set is used once, after selection</a:t>
                      </a:r>
                      <a:endParaRPr lang="en-US" sz="1400" dirty="0"/>
                    </a:p>
                  </a:txBody>
                  <a:tcPr marL="76200" marR="76200" marT="38100" marB="38100" anchor="ctr">
                    <a:lnL w="6350" cap="flat" cmpd="sng" algn="ctr">
                      <a:solidFill>
                        <a:srgbClr val="DCE5E4"/>
                      </a:solidFill>
                      <a:prstDash val="solid"/>
                      <a:round/>
                      <a:headEnd type="none" w="med" len="med"/>
                      <a:tailEnd type="none" w="med" len="med"/>
                    </a:lnL>
                    <a:lnR w="6350" cap="flat" cmpd="sng" algn="ctr">
                      <a:solidFill>
                        <a:srgbClr val="DCE5E4"/>
                      </a:solidFill>
                      <a:prstDash val="solid"/>
                      <a:round/>
                      <a:headEnd type="none" w="med" len="med"/>
                      <a:tailEnd type="none" w="med" len="med"/>
                    </a:lnR>
                    <a:lnT w="6350" cap="flat" cmpd="sng" algn="ctr">
                      <a:solidFill>
                        <a:srgbClr val="DCE5E4"/>
                      </a:solidFill>
                      <a:prstDash val="solid"/>
                      <a:round/>
                      <a:headEnd type="none" w="med" len="med"/>
                      <a:tailEnd type="none" w="med" len="med"/>
                    </a:lnT>
                    <a:lnB w="6350" cap="flat" cmpd="sng" algn="ctr">
                      <a:solidFill>
                        <a:srgbClr val="DCE5E4"/>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34</a:t>
            </a:fld>
            <a:endParaRPr lang="en-US"/>
          </a:p>
        </p:txBody>
      </p:sp>
    </p:spTree>
  </p:cSld>
  <p:clrMapOvr>
    <a:masterClrMapping/>
  </p:clrMapOvr>
</p:sld>
</file>

<file path=ppt/theme/theme1.xml><?xml version="1.0" encoding="utf-8"?>
<a:theme xmlns:a="http://schemas.openxmlformats.org/drawingml/2006/main" name="Granular Petrol">
  <a:themeElements>
    <a:clrScheme name="Granular Petrol">
      <a:dk1>
        <a:srgbClr val="17242A"/>
      </a:dk1>
      <a:lt1>
        <a:srgbClr val="FFFFFF"/>
      </a:lt1>
      <a:dk2>
        <a:srgbClr val="12333D"/>
      </a:dk2>
      <a:lt2>
        <a:srgbClr val="EEF3F2"/>
      </a:lt2>
      <a:accent1>
        <a:srgbClr val="00897B"/>
      </a:accent1>
      <a:accent2>
        <a:srgbClr val="C0492F"/>
      </a:accent2>
      <a:accent3>
        <a:srgbClr val="2B63C6"/>
      </a:accent3>
      <a:accent4>
        <a:srgbClr val="7B4FB0"/>
      </a:accent4>
      <a:accent5>
        <a:srgbClr val="B88200"/>
      </a:accent5>
      <a:accent6>
        <a:srgbClr val="5A7A82"/>
      </a:accent6>
      <a:hlink>
        <a:srgbClr val="00897B"/>
      </a:hlink>
      <a:folHlink>
        <a:srgbClr val="5A7A82"/>
      </a:folHlink>
    </a:clrScheme>
    <a:fontScheme name="Granular Petro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Where do granular balls help twin SVMs? Midsem presentation</dc:title>
  <dc:subject>PptxGenJS Presentation</dc:subject>
  <dc:creator>Jayagna</dc:creator>
  <cp:lastModifiedBy>Jayagna</cp:lastModifiedBy>
  <cp:revision>1</cp:revision>
  <dcterms:created xsi:type="dcterms:W3CDTF">2026-10-20T16:55:07Z</dcterms:created>
  <dcterms:modified xsi:type="dcterms:W3CDTF">2026-10-20T16:55:07Z</dcterms:modified>
</cp:coreProperties>
</file>